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0" r:id="rId4"/>
    <p:sldId id="263" r:id="rId5"/>
    <p:sldId id="264" r:id="rId6"/>
    <p:sldId id="337" r:id="rId7"/>
    <p:sldId id="338" r:id="rId8"/>
    <p:sldId id="307" r:id="rId9"/>
    <p:sldId id="326" r:id="rId10"/>
    <p:sldId id="271" r:id="rId11"/>
    <p:sldId id="334" r:id="rId12"/>
    <p:sldId id="282" r:id="rId13"/>
    <p:sldId id="329" r:id="rId14"/>
    <p:sldId id="327" r:id="rId15"/>
    <p:sldId id="340" r:id="rId16"/>
    <p:sldId id="341" r:id="rId17"/>
    <p:sldId id="342" r:id="rId18"/>
    <p:sldId id="343" r:id="rId19"/>
    <p:sldId id="347" r:id="rId20"/>
    <p:sldId id="348" r:id="rId21"/>
    <p:sldId id="321" r:id="rId22"/>
  </p:sldIdLst>
  <p:sldSz cx="12192000" cy="6858000"/>
  <p:notesSz cx="6858000" cy="9144000"/>
  <p:embeddedFontLst>
    <p:embeddedFont>
      <p:font typeface="Bookman Old Style" panose="02050604050505020204" pitchFamily="18" charset="0"/>
      <p:regular r:id="rId24"/>
      <p:bold r:id="rId25"/>
      <p:italic r:id="rId26"/>
      <p:boldItalic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Libre Franklin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1" roundtripDataSignature="AMtx7mhJeErPwk6+zAoE8w/TDb1k1w9A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E395"/>
    <a:srgbClr val="97E4FF"/>
    <a:srgbClr val="33CCFF"/>
    <a:srgbClr val="FFC5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0BC02-740B-453B-A207-380854AEF980}">
  <a:tblStyle styleId="{1010BC02-740B-453B-A207-380854AEF9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111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82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8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06.09.2021</a:t>
            </a:r>
            <a:endParaRPr/>
          </a:p>
        </p:txBody>
      </p:sp>
      <p:sp>
        <p:nvSpPr>
          <p:cNvPr id="148" name="Google Shape;14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b1fe2054f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cb1fe2054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64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4"/>
          <p:cNvSpPr txBox="1"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cxnSp>
        <p:nvCxnSpPr>
          <p:cNvPr id="21" name="Google Shape;21;p64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64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4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4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5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5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 слайд" type="blank">
  <p:cSld name="BLANK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67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7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7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8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" name="Google Shape;46;p68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8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8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 type="secHead">
  <p:cSld name="SECTION_HEADER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9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9"/>
          <p:cNvSpPr txBox="1"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53" name="Google Shape;53;p69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" name="Google Shape;54;p69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9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9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0"/>
          <p:cNvSpPr txBox="1">
            <a:spLocks noGrp="1"/>
          </p:cNvSpPr>
          <p:nvPr>
            <p:ph type="body" idx="1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0" name="Google Shape;60;p70"/>
          <p:cNvSpPr txBox="1">
            <a:spLocks noGrp="1"/>
          </p:cNvSpPr>
          <p:nvPr>
            <p:ph type="body" idx="2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70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0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0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1"/>
          <p:cNvSpPr txBox="1"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71"/>
          <p:cNvSpPr txBox="1">
            <a:spLocks noGrp="1"/>
          </p:cNvSpPr>
          <p:nvPr>
            <p:ph type="body" idx="2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8" name="Google Shape;68;p71"/>
          <p:cNvSpPr txBox="1">
            <a:spLocks noGrp="1"/>
          </p:cNvSpPr>
          <p:nvPr>
            <p:ph type="body" idx="3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71"/>
          <p:cNvSpPr txBox="1">
            <a:spLocks noGrp="1"/>
          </p:cNvSpPr>
          <p:nvPr>
            <p:ph type="body" idx="4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71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1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1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Объект с подписью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2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2"/>
          <p:cNvSpPr txBox="1"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72"/>
          <p:cNvSpPr txBox="1">
            <a:spLocks noGrp="1"/>
          </p:cNvSpPr>
          <p:nvPr>
            <p:ph type="body" idx="1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7" name="Google Shape;77;p72"/>
          <p:cNvSpPr txBox="1">
            <a:spLocks noGrp="1"/>
          </p:cNvSpPr>
          <p:nvPr>
            <p:ph type="body" idx="2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8" name="Google Shape;78;p72"/>
          <p:cNvSpPr txBox="1">
            <a:spLocks noGrp="1"/>
          </p:cNvSpPr>
          <p:nvPr>
            <p:ph type="dt" idx="10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2"/>
          <p:cNvSpPr txBox="1">
            <a:spLocks noGrp="1"/>
          </p:cNvSpPr>
          <p:nvPr>
            <p:ph type="ftr" idx="11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2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3"/>
          <p:cNvSpPr txBox="1">
            <a:spLocks noGrp="1"/>
          </p:cNvSpPr>
          <p:nvPr>
            <p:ph type="body" idx="1"/>
          </p:nvPr>
        </p:nvSpPr>
        <p:spPr>
          <a:xfrm rot="5400000">
            <a:off x="4246034" y="-1040553"/>
            <a:ext cx="3760891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4" name="Google Shape;84;p73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3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3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Вертикальный заголовок и текст" type="vertTitleAndTx">
  <p:cSld name="VERTICAL_TITLE_AND_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74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74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marL="1828800" lvl="3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marL="2286000" lvl="4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1" name="Google Shape;91;p74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4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74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6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  <a:defRPr sz="4700" b="0" i="0" u="none" strike="noStrike" cap="non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63"/>
          <p:cNvSpPr txBox="1"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492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  <a:defRPr sz="19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Calibri"/>
              <a:buChar char="◦"/>
              <a:defRPr sz="17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sz="13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3"/>
          <p:cNvSpPr txBox="1">
            <a:spLocks noGrp="1"/>
          </p:cNvSpPr>
          <p:nvPr>
            <p:ph type="dt" idx="10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3"/>
          <p:cNvSpPr txBox="1">
            <a:spLocks noGrp="1"/>
          </p:cNvSpPr>
          <p:nvPr>
            <p:ph type="ft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5" name="Google Shape;15;p63"/>
          <p:cNvSpPr txBox="1">
            <a:spLocks noGrp="1"/>
          </p:cNvSpPr>
          <p:nvPr>
            <p:ph type="sldNum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800" b="0" i="0" u="none" strike="noStrike" cap="non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63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ifeinkyrgyzstan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ata.worldbank.org/indicator/SL.TLF.CACT.FE.ZS?end=2021&amp;locations=KG&amp;start=1990&amp;view=chart" TargetMode="External"/><Relationship Id="rId5" Type="http://schemas.openxmlformats.org/officeDocument/2006/relationships/hyperlink" Target="https://borgenproject.org/getting-to-the-root-of-poverty/" TargetMode="External"/><Relationship Id="rId4" Type="http://schemas.openxmlformats.org/officeDocument/2006/relationships/hyperlink" Target="http://www.stat.kg/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9" name="Google Shape;99;p1"/>
          <p:cNvSpPr txBox="1">
            <a:spLocks noGrp="1"/>
          </p:cNvSpPr>
          <p:nvPr>
            <p:ph type="ctrTitle"/>
          </p:nvPr>
        </p:nvSpPr>
        <p:spPr>
          <a:xfrm>
            <a:off x="5305783" y="1015370"/>
            <a:ext cx="6253317" cy="3686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SzPct val="100000"/>
            </a:pPr>
            <a:r>
              <a:rPr kumimoji="0" lang="en-GB" altLang="ru-RU" sz="4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Gender Wage Gap and Income Inequality in Kyrgyzstan</a:t>
            </a:r>
            <a:br>
              <a:rPr lang="ru-RU" sz="4400" b="1" dirty="0"/>
            </a:br>
            <a:br>
              <a:rPr lang="en-US" sz="1600" dirty="0"/>
            </a:br>
            <a:endParaRPr lang="en-US" sz="7200" dirty="0"/>
          </a:p>
        </p:txBody>
      </p:sp>
      <p:sp>
        <p:nvSpPr>
          <p:cNvPr id="100" name="Google Shape;100;p1"/>
          <p:cNvSpPr txBox="1"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BY IRINA KOVALEVA</a:t>
            </a: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l="41018" r="28358"/>
          <a:stretch/>
        </p:blipFill>
        <p:spPr>
          <a:xfrm>
            <a:off x="0" y="0"/>
            <a:ext cx="5036414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1"/>
          <p:cNvCxnSpPr/>
          <p:nvPr/>
        </p:nvCxnSpPr>
        <p:spPr>
          <a:xfrm>
            <a:off x="5427754" y="4498925"/>
            <a:ext cx="5636107" cy="0"/>
          </a:xfrm>
          <a:prstGeom prst="straightConnector1">
            <a:avLst/>
          </a:prstGeom>
          <a:noFill/>
          <a:ln w="127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" name="Rectangle 6">
            <a:extLst>
              <a:ext uri="{FF2B5EF4-FFF2-40B4-BE49-F238E27FC236}">
                <a16:creationId xmlns:a16="http://schemas.microsoft.com/office/drawing/2014/main" id="{BD201601-2BC4-BA43-5C52-CF9AF094B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AA276CF-577B-9BAC-2AA6-4BCB33732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87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AutoShape 2" hidden="1">
            <a:extLst>
              <a:ext uri="{FF2B5EF4-FFF2-40B4-BE49-F238E27FC236}">
                <a16:creationId xmlns:a16="http://schemas.microsoft.com/office/drawing/2014/main" id="{52E639A6-18DB-535F-25D4-4117AA7C68EB}"/>
              </a:ext>
            </a:extLst>
          </p:cNvPr>
          <p:cNvSpPr>
            <a:spLocks noSelect="1" noChangeAspect="1" noChangeArrowheads="1"/>
          </p:cNvSpPr>
          <p:nvPr/>
        </p:nvSpPr>
        <p:spPr bwMode="auto">
          <a:xfrm>
            <a:off x="152400" y="152400"/>
            <a:ext cx="635000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lang="en-GB" sz="4800" b="1" dirty="0">
                <a:solidFill>
                  <a:srgbClr val="000000"/>
                </a:solidFill>
                <a:latin typeface="Times New Roman"/>
                <a:cs typeface="Times New Roman"/>
              </a:rPr>
              <a:t>Abstract</a:t>
            </a:r>
            <a:endParaRPr lang="en-US" sz="4800" b="1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390617" y="1886165"/>
            <a:ext cx="11700769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indent="-1270" algn="just"/>
            <a:r>
              <a:rPr lang="en-GB" sz="2800" dirty="0">
                <a:latin typeface="Times New Roman"/>
                <a:cs typeface="Times New Roman"/>
              </a:rPr>
              <a:t>During </a:t>
            </a:r>
            <a:r>
              <a:rPr lang="en-GB" sz="2800" b="1" dirty="0">
                <a:latin typeface="Times New Roman"/>
                <a:cs typeface="Times New Roman"/>
              </a:rPr>
              <a:t>2018-2019</a:t>
            </a:r>
            <a:r>
              <a:rPr lang="en-GB" sz="2800" dirty="0">
                <a:latin typeface="Times New Roman"/>
                <a:cs typeface="Times New Roman"/>
              </a:rPr>
              <a:t> years, the government of Kyrgyzstan implemented </a:t>
            </a:r>
            <a:r>
              <a:rPr lang="en-GB" sz="2800" b="1" dirty="0">
                <a:latin typeface="Times New Roman"/>
                <a:cs typeface="Times New Roman"/>
              </a:rPr>
              <a:t>wage reforms</a:t>
            </a:r>
            <a:r>
              <a:rPr lang="en-GB" sz="2800" dirty="0">
                <a:latin typeface="Times New Roman"/>
                <a:cs typeface="Times New Roman"/>
              </a:rPr>
              <a:t> for teachers, medical, and social service workers. As women traditionally prevail in this sector, the gender wage gap </a:t>
            </a:r>
            <a:r>
              <a:rPr lang="en-GB" sz="2800" b="1" dirty="0">
                <a:latin typeface="Times New Roman"/>
                <a:cs typeface="Times New Roman"/>
              </a:rPr>
              <a:t>could potentially narrow</a:t>
            </a:r>
            <a:r>
              <a:rPr lang="en-GB" sz="2800" dirty="0">
                <a:latin typeface="Times New Roman"/>
                <a:cs typeface="Times New Roman"/>
              </a:rPr>
              <a:t>, as it happened after the 2011 wage reform (Anderson and </a:t>
            </a:r>
            <a:r>
              <a:rPr lang="en-GB" sz="2800" dirty="0" err="1">
                <a:latin typeface="Times New Roman"/>
                <a:cs typeface="Times New Roman"/>
              </a:rPr>
              <a:t>Esenaliev</a:t>
            </a:r>
            <a:r>
              <a:rPr lang="en-GB" sz="2800" dirty="0">
                <a:latin typeface="Times New Roman"/>
                <a:cs typeface="Times New Roman"/>
              </a:rPr>
              <a:t> (2019)). However, right now nothing is known about how much the gender wage gap decreased in Kyrgyzstan. Using the </a:t>
            </a:r>
            <a:r>
              <a:rPr lang="en-GB" sz="2800" b="1" dirty="0">
                <a:latin typeface="Times New Roman"/>
                <a:cs typeface="Times New Roman"/>
              </a:rPr>
              <a:t>“Life in Kyrgyzstan” </a:t>
            </a:r>
            <a:r>
              <a:rPr lang="en-GB" sz="2800" dirty="0">
                <a:latin typeface="Times New Roman"/>
                <a:cs typeface="Times New Roman"/>
              </a:rPr>
              <a:t>longitudinal survey, this article investigates gender wage discrimination in Kyrgyzstan for the </a:t>
            </a:r>
            <a:r>
              <a:rPr lang="en-GB" sz="2800" b="1" dirty="0">
                <a:latin typeface="Times New Roman"/>
                <a:cs typeface="Times New Roman"/>
              </a:rPr>
              <a:t>2016-2019 </a:t>
            </a:r>
            <a:r>
              <a:rPr lang="en-GB" sz="2800" dirty="0">
                <a:latin typeface="Times New Roman"/>
                <a:cs typeface="Times New Roman"/>
              </a:rPr>
              <a:t>period. Research is carried out using Ordinary Least Squares (</a:t>
            </a:r>
            <a:r>
              <a:rPr lang="en-GB" sz="2800" b="1" dirty="0">
                <a:latin typeface="Times New Roman"/>
                <a:cs typeface="Times New Roman"/>
              </a:rPr>
              <a:t>OLS</a:t>
            </a:r>
            <a:r>
              <a:rPr lang="en-GB" sz="2800" dirty="0">
                <a:latin typeface="Times New Roman"/>
                <a:cs typeface="Times New Roman"/>
              </a:rPr>
              <a:t>), </a:t>
            </a:r>
            <a:r>
              <a:rPr lang="en-GB" sz="2800" b="1" dirty="0">
                <a:latin typeface="Times New Roman"/>
                <a:cs typeface="Times New Roman"/>
              </a:rPr>
              <a:t>Heckman</a:t>
            </a:r>
            <a:r>
              <a:rPr lang="en-GB" sz="2800" dirty="0">
                <a:latin typeface="Times New Roman"/>
                <a:cs typeface="Times New Roman"/>
              </a:rPr>
              <a:t> (1979) sample selection correction procedure, and </a:t>
            </a:r>
            <a:r>
              <a:rPr lang="en-GB" sz="2800" b="1" dirty="0">
                <a:latin typeface="Times New Roman"/>
                <a:cs typeface="Times New Roman"/>
              </a:rPr>
              <a:t>Oaxaca-Blinder</a:t>
            </a:r>
            <a:r>
              <a:rPr lang="en-GB" sz="2800" dirty="0">
                <a:latin typeface="Times New Roman"/>
                <a:cs typeface="Times New Roman"/>
              </a:rPr>
              <a:t> (1973) </a:t>
            </a:r>
            <a:r>
              <a:rPr lang="en-GB" sz="2800" b="1" dirty="0">
                <a:latin typeface="Times New Roman"/>
                <a:cs typeface="Times New Roman"/>
              </a:rPr>
              <a:t>decomposition</a:t>
            </a:r>
            <a:r>
              <a:rPr lang="en-GB" sz="2800" dirty="0">
                <a:latin typeface="Times New Roman"/>
                <a:cs typeface="Times New Roman"/>
              </a:rPr>
              <a:t> technique. </a:t>
            </a:r>
            <a:endParaRPr lang="ru-RU" sz="2800" dirty="0">
              <a:latin typeface="Times New Roman"/>
              <a:cs typeface="Times New Roman"/>
            </a:endParaRPr>
          </a:p>
        </p:txBody>
      </p:sp>
      <p:pic>
        <p:nvPicPr>
          <p:cNvPr id="3074" name="Picture 2" descr="Free Vector | Blog articles abstract concept illustration">
            <a:extLst>
              <a:ext uri="{FF2B5EF4-FFF2-40B4-BE49-F238E27FC236}">
                <a16:creationId xmlns:a16="http://schemas.microsoft.com/office/drawing/2014/main" id="{FDFF0F53-45C9-9166-EFC9-B00FE86447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4" t="12686" r="12416" b="13139"/>
          <a:stretch/>
        </p:blipFill>
        <p:spPr bwMode="auto">
          <a:xfrm>
            <a:off x="9978501" y="88777"/>
            <a:ext cx="1701228" cy="1677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42D03E-FED1-7E06-E363-DE4E2D9950EA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Introduction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7459579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Consequences of </a:t>
            </a:r>
            <a:b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 wage discrimination</a:t>
            </a:r>
            <a:endParaRPr sz="4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1066800" y="1844153"/>
            <a:ext cx="10058400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in productivity of women - 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losses for the whole country. </a:t>
            </a:r>
            <a:endParaRPr sz="2800" dirty="0"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Increases women exposure to the 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of exploitation and abuse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including in the form of 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forced labor. </a:t>
            </a:r>
            <a:endParaRPr sz="2800" dirty="0"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Discrimination often takes invisible, secret forms, 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deprives women of the opportunity to express their opinions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work and to participate fully in it. </a:t>
            </a:r>
            <a:endParaRPr sz="2800" dirty="0"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stifles women potential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wastes talent 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economic progress, 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exacerbating social tensions and inequality. </a:t>
            </a:r>
            <a:endParaRPr sz="2800" dirty="0"/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the 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cause of social exclusion and poverty.</a:t>
            </a:r>
            <a:endParaRPr sz="2800" b="1" i="0" u="none" strike="noStrike" cap="none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br>
              <a:rPr lang="en-US" sz="2800" b="0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 sz="28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30" name="Google Shape;130;p5" descr="The Unintended Consequences of Law – Societal Valu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6859" y="32896"/>
            <a:ext cx="2733575" cy="17044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88989D-C0E3-2638-A9B1-1455F7B7BF26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Introduction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739865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lang="en-US" sz="4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Republic of Kyrgyzstan</a:t>
            </a:r>
            <a:br>
              <a:rPr lang="en-US" sz="4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labor market</a:t>
            </a:r>
            <a:endParaRPr b="1" dirty="0"/>
          </a:p>
        </p:txBody>
      </p:sp>
      <p:sp>
        <p:nvSpPr>
          <p:cNvPr id="151" name="Google Shape;151;p8"/>
          <p:cNvSpPr txBox="1"/>
          <p:nvPr/>
        </p:nvSpPr>
        <p:spPr>
          <a:xfrm>
            <a:off x="177553" y="1948400"/>
            <a:ext cx="11700769" cy="612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Republic of Kyrgyzstan is a </a:t>
            </a:r>
            <a:r>
              <a:rPr lang="en-US" sz="2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lower-middle-income country. </a:t>
            </a:r>
            <a:r>
              <a:rPr lang="en-GB" sz="2800" dirty="0">
                <a:latin typeface="Times New Roman"/>
                <a:cs typeface="Times New Roman"/>
              </a:rPr>
              <a:t>As of March 1, 2023, the country's population is </a:t>
            </a:r>
            <a:r>
              <a:rPr lang="en-GB" sz="2800" b="1" dirty="0">
                <a:latin typeface="Times New Roman"/>
                <a:cs typeface="Times New Roman"/>
              </a:rPr>
              <a:t>7,1 million </a:t>
            </a:r>
            <a:r>
              <a:rPr lang="en-GB" sz="2800" dirty="0">
                <a:latin typeface="Times New Roman"/>
                <a:cs typeface="Times New Roman"/>
              </a:rPr>
              <a:t>people (National Statistical Committee of the Kyrgyz Republic, 2023). </a:t>
            </a:r>
            <a:r>
              <a:rPr lang="en-US" sz="2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Labor participation rate of women </a:t>
            </a:r>
            <a:r>
              <a:rPr lang="en-US" sz="2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Kyrgyzstan decreased from 58% in 1995 to 45% in 2021 and </a:t>
            </a:r>
            <a:r>
              <a:rPr lang="en-US" sz="2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remains lower than in many transition economies </a:t>
            </a:r>
            <a:r>
              <a:rPr lang="en-US" sz="2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(World Bank, 2023).</a:t>
            </a:r>
          </a:p>
          <a:p>
            <a:pPr marL="342900" indent="-342900" algn="just">
              <a:buSzPts val="2400"/>
              <a:buFont typeface="Arial"/>
              <a:buChar char="•"/>
            </a:pPr>
            <a:r>
              <a:rPr lang="en-GB" altLang="ru-RU" sz="2800" dirty="0">
                <a:latin typeface="Times New Roman"/>
                <a:cs typeface="Times New Roman"/>
              </a:rPr>
              <a:t>Although </a:t>
            </a:r>
            <a:r>
              <a:rPr lang="en-US" altLang="ru-RU" sz="2800" dirty="0">
                <a:latin typeface="Times New Roman"/>
                <a:cs typeface="Times New Roman"/>
              </a:rPr>
              <a:t>proportion</a:t>
            </a:r>
            <a:r>
              <a:rPr lang="en-GB" altLang="ru-RU" sz="2800" dirty="0">
                <a:latin typeface="Times New Roman"/>
                <a:cs typeface="Times New Roman"/>
              </a:rPr>
              <a:t> of women in the </a:t>
            </a:r>
            <a:r>
              <a:rPr lang="en-GB" altLang="ru-RU" sz="2800" dirty="0" err="1">
                <a:latin typeface="Times New Roman"/>
                <a:cs typeface="Times New Roman"/>
              </a:rPr>
              <a:t>labor</a:t>
            </a:r>
            <a:r>
              <a:rPr lang="en-GB" altLang="ru-RU" sz="2800" dirty="0">
                <a:latin typeface="Times New Roman"/>
                <a:cs typeface="Times New Roman"/>
              </a:rPr>
              <a:t> force have decreased, women </a:t>
            </a:r>
            <a:r>
              <a:rPr lang="en-GB" altLang="ru-RU" sz="2800" b="1" dirty="0">
                <a:latin typeface="Times New Roman"/>
                <a:cs typeface="Times New Roman"/>
              </a:rPr>
              <a:t>work more hours </a:t>
            </a:r>
            <a:r>
              <a:rPr lang="en-GB" altLang="ru-RU" sz="2800" dirty="0">
                <a:latin typeface="Times New Roman"/>
                <a:cs typeface="Times New Roman"/>
              </a:rPr>
              <a:t>and report </a:t>
            </a:r>
            <a:r>
              <a:rPr lang="en-GB" altLang="ru-RU" sz="2800" b="1" dirty="0">
                <a:latin typeface="Times New Roman"/>
                <a:cs typeface="Times New Roman"/>
              </a:rPr>
              <a:t>higher levels of education </a:t>
            </a:r>
            <a:r>
              <a:rPr lang="en-US" altLang="ru-RU" sz="2800" dirty="0">
                <a:latin typeface="Times New Roman"/>
                <a:cs typeface="Times New Roman"/>
              </a:rPr>
              <a:t>then men</a:t>
            </a:r>
            <a:r>
              <a:rPr lang="en-GB" altLang="ru-RU" sz="2800" dirty="0">
                <a:latin typeface="Times New Roman"/>
                <a:cs typeface="Times New Roman"/>
              </a:rPr>
              <a:t>, but </a:t>
            </a:r>
            <a:r>
              <a:rPr lang="en-GB" sz="2800" dirty="0">
                <a:latin typeface="Times New Roman"/>
                <a:cs typeface="Times New Roman"/>
              </a:rPr>
              <a:t>significant wage gap between women and men continue to persist. For example, according to National Statistical Committee data, women </a:t>
            </a:r>
            <a:r>
              <a:rPr lang="en-US" sz="2800" dirty="0">
                <a:latin typeface="Times New Roman"/>
                <a:cs typeface="Times New Roman"/>
              </a:rPr>
              <a:t>earned </a:t>
            </a:r>
            <a:r>
              <a:rPr lang="en-US" sz="2800" b="1" dirty="0">
                <a:latin typeface="Times New Roman"/>
                <a:cs typeface="Times New Roman"/>
              </a:rPr>
              <a:t>28,4% less </a:t>
            </a:r>
            <a:r>
              <a:rPr lang="en-GB" sz="2800" b="1" dirty="0">
                <a:latin typeface="Times New Roman"/>
                <a:cs typeface="Times New Roman"/>
              </a:rPr>
              <a:t>than men during 2018 year.</a:t>
            </a:r>
            <a:endParaRPr lang="ru-RU" sz="2800" b="1" dirty="0">
              <a:latin typeface="Times New Roman"/>
              <a:cs typeface="Times New Roman"/>
            </a:endParaRPr>
          </a:p>
          <a:p>
            <a:pPr marL="342900" indent="-342900">
              <a:buSzPts val="2400"/>
              <a:buFont typeface="Arial"/>
              <a:buChar char="•"/>
            </a:pPr>
            <a:endParaRPr lang="en-GB" altLang="ru-RU" sz="2800" dirty="0">
              <a:latin typeface="Times New Roman"/>
              <a:cs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endParaRPr lang="en-US" sz="2800" b="0" i="0" u="none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endParaRPr sz="2800" dirty="0"/>
          </a:p>
        </p:txBody>
      </p:sp>
      <p:pic>
        <p:nvPicPr>
          <p:cNvPr id="152" name="Google Shape;152;p8" descr="The Kyrgyz Republic – the 120th Party to UNEP/CMS | CM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0314" y="366035"/>
            <a:ext cx="2484406" cy="12918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E6A47D-BEDC-9FA2-03ED-AF2B18ACE2A2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Background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288DB9-AA02-9E4B-46DB-A42A4A0CA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3151"/>
            <a:ext cx="12192000" cy="41716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AC9905-7436-5C33-6AA1-CBB41416F45F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Background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6B8BEC-DAE7-EA24-9564-CAB23CDD2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427" y="124845"/>
            <a:ext cx="8575146" cy="6257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E0F770-0DAB-C94E-1E67-8D6AE36C18F5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Background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46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25294A-0D8A-9F19-4AD4-87F7ABFCA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35" y="1020661"/>
            <a:ext cx="7986434" cy="48166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4A7BE6-10C2-99D8-3CC1-080956C38DA7}"/>
              </a:ext>
            </a:extLst>
          </p:cNvPr>
          <p:cNvSpPr txBox="1"/>
          <p:nvPr/>
        </p:nvSpPr>
        <p:spPr>
          <a:xfrm>
            <a:off x="193584" y="294619"/>
            <a:ext cx="385535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9410" algn="just"/>
            <a:r>
              <a:rPr 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 did the Kyrgyz government respond? In 2018-2019 years, it </a:t>
            </a:r>
            <a:r>
              <a:rPr 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implemented wage reforms </a:t>
            </a:r>
            <a:r>
              <a:rPr 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teachers, medical and social service workers. These reforms </a:t>
            </a:r>
            <a:r>
              <a:rPr 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directly influenced women </a:t>
            </a:r>
            <a:r>
              <a:rPr 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 they are most </a:t>
            </a:r>
            <a:r>
              <a:rPr 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represented</a:t>
            </a:r>
            <a:r>
              <a:rPr 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mentioned sectors. As a result, the gender wage gap </a:t>
            </a:r>
            <a:r>
              <a:rPr lang="en-GB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narrowed to 23% (-5,4%) by the end of 2019 year</a:t>
            </a:r>
            <a:r>
              <a:rPr lang="en-GB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However, it is still unclear how these reforms influenced the gender wage gap.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C1401-0378-048D-A77D-DD4F75184D9C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Background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30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7810232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Life in Kyrgyzstan</a:t>
            </a:r>
            <a:b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longitudinal survey – “</a:t>
            </a:r>
            <a:r>
              <a:rPr lang="en-US" sz="48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</a:t>
            </a:r>
            <a: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4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44"/>
          <p:cNvSpPr txBox="1"/>
          <p:nvPr/>
        </p:nvSpPr>
        <p:spPr>
          <a:xfrm>
            <a:off x="752325" y="1892146"/>
            <a:ext cx="10687349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survey is a </a:t>
            </a:r>
            <a:r>
              <a:rPr lang="en-US" sz="2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joint work of </a:t>
            </a:r>
            <a:r>
              <a:rPr lang="en-US" sz="2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DIW Berlin, Humboldt University of Berlin, CASE- Kyrgyzstan, and American University of Central Asia. 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Data was collected between </a:t>
            </a:r>
            <a:r>
              <a:rPr lang="en-US" sz="2800" b="1" dirty="0">
                <a:latin typeface="Times New Roman"/>
                <a:cs typeface="Times New Roman"/>
              </a:rPr>
              <a:t>2010-2019 years </a:t>
            </a:r>
            <a:r>
              <a:rPr lang="en-US" sz="2800" dirty="0">
                <a:latin typeface="Times New Roman"/>
                <a:cs typeface="Times New Roman"/>
              </a:rPr>
              <a:t>using </a:t>
            </a:r>
            <a:r>
              <a:rPr lang="en-US" sz="2800" b="1" dirty="0">
                <a:latin typeface="Times New Roman"/>
                <a:cs typeface="Times New Roman"/>
              </a:rPr>
              <a:t>stratified two-stage random sampling. 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Respondents are representatives of </a:t>
            </a:r>
            <a:r>
              <a:rPr lang="en-US" sz="2800" b="1" dirty="0">
                <a:latin typeface="Times New Roman"/>
                <a:cs typeface="Times New Roman"/>
              </a:rPr>
              <a:t>3000 households (over 8,100 individuals) </a:t>
            </a:r>
            <a:r>
              <a:rPr lang="en-US" sz="2800" dirty="0">
                <a:latin typeface="Times New Roman"/>
                <a:cs typeface="Times New Roman"/>
              </a:rPr>
              <a:t>from </a:t>
            </a:r>
            <a:r>
              <a:rPr lang="en-US" sz="2800" b="1" dirty="0">
                <a:latin typeface="Times New Roman"/>
                <a:cs typeface="Times New Roman"/>
              </a:rPr>
              <a:t>all regions </a:t>
            </a:r>
            <a:r>
              <a:rPr lang="en-US" sz="2800" dirty="0">
                <a:latin typeface="Times New Roman"/>
                <a:cs typeface="Times New Roman"/>
              </a:rPr>
              <a:t>and 2 major cities: Bishkek and Osh. 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Survey is </a:t>
            </a:r>
            <a:r>
              <a:rPr lang="en-US" sz="2800" b="1" dirty="0">
                <a:latin typeface="Times New Roman"/>
                <a:cs typeface="Times New Roman"/>
              </a:rPr>
              <a:t>representative</a:t>
            </a:r>
            <a:r>
              <a:rPr lang="en-US" sz="2800" dirty="0">
                <a:latin typeface="Times New Roman"/>
                <a:cs typeface="Times New Roman"/>
              </a:rPr>
              <a:t> at the national level, urban and rural areas and the south and the north of the country. 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The survey consists of </a:t>
            </a:r>
            <a:r>
              <a:rPr lang="en-US" sz="2800" b="1" dirty="0">
                <a:latin typeface="Times New Roman"/>
                <a:cs typeface="Times New Roman"/>
              </a:rPr>
              <a:t>several</a:t>
            </a:r>
            <a:r>
              <a:rPr lang="en-US" sz="2800" dirty="0">
                <a:latin typeface="Times New Roman"/>
                <a:cs typeface="Times New Roman"/>
              </a:rPr>
              <a:t> household-level, community-level and individual-level </a:t>
            </a:r>
            <a:r>
              <a:rPr lang="en-US" sz="2800" b="1" dirty="0">
                <a:latin typeface="Times New Roman"/>
                <a:cs typeface="Times New Roman"/>
              </a:rPr>
              <a:t>questionnaires.</a:t>
            </a:r>
            <a:endParaRPr sz="28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70" name="Google Shape;470;p44" descr="Leibniz-Institut für Gemüse- und Zierpflanzenbau – LiK Conference 20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07512" y="286603"/>
            <a:ext cx="2877117" cy="13234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CFD0CB-5111-5319-214F-E553E0E0A3BD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Dataset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A6E50-B606-4636-A7AD-8C0BAB29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048" y="289399"/>
            <a:ext cx="6369014" cy="1450757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Times New Roman"/>
                <a:cs typeface="Times New Roman"/>
              </a:rPr>
              <a:t>Research question and hypothesis 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D6894-32A6-4B85-B666-A3AF6BEF6997}"/>
              </a:ext>
            </a:extLst>
          </p:cNvPr>
          <p:cNvSpPr txBox="1"/>
          <p:nvPr/>
        </p:nvSpPr>
        <p:spPr>
          <a:xfrm>
            <a:off x="773836" y="2324411"/>
            <a:ext cx="1092693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ru-RU" sz="2800" i="1" dirty="0">
                <a:latin typeface="Times New Roman"/>
                <a:cs typeface="Times New Roman"/>
              </a:rPr>
              <a:t>How much did the wage gap narrow during the 2016-2019 period and; do workers’ characteristics affect wage inequality in Kyrgyzstan?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ru-RU" sz="2800" dirty="0">
              <a:latin typeface="Times New Roman"/>
              <a:cs typeface="Times New Roman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ru-RU" sz="2800" dirty="0">
                <a:latin typeface="Times New Roman"/>
                <a:cs typeface="Times New Roman"/>
              </a:rPr>
              <a:t>Findings will be important for the </a:t>
            </a:r>
            <a:r>
              <a:rPr lang="en-GB" altLang="ru-RU" sz="2800" b="1" dirty="0">
                <a:latin typeface="Times New Roman"/>
                <a:cs typeface="Times New Roman"/>
              </a:rPr>
              <a:t>formulation of </a:t>
            </a:r>
            <a:r>
              <a:rPr lang="en-GB" altLang="ru-RU" sz="2800" b="1" dirty="0" err="1">
                <a:latin typeface="Times New Roman"/>
                <a:cs typeface="Times New Roman"/>
              </a:rPr>
              <a:t>labor</a:t>
            </a:r>
            <a:r>
              <a:rPr lang="en-GB" altLang="ru-RU" sz="2800" b="1" dirty="0">
                <a:latin typeface="Times New Roman"/>
                <a:cs typeface="Times New Roman"/>
              </a:rPr>
              <a:t> market policies </a:t>
            </a:r>
            <a:r>
              <a:rPr lang="en-GB" altLang="ru-RU" sz="2800" dirty="0">
                <a:latin typeface="Times New Roman"/>
                <a:cs typeface="Times New Roman"/>
              </a:rPr>
              <a:t>aimed at reducing the gender wage gap. This research question will test the </a:t>
            </a:r>
            <a:r>
              <a:rPr lang="en-GB" altLang="ru-RU" sz="2800" b="1" dirty="0">
                <a:latin typeface="Times New Roman"/>
                <a:cs typeface="Times New Roman"/>
              </a:rPr>
              <a:t>hypothesis </a:t>
            </a:r>
            <a:r>
              <a:rPr lang="en-GB" altLang="ru-RU" sz="2800" dirty="0">
                <a:latin typeface="Times New Roman"/>
                <a:cs typeface="Times New Roman"/>
              </a:rPr>
              <a:t>that </a:t>
            </a:r>
            <a:r>
              <a:rPr lang="en-GB" altLang="ru-RU" sz="2800" i="1" dirty="0">
                <a:latin typeface="Times New Roman"/>
                <a:cs typeface="Times New Roman"/>
              </a:rPr>
              <a:t>raising productivity characteristics of workers in Kyrgyzstan have contributed to the reduction of the wage gap and maximize the effectiveness of the wage-setting reforms. </a:t>
            </a:r>
          </a:p>
        </p:txBody>
      </p:sp>
      <p:pic>
        <p:nvPicPr>
          <p:cNvPr id="1026" name="Picture 2" descr="One Brand That Used Market Research to Crush the Competition | QuestionPro">
            <a:extLst>
              <a:ext uri="{FF2B5EF4-FFF2-40B4-BE49-F238E27FC236}">
                <a16:creationId xmlns:a16="http://schemas.microsoft.com/office/drawing/2014/main" id="{298F9CB7-576A-4D56-9D7D-0226E43A4A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" t="17277" r="-86"/>
          <a:stretch/>
        </p:blipFill>
        <p:spPr bwMode="auto">
          <a:xfrm>
            <a:off x="7956332" y="157542"/>
            <a:ext cx="3168868" cy="1582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D7FA6A-12A7-17DA-4B50-A9B53D8F7914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Research question and hypothesis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60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lang="en-US" sz="4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Theory: Becker (1962)</a:t>
            </a:r>
            <a:endParaRPr sz="4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1204578" y="2155238"/>
            <a:ext cx="1011364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SzPts val="2400"/>
            </a:pPr>
            <a:r>
              <a:rPr lang="en-US" sz="2800" dirty="0">
                <a:latin typeface="Times New Roman"/>
                <a:cs typeface="Times New Roman"/>
              </a:rPr>
              <a:t>Article apply </a:t>
            </a:r>
            <a:r>
              <a:rPr lang="en-US" sz="2800" b="1" dirty="0">
                <a:latin typeface="Times New Roman"/>
                <a:cs typeface="Times New Roman"/>
              </a:rPr>
              <a:t>Becker's (1962) concept of taste discrimination </a:t>
            </a:r>
            <a:r>
              <a:rPr lang="en-US" sz="2800" dirty="0">
                <a:latin typeface="Times New Roman"/>
                <a:cs typeface="Times New Roman"/>
              </a:rPr>
              <a:t>as the main instrument for describing the results.</a:t>
            </a:r>
            <a:r>
              <a:rPr lang="en-US" sz="2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helps to understand </a:t>
            </a:r>
            <a:r>
              <a:rPr lang="en-US" sz="2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differences between equally skilled men and women can arise </a:t>
            </a:r>
            <a:r>
              <a:rPr lang="en-US" sz="2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labor market. The </a:t>
            </a:r>
            <a:r>
              <a:rPr lang="en-US" sz="2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idea </a:t>
            </a:r>
            <a:r>
              <a:rPr lang="en-US" sz="2800" b="0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that gender differences may arise even in the </a:t>
            </a:r>
            <a:r>
              <a:rPr lang="en-US" sz="2800" b="1" i="0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prejudice</a:t>
            </a: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1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800" b="0" i="1" u="none" strike="noStrik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Borjas</a:t>
            </a:r>
            <a:r>
              <a:rPr lang="en-US" sz="2800" b="0" i="1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2005, p. 381). </a:t>
            </a:r>
            <a:r>
              <a:rPr lang="en-US" sz="2800" dirty="0">
                <a:latin typeface="Times New Roman"/>
                <a:cs typeface="Times New Roman"/>
              </a:rPr>
              <a:t>In addition to compensating wage differentials, Becker (1962) provides another insight into the pay gap. Using this theory article demonstrates </a:t>
            </a:r>
            <a:r>
              <a:rPr lang="en-US" sz="2800" b="1" dirty="0">
                <a:latin typeface="Times New Roman"/>
                <a:cs typeface="Times New Roman"/>
              </a:rPr>
              <a:t>what could be behind the explained and unexplained parts of gender wage decomposition. </a:t>
            </a:r>
            <a:endParaRPr lang="ru-RU" sz="2800" b="1" dirty="0">
              <a:latin typeface="Times New Roman"/>
              <a:cs typeface="Times New Roman"/>
            </a:endParaRPr>
          </a:p>
        </p:txBody>
      </p:sp>
      <p:pic>
        <p:nvPicPr>
          <p:cNvPr id="2050" name="Picture 2" descr="B. C. Becker 1962 - Belen Harvey House Museum - CONTENTdm Title">
            <a:extLst>
              <a:ext uri="{FF2B5EF4-FFF2-40B4-BE49-F238E27FC236}">
                <a16:creationId xmlns:a16="http://schemas.microsoft.com/office/drawing/2014/main" id="{AC36B6C1-4629-4392-AB85-5BB660ABB3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82" b="22498"/>
          <a:stretch/>
        </p:blipFill>
        <p:spPr bwMode="auto">
          <a:xfrm>
            <a:off x="9628723" y="178680"/>
            <a:ext cx="1526957" cy="156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435B45-3374-D140-EF51-F874C0A67E45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Theory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719BC3-35D8-459B-8CBF-4958DADBD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6963644" cy="1100763"/>
          </a:xfrm>
        </p:spPr>
        <p:txBody>
          <a:bodyPr/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Times New Roman"/>
                <a:cs typeface="Times New Roman"/>
              </a:rPr>
              <a:t>Literature review</a:t>
            </a:r>
            <a:endParaRPr lang="ru-RU" sz="4800" b="1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EDD02-AAD0-44E8-AB25-9D7157A300EB}"/>
              </a:ext>
            </a:extLst>
          </p:cNvPr>
          <p:cNvSpPr txBox="1"/>
          <p:nvPr/>
        </p:nvSpPr>
        <p:spPr>
          <a:xfrm>
            <a:off x="724760" y="1947228"/>
            <a:ext cx="10742480" cy="41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800" dirty="0">
                <a:latin typeface="Times New Roman"/>
                <a:cs typeface="Times New Roman"/>
              </a:rPr>
              <a:t>Research on wage inequality in Central Asia that uses survey-type data </a:t>
            </a:r>
            <a:r>
              <a:rPr lang="en-US" sz="2800" b="1" dirty="0">
                <a:latin typeface="Times New Roman"/>
                <a:cs typeface="Times New Roman"/>
              </a:rPr>
              <a:t>scarcely exists </a:t>
            </a:r>
            <a:r>
              <a:rPr lang="en-US" sz="2800" dirty="0">
                <a:latin typeface="Times New Roman"/>
                <a:cs typeface="Times New Roman"/>
              </a:rPr>
              <a:t>and </a:t>
            </a:r>
            <a:r>
              <a:rPr lang="en-US" sz="2800" b="1" dirty="0">
                <a:latin typeface="Times New Roman"/>
                <a:cs typeface="Times New Roman"/>
              </a:rPr>
              <a:t>only five papers </a:t>
            </a:r>
            <a:r>
              <a:rPr lang="en-US" sz="2800" dirty="0">
                <a:latin typeface="Times New Roman"/>
                <a:cs typeface="Times New Roman"/>
              </a:rPr>
              <a:t>of which I aware estimate </a:t>
            </a:r>
            <a:r>
              <a:rPr lang="en-US" sz="2800" b="1" dirty="0">
                <a:latin typeface="Times New Roman"/>
                <a:cs typeface="Times New Roman"/>
              </a:rPr>
              <a:t>wage inequality in Kyrgyzstan using LIK survey. </a:t>
            </a:r>
          </a:p>
          <a:p>
            <a:pPr algn="just">
              <a:spcAft>
                <a:spcPts val="800"/>
              </a:spcAft>
            </a:pPr>
            <a:endParaRPr lang="en-US" sz="2800" b="1" dirty="0">
              <a:latin typeface="Times New Roman"/>
              <a:cs typeface="Times New Roman"/>
            </a:endParaRPr>
          </a:p>
          <a:p>
            <a:pPr algn="just">
              <a:spcAft>
                <a:spcPts val="800"/>
              </a:spcAft>
            </a:pPr>
            <a:r>
              <a:rPr lang="en-US" sz="2800" dirty="0">
                <a:latin typeface="Times New Roman"/>
                <a:cs typeface="Times New Roman"/>
              </a:rPr>
              <a:t>While </a:t>
            </a:r>
            <a:r>
              <a:rPr lang="en-US" sz="2800" b="1" dirty="0">
                <a:latin typeface="Times New Roman"/>
                <a:cs typeface="Times New Roman"/>
              </a:rPr>
              <a:t>only three papers </a:t>
            </a:r>
            <a:r>
              <a:rPr lang="en-US" sz="2800" dirty="0">
                <a:latin typeface="Times New Roman"/>
                <a:cs typeface="Times New Roman"/>
              </a:rPr>
              <a:t>either use the </a:t>
            </a:r>
            <a:r>
              <a:rPr lang="en-US" sz="2800" b="1" dirty="0">
                <a:latin typeface="Times New Roman"/>
                <a:cs typeface="Times New Roman"/>
              </a:rPr>
              <a:t>decomposition analysis </a:t>
            </a:r>
            <a:r>
              <a:rPr lang="en-US" sz="2800" dirty="0">
                <a:latin typeface="Times New Roman"/>
                <a:cs typeface="Times New Roman"/>
              </a:rPr>
              <a:t>and evaluate the </a:t>
            </a:r>
            <a:r>
              <a:rPr lang="en-US" sz="2800" b="1" dirty="0">
                <a:latin typeface="Times New Roman"/>
                <a:cs typeface="Times New Roman"/>
              </a:rPr>
              <a:t>impact of the 2011 wage </a:t>
            </a:r>
            <a:r>
              <a:rPr lang="en-US" sz="2800" dirty="0">
                <a:latin typeface="Times New Roman"/>
                <a:cs typeface="Times New Roman"/>
              </a:rPr>
              <a:t>reform on wage inequality: </a:t>
            </a:r>
            <a:r>
              <a:rPr lang="en-US" sz="2800" b="1" dirty="0">
                <a:latin typeface="Times New Roman"/>
                <a:cs typeface="Times New Roman"/>
              </a:rPr>
              <a:t>Anderson, </a:t>
            </a:r>
            <a:r>
              <a:rPr lang="en-US" sz="2800" b="1" dirty="0" err="1">
                <a:latin typeface="Times New Roman"/>
                <a:cs typeface="Times New Roman"/>
              </a:rPr>
              <a:t>Esenaliev</a:t>
            </a:r>
            <a:r>
              <a:rPr lang="en-US" sz="2800" b="1" dirty="0">
                <a:latin typeface="Times New Roman"/>
                <a:cs typeface="Times New Roman"/>
              </a:rPr>
              <a:t> and Lawler (2016); Anderson and </a:t>
            </a:r>
            <a:r>
              <a:rPr lang="en-US" sz="2800" b="1" dirty="0" err="1">
                <a:latin typeface="Times New Roman"/>
                <a:cs typeface="Times New Roman"/>
              </a:rPr>
              <a:t>Esenaliev</a:t>
            </a:r>
            <a:r>
              <a:rPr lang="en-US" sz="2800" b="1" dirty="0">
                <a:latin typeface="Times New Roman"/>
                <a:cs typeface="Times New Roman"/>
              </a:rPr>
              <a:t> (2019); </a:t>
            </a:r>
            <a:r>
              <a:rPr lang="en-US" sz="2800" b="1" dirty="0" err="1">
                <a:latin typeface="Times New Roman"/>
                <a:cs typeface="Times New Roman"/>
              </a:rPr>
              <a:t>Klycheva</a:t>
            </a:r>
            <a:r>
              <a:rPr lang="en-US" sz="2800" b="1" dirty="0">
                <a:latin typeface="Times New Roman"/>
                <a:cs typeface="Times New Roman"/>
              </a:rPr>
              <a:t> (2016). None</a:t>
            </a:r>
            <a:r>
              <a:rPr lang="en-US" sz="2800" dirty="0">
                <a:latin typeface="Times New Roman"/>
                <a:cs typeface="Times New Roman"/>
              </a:rPr>
              <a:t> of the publications use </a:t>
            </a:r>
            <a:r>
              <a:rPr lang="en-US" sz="2800" b="1" dirty="0">
                <a:latin typeface="Times New Roman"/>
                <a:cs typeface="Times New Roman"/>
              </a:rPr>
              <a:t>2019 LIK dataset </a:t>
            </a:r>
            <a:r>
              <a:rPr lang="en-US" sz="2800" dirty="0">
                <a:latin typeface="Times New Roman"/>
                <a:cs typeface="Times New Roman"/>
              </a:rPr>
              <a:t>or tried to assess </a:t>
            </a:r>
            <a:r>
              <a:rPr lang="en-US" sz="2800" b="1" dirty="0">
                <a:latin typeface="Times New Roman"/>
                <a:cs typeface="Times New Roman"/>
              </a:rPr>
              <a:t>2018-2019 wage reforms.</a:t>
            </a:r>
          </a:p>
        </p:txBody>
      </p:sp>
      <p:pic>
        <p:nvPicPr>
          <p:cNvPr id="6146" name="Picture 2" descr="Methods and the Literature Review — Methodspace">
            <a:extLst>
              <a:ext uri="{FF2B5EF4-FFF2-40B4-BE49-F238E27FC236}">
                <a16:creationId xmlns:a16="http://schemas.microsoft.com/office/drawing/2014/main" id="{9C3F5C6F-C059-BAB2-CD31-7C14DD866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2360" y="0"/>
            <a:ext cx="1624615" cy="173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30ACFF-98FD-E727-370B-CB8CEA71B5A9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Literature review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212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cb1fe2054f_0_10"/>
          <p:cNvSpPr txBox="1">
            <a:spLocks noGrp="1"/>
          </p:cNvSpPr>
          <p:nvPr>
            <p:ph type="title"/>
          </p:nvPr>
        </p:nvSpPr>
        <p:spPr>
          <a:xfrm>
            <a:off x="1135055" y="0"/>
            <a:ext cx="10058400" cy="14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Times New Roman"/>
              <a:buNone/>
            </a:pPr>
            <a:r>
              <a:rPr lang="en-US" sz="4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Empirical framework</a:t>
            </a:r>
            <a:endParaRPr sz="4800" b="1" dirty="0">
              <a:solidFill>
                <a:srgbClr val="000000"/>
              </a:solidFill>
              <a:latin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5" name="Google Shape;285;gcb1fe2054f_0_10"/>
              <p:cNvSpPr txBox="1"/>
              <p:nvPr/>
            </p:nvSpPr>
            <p:spPr>
              <a:xfrm>
                <a:off x="1731721" y="2468597"/>
                <a:ext cx="8728558" cy="31085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14300" lvl="0" algn="just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</a:pP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The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empirical framework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of the article follow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Mincer’s (1974) estimation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 of the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simple schooling model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, which relates earnings to work experience and years of schooling: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 </m:t>
                    </m:r>
                    <m:r>
                      <a:rPr lang="en-US" sz="28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 </m:t>
                    </m:r>
                    <m:func>
                      <m:funcPr>
                        <m:ctrlP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𝐥𝐧</m:t>
                        </m:r>
                      </m:fName>
                      <m:e>
                        <m:d>
                          <m:dPr>
                            <m:ctrlPr>
                              <a:rPr lang="ar-AE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ar-AE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  <m:t>𝐦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ar-AE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𝐗</m:t>
                        </m:r>
                      </m:e>
                      <m:sub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𝐦</m:t>
                        </m:r>
                      </m:sub>
                    </m:sSub>
                    <m:sSub>
                      <m:sSubPr>
                        <m:ctrlP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𝐛</m:t>
                        </m:r>
                      </m:e>
                      <m:sub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𝐦</m:t>
                        </m:r>
                      </m:sub>
                    </m:sSub>
                    <m:r>
                      <a:rPr lang="ar-AE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+</m:t>
                    </m:r>
                    <m:sSub>
                      <m:sSubPr>
                        <m:ctrlP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𝐮</m:t>
                        </m:r>
                      </m:e>
                      <m:sub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𝐦</m:t>
                        </m:r>
                      </m:sub>
                    </m:sSub>
                    <m:r>
                      <a:rPr lang="ar-AE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;</m:t>
                    </m:r>
                  </m:oMath>
                </a14:m>
                <a:r>
                  <a:rPr lang="ar-AE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𝐥𝐧</m:t>
                        </m:r>
                      </m:fName>
                      <m:e>
                        <m:d>
                          <m:dPr>
                            <m:ctrlPr>
                              <a:rPr lang="ar-AE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AE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ar-AE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ar-AE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  <m:t>𝐟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ar-AE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𝐗</m:t>
                        </m:r>
                      </m:e>
                      <m:sub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𝐟</m:t>
                        </m:r>
                      </m:sub>
                    </m:sSub>
                    <m:sSub>
                      <m:sSubPr>
                        <m:ctrlP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𝐛</m:t>
                        </m:r>
                      </m:e>
                      <m:sub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𝐟</m:t>
                        </m:r>
                      </m:sub>
                    </m:sSub>
                    <m:r>
                      <a:rPr lang="ar-AE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+</m:t>
                    </m:r>
                    <m:sSub>
                      <m:sSubPr>
                        <m:ctrlP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𝐮</m:t>
                        </m:r>
                      </m:e>
                      <m:sub>
                        <m:r>
                          <a:rPr lang="ar-AE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𝐟</m:t>
                        </m:r>
                      </m:sub>
                    </m:sSub>
                    <m:r>
                      <a:rPr lang="ar-AE" sz="2800" b="1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,</m:t>
                    </m:r>
                    <m:r>
                      <a:rPr lang="en-US" sz="2800" b="1" i="0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 where W denotes wages, m denotes males, f denotes females, X is a matrix of observations of the independent variables, and b is the vector of estimated coefficients. </a:t>
                </a:r>
              </a:p>
            </p:txBody>
          </p:sp>
        </mc:Choice>
        <mc:Fallback>
          <p:sp>
            <p:nvSpPr>
              <p:cNvPr id="285" name="Google Shape;285;gcb1fe2054f_0_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721" y="2468597"/>
                <a:ext cx="8728558" cy="3108503"/>
              </a:xfrm>
              <a:prstGeom prst="rect">
                <a:avLst/>
              </a:prstGeom>
              <a:blipFill>
                <a:blip r:embed="rId3"/>
                <a:stretch>
                  <a:fillRect l="-70" t="-2157" r="-1466" b="-451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IZA - Institute of Labor Economics">
            <a:extLst>
              <a:ext uri="{FF2B5EF4-FFF2-40B4-BE49-F238E27FC236}">
                <a16:creationId xmlns:a16="http://schemas.microsoft.com/office/drawing/2014/main" id="{AB1807DA-30FE-4A05-A638-D9AD298F26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00"/>
          <a:stretch/>
        </p:blipFill>
        <p:spPr bwMode="auto">
          <a:xfrm>
            <a:off x="9569669" y="90044"/>
            <a:ext cx="1555531" cy="1759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9A775B-2533-38C2-662F-C097650CFDDE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Methodology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E6B7CC-8A85-4A4A-A1DD-0829108AE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8141313" cy="145075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Times New Roman"/>
                <a:cs typeface="Times New Roman"/>
              </a:rPr>
              <a:t>Heckman (1979) sample selection correction procedure</a:t>
            </a:r>
            <a:endParaRPr lang="ru-RU" dirty="0"/>
          </a:p>
        </p:txBody>
      </p:sp>
      <p:pic>
        <p:nvPicPr>
          <p:cNvPr id="11266" name="Picture 2" descr="James J. Heckman - Biographical - NobelPrize.org">
            <a:extLst>
              <a:ext uri="{FF2B5EF4-FFF2-40B4-BE49-F238E27FC236}">
                <a16:creationId xmlns:a16="http://schemas.microsoft.com/office/drawing/2014/main" id="{7DD7864F-2060-49C7-B217-372642063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386" y="2557"/>
            <a:ext cx="1334814" cy="186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F83AB2-FCDC-4F0D-AF24-0E0F82374D06}"/>
                  </a:ext>
                </a:extLst>
              </p:cNvPr>
              <p:cNvSpPr txBox="1"/>
              <p:nvPr/>
            </p:nvSpPr>
            <p:spPr>
              <a:xfrm>
                <a:off x="361260" y="1859835"/>
                <a:ext cx="11414234" cy="44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Problems arise when workers have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similar characteristics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that influence their choice to work. The two-stage Heckman (1979) selectivity correction method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help to solve this issue.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Here is the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equation: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sz="2800" b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 </m:t>
                        </m:r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𝐥𝐧</m:t>
                        </m:r>
                      </m:fName>
                      <m:e>
                        <m:d>
                          <m:dPr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ru-RU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ru-RU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  <m:t>𝐦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func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−</m:t>
                    </m:r>
                    <m:func>
                      <m:func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𝐥𝐧</m:t>
                        </m:r>
                      </m:fName>
                      <m:e>
                        <m:d>
                          <m:dPr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ru-RU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ru-RU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  <m:t>𝐟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func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𝐛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𝐦</m:t>
                        </m:r>
                      </m:sub>
                    </m:sSub>
                    <m:d>
                      <m:d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en-US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  <m:t>𝐦</m:t>
                                </m:r>
                              </m:sub>
                            </m:sSub>
                          </m:e>
                        </m:acc>
                        <m:r>
                          <a:rPr lang="en-US" sz="2800" b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ru-RU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  <m:t>𝐗</m:t>
                                </m:r>
                              </m:e>
                              <m:sub>
                                <m:r>
                                  <a:rPr lang="en-US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  <m:t>𝐟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+</m:t>
                    </m:r>
                    <m:acc>
                      <m:accPr>
                        <m:chr m:val="̅"/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𝐗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𝐟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𝐛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𝐦</m:t>
                            </m:r>
                          </m:sub>
                        </m:sSub>
                        <m:r>
                          <a:rPr lang="en-US" sz="2800" b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𝐛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𝐟</m:t>
                            </m:r>
                          </m:sub>
                        </m:sSub>
                      </m:e>
                    </m:d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+(</m:t>
                    </m:r>
                    <m:sSub>
                      <m:sSub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𝛉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𝐦</m:t>
                        </m:r>
                      </m:sub>
                    </m:sSub>
                    <m:sSub>
                      <m:sSub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𝛌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𝐦</m:t>
                        </m:r>
                      </m:sub>
                    </m:sSub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−</m:t>
                    </m:r>
                    <m:sSub>
                      <m:sSub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𝛉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𝐟</m:t>
                        </m:r>
                      </m:sub>
                    </m:sSub>
                    <m:sSub>
                      <m:sSub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𝛌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𝐟</m:t>
                        </m:r>
                      </m:sub>
                    </m:sSub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,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where B is a vector of coefficients,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𝜃</m:t>
                    </m:r>
                    <m:r>
                      <a:rPr lang="en-US" sz="28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is an estimate of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𝜌</m:t>
                    </m:r>
                    <m:sSub>
                      <m:sSubPr>
                        <m:ctrlPr>
                          <a:rPr lang="ru-RU" sz="2800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80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𝜎</m:t>
                        </m:r>
                      </m:e>
                      <m:sub>
                        <m:r>
                          <a:rPr lang="en-US" sz="280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𝑢</m:t>
                        </m:r>
                        <m:r>
                          <a:rPr lang="en-US" sz="280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𝜆</m:t>
                    </m:r>
                  </m:oMath>
                </a14:m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 is an estimate of the Inverse Mills Ratio (IMR). The first two terms in this equation are the discrimination and human capital components. While the last term signifies the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selectivity bias effect.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Running the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second stage earnings regression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using OLS with the Mills ratio obtained from the first stage participation equation estimated by probit,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solves the selection problem. </a:t>
                </a:r>
                <a:endParaRPr lang="ru-RU" sz="2800" b="1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F83AB2-FCDC-4F0D-AF24-0E0F82374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260" y="1859835"/>
                <a:ext cx="11414234" cy="4401205"/>
              </a:xfrm>
              <a:prstGeom prst="rect">
                <a:avLst/>
              </a:prstGeom>
              <a:blipFill>
                <a:blip r:embed="rId3"/>
                <a:stretch>
                  <a:fillRect l="-1068" t="-1385" r="-1068" b="-29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20966D2-272B-A6F9-8633-7E24B5B3571C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Methodology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376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1FED68-184E-4AD9-AE6D-40B4886A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7283240" cy="145075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00"/>
                </a:solidFill>
                <a:latin typeface="Times New Roman"/>
                <a:cs typeface="Times New Roman"/>
              </a:rPr>
              <a:t>Oaxaca-Blinder (1973) decomposition</a:t>
            </a:r>
            <a:endParaRPr lang="ru-RU" sz="4800" b="1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10242" name="Picture 2" descr="Oaxaca-Blinder decomposition over time | Download Scientific Diagram">
            <a:extLst>
              <a:ext uri="{FF2B5EF4-FFF2-40B4-BE49-F238E27FC236}">
                <a16:creationId xmlns:a16="http://schemas.microsoft.com/office/drawing/2014/main" id="{1798ABA6-7419-48A6-A487-DB8F25C87E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1"/>
          <a:stretch/>
        </p:blipFill>
        <p:spPr bwMode="auto">
          <a:xfrm>
            <a:off x="8529145" y="141889"/>
            <a:ext cx="2596055" cy="1751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7A2B3-E50C-46B4-94E5-1875EBC70204}"/>
                  </a:ext>
                </a:extLst>
              </p:cNvPr>
              <p:cNvSpPr txBox="1"/>
              <p:nvPr/>
            </p:nvSpPr>
            <p:spPr>
              <a:xfrm>
                <a:off x="203604" y="1893463"/>
                <a:ext cx="11729545" cy="46063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sz="2800" b="1" dirty="0" err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Minser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 equation is transformed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to the Oaxaca-Blinder (1973) twofold specification approach: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𝐥𝐧</m:t>
                        </m:r>
                      </m:fName>
                      <m:e>
                        <m:d>
                          <m:dPr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ru-RU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ru-RU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  <m:t>𝐦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func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−</m:t>
                    </m:r>
                    <m:func>
                      <m:func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funcPr>
                      <m:fNam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𝐥𝐧</m:t>
                        </m:r>
                      </m:fName>
                      <m:e>
                        <m:d>
                          <m:dPr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ru-RU" sz="2800" b="1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ru-RU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US" sz="2800" b="1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</a:rPr>
                                      <m:t>𝐟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func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𝐛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𝐦</m:t>
                        </m:r>
                      </m:sub>
                    </m:sSub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(</m:t>
                    </m:r>
                    <m:acc>
                      <m:accPr>
                        <m:chr m:val="̅"/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𝐗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𝐦</m:t>
                            </m:r>
                          </m:sub>
                        </m:sSub>
                      </m:e>
                    </m:acc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−</m:t>
                    </m:r>
                    <m:acc>
                      <m:accPr>
                        <m:chr m:val="̅"/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𝐗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𝐟</m:t>
                            </m:r>
                          </m:sub>
                        </m:sSub>
                      </m:e>
                    </m:acc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)+</m:t>
                    </m:r>
                    <m:acc>
                      <m:accPr>
                        <m:chr m:val="̅"/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ru-RU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𝐗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Times New Roman"/>
                                <a:cs typeface="Times New Roman"/>
                              </a:rPr>
                              <m:t>𝐟</m:t>
                            </m:r>
                          </m:sub>
                        </m:sSub>
                      </m:e>
                    </m:acc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(</m:t>
                    </m:r>
                    <m:sSub>
                      <m:sSub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𝐛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𝐦</m:t>
                        </m:r>
                      </m:sub>
                    </m:sSub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−</m:t>
                    </m:r>
                    <m:sSub>
                      <m:sSubPr>
                        <m:ctrlPr>
                          <a:rPr lang="ru-RU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𝐛</m:t>
                        </m:r>
                      </m:e>
                      <m:sub>
                        <m:r>
                          <a:rPr lang="en-US" sz="2800" b="1" i="1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  <m:t>𝐟</m:t>
                        </m:r>
                      </m:sub>
                    </m:sSub>
                    <m:r>
                      <a:rPr lang="en-US" sz="2800" b="1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. </a:t>
                </a:r>
              </a:p>
              <a:p>
                <a:pPr marL="342900" indent="-342900" algn="just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The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first term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on the right-hand side reflects the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impact on the wage gap due to differences in education and work experience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(which themselves could reflect gender discrimination); and the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second term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reflects the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</a:rPr>
                  <a:t>impact of direct gender discrimination.</a:t>
                </a:r>
              </a:p>
              <a:p>
                <a:pPr marL="342900" indent="-342900" algn="just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cs typeface="Times New Roman"/>
                  </a:rPr>
                  <a:t>The decomposition method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cs typeface="Times New Roman"/>
                  </a:rPr>
                  <a:t>will be used in order to decompose dependent variables between two groups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cs typeface="Times New Roman"/>
                  </a:rPr>
                  <a:t> into a part explained by differences in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cs typeface="Times New Roman"/>
                  </a:rPr>
                  <a:t>observed characteristics </a:t>
                </a:r>
                <a:r>
                  <a:rPr lang="en-US" sz="2800" dirty="0">
                    <a:solidFill>
                      <a:schemeClr val="dk1"/>
                    </a:solidFill>
                    <a:latin typeface="Times New Roman"/>
                    <a:cs typeface="Times New Roman"/>
                  </a:rPr>
                  <a:t>and a part attributable to the differences in </a:t>
                </a:r>
                <a:r>
                  <a:rPr lang="en-US" sz="2800" b="1" dirty="0">
                    <a:solidFill>
                      <a:schemeClr val="dk1"/>
                    </a:solidFill>
                    <a:latin typeface="Times New Roman"/>
                    <a:cs typeface="Times New Roman"/>
                  </a:rPr>
                  <a:t>estimated coefficients.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D27A2B3-E50C-46B4-94E5-1875EBC70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04" y="1893463"/>
                <a:ext cx="11729545" cy="4606389"/>
              </a:xfrm>
              <a:prstGeom prst="rect">
                <a:avLst/>
              </a:prstGeom>
              <a:blipFill>
                <a:blip r:embed="rId3"/>
                <a:stretch>
                  <a:fillRect l="-935" t="-1457" r="-1039" b="-29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2EC216F-36BB-29B4-61F6-2E03F1FF856B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Methodology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379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3470D30-23E8-6836-65A7-6A46C01B6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368887"/>
              </p:ext>
            </p:extLst>
          </p:nvPr>
        </p:nvGraphicFramePr>
        <p:xfrm>
          <a:off x="694712" y="187473"/>
          <a:ext cx="10935035" cy="5974080"/>
        </p:xfrm>
        <a:graphic>
          <a:graphicData uri="http://schemas.openxmlformats.org/drawingml/2006/table">
            <a:tbl>
              <a:tblPr firstRow="1" firstCol="1" bandRow="1">
                <a:tableStyleId>{1010BC02-740B-453B-A207-380854AEF980}</a:tableStyleId>
              </a:tblPr>
              <a:tblGrid>
                <a:gridCol w="1968588">
                  <a:extLst>
                    <a:ext uri="{9D8B030D-6E8A-4147-A177-3AD203B41FA5}">
                      <a16:colId xmlns:a16="http://schemas.microsoft.com/office/drawing/2014/main" val="27792940"/>
                    </a:ext>
                  </a:extLst>
                </a:gridCol>
                <a:gridCol w="1509204">
                  <a:extLst>
                    <a:ext uri="{9D8B030D-6E8A-4147-A177-3AD203B41FA5}">
                      <a16:colId xmlns:a16="http://schemas.microsoft.com/office/drawing/2014/main" val="1485928959"/>
                    </a:ext>
                  </a:extLst>
                </a:gridCol>
                <a:gridCol w="1997476">
                  <a:extLst>
                    <a:ext uri="{9D8B030D-6E8A-4147-A177-3AD203B41FA5}">
                      <a16:colId xmlns:a16="http://schemas.microsoft.com/office/drawing/2014/main" val="1046028346"/>
                    </a:ext>
                  </a:extLst>
                </a:gridCol>
                <a:gridCol w="1953087">
                  <a:extLst>
                    <a:ext uri="{9D8B030D-6E8A-4147-A177-3AD203B41FA5}">
                      <a16:colId xmlns:a16="http://schemas.microsoft.com/office/drawing/2014/main" val="3274991321"/>
                    </a:ext>
                  </a:extLst>
                </a:gridCol>
                <a:gridCol w="1766657">
                  <a:extLst>
                    <a:ext uri="{9D8B030D-6E8A-4147-A177-3AD203B41FA5}">
                      <a16:colId xmlns:a16="http://schemas.microsoft.com/office/drawing/2014/main" val="2226077636"/>
                    </a:ext>
                  </a:extLst>
                </a:gridCol>
                <a:gridCol w="1740023">
                  <a:extLst>
                    <a:ext uri="{9D8B030D-6E8A-4147-A177-3AD203B41FA5}">
                      <a16:colId xmlns:a16="http://schemas.microsoft.com/office/drawing/2014/main" val="1272419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Variable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 err="1">
                          <a:effectLst/>
                        </a:rPr>
                        <a:t>Obs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Mean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Std. Dev.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Min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Max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277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 err="1">
                          <a:effectLst/>
                        </a:rPr>
                        <a:t>Lnwage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2,587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3.900075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.6623993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1.537117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6.365431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279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Age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2,587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39.33282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11.34757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17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60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13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Age^2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2,587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1675.788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916.3387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289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3600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183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Preschool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2,545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.0066798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.0814724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0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450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School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2,545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.6506876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.4768465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423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College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2,545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.1390963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.346115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1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518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University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2,545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.2035363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.4027071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524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Kyrgyz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2,587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.7097024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.4539874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146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Uzbek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2,587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.1426363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.3497691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213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Russian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2,587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.059915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.2373751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571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2800" b="1" dirty="0">
                          <a:effectLst/>
                        </a:rPr>
                        <a:t>Minorities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2,587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.0877464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.2829805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094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Rural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2,587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.6652493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.4719945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13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800" b="1" dirty="0">
                          <a:effectLst/>
                        </a:rPr>
                        <a:t>East</a:t>
                      </a:r>
                      <a:endParaRPr lang="ru-RU" sz="4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2,587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.4650174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>
                          <a:effectLst/>
                        </a:rPr>
                        <a:t>.4988711</a:t>
                      </a:r>
                      <a:endParaRPr lang="ru-RU" sz="4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0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l"/>
                      <a:r>
                        <a:rPr lang="en-GB" sz="2800" dirty="0">
                          <a:effectLst/>
                        </a:rPr>
                        <a:t>1</a:t>
                      </a:r>
                      <a:endParaRPr lang="ru-RU" sz="4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882670"/>
                  </a:ext>
                </a:extLst>
              </a:tr>
            </a:tbl>
          </a:graphicData>
        </a:graphic>
      </p:graphicFrame>
      <p:sp>
        <p:nvSpPr>
          <p:cNvPr id="3" name="Google Shape;116;p3">
            <a:extLst>
              <a:ext uri="{FF2B5EF4-FFF2-40B4-BE49-F238E27FC236}">
                <a16:creationId xmlns:a16="http://schemas.microsoft.com/office/drawing/2014/main" id="{96BAE1BB-B672-74A4-E764-D354B3688967}"/>
              </a:ext>
            </a:extLst>
          </p:cNvPr>
          <p:cNvSpPr txBox="1">
            <a:spLocks/>
          </p:cNvSpPr>
          <p:nvPr/>
        </p:nvSpPr>
        <p:spPr>
          <a:xfrm>
            <a:off x="1011555" y="6448097"/>
            <a:ext cx="10113645" cy="409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Bookman Old Style"/>
              <a:buNone/>
              <a:defRPr sz="4700" b="0" i="0" u="none" strike="noStrike" cap="non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1270" algn="ctr"/>
            <a:r>
              <a:rPr lang="en-GB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1. Summary statistics for 2019 year</a:t>
            </a:r>
            <a:endParaRPr lang="ru-RU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159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6;p3">
            <a:extLst>
              <a:ext uri="{FF2B5EF4-FFF2-40B4-BE49-F238E27FC236}">
                <a16:creationId xmlns:a16="http://schemas.microsoft.com/office/drawing/2014/main" id="{1FA63BAA-9D23-D4D9-B894-5D4581FB224D}"/>
              </a:ext>
            </a:extLst>
          </p:cNvPr>
          <p:cNvSpPr txBox="1">
            <a:spLocks/>
          </p:cNvSpPr>
          <p:nvPr/>
        </p:nvSpPr>
        <p:spPr>
          <a:xfrm>
            <a:off x="0" y="6445188"/>
            <a:ext cx="12126896" cy="412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Bookman Old Style"/>
              <a:buNone/>
              <a:defRPr sz="4700" b="0" i="0" u="none" strike="noStrike" cap="non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Table 2. OLS results only for wage-employed males and females for 2016-2019 years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7E1BC66-FACD-0CD3-9133-3C5464E64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94272"/>
              </p:ext>
            </p:extLst>
          </p:nvPr>
        </p:nvGraphicFramePr>
        <p:xfrm>
          <a:off x="564049" y="0"/>
          <a:ext cx="11205945" cy="6339840"/>
        </p:xfrm>
        <a:graphic>
          <a:graphicData uri="http://schemas.openxmlformats.org/drawingml/2006/table">
            <a:tbl>
              <a:tblPr firstRow="1" firstCol="1" bandRow="1">
                <a:tableStyleId>{1010BC02-740B-453B-A207-380854AEF980}</a:tableStyleId>
              </a:tblPr>
              <a:tblGrid>
                <a:gridCol w="1955413">
                  <a:extLst>
                    <a:ext uri="{9D8B030D-6E8A-4147-A177-3AD203B41FA5}">
                      <a16:colId xmlns:a16="http://schemas.microsoft.com/office/drawing/2014/main" val="3157612672"/>
                    </a:ext>
                  </a:extLst>
                </a:gridCol>
                <a:gridCol w="2237172">
                  <a:extLst>
                    <a:ext uri="{9D8B030D-6E8A-4147-A177-3AD203B41FA5}">
                      <a16:colId xmlns:a16="http://schemas.microsoft.com/office/drawing/2014/main" val="2048307929"/>
                    </a:ext>
                  </a:extLst>
                </a:gridCol>
                <a:gridCol w="2166152">
                  <a:extLst>
                    <a:ext uri="{9D8B030D-6E8A-4147-A177-3AD203B41FA5}">
                      <a16:colId xmlns:a16="http://schemas.microsoft.com/office/drawing/2014/main" val="2337006895"/>
                    </a:ext>
                  </a:extLst>
                </a:gridCol>
                <a:gridCol w="2521258">
                  <a:extLst>
                    <a:ext uri="{9D8B030D-6E8A-4147-A177-3AD203B41FA5}">
                      <a16:colId xmlns:a16="http://schemas.microsoft.com/office/drawing/2014/main" val="4194699543"/>
                    </a:ext>
                  </a:extLst>
                </a:gridCol>
                <a:gridCol w="2325950">
                  <a:extLst>
                    <a:ext uri="{9D8B030D-6E8A-4147-A177-3AD203B41FA5}">
                      <a16:colId xmlns:a16="http://schemas.microsoft.com/office/drawing/2014/main" val="2204511417"/>
                    </a:ext>
                  </a:extLst>
                </a:gridCol>
              </a:tblGrid>
              <a:tr h="144646">
                <a:tc rowSpan="2">
                  <a:txBody>
                    <a:bodyPr/>
                    <a:lstStyle/>
                    <a:p>
                      <a:pPr indent="-635" algn="just"/>
                      <a:r>
                        <a:rPr lang="en-US" sz="1600" dirty="0">
                          <a:effectLst/>
                        </a:rPr>
                        <a:t> 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US" sz="1600" b="1" dirty="0">
                          <a:effectLst/>
                        </a:rPr>
                        <a:t>2016 year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US" sz="1600" b="1" dirty="0">
                          <a:effectLst/>
                        </a:rPr>
                        <a:t>2019 year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971018"/>
                  </a:ext>
                </a:extLst>
              </a:tr>
              <a:tr h="14464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b="1" dirty="0">
                          <a:effectLst/>
                        </a:rPr>
                        <a:t>male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b="1" dirty="0">
                          <a:effectLst/>
                        </a:rPr>
                        <a:t>female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b="1" dirty="0">
                          <a:effectLst/>
                        </a:rPr>
                        <a:t>male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b="1" dirty="0">
                          <a:effectLst/>
                        </a:rPr>
                        <a:t>female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307477"/>
                  </a:ext>
                </a:extLst>
              </a:tr>
              <a:tr h="144646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 dirty="0">
                          <a:effectLst/>
                        </a:rPr>
                        <a:t>R-squared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>
                          <a:effectLst/>
                        </a:rPr>
                        <a:t>0.0576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0.1199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0.0623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>
                          <a:effectLst/>
                        </a:rPr>
                        <a:t>0.0798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280641"/>
                  </a:ext>
                </a:extLst>
              </a:tr>
              <a:tr h="144646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>
                          <a:effectLst/>
                        </a:rPr>
                        <a:t>Sample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974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870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879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636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474710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 dirty="0">
                          <a:effectLst/>
                        </a:rPr>
                        <a:t>Age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.0344327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(0.010)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.0122812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(0.381)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.029111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(0.021)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.0047635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(0.752)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761513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>
                          <a:effectLst/>
                        </a:rPr>
                        <a:t>Age^2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-.0004351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(0.012)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>
                          <a:effectLst/>
                        </a:rPr>
                        <a:t>-.0001193</a:t>
                      </a:r>
                      <a:endParaRPr lang="ru-RU" sz="1600">
                        <a:effectLst/>
                      </a:endParaRPr>
                    </a:p>
                    <a:p>
                      <a:pPr indent="-635" algn="ctr"/>
                      <a:r>
                        <a:rPr lang="en-US" sz="1600">
                          <a:effectLst/>
                        </a:rPr>
                        <a:t>(0.504)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>
                          <a:effectLst/>
                        </a:rPr>
                        <a:t>-.0004077</a:t>
                      </a:r>
                      <a:endParaRPr lang="ru-RU" sz="1600">
                        <a:effectLst/>
                      </a:endParaRPr>
                    </a:p>
                    <a:p>
                      <a:pPr indent="-635" algn="ctr"/>
                      <a:r>
                        <a:rPr lang="en-US" sz="1600">
                          <a:effectLst/>
                        </a:rPr>
                        <a:t>(0.009)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>
                          <a:effectLst/>
                        </a:rPr>
                        <a:t>-.0000947</a:t>
                      </a:r>
                      <a:endParaRPr lang="ru-RU" sz="1600">
                        <a:effectLst/>
                      </a:endParaRPr>
                    </a:p>
                    <a:p>
                      <a:pPr indent="-635" algn="ctr"/>
                      <a:r>
                        <a:rPr lang="en-US" sz="1600">
                          <a:effectLst/>
                        </a:rPr>
                        <a:t>(0.609)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814383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 dirty="0">
                          <a:effectLst/>
                        </a:rPr>
                        <a:t>School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-.1245693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(0.835)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.6697757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(0.052)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.4413407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(0.073)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.6113454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(0.261)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716970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>
                          <a:effectLst/>
                        </a:rPr>
                        <a:t>College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>
                          <a:effectLst/>
                        </a:rPr>
                        <a:t>-.0271267</a:t>
                      </a:r>
                      <a:endParaRPr lang="ru-RU" sz="1600">
                        <a:effectLst/>
                      </a:endParaRPr>
                    </a:p>
                    <a:p>
                      <a:pPr indent="-635" algn="ctr"/>
                      <a:r>
                        <a:rPr lang="en-US" sz="1600">
                          <a:effectLst/>
                        </a:rPr>
                        <a:t>(0.964)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.7421297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(0.033)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.4387316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(0.080)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>
                          <a:effectLst/>
                        </a:rPr>
                        <a:t>.6812955</a:t>
                      </a:r>
                      <a:endParaRPr lang="ru-RU" sz="1600">
                        <a:effectLst/>
                      </a:endParaRPr>
                    </a:p>
                    <a:p>
                      <a:pPr indent="-635" algn="ctr"/>
                      <a:r>
                        <a:rPr lang="en-US" sz="1600">
                          <a:effectLst/>
                        </a:rPr>
                        <a:t>(0.212)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536812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 dirty="0">
                          <a:effectLst/>
                        </a:rPr>
                        <a:t>University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.0921043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(0.878)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1.033796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(0.003)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>
                          <a:effectLst/>
                        </a:rPr>
                        <a:t>.6163827</a:t>
                      </a:r>
                      <a:endParaRPr lang="ru-RU" sz="1600">
                        <a:effectLst/>
                      </a:endParaRPr>
                    </a:p>
                    <a:p>
                      <a:pPr indent="-635" algn="ctr"/>
                      <a:r>
                        <a:rPr lang="en-US" sz="1600">
                          <a:effectLst/>
                        </a:rPr>
                        <a:t>(0.013)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>
                          <a:effectLst/>
                        </a:rPr>
                        <a:t>.8804432</a:t>
                      </a:r>
                      <a:endParaRPr lang="ru-RU" sz="1600">
                        <a:effectLst/>
                      </a:endParaRPr>
                    </a:p>
                    <a:p>
                      <a:pPr indent="-635" algn="ctr"/>
                      <a:r>
                        <a:rPr lang="en-US" sz="1600">
                          <a:effectLst/>
                        </a:rPr>
                        <a:t>(0.106)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26144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>
                          <a:effectLst/>
                        </a:rPr>
                        <a:t>Uzbek</a:t>
                      </a:r>
                      <a:endParaRPr lang="ru-RU" sz="16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.1263859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(0.036)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.0479172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(0.513)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.0515694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(0.384)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.1459044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(0.083)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11880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 dirty="0">
                          <a:effectLst/>
                        </a:rPr>
                        <a:t>Russian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-.0438462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(0.526)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-.0229081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(0.733)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.1681315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(0.030)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.0702046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(0.343)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769390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 dirty="0">
                          <a:effectLst/>
                        </a:rPr>
                        <a:t>Minorities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-.0315373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(0.658)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-.0748517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(0.349)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.1331613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(0.030)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.190538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(0.014)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081698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 dirty="0">
                          <a:effectLst/>
                        </a:rPr>
                        <a:t>Rural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-.1264137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(0.002)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-.1357775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(0.001)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-.0152336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(0.690)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-.0622415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(0.175)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767071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 dirty="0">
                          <a:effectLst/>
                        </a:rPr>
                        <a:t>East regions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.0980632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(0.027)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.1064675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(0.020)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.1251472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(0.002)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.101419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(0.038)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243129"/>
                  </a:ext>
                </a:extLst>
              </a:tr>
              <a:tr h="289291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600" b="1" dirty="0">
                          <a:effectLst/>
                        </a:rPr>
                        <a:t>Cons</a:t>
                      </a:r>
                      <a:endParaRPr lang="ru-RU" sz="16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/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3.450214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(0.000)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2.848125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(0.000)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3.088289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(0.000)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3.164521</a:t>
                      </a:r>
                      <a:endParaRPr lang="ru-RU" sz="1600" dirty="0">
                        <a:effectLst/>
                      </a:endParaRPr>
                    </a:p>
                    <a:p>
                      <a:pPr indent="-635" algn="ctr"/>
                      <a:r>
                        <a:rPr lang="en-US" sz="1600" dirty="0">
                          <a:effectLst/>
                        </a:rPr>
                        <a:t>(0.000)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091" marR="65091" marT="0" marB="0" anchor="ctr">
                    <a:solidFill>
                      <a:srgbClr val="FFC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832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284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80A49F7-2B2F-D57A-2E42-A5D878F7C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329456"/>
              </p:ext>
            </p:extLst>
          </p:nvPr>
        </p:nvGraphicFramePr>
        <p:xfrm>
          <a:off x="232221" y="0"/>
          <a:ext cx="11727558" cy="6370320"/>
        </p:xfrm>
        <a:graphic>
          <a:graphicData uri="http://schemas.openxmlformats.org/drawingml/2006/table">
            <a:tbl>
              <a:tblPr firstRow="1" firstCol="1" bandRow="1">
                <a:tableStyleId>{1010BC02-740B-453B-A207-380854AEF980}</a:tableStyleId>
              </a:tblPr>
              <a:tblGrid>
                <a:gridCol w="3431051">
                  <a:extLst>
                    <a:ext uri="{9D8B030D-6E8A-4147-A177-3AD203B41FA5}">
                      <a16:colId xmlns:a16="http://schemas.microsoft.com/office/drawing/2014/main" val="2022671736"/>
                    </a:ext>
                  </a:extLst>
                </a:gridCol>
                <a:gridCol w="2408663">
                  <a:extLst>
                    <a:ext uri="{9D8B030D-6E8A-4147-A177-3AD203B41FA5}">
                      <a16:colId xmlns:a16="http://schemas.microsoft.com/office/drawing/2014/main" val="2231165608"/>
                    </a:ext>
                  </a:extLst>
                </a:gridCol>
                <a:gridCol w="2085278">
                  <a:extLst>
                    <a:ext uri="{9D8B030D-6E8A-4147-A177-3AD203B41FA5}">
                      <a16:colId xmlns:a16="http://schemas.microsoft.com/office/drawing/2014/main" val="1374482775"/>
                    </a:ext>
                  </a:extLst>
                </a:gridCol>
                <a:gridCol w="1594625">
                  <a:extLst>
                    <a:ext uri="{9D8B030D-6E8A-4147-A177-3AD203B41FA5}">
                      <a16:colId xmlns:a16="http://schemas.microsoft.com/office/drawing/2014/main" val="644586065"/>
                    </a:ext>
                  </a:extLst>
                </a:gridCol>
                <a:gridCol w="2207941">
                  <a:extLst>
                    <a:ext uri="{9D8B030D-6E8A-4147-A177-3AD203B41FA5}">
                      <a16:colId xmlns:a16="http://schemas.microsoft.com/office/drawing/2014/main" val="309002046"/>
                    </a:ext>
                  </a:extLst>
                </a:gridCol>
              </a:tblGrid>
              <a:tr h="102754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>
                          <a:effectLst/>
                        </a:rPr>
                        <a:t> </a:t>
                      </a:r>
                      <a:endParaRPr lang="ru-RU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GB" sz="1900" b="1" dirty="0">
                          <a:effectLst/>
                        </a:rPr>
                        <a:t>2016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GB" sz="1900" b="1" dirty="0">
                          <a:effectLst/>
                        </a:rPr>
                        <a:t>2019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465841"/>
                  </a:ext>
                </a:extLst>
              </a:tr>
              <a:tr h="102754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Number of </a:t>
                      </a:r>
                      <a:r>
                        <a:rPr lang="en-GB" sz="1900" b="1" dirty="0" err="1">
                          <a:effectLst/>
                        </a:rPr>
                        <a:t>obs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GB" sz="1900">
                          <a:effectLst/>
                        </a:rPr>
                        <a:t>6,056</a:t>
                      </a:r>
                      <a:endParaRPr lang="ru-RU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GB" sz="1900">
                          <a:effectLst/>
                        </a:rPr>
                        <a:t>7,188</a:t>
                      </a:r>
                      <a:endParaRPr lang="ru-RU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060282"/>
                  </a:ext>
                </a:extLst>
              </a:tr>
              <a:tr h="102754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>
                          <a:effectLst/>
                        </a:rPr>
                        <a:t>Censored obs</a:t>
                      </a:r>
                      <a:endParaRPr lang="ru-RU" sz="1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GB" sz="1900">
                          <a:effectLst/>
                        </a:rPr>
                        <a:t>3,131</a:t>
                      </a:r>
                      <a:endParaRPr lang="ru-RU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GB" sz="1900">
                          <a:effectLst/>
                        </a:rPr>
                        <a:t>4,643</a:t>
                      </a:r>
                      <a:endParaRPr lang="ru-RU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703708"/>
                  </a:ext>
                </a:extLst>
              </a:tr>
              <a:tr h="167027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>
                          <a:effectLst/>
                        </a:rPr>
                        <a:t>Uncensored obs</a:t>
                      </a:r>
                      <a:endParaRPr lang="ru-RU" sz="1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GB" sz="1900">
                          <a:effectLst/>
                        </a:rPr>
                        <a:t>2,925</a:t>
                      </a:r>
                      <a:endParaRPr lang="ru-RU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GB" sz="1900">
                          <a:effectLst/>
                        </a:rPr>
                        <a:t>2,545</a:t>
                      </a:r>
                      <a:endParaRPr lang="ru-RU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573288"/>
                  </a:ext>
                </a:extLst>
              </a:tr>
              <a:tr h="102754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Prob &gt; chi2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GB" sz="1900">
                          <a:effectLst/>
                        </a:rPr>
                        <a:t>0.0000</a:t>
                      </a:r>
                      <a:endParaRPr lang="ru-RU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indent="-635" algn="ctr"/>
                      <a:r>
                        <a:rPr lang="en-GB" sz="1900" dirty="0">
                          <a:effectLst/>
                        </a:rPr>
                        <a:t>0.0000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809989"/>
                  </a:ext>
                </a:extLst>
              </a:tr>
              <a:tr h="123305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>
                          <a:effectLst/>
                        </a:rPr>
                        <a:t>Equation</a:t>
                      </a:r>
                      <a:endParaRPr lang="ru-RU" sz="1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OLS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Select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OLS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Select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301168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Allchild6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>
                          <a:effectLst/>
                        </a:rPr>
                        <a:t>-</a:t>
                      </a:r>
                      <a:endParaRPr lang="ru-RU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-.1075145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-.0442405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0218416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Married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.0252838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>
                          <a:effectLst/>
                        </a:rPr>
                        <a:t>-</a:t>
                      </a:r>
                      <a:endParaRPr lang="ru-RU" sz="1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.181829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265345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>
                          <a:effectLst/>
                        </a:rPr>
                        <a:t>Age</a:t>
                      </a:r>
                      <a:endParaRPr lang="ru-RU" sz="1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.0187784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.137881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-.0270171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.1511532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880546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>
                          <a:effectLst/>
                        </a:rPr>
                        <a:t>Age^2</a:t>
                      </a:r>
                      <a:endParaRPr lang="ru-RU" sz="1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-.0001934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-.0014962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.0002229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-.0016787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275396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 dirty="0">
                          <a:effectLst/>
                        </a:rPr>
                        <a:t>School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.0388342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.2877338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.226934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.0807695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841224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>
                          <a:effectLst/>
                        </a:rPr>
                        <a:t>College</a:t>
                      </a:r>
                      <a:endParaRPr lang="ru-RU" sz="1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.070999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.5048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.2698624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.2710406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824521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>
                          <a:effectLst/>
                        </a:rPr>
                        <a:t>University</a:t>
                      </a:r>
                      <a:endParaRPr lang="ru-RU" sz="1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.2133336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.5139157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.3485241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.4650199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149803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 dirty="0">
                          <a:effectLst/>
                        </a:rPr>
                        <a:t>Uzbek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.1471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-.2450713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.0641551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.0865829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379318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>
                          <a:effectLst/>
                        </a:rPr>
                        <a:t>Russian</a:t>
                      </a:r>
                      <a:endParaRPr lang="ru-RU" sz="19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.0001917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-.096028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.1827143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-.1102377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089066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 dirty="0">
                          <a:effectLst/>
                        </a:rPr>
                        <a:t>Minorities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.1148195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-.1194441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.3347423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-.1916164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65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 dirty="0">
                          <a:effectLst/>
                        </a:rPr>
                        <a:t>Rural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-.1626033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-.4324055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-.2214929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-.0926602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483645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 dirty="0">
                          <a:effectLst/>
                        </a:rPr>
                        <a:t>East regions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.0160848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.1848817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.0724852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.4017169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377043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US" sz="1900" b="1" dirty="0">
                          <a:effectLst/>
                        </a:rPr>
                        <a:t>Cons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 anchor="ctr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3.558465</a:t>
                      </a: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-2.813563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4.803865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-3.713397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354414"/>
                  </a:ext>
                </a:extLst>
              </a:tr>
              <a:tr h="205508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Lambda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.0448403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-.4353119</a:t>
                      </a:r>
                      <a:endParaRPr lang="ru-RU" sz="1900" dirty="0">
                        <a:effectLst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354007"/>
                  </a:ext>
                </a:extLst>
              </a:tr>
              <a:tr h="123305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Rho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0.06518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-0.60981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596733"/>
                  </a:ext>
                </a:extLst>
              </a:tr>
              <a:tr h="123305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b="1" dirty="0">
                          <a:effectLst/>
                        </a:rPr>
                        <a:t>Sigma</a:t>
                      </a:r>
                      <a:endParaRPr lang="ru-RU" sz="1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.68798448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-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1900" dirty="0">
                          <a:effectLst/>
                        </a:rPr>
                        <a:t>.71385417</a:t>
                      </a:r>
                      <a:endParaRPr lang="ru-RU" sz="1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6239" marR="46239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98259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D200A57-1826-A185-AD5D-1DFED1A09001}"/>
              </a:ext>
            </a:extLst>
          </p:cNvPr>
          <p:cNvSpPr txBox="1"/>
          <p:nvPr/>
        </p:nvSpPr>
        <p:spPr>
          <a:xfrm>
            <a:off x="2070238" y="6396335"/>
            <a:ext cx="8051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sym typeface="Bookman Old Style"/>
              </a:rPr>
              <a:t>Table 3. Heckman correction procedure for 2016-2019 years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sym typeface="Bookman Old Style"/>
            </a:endParaRPr>
          </a:p>
        </p:txBody>
      </p:sp>
    </p:spTree>
    <p:extLst>
      <p:ext uri="{BB962C8B-B14F-4D97-AF65-F5344CB8AC3E}">
        <p14:creationId xmlns:p14="http://schemas.microsoft.com/office/powerpoint/2010/main" val="249432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AA0E63-8DFB-3BE9-2BEF-D61D9BD8E4A8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Table 4. Oaxaca-Blinder decomposition for 2016-2019 years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ABEBD65-1402-D709-629A-16D8A9B62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844635"/>
              </p:ext>
            </p:extLst>
          </p:nvPr>
        </p:nvGraphicFramePr>
        <p:xfrm>
          <a:off x="2544418" y="94753"/>
          <a:ext cx="6857999" cy="6172200"/>
        </p:xfrm>
        <a:graphic>
          <a:graphicData uri="http://schemas.openxmlformats.org/drawingml/2006/table">
            <a:tbl>
              <a:tblPr firstRow="1" firstCol="1" bandRow="1">
                <a:tableStyleId>{1010BC02-740B-453B-A207-380854AEF980}</a:tableStyleId>
              </a:tblPr>
              <a:tblGrid>
                <a:gridCol w="3508513">
                  <a:extLst>
                    <a:ext uri="{9D8B030D-6E8A-4147-A177-3AD203B41FA5}">
                      <a16:colId xmlns:a16="http://schemas.microsoft.com/office/drawing/2014/main" val="2022640713"/>
                    </a:ext>
                  </a:extLst>
                </a:gridCol>
                <a:gridCol w="1689652">
                  <a:extLst>
                    <a:ext uri="{9D8B030D-6E8A-4147-A177-3AD203B41FA5}">
                      <a16:colId xmlns:a16="http://schemas.microsoft.com/office/drawing/2014/main" val="96362197"/>
                    </a:ext>
                  </a:extLst>
                </a:gridCol>
                <a:gridCol w="1659834">
                  <a:extLst>
                    <a:ext uri="{9D8B030D-6E8A-4147-A177-3AD203B41FA5}">
                      <a16:colId xmlns:a16="http://schemas.microsoft.com/office/drawing/2014/main" val="2923528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>
                          <a:effectLst/>
                        </a:rPr>
                        <a:t> </a:t>
                      </a:r>
                      <a:endParaRPr lang="ru-RU" sz="2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b="1" dirty="0">
                          <a:effectLst/>
                        </a:rPr>
                        <a:t>2016</a:t>
                      </a:r>
                      <a:endParaRPr lang="ru-RU" sz="27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b="1" dirty="0">
                          <a:effectLst/>
                        </a:rPr>
                        <a:t>2019</a:t>
                      </a:r>
                      <a:endParaRPr lang="ru-RU" sz="27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147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b="1" dirty="0">
                          <a:effectLst/>
                        </a:rPr>
                        <a:t>Number of </a:t>
                      </a:r>
                      <a:r>
                        <a:rPr lang="en-GB" sz="2700" b="1" dirty="0" err="1">
                          <a:effectLst/>
                        </a:rPr>
                        <a:t>obs</a:t>
                      </a:r>
                      <a:endParaRPr lang="ru-RU" sz="27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2,925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2,545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31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b="1" dirty="0">
                          <a:effectLst/>
                        </a:rPr>
                        <a:t>N of group 1: male</a:t>
                      </a:r>
                      <a:endParaRPr lang="ru-RU" sz="27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1832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>
                          <a:effectLst/>
                        </a:rPr>
                        <a:t>1523</a:t>
                      </a:r>
                      <a:endParaRPr lang="ru-RU" sz="2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427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b="1" dirty="0">
                          <a:effectLst/>
                        </a:rPr>
                        <a:t>N of group 2: female</a:t>
                      </a:r>
                      <a:endParaRPr lang="ru-RU" sz="27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>
                          <a:effectLst/>
                        </a:rPr>
                        <a:t>1093</a:t>
                      </a:r>
                      <a:endParaRPr lang="ru-RU" sz="27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1022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61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b="1" dirty="0">
                          <a:effectLst/>
                        </a:rPr>
                        <a:t>Group 1 (male)</a:t>
                      </a:r>
                      <a:endParaRPr lang="ru-RU" sz="27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4.075317</a:t>
                      </a:r>
                      <a:endParaRPr lang="ru-RU" sz="2700" dirty="0">
                        <a:effectLst/>
                      </a:endParaRPr>
                    </a:p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(0.000)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3.954189</a:t>
                      </a:r>
                      <a:endParaRPr lang="ru-RU" sz="2700" dirty="0">
                        <a:effectLst/>
                      </a:endParaRPr>
                    </a:p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(0.000)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299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b="1" dirty="0">
                          <a:effectLst/>
                        </a:rPr>
                        <a:t>Group 2 (female)</a:t>
                      </a:r>
                      <a:endParaRPr lang="ru-RU" sz="27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3.94768</a:t>
                      </a:r>
                      <a:endParaRPr lang="ru-RU" sz="2700" dirty="0">
                        <a:effectLst/>
                      </a:endParaRPr>
                    </a:p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(0.000)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3.816678</a:t>
                      </a:r>
                      <a:endParaRPr lang="ru-RU" sz="2700" dirty="0">
                        <a:effectLst/>
                      </a:endParaRPr>
                    </a:p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(0.000)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476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b="1" dirty="0">
                          <a:effectLst/>
                        </a:rPr>
                        <a:t>Difference</a:t>
                      </a:r>
                      <a:endParaRPr lang="ru-RU" sz="27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.1276371</a:t>
                      </a:r>
                      <a:endParaRPr lang="ru-RU" sz="2700" dirty="0">
                        <a:effectLst/>
                      </a:endParaRPr>
                    </a:p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(0.000)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.1375113</a:t>
                      </a:r>
                      <a:endParaRPr lang="ru-RU" sz="2700" dirty="0">
                        <a:effectLst/>
                      </a:endParaRPr>
                    </a:p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(0.000)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161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b="1" dirty="0">
                          <a:effectLst/>
                        </a:rPr>
                        <a:t>Explained</a:t>
                      </a:r>
                      <a:endParaRPr lang="ru-RU" sz="27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-.0417533</a:t>
                      </a:r>
                      <a:endParaRPr lang="ru-RU" sz="2700" dirty="0">
                        <a:effectLst/>
                      </a:endParaRPr>
                    </a:p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(0.000)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-.0470802</a:t>
                      </a:r>
                      <a:endParaRPr lang="ru-RU" sz="2700" dirty="0">
                        <a:effectLst/>
                      </a:endParaRPr>
                    </a:p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(0.000)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567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b="1" dirty="0">
                          <a:effectLst/>
                        </a:rPr>
                        <a:t>Unexplained</a:t>
                      </a:r>
                      <a:endParaRPr lang="ru-RU" sz="27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.1693904</a:t>
                      </a:r>
                      <a:endParaRPr lang="ru-RU" sz="2700" dirty="0">
                        <a:effectLst/>
                      </a:endParaRPr>
                    </a:p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(0.000)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7E4FF"/>
                    </a:solidFill>
                  </a:tcPr>
                </a:tc>
                <a:tc>
                  <a:txBody>
                    <a:bodyPr/>
                    <a:lstStyle/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.1845915</a:t>
                      </a:r>
                      <a:endParaRPr lang="ru-RU" sz="2700" dirty="0">
                        <a:effectLst/>
                      </a:endParaRPr>
                    </a:p>
                    <a:p>
                      <a:pPr indent="-635" algn="just"/>
                      <a:r>
                        <a:rPr lang="en-GB" sz="2700" dirty="0">
                          <a:effectLst/>
                        </a:rPr>
                        <a:t>(0.000)</a:t>
                      </a:r>
                      <a:endParaRPr lang="ru-RU" sz="27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EE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7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565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A1E16-87FB-6057-DD5D-19D9BB64D724}"/>
              </a:ext>
            </a:extLst>
          </p:cNvPr>
          <p:cNvSpPr txBox="1"/>
          <p:nvPr/>
        </p:nvSpPr>
        <p:spPr>
          <a:xfrm>
            <a:off x="241852" y="356177"/>
            <a:ext cx="1170829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From table 4 we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see that the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overall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gender wage gap has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increased</a:t>
            </a:r>
            <a:r>
              <a:rPr lang="en-GB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means that on average, male workers earned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12.8%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more than female workers in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2016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while in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2019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male workers earned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13.8%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more than female workers.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explained component 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the wage gap also increased slightly from -.0417533 in 2016 to -.0470802 in 2019, indicating that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differences in characteristics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between male and female workers such as education, experience, and occupation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continue to explain part of the wage gap.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However, the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unexplained component 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the wage gap increased significantly from .1693904 in 2016 to .1845915 in 2019. This indicates that the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 of the wage gap that cannot be explained by observable differences in characteristics 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between male and female workers has increased. 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6896C-37E8-0E2A-D681-2911BFCBF27E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Conclusion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492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B46881-9968-36E6-F334-9F4BB64C4BFA}"/>
              </a:ext>
            </a:extLst>
          </p:cNvPr>
          <p:cNvSpPr txBox="1"/>
          <p:nvPr/>
        </p:nvSpPr>
        <p:spPr>
          <a:xfrm>
            <a:off x="846896" y="553398"/>
            <a:ext cx="10498207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</a:rPr>
              <a:t>This may suggest that </a:t>
            </a:r>
            <a:r>
              <a:rPr lang="en-GB" sz="2800" b="1" dirty="0">
                <a:latin typeface="Times New Roman" panose="02020603050405020304" pitchFamily="18" charset="0"/>
              </a:rPr>
              <a:t>discrimination or other unobserved factors </a:t>
            </a:r>
            <a:r>
              <a:rPr lang="en-GB" sz="2800" dirty="0">
                <a:latin typeface="Times New Roman" panose="02020603050405020304" pitchFamily="18" charset="0"/>
              </a:rPr>
              <a:t>are playing a larger role in the gender wage gap in 2019 than they were in 2016. 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</a:rPr>
              <a:t>The comparison between the two years provides some insights into how the gender wage gap has evolved over time. Oaxaca-Blinder decomposition is a useful tool for understanding the contribution of observable characteristics to the wage gap and for </a:t>
            </a:r>
            <a:r>
              <a:rPr lang="en-GB" sz="2800" b="1" dirty="0">
                <a:latin typeface="Times New Roman" panose="02020603050405020304" pitchFamily="18" charset="0"/>
              </a:rPr>
              <a:t>identifying areas where further research and policy intervention may be needed.</a:t>
            </a:r>
          </a:p>
          <a:p>
            <a:pPr algn="just"/>
            <a:endParaRPr lang="en-GB" sz="2800" b="1" dirty="0">
              <a:latin typeface="Times New Roman" panose="02020603050405020304" pitchFamily="18" charset="0"/>
            </a:endParaRPr>
          </a:p>
          <a:p>
            <a:pPr algn="just"/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 that,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findings 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the article are </a:t>
            </a:r>
            <a:r>
              <a:rPr lang="en-GB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relevant for understanding the obstacles to gender equality and may be helpful for policy analysis.</a:t>
            </a:r>
            <a:r>
              <a:rPr lang="en-GB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It could be suggested that results may be considered when setting the government's wage policies and distributing public resources. 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ru-RU" sz="2800" dirty="0">
              <a:latin typeface="Times New Roman" panose="02020603050405020304" pitchFamily="18" charset="0"/>
            </a:endParaRPr>
          </a:p>
          <a:p>
            <a:endParaRPr lang="ru-RU" sz="2800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A4502-E4F2-2846-1C5B-1BC950810409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Conclusion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064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8"/>
          <p:cNvSpPr txBox="1"/>
          <p:nvPr/>
        </p:nvSpPr>
        <p:spPr>
          <a:xfrm>
            <a:off x="109330" y="146346"/>
            <a:ext cx="11956773" cy="6509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Alcorta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L.,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Swedlund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H. J., &amp; Smits, J. (2020). Discrimination and ethnic conflict: A dyadic analysis of politically-excluded groups in sub-Saharan Africa. International Interactions, 46(2), 251-273. 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Anderson, K. H., &amp;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Esenaliev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D. (2019). Gender Earnings Inequality and Wage Policy: Teachers, Health Care, and Social Workers in Central Asia. Comparative Economic Studies, 61(4), 551-575.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Anderson, K.,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Esenaliev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D., Lawler. E. (2016). Gender Wage Inequality in Kyrgyzstan after the 2010 Revolution: Evidence from the Life in Kyrgyzstan Surveys 2010-2013. Paper presented at the 2016 Central Eurasian Studies Society Conference, Princeton, NJ.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Arabsheibani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G. R.,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Kudebayeva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A., &amp;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Mussurov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(2021). A note on bride kidnapping and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supply behaviour of Kyrgyz women. Economic Systems, 45(4), 100885.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Becker, G. S. (1962). Investment in human capital: A theoretical analysis. Journal of political economy, 70(5, Part 2), 9-49.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Blau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F. D., &amp; Kahn, L. M. (2017). The gender wage gap: Extent, trends, and explanations. Journal of economic literature, 55(3), 789-865.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Blinder, A. S. (1973). Wage discrimination: reduced form and structural estimates. Journal of Human resources, 436-455.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Borjas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G. J., &amp; Van Ours, J. C. (2010). 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economics (p. 45). Boston: McGraw-Hill/Irwin.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Campos, N., &amp; Jolliffe, D. (2007). Earnings, schooling, and economic reform: econometric evidence from Hungary (1986–2004). The World Bank Economic Review, 21(3), 509-526.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Heckman, J. J. (1979). Sample selection bias as a specification error. 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Econometrica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Journal of the econometric society, 153-161.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Karymshakov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K.,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Sulaimanova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B., &amp;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Bergolo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M. (2020). Employment Vulnerability, Wages, and Subjective Well-Being in Kyrgyzstan. Partnership for Economic Policy Working Paper, (2020-03).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Klycheva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(2016). The Gender Wage Gap in Kyrgyzstan: Does the Equal Rights Amendment Matter? (Doctoral dissertation, MS Thesis. Budapest: Central European University).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Life in Kyrgyzstan (2023). The ‘Life in Kyrgyzstan’ Study – A research-based, open access knowledge infrastructure for Central Asia </a:t>
            </a:r>
            <a:r>
              <a:rPr lang="en-GB" sz="139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https://lifeinkyrgyzstan.org/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Mincer, J. (1974). Schooling, Experience, and Earnings. Human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Behavior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&amp; Social Institutions No. 2.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National Statistical Committee of the Kyrgyz Republic (2023). </a:t>
            </a:r>
            <a:r>
              <a:rPr lang="en-GB" sz="139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http://www.stat.kg/ru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Oaxaca, R. (1973). Male-female wage differentials in urban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markets. International economic review, 693-709.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Oshchepkov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Y. (2006). Gender wage gap in Russia. HSE Econ J, 10(4), 590-619.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Staneva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A.,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Arabsheibani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G. R., &amp; Murphy, P. D. (2010). Returns to education in four transition countries: Quantile regression approach.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Wilson T. (2020). Getting to the Root of Poverty: the Relationship Between Poverty and Discrimination. </a:t>
            </a:r>
            <a:r>
              <a:rPr lang="en-GB" sz="139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https://borgenproject.org/getting-to-the-root-of-poverty/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115" indent="-285750" algn="just">
              <a:buFont typeface="Arial" panose="020B0604020202020204" pitchFamily="34" charset="0"/>
              <a:buChar char="•"/>
            </a:pP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World Bank (2023). 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force participation rate, female (% of female population ages 15+) (</a:t>
            </a:r>
            <a:r>
              <a:rPr lang="en-GB" sz="139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modeled</a:t>
            </a:r>
            <a:r>
              <a:rPr lang="en-GB" sz="13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ILO estimate) - Kyrgyz Republic </a:t>
            </a:r>
            <a:r>
              <a:rPr lang="en-GB" sz="139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6"/>
              </a:rPr>
              <a:t>https://data.worldbank.org/indicator/</a:t>
            </a:r>
            <a:endParaRPr lang="ru-RU" sz="139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0DE7E-2587-6A3C-25C1-5B52CD4B29A8}"/>
              </a:ext>
            </a:extLst>
          </p:cNvPr>
          <p:cNvSpPr txBox="1"/>
          <p:nvPr/>
        </p:nvSpPr>
        <p:spPr>
          <a:xfrm>
            <a:off x="2134014" y="6396335"/>
            <a:ext cx="7923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1270" algn="ctr"/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References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Ретроспектива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2704</Words>
  <Application>Microsoft Office PowerPoint</Application>
  <PresentationFormat>Широкоэкранный</PresentationFormat>
  <Paragraphs>427</Paragraphs>
  <Slides>21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Libre Franklin</vt:lpstr>
      <vt:lpstr>Cambria Math</vt:lpstr>
      <vt:lpstr>Bookman Old Style</vt:lpstr>
      <vt:lpstr>Times New Roman</vt:lpstr>
      <vt:lpstr>Calibri</vt:lpstr>
      <vt:lpstr>1_РетроспективаVTI</vt:lpstr>
      <vt:lpstr>Gender Wage Gap and Income Inequality in Kyrgyzstan  </vt:lpstr>
      <vt:lpstr>Abstract</vt:lpstr>
      <vt:lpstr>Consequences of  gender wage discrimination</vt:lpstr>
      <vt:lpstr>Republic of Kyrgyzstan labor market</vt:lpstr>
      <vt:lpstr>Презентация PowerPoint</vt:lpstr>
      <vt:lpstr>Презентация PowerPoint</vt:lpstr>
      <vt:lpstr>Презентация PowerPoint</vt:lpstr>
      <vt:lpstr>The Life in Kyrgyzstan  longitudinal survey – “LiK”</vt:lpstr>
      <vt:lpstr>Research question and hypothesis </vt:lpstr>
      <vt:lpstr>Theory: Becker (1962)</vt:lpstr>
      <vt:lpstr>Literature review</vt:lpstr>
      <vt:lpstr>Empirical framework</vt:lpstr>
      <vt:lpstr>Heckman (1979) sample selection correction procedure</vt:lpstr>
      <vt:lpstr>Oaxaca-Blinder (1973) decomposition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Wage Inequality in Kyrgyzstan: an Empirical Investigation</dc:title>
  <dc:creator>Ирина</dc:creator>
  <cp:lastModifiedBy>AMCHAM</cp:lastModifiedBy>
  <cp:revision>16</cp:revision>
  <dcterms:created xsi:type="dcterms:W3CDTF">2021-09-06T04:56:39Z</dcterms:created>
  <dcterms:modified xsi:type="dcterms:W3CDTF">2023-04-14T17:45:26Z</dcterms:modified>
</cp:coreProperties>
</file>