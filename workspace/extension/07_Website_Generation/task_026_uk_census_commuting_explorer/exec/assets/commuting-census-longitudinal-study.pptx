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8.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9.xml" ContentType="application/vnd.openxmlformats-officedocument.presentationml.notesSl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0.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1.xml" ContentType="application/vnd.openxmlformats-officedocument.presentationml.notesSlid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2.xml" ContentType="application/vnd.openxmlformats-officedocument.presentationml.notesSlid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5" r:id="rId4"/>
  </p:sldMasterIdLst>
  <p:notesMasterIdLst>
    <p:notesMasterId r:id="rId37"/>
  </p:notesMasterIdLst>
  <p:sldIdLst>
    <p:sldId id="256" r:id="rId5"/>
    <p:sldId id="337" r:id="rId6"/>
    <p:sldId id="339" r:id="rId7"/>
    <p:sldId id="306" r:id="rId8"/>
    <p:sldId id="267" r:id="rId9"/>
    <p:sldId id="295" r:id="rId10"/>
    <p:sldId id="272" r:id="rId11"/>
    <p:sldId id="274" r:id="rId12"/>
    <p:sldId id="340" r:id="rId13"/>
    <p:sldId id="307" r:id="rId14"/>
    <p:sldId id="336" r:id="rId15"/>
    <p:sldId id="314" r:id="rId16"/>
    <p:sldId id="341" r:id="rId17"/>
    <p:sldId id="342" r:id="rId18"/>
    <p:sldId id="343" r:id="rId19"/>
    <p:sldId id="344" r:id="rId20"/>
    <p:sldId id="353" r:id="rId21"/>
    <p:sldId id="351" r:id="rId22"/>
    <p:sldId id="355" r:id="rId23"/>
    <p:sldId id="347" r:id="rId24"/>
    <p:sldId id="349" r:id="rId25"/>
    <p:sldId id="357" r:id="rId26"/>
    <p:sldId id="296" r:id="rId27"/>
    <p:sldId id="325" r:id="rId28"/>
    <p:sldId id="326" r:id="rId29"/>
    <p:sldId id="327" r:id="rId30"/>
    <p:sldId id="328" r:id="rId31"/>
    <p:sldId id="332" r:id="rId32"/>
    <p:sldId id="334" r:id="rId33"/>
    <p:sldId id="305" r:id="rId34"/>
    <p:sldId id="358" r:id="rId35"/>
    <p:sldId id="309" r:id="rId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ockton, Jemima" initials="SJ" lastIdx="8" clrIdx="0">
    <p:extLst>
      <p:ext uri="{19B8F6BF-5375-455C-9EA6-DF929625EA0E}">
        <p15:presenceInfo xmlns:p15="http://schemas.microsoft.com/office/powerpoint/2012/main" userId="S::jemima.stockton@ext.ons.gov.uk::44a3d57b-c3b6-4f40-acc7-9de6eedf0b65" providerId="AD"/>
      </p:ext>
    </p:extLst>
  </p:cmAuthor>
  <p:cmAuthor id="2" name="Sizer, Aly" initials="SA" lastIdx="7" clrIdx="1">
    <p:extLst>
      <p:ext uri="{19B8F6BF-5375-455C-9EA6-DF929625EA0E}">
        <p15:presenceInfo xmlns:p15="http://schemas.microsoft.com/office/powerpoint/2012/main" userId="S::aly.sizer@ext.ons.gov.uk::03f84831-8deb-470d-80f8-1010f09756d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CC99"/>
    <a:srgbClr val="B2E2ED"/>
    <a:srgbClr val="8DB9CA"/>
    <a:srgbClr val="FFFF99"/>
    <a:srgbClr val="A4DBE8"/>
    <a:srgbClr val="002855"/>
    <a:srgbClr val="F6BE00"/>
    <a:srgbClr val="D6D2C4"/>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5B41D-54DE-4B8A-A780-40A99DF63F79}" v="21" dt="2024-05-29T00:05:38.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76" autoAdjust="0"/>
    <p:restoredTop sz="70985" autoAdjust="0"/>
  </p:normalViewPr>
  <p:slideViewPr>
    <p:cSldViewPr snapToGrid="0" snapToObjects="1">
      <p:cViewPr varScale="1">
        <p:scale>
          <a:sx n="63" d="100"/>
          <a:sy n="63" d="100"/>
        </p:scale>
        <p:origin x="740" y="3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ockton, Jemima" userId="bfd8902c-9146-435c-99e3-ead8b8b9a09d" providerId="ADAL" clId="{08C5B41D-54DE-4B8A-A780-40A99DF63F79}"/>
    <pc:docChg chg="undo redo custSel modSld sldOrd">
      <pc:chgData name="Stockton, Jemima" userId="bfd8902c-9146-435c-99e3-ead8b8b9a09d" providerId="ADAL" clId="{08C5B41D-54DE-4B8A-A780-40A99DF63F79}" dt="2024-05-29T00:35:37.133" v="2608" actId="1035"/>
      <pc:docMkLst>
        <pc:docMk/>
      </pc:docMkLst>
      <pc:sldChg chg="modNotesTx">
        <pc:chgData name="Stockton, Jemima" userId="bfd8902c-9146-435c-99e3-ead8b8b9a09d" providerId="ADAL" clId="{08C5B41D-54DE-4B8A-A780-40A99DF63F79}" dt="2024-05-28T23:14:30.571" v="0" actId="20577"/>
        <pc:sldMkLst>
          <pc:docMk/>
          <pc:sldMk cId="467758108" sldId="256"/>
        </pc:sldMkLst>
      </pc:sldChg>
      <pc:sldChg chg="modNotesTx">
        <pc:chgData name="Stockton, Jemima" userId="bfd8902c-9146-435c-99e3-ead8b8b9a09d" providerId="ADAL" clId="{08C5B41D-54DE-4B8A-A780-40A99DF63F79}" dt="2024-05-28T23:18:31.700" v="236" actId="20577"/>
        <pc:sldMkLst>
          <pc:docMk/>
          <pc:sldMk cId="3303696464" sldId="267"/>
        </pc:sldMkLst>
      </pc:sldChg>
      <pc:sldChg chg="modNotesTx">
        <pc:chgData name="Stockton, Jemima" userId="bfd8902c-9146-435c-99e3-ead8b8b9a09d" providerId="ADAL" clId="{08C5B41D-54DE-4B8A-A780-40A99DF63F79}" dt="2024-05-28T23:20:39.754" v="499" actId="20577"/>
        <pc:sldMkLst>
          <pc:docMk/>
          <pc:sldMk cId="4135747909" sldId="272"/>
        </pc:sldMkLst>
      </pc:sldChg>
      <pc:sldChg chg="modNotesTx">
        <pc:chgData name="Stockton, Jemima" userId="bfd8902c-9146-435c-99e3-ead8b8b9a09d" providerId="ADAL" clId="{08C5B41D-54DE-4B8A-A780-40A99DF63F79}" dt="2024-05-28T23:21:20.781" v="581" actId="20577"/>
        <pc:sldMkLst>
          <pc:docMk/>
          <pc:sldMk cId="215744228" sldId="274"/>
        </pc:sldMkLst>
      </pc:sldChg>
      <pc:sldChg chg="modSp mod modNotesTx">
        <pc:chgData name="Stockton, Jemima" userId="bfd8902c-9146-435c-99e3-ead8b8b9a09d" providerId="ADAL" clId="{08C5B41D-54DE-4B8A-A780-40A99DF63F79}" dt="2024-05-28T23:19:56.633" v="403" actId="20577"/>
        <pc:sldMkLst>
          <pc:docMk/>
          <pc:sldMk cId="1793800471" sldId="295"/>
        </pc:sldMkLst>
        <pc:spChg chg="mod">
          <ac:chgData name="Stockton, Jemima" userId="bfd8902c-9146-435c-99e3-ead8b8b9a09d" providerId="ADAL" clId="{08C5B41D-54DE-4B8A-A780-40A99DF63F79}" dt="2024-05-28T23:18:43.061" v="237" actId="20577"/>
          <ac:spMkLst>
            <pc:docMk/>
            <pc:sldMk cId="1793800471" sldId="295"/>
            <ac:spMk id="6" creationId="{7C91D6FC-7760-4ACD-B741-018ED449C573}"/>
          </ac:spMkLst>
        </pc:spChg>
      </pc:sldChg>
      <pc:sldChg chg="modNotesTx">
        <pc:chgData name="Stockton, Jemima" userId="bfd8902c-9146-435c-99e3-ead8b8b9a09d" providerId="ADAL" clId="{08C5B41D-54DE-4B8A-A780-40A99DF63F79}" dt="2024-05-29T00:00:44.493" v="2292" actId="20577"/>
        <pc:sldMkLst>
          <pc:docMk/>
          <pc:sldMk cId="700899582" sldId="296"/>
        </pc:sldMkLst>
      </pc:sldChg>
      <pc:sldChg chg="modNotesTx">
        <pc:chgData name="Stockton, Jemima" userId="bfd8902c-9146-435c-99e3-ead8b8b9a09d" providerId="ADAL" clId="{08C5B41D-54DE-4B8A-A780-40A99DF63F79}" dt="2024-05-29T00:07:36.964" v="2480" actId="20577"/>
        <pc:sldMkLst>
          <pc:docMk/>
          <pc:sldMk cId="3432915827" sldId="305"/>
        </pc:sldMkLst>
      </pc:sldChg>
      <pc:sldChg chg="modNotesTx">
        <pc:chgData name="Stockton, Jemima" userId="bfd8902c-9146-435c-99e3-ead8b8b9a09d" providerId="ADAL" clId="{08C5B41D-54DE-4B8A-A780-40A99DF63F79}" dt="2024-05-28T23:17:47.898" v="181" actId="20577"/>
        <pc:sldMkLst>
          <pc:docMk/>
          <pc:sldMk cId="2849929652" sldId="306"/>
        </pc:sldMkLst>
      </pc:sldChg>
      <pc:sldChg chg="modNotesTx">
        <pc:chgData name="Stockton, Jemima" userId="bfd8902c-9146-435c-99e3-ead8b8b9a09d" providerId="ADAL" clId="{08C5B41D-54DE-4B8A-A780-40A99DF63F79}" dt="2024-05-28T23:21:46.325" v="582" actId="20577"/>
        <pc:sldMkLst>
          <pc:docMk/>
          <pc:sldMk cId="1415942040" sldId="307"/>
        </pc:sldMkLst>
      </pc:sldChg>
      <pc:sldChg chg="addSp modSp mod modAnim modNotesTx">
        <pc:chgData name="Stockton, Jemima" userId="bfd8902c-9146-435c-99e3-ead8b8b9a09d" providerId="ADAL" clId="{08C5B41D-54DE-4B8A-A780-40A99DF63F79}" dt="2024-05-28T23:27:02.726" v="708" actId="20577"/>
        <pc:sldMkLst>
          <pc:docMk/>
          <pc:sldMk cId="2704421450" sldId="314"/>
        </pc:sldMkLst>
        <pc:spChg chg="add mod">
          <ac:chgData name="Stockton, Jemima" userId="bfd8902c-9146-435c-99e3-ead8b8b9a09d" providerId="ADAL" clId="{08C5B41D-54DE-4B8A-A780-40A99DF63F79}" dt="2024-05-28T23:24:43.454" v="628" actId="1036"/>
          <ac:spMkLst>
            <pc:docMk/>
            <pc:sldMk cId="2704421450" sldId="314"/>
            <ac:spMk id="8" creationId="{A81932A8-E099-DDA7-285E-58972FD7236C}"/>
          </ac:spMkLst>
        </pc:spChg>
        <pc:spChg chg="add mod">
          <ac:chgData name="Stockton, Jemima" userId="bfd8902c-9146-435c-99e3-ead8b8b9a09d" providerId="ADAL" clId="{08C5B41D-54DE-4B8A-A780-40A99DF63F79}" dt="2024-05-28T23:25:02.664" v="634" actId="14100"/>
          <ac:spMkLst>
            <pc:docMk/>
            <pc:sldMk cId="2704421450" sldId="314"/>
            <ac:spMk id="11" creationId="{C4733CE7-ABD8-B7EA-C3D4-482BE4D62CA0}"/>
          </ac:spMkLst>
        </pc:spChg>
      </pc:sldChg>
      <pc:sldChg chg="modNotesTx">
        <pc:chgData name="Stockton, Jemima" userId="bfd8902c-9146-435c-99e3-ead8b8b9a09d" providerId="ADAL" clId="{08C5B41D-54DE-4B8A-A780-40A99DF63F79}" dt="2024-05-29T00:01:23.705" v="2293" actId="20577"/>
        <pc:sldMkLst>
          <pc:docMk/>
          <pc:sldMk cId="2950262790" sldId="325"/>
        </pc:sldMkLst>
      </pc:sldChg>
      <pc:sldChg chg="modNotesTx">
        <pc:chgData name="Stockton, Jemima" userId="bfd8902c-9146-435c-99e3-ead8b8b9a09d" providerId="ADAL" clId="{08C5B41D-54DE-4B8A-A780-40A99DF63F79}" dt="2024-05-29T00:02:15.020" v="2312" actId="20577"/>
        <pc:sldMkLst>
          <pc:docMk/>
          <pc:sldMk cId="1550288007" sldId="326"/>
        </pc:sldMkLst>
      </pc:sldChg>
      <pc:sldChg chg="modSp mod modNotesTx">
        <pc:chgData name="Stockton, Jemima" userId="bfd8902c-9146-435c-99e3-ead8b8b9a09d" providerId="ADAL" clId="{08C5B41D-54DE-4B8A-A780-40A99DF63F79}" dt="2024-05-29T00:34:13.523" v="2606" actId="1076"/>
        <pc:sldMkLst>
          <pc:docMk/>
          <pc:sldMk cId="226755666" sldId="327"/>
        </pc:sldMkLst>
        <pc:spChg chg="mod">
          <ac:chgData name="Stockton, Jemima" userId="bfd8902c-9146-435c-99e3-ead8b8b9a09d" providerId="ADAL" clId="{08C5B41D-54DE-4B8A-A780-40A99DF63F79}" dt="2024-05-29T00:34:13.523" v="2606" actId="1076"/>
          <ac:spMkLst>
            <pc:docMk/>
            <pc:sldMk cId="226755666" sldId="327"/>
            <ac:spMk id="17" creationId="{47C6F455-43F1-A7CC-A560-EAE6345EC620}"/>
          </ac:spMkLst>
        </pc:spChg>
      </pc:sldChg>
      <pc:sldChg chg="addSp modSp mod modAnim modNotesTx">
        <pc:chgData name="Stockton, Jemima" userId="bfd8902c-9146-435c-99e3-ead8b8b9a09d" providerId="ADAL" clId="{08C5B41D-54DE-4B8A-A780-40A99DF63F79}" dt="2024-05-29T00:35:37.133" v="2608" actId="1035"/>
        <pc:sldMkLst>
          <pc:docMk/>
          <pc:sldMk cId="2482249423" sldId="328"/>
        </pc:sldMkLst>
        <pc:spChg chg="add mod">
          <ac:chgData name="Stockton, Jemima" userId="bfd8902c-9146-435c-99e3-ead8b8b9a09d" providerId="ADAL" clId="{08C5B41D-54DE-4B8A-A780-40A99DF63F79}" dt="2024-05-29T00:05:03.770" v="2410" actId="1076"/>
          <ac:spMkLst>
            <pc:docMk/>
            <pc:sldMk cId="2482249423" sldId="328"/>
            <ac:spMk id="4" creationId="{BDC8772B-3C55-CC67-48CB-6C56B848E1B5}"/>
          </ac:spMkLst>
        </pc:spChg>
        <pc:graphicFrameChg chg="mod">
          <ac:chgData name="Stockton, Jemima" userId="bfd8902c-9146-435c-99e3-ead8b8b9a09d" providerId="ADAL" clId="{08C5B41D-54DE-4B8A-A780-40A99DF63F79}" dt="2024-05-29T00:35:37.133" v="2608" actId="1035"/>
          <ac:graphicFrameMkLst>
            <pc:docMk/>
            <pc:sldMk cId="2482249423" sldId="328"/>
            <ac:graphicFrameMk id="2" creationId="{4B154E46-AC7F-22BE-68EF-10ECDC463D61}"/>
          </ac:graphicFrameMkLst>
        </pc:graphicFrameChg>
      </pc:sldChg>
      <pc:sldChg chg="addSp modSp mod">
        <pc:chgData name="Stockton, Jemima" userId="bfd8902c-9146-435c-99e3-ead8b8b9a09d" providerId="ADAL" clId="{08C5B41D-54DE-4B8A-A780-40A99DF63F79}" dt="2024-05-29T00:05:27.720" v="2414" actId="1076"/>
        <pc:sldMkLst>
          <pc:docMk/>
          <pc:sldMk cId="3122877430" sldId="332"/>
        </pc:sldMkLst>
        <pc:spChg chg="add mod">
          <ac:chgData name="Stockton, Jemima" userId="bfd8902c-9146-435c-99e3-ead8b8b9a09d" providerId="ADAL" clId="{08C5B41D-54DE-4B8A-A780-40A99DF63F79}" dt="2024-05-29T00:05:27.720" v="2414" actId="1076"/>
          <ac:spMkLst>
            <pc:docMk/>
            <pc:sldMk cId="3122877430" sldId="332"/>
            <ac:spMk id="6" creationId="{E7A6500D-A15B-8A09-6373-BE94B3755107}"/>
          </ac:spMkLst>
        </pc:spChg>
        <pc:graphicFrameChg chg="add mod">
          <ac:chgData name="Stockton, Jemima" userId="bfd8902c-9146-435c-99e3-ead8b8b9a09d" providerId="ADAL" clId="{08C5B41D-54DE-4B8A-A780-40A99DF63F79}" dt="2024-05-29T00:05:13.685" v="2412"/>
          <ac:graphicFrameMkLst>
            <pc:docMk/>
            <pc:sldMk cId="3122877430" sldId="332"/>
            <ac:graphicFrameMk id="4" creationId="{666523A0-3BE9-0657-92DD-6280B897216B}"/>
          </ac:graphicFrameMkLst>
        </pc:graphicFrameChg>
      </pc:sldChg>
      <pc:sldChg chg="addSp modSp">
        <pc:chgData name="Stockton, Jemima" userId="bfd8902c-9146-435c-99e3-ead8b8b9a09d" providerId="ADAL" clId="{08C5B41D-54DE-4B8A-A780-40A99DF63F79}" dt="2024-05-29T00:05:38.293" v="2415"/>
        <pc:sldMkLst>
          <pc:docMk/>
          <pc:sldMk cId="1922787588" sldId="334"/>
        </pc:sldMkLst>
        <pc:spChg chg="add mod">
          <ac:chgData name="Stockton, Jemima" userId="bfd8902c-9146-435c-99e3-ead8b8b9a09d" providerId="ADAL" clId="{08C5B41D-54DE-4B8A-A780-40A99DF63F79}" dt="2024-05-29T00:05:38.293" v="2415"/>
          <ac:spMkLst>
            <pc:docMk/>
            <pc:sldMk cId="1922787588" sldId="334"/>
            <ac:spMk id="4" creationId="{078AFE00-99DB-D434-2991-456E018F7730}"/>
          </ac:spMkLst>
        </pc:spChg>
      </pc:sldChg>
      <pc:sldChg chg="modNotesTx">
        <pc:chgData name="Stockton, Jemima" userId="bfd8902c-9146-435c-99e3-ead8b8b9a09d" providerId="ADAL" clId="{08C5B41D-54DE-4B8A-A780-40A99DF63F79}" dt="2024-05-28T23:22:36.655" v="613" actId="20577"/>
        <pc:sldMkLst>
          <pc:docMk/>
          <pc:sldMk cId="2982985928" sldId="336"/>
        </pc:sldMkLst>
      </pc:sldChg>
      <pc:sldChg chg="modNotesTx">
        <pc:chgData name="Stockton, Jemima" userId="bfd8902c-9146-435c-99e3-ead8b8b9a09d" providerId="ADAL" clId="{08C5B41D-54DE-4B8A-A780-40A99DF63F79}" dt="2024-05-28T23:14:39.325" v="1" actId="20577"/>
        <pc:sldMkLst>
          <pc:docMk/>
          <pc:sldMk cId="2678330226" sldId="337"/>
        </pc:sldMkLst>
      </pc:sldChg>
      <pc:sldChg chg="modNotesTx">
        <pc:chgData name="Stockton, Jemima" userId="bfd8902c-9146-435c-99e3-ead8b8b9a09d" providerId="ADAL" clId="{08C5B41D-54DE-4B8A-A780-40A99DF63F79}" dt="2024-05-28T23:16:42.797" v="57" actId="20577"/>
        <pc:sldMkLst>
          <pc:docMk/>
          <pc:sldMk cId="1806102176" sldId="339"/>
        </pc:sldMkLst>
      </pc:sldChg>
      <pc:sldChg chg="addSp delSp modSp mod modNotesTx">
        <pc:chgData name="Stockton, Jemima" userId="bfd8902c-9146-435c-99e3-ead8b8b9a09d" providerId="ADAL" clId="{08C5B41D-54DE-4B8A-A780-40A99DF63F79}" dt="2024-05-28T23:30:49.586" v="731" actId="20577"/>
        <pc:sldMkLst>
          <pc:docMk/>
          <pc:sldMk cId="3081143629" sldId="341"/>
        </pc:sldMkLst>
        <pc:spChg chg="add del mod">
          <ac:chgData name="Stockton, Jemima" userId="bfd8902c-9146-435c-99e3-ead8b8b9a09d" providerId="ADAL" clId="{08C5B41D-54DE-4B8A-A780-40A99DF63F79}" dt="2024-05-28T23:28:14.380" v="721" actId="478"/>
          <ac:spMkLst>
            <pc:docMk/>
            <pc:sldMk cId="3081143629" sldId="341"/>
            <ac:spMk id="2" creationId="{E6041328-3BF9-06BB-83BA-FCCD7F0EFF57}"/>
          </ac:spMkLst>
        </pc:spChg>
        <pc:spChg chg="add del mod">
          <ac:chgData name="Stockton, Jemima" userId="bfd8902c-9146-435c-99e3-ead8b8b9a09d" providerId="ADAL" clId="{08C5B41D-54DE-4B8A-A780-40A99DF63F79}" dt="2024-05-28T23:28:12.959" v="720" actId="478"/>
          <ac:spMkLst>
            <pc:docMk/>
            <pc:sldMk cId="3081143629" sldId="341"/>
            <ac:spMk id="8" creationId="{6BE69370-7449-B848-DF4F-ADAF476CB7FA}"/>
          </ac:spMkLst>
        </pc:spChg>
        <pc:graphicFrameChg chg="mod">
          <ac:chgData name="Stockton, Jemima" userId="bfd8902c-9146-435c-99e3-ead8b8b9a09d" providerId="ADAL" clId="{08C5B41D-54DE-4B8A-A780-40A99DF63F79}" dt="2024-05-28T23:27:18.866" v="717" actId="1076"/>
          <ac:graphicFrameMkLst>
            <pc:docMk/>
            <pc:sldMk cId="3081143629" sldId="341"/>
            <ac:graphicFrameMk id="5" creationId="{C6EC1708-53D7-0324-7742-B03FABDAD637}"/>
          </ac:graphicFrameMkLst>
        </pc:graphicFrameChg>
      </pc:sldChg>
      <pc:sldChg chg="modNotesTx">
        <pc:chgData name="Stockton, Jemima" userId="bfd8902c-9146-435c-99e3-ead8b8b9a09d" providerId="ADAL" clId="{08C5B41D-54DE-4B8A-A780-40A99DF63F79}" dt="2024-05-28T23:31:33.940" v="732" actId="20577"/>
        <pc:sldMkLst>
          <pc:docMk/>
          <pc:sldMk cId="1278780904" sldId="342"/>
        </pc:sldMkLst>
      </pc:sldChg>
      <pc:sldChg chg="modAnim modNotesTx">
        <pc:chgData name="Stockton, Jemima" userId="bfd8902c-9146-435c-99e3-ead8b8b9a09d" providerId="ADAL" clId="{08C5B41D-54DE-4B8A-A780-40A99DF63F79}" dt="2024-05-29T00:25:38.650" v="2588" actId="20577"/>
        <pc:sldMkLst>
          <pc:docMk/>
          <pc:sldMk cId="2581877878" sldId="343"/>
        </pc:sldMkLst>
      </pc:sldChg>
      <pc:sldChg chg="modSp mod modNotesTx">
        <pc:chgData name="Stockton, Jemima" userId="bfd8902c-9146-435c-99e3-ead8b8b9a09d" providerId="ADAL" clId="{08C5B41D-54DE-4B8A-A780-40A99DF63F79}" dt="2024-05-28T23:43:03.941" v="1257" actId="1076"/>
        <pc:sldMkLst>
          <pc:docMk/>
          <pc:sldMk cId="1241246206" sldId="344"/>
        </pc:sldMkLst>
        <pc:grpChg chg="mod">
          <ac:chgData name="Stockton, Jemima" userId="bfd8902c-9146-435c-99e3-ead8b8b9a09d" providerId="ADAL" clId="{08C5B41D-54DE-4B8A-A780-40A99DF63F79}" dt="2024-05-28T23:43:03.941" v="1257" actId="1076"/>
          <ac:grpSpMkLst>
            <pc:docMk/>
            <pc:sldMk cId="1241246206" sldId="344"/>
            <ac:grpSpMk id="28" creationId="{F0CE6B52-5BB9-8BE0-92F1-C9B6352AA88F}"/>
          </ac:grpSpMkLst>
        </pc:grpChg>
        <pc:grpChg chg="mod">
          <ac:chgData name="Stockton, Jemima" userId="bfd8902c-9146-435c-99e3-ead8b8b9a09d" providerId="ADAL" clId="{08C5B41D-54DE-4B8A-A780-40A99DF63F79}" dt="2024-05-28T23:43:03.941" v="1257" actId="1076"/>
          <ac:grpSpMkLst>
            <pc:docMk/>
            <pc:sldMk cId="1241246206" sldId="344"/>
            <ac:grpSpMk id="34" creationId="{D3485D58-8C89-628B-3FA4-02D4BF9403FC}"/>
          </ac:grpSpMkLst>
        </pc:grpChg>
      </pc:sldChg>
      <pc:sldChg chg="addSp delSp modSp mod modNotesTx">
        <pc:chgData name="Stockton, Jemima" userId="bfd8902c-9146-435c-99e3-ead8b8b9a09d" providerId="ADAL" clId="{08C5B41D-54DE-4B8A-A780-40A99DF63F79}" dt="2024-05-28T23:56:44.804" v="1768" actId="20577"/>
        <pc:sldMkLst>
          <pc:docMk/>
          <pc:sldMk cId="3178152528" sldId="347"/>
        </pc:sldMkLst>
        <pc:spChg chg="mod">
          <ac:chgData name="Stockton, Jemima" userId="bfd8902c-9146-435c-99e3-ead8b8b9a09d" providerId="ADAL" clId="{08C5B41D-54DE-4B8A-A780-40A99DF63F79}" dt="2024-05-28T23:44:33.780" v="1270"/>
          <ac:spMkLst>
            <pc:docMk/>
            <pc:sldMk cId="3178152528" sldId="347"/>
            <ac:spMk id="6" creationId="{96503FE9-F266-526C-48FF-FB317BEF9388}"/>
          </ac:spMkLst>
        </pc:spChg>
        <pc:spChg chg="mod">
          <ac:chgData name="Stockton, Jemima" userId="bfd8902c-9146-435c-99e3-ead8b8b9a09d" providerId="ADAL" clId="{08C5B41D-54DE-4B8A-A780-40A99DF63F79}" dt="2024-05-28T23:44:33.780" v="1270"/>
          <ac:spMkLst>
            <pc:docMk/>
            <pc:sldMk cId="3178152528" sldId="347"/>
            <ac:spMk id="26" creationId="{F666CCF9-2818-8A18-C2FC-3B4EF898F868}"/>
          </ac:spMkLst>
        </pc:spChg>
        <pc:spChg chg="mod">
          <ac:chgData name="Stockton, Jemima" userId="bfd8902c-9146-435c-99e3-ead8b8b9a09d" providerId="ADAL" clId="{08C5B41D-54DE-4B8A-A780-40A99DF63F79}" dt="2024-05-28T23:44:33.780" v="1270"/>
          <ac:spMkLst>
            <pc:docMk/>
            <pc:sldMk cId="3178152528" sldId="347"/>
            <ac:spMk id="30" creationId="{7655EDA9-7B3C-7927-5BB4-AB244D80314A}"/>
          </ac:spMkLst>
        </pc:spChg>
        <pc:spChg chg="mod">
          <ac:chgData name="Stockton, Jemima" userId="bfd8902c-9146-435c-99e3-ead8b8b9a09d" providerId="ADAL" clId="{08C5B41D-54DE-4B8A-A780-40A99DF63F79}" dt="2024-05-28T23:44:33.780" v="1270"/>
          <ac:spMkLst>
            <pc:docMk/>
            <pc:sldMk cId="3178152528" sldId="347"/>
            <ac:spMk id="34" creationId="{94B489D4-4726-D26D-41D5-4951028CACE5}"/>
          </ac:spMkLst>
        </pc:spChg>
        <pc:grpChg chg="add mod">
          <ac:chgData name="Stockton, Jemima" userId="bfd8902c-9146-435c-99e3-ead8b8b9a09d" providerId="ADAL" clId="{08C5B41D-54DE-4B8A-A780-40A99DF63F79}" dt="2024-05-28T23:44:41.630" v="1271" actId="1076"/>
          <ac:grpSpMkLst>
            <pc:docMk/>
            <pc:sldMk cId="3178152528" sldId="347"/>
            <ac:grpSpMk id="2" creationId="{D24FED4D-51E8-E178-C860-3B50ACCD8E3B}"/>
          </ac:grpSpMkLst>
        </pc:grpChg>
        <pc:grpChg chg="mod">
          <ac:chgData name="Stockton, Jemima" userId="bfd8902c-9146-435c-99e3-ead8b8b9a09d" providerId="ADAL" clId="{08C5B41D-54DE-4B8A-A780-40A99DF63F79}" dt="2024-05-28T23:44:33.780" v="1270"/>
          <ac:grpSpMkLst>
            <pc:docMk/>
            <pc:sldMk cId="3178152528" sldId="347"/>
            <ac:grpSpMk id="7" creationId="{4708A980-D961-6FF9-E6E9-4E888D44DD85}"/>
          </ac:grpSpMkLst>
        </pc:grpChg>
        <pc:grpChg chg="del">
          <ac:chgData name="Stockton, Jemima" userId="bfd8902c-9146-435c-99e3-ead8b8b9a09d" providerId="ADAL" clId="{08C5B41D-54DE-4B8A-A780-40A99DF63F79}" dt="2024-05-28T23:44:31.158" v="1268" actId="478"/>
          <ac:grpSpMkLst>
            <pc:docMk/>
            <pc:sldMk cId="3178152528" sldId="347"/>
            <ac:grpSpMk id="13" creationId="{AC309FD2-1F45-B663-1B4F-2EDAA4DC34E9}"/>
          </ac:grpSpMkLst>
        </pc:grpChg>
        <pc:grpChg chg="del">
          <ac:chgData name="Stockton, Jemima" userId="bfd8902c-9146-435c-99e3-ead8b8b9a09d" providerId="ADAL" clId="{08C5B41D-54DE-4B8A-A780-40A99DF63F79}" dt="2024-05-28T23:44:33.046" v="1269" actId="478"/>
          <ac:grpSpMkLst>
            <pc:docMk/>
            <pc:sldMk cId="3178152528" sldId="347"/>
            <ac:grpSpMk id="21" creationId="{91F38508-63AA-EBFC-59F3-9F17AAFA40D7}"/>
          </ac:grpSpMkLst>
        </pc:grpChg>
        <pc:grpChg chg="add mod">
          <ac:chgData name="Stockton, Jemima" userId="bfd8902c-9146-435c-99e3-ead8b8b9a09d" providerId="ADAL" clId="{08C5B41D-54DE-4B8A-A780-40A99DF63F79}" dt="2024-05-28T23:44:41.630" v="1271" actId="1076"/>
          <ac:grpSpMkLst>
            <pc:docMk/>
            <pc:sldMk cId="3178152528" sldId="347"/>
            <ac:grpSpMk id="29" creationId="{B481706F-4511-26C8-AA7D-DAC328C2B38A}"/>
          </ac:grpSpMkLst>
        </pc:grpChg>
        <pc:grpChg chg="mod">
          <ac:chgData name="Stockton, Jemima" userId="bfd8902c-9146-435c-99e3-ead8b8b9a09d" providerId="ADAL" clId="{08C5B41D-54DE-4B8A-A780-40A99DF63F79}" dt="2024-05-28T23:44:33.780" v="1270"/>
          <ac:grpSpMkLst>
            <pc:docMk/>
            <pc:sldMk cId="3178152528" sldId="347"/>
            <ac:grpSpMk id="31" creationId="{BDCABD87-3F6D-3D25-3BFC-9FD6399F5E4F}"/>
          </ac:grpSpMkLst>
        </pc:grpChg>
        <pc:picChg chg="mod">
          <ac:chgData name="Stockton, Jemima" userId="bfd8902c-9146-435c-99e3-ead8b8b9a09d" providerId="ADAL" clId="{08C5B41D-54DE-4B8A-A780-40A99DF63F79}" dt="2024-05-28T23:44:33.780" v="1270"/>
          <ac:picMkLst>
            <pc:docMk/>
            <pc:sldMk cId="3178152528" sldId="347"/>
            <ac:picMk id="8" creationId="{8CD5CA11-ACE5-27D6-06A0-B5E0BFAED519}"/>
          </ac:picMkLst>
        </pc:picChg>
        <pc:picChg chg="mod">
          <ac:chgData name="Stockton, Jemima" userId="bfd8902c-9146-435c-99e3-ead8b8b9a09d" providerId="ADAL" clId="{08C5B41D-54DE-4B8A-A780-40A99DF63F79}" dt="2024-05-28T23:44:33.780" v="1270"/>
          <ac:picMkLst>
            <pc:docMk/>
            <pc:sldMk cId="3178152528" sldId="347"/>
            <ac:picMk id="24" creationId="{10E1EA5F-437F-19F2-B593-2009AC3924CE}"/>
          </ac:picMkLst>
        </pc:picChg>
        <pc:picChg chg="mod">
          <ac:chgData name="Stockton, Jemima" userId="bfd8902c-9146-435c-99e3-ead8b8b9a09d" providerId="ADAL" clId="{08C5B41D-54DE-4B8A-A780-40A99DF63F79}" dt="2024-05-28T23:44:33.780" v="1270"/>
          <ac:picMkLst>
            <pc:docMk/>
            <pc:sldMk cId="3178152528" sldId="347"/>
            <ac:picMk id="32" creationId="{6A89D118-C856-DE17-89B8-EAF913D5B65A}"/>
          </ac:picMkLst>
        </pc:picChg>
        <pc:picChg chg="mod">
          <ac:chgData name="Stockton, Jemima" userId="bfd8902c-9146-435c-99e3-ead8b8b9a09d" providerId="ADAL" clId="{08C5B41D-54DE-4B8A-A780-40A99DF63F79}" dt="2024-05-28T23:44:33.780" v="1270"/>
          <ac:picMkLst>
            <pc:docMk/>
            <pc:sldMk cId="3178152528" sldId="347"/>
            <ac:picMk id="33" creationId="{34FFADB9-38AA-8406-7BF1-160388F10A96}"/>
          </ac:picMkLst>
        </pc:picChg>
      </pc:sldChg>
      <pc:sldChg chg="addSp delSp modSp mod modNotesTx">
        <pc:chgData name="Stockton, Jemima" userId="bfd8902c-9146-435c-99e3-ead8b8b9a09d" providerId="ADAL" clId="{08C5B41D-54DE-4B8A-A780-40A99DF63F79}" dt="2024-05-28T23:57:13.753" v="1823" actId="20577"/>
        <pc:sldMkLst>
          <pc:docMk/>
          <pc:sldMk cId="1637488720" sldId="349"/>
        </pc:sldMkLst>
        <pc:spChg chg="mod">
          <ac:chgData name="Stockton, Jemima" userId="bfd8902c-9146-435c-99e3-ead8b8b9a09d" providerId="ADAL" clId="{08C5B41D-54DE-4B8A-A780-40A99DF63F79}" dt="2024-05-28T23:45:22.621" v="1277"/>
          <ac:spMkLst>
            <pc:docMk/>
            <pc:sldMk cId="1637488720" sldId="349"/>
            <ac:spMk id="11" creationId="{576C56E2-0261-885C-CDE4-E6753655DA29}"/>
          </ac:spMkLst>
        </pc:spChg>
        <pc:spChg chg="mod">
          <ac:chgData name="Stockton, Jemima" userId="bfd8902c-9146-435c-99e3-ead8b8b9a09d" providerId="ADAL" clId="{08C5B41D-54DE-4B8A-A780-40A99DF63F79}" dt="2024-05-28T23:45:22.621" v="1277"/>
          <ac:spMkLst>
            <pc:docMk/>
            <pc:sldMk cId="1637488720" sldId="349"/>
            <ac:spMk id="17" creationId="{B8A4372D-8042-EB62-956F-AF0B26E1F4EC}"/>
          </ac:spMkLst>
        </pc:spChg>
        <pc:spChg chg="mod">
          <ac:chgData name="Stockton, Jemima" userId="bfd8902c-9146-435c-99e3-ead8b8b9a09d" providerId="ADAL" clId="{08C5B41D-54DE-4B8A-A780-40A99DF63F79}" dt="2024-05-28T23:45:22.621" v="1277"/>
          <ac:spMkLst>
            <pc:docMk/>
            <pc:sldMk cId="1637488720" sldId="349"/>
            <ac:spMk id="26" creationId="{F2D1DC1E-337E-4DE8-1B16-8B020B7EC506}"/>
          </ac:spMkLst>
        </pc:spChg>
        <pc:spChg chg="mod">
          <ac:chgData name="Stockton, Jemima" userId="bfd8902c-9146-435c-99e3-ead8b8b9a09d" providerId="ADAL" clId="{08C5B41D-54DE-4B8A-A780-40A99DF63F79}" dt="2024-05-28T23:45:22.621" v="1277"/>
          <ac:spMkLst>
            <pc:docMk/>
            <pc:sldMk cId="1637488720" sldId="349"/>
            <ac:spMk id="33" creationId="{C9AD7AB9-86A2-CFC0-84AF-351F8A8A527A}"/>
          </ac:spMkLst>
        </pc:spChg>
        <pc:grpChg chg="add mod">
          <ac:chgData name="Stockton, Jemima" userId="bfd8902c-9146-435c-99e3-ead8b8b9a09d" providerId="ADAL" clId="{08C5B41D-54DE-4B8A-A780-40A99DF63F79}" dt="2024-05-28T23:45:28.597" v="1278" actId="1076"/>
          <ac:grpSpMkLst>
            <pc:docMk/>
            <pc:sldMk cId="1637488720" sldId="349"/>
            <ac:grpSpMk id="8" creationId="{841A1419-9DDE-0872-34C9-C66D78077173}"/>
          </ac:grpSpMkLst>
        </pc:grpChg>
        <pc:grpChg chg="mod">
          <ac:chgData name="Stockton, Jemima" userId="bfd8902c-9146-435c-99e3-ead8b8b9a09d" providerId="ADAL" clId="{08C5B41D-54DE-4B8A-A780-40A99DF63F79}" dt="2024-05-28T23:45:22.621" v="1277"/>
          <ac:grpSpMkLst>
            <pc:docMk/>
            <pc:sldMk cId="1637488720" sldId="349"/>
            <ac:grpSpMk id="12" creationId="{1F6D20D8-FB61-2F88-B55E-9551000AB494}"/>
          </ac:grpSpMkLst>
        </pc:grpChg>
        <pc:grpChg chg="del">
          <ac:chgData name="Stockton, Jemima" userId="bfd8902c-9146-435c-99e3-ead8b8b9a09d" providerId="ADAL" clId="{08C5B41D-54DE-4B8A-A780-40A99DF63F79}" dt="2024-05-28T23:45:20.211" v="1275" actId="478"/>
          <ac:grpSpMkLst>
            <pc:docMk/>
            <pc:sldMk cId="1637488720" sldId="349"/>
            <ac:grpSpMk id="14" creationId="{E0333A9C-C641-7D90-5F73-E55F4BB4CBB7}"/>
          </ac:grpSpMkLst>
        </pc:grpChg>
        <pc:grpChg chg="del">
          <ac:chgData name="Stockton, Jemima" userId="bfd8902c-9146-435c-99e3-ead8b8b9a09d" providerId="ADAL" clId="{08C5B41D-54DE-4B8A-A780-40A99DF63F79}" dt="2024-05-28T23:45:21.374" v="1276" actId="478"/>
          <ac:grpSpMkLst>
            <pc:docMk/>
            <pc:sldMk cId="1637488720" sldId="349"/>
            <ac:grpSpMk id="22" creationId="{1E14E1EA-117E-7DE0-430C-1A759EFC6E1E}"/>
          </ac:grpSpMkLst>
        </pc:grpChg>
        <pc:grpChg chg="add mod">
          <ac:chgData name="Stockton, Jemima" userId="bfd8902c-9146-435c-99e3-ead8b8b9a09d" providerId="ADAL" clId="{08C5B41D-54DE-4B8A-A780-40A99DF63F79}" dt="2024-05-28T23:45:28.597" v="1278" actId="1076"/>
          <ac:grpSpMkLst>
            <pc:docMk/>
            <pc:sldMk cId="1637488720" sldId="349"/>
            <ac:grpSpMk id="24" creationId="{7489BC7B-F402-EC2B-9B96-630D811C75EC}"/>
          </ac:grpSpMkLst>
        </pc:grpChg>
        <pc:grpChg chg="mod">
          <ac:chgData name="Stockton, Jemima" userId="bfd8902c-9146-435c-99e3-ead8b8b9a09d" providerId="ADAL" clId="{08C5B41D-54DE-4B8A-A780-40A99DF63F79}" dt="2024-05-28T23:45:22.621" v="1277"/>
          <ac:grpSpMkLst>
            <pc:docMk/>
            <pc:sldMk cId="1637488720" sldId="349"/>
            <ac:grpSpMk id="30" creationId="{A93F8C3A-281D-E903-8B5F-1E494FDA1F73}"/>
          </ac:grpSpMkLst>
        </pc:grpChg>
        <pc:picChg chg="mod">
          <ac:chgData name="Stockton, Jemima" userId="bfd8902c-9146-435c-99e3-ead8b8b9a09d" providerId="ADAL" clId="{08C5B41D-54DE-4B8A-A780-40A99DF63F79}" dt="2024-05-28T23:45:22.621" v="1277"/>
          <ac:picMkLst>
            <pc:docMk/>
            <pc:sldMk cId="1637488720" sldId="349"/>
            <ac:picMk id="13" creationId="{217BF8A1-8108-1752-AFB6-6D98E132A7BC}"/>
          </ac:picMkLst>
        </pc:picChg>
        <pc:picChg chg="mod">
          <ac:chgData name="Stockton, Jemima" userId="bfd8902c-9146-435c-99e3-ead8b8b9a09d" providerId="ADAL" clId="{08C5B41D-54DE-4B8A-A780-40A99DF63F79}" dt="2024-05-28T23:45:22.621" v="1277"/>
          <ac:picMkLst>
            <pc:docMk/>
            <pc:sldMk cId="1637488720" sldId="349"/>
            <ac:picMk id="16" creationId="{58E03E67-4504-3EAF-5607-6C2344FDBB23}"/>
          </ac:picMkLst>
        </pc:picChg>
        <pc:picChg chg="mod">
          <ac:chgData name="Stockton, Jemima" userId="bfd8902c-9146-435c-99e3-ead8b8b9a09d" providerId="ADAL" clId="{08C5B41D-54DE-4B8A-A780-40A99DF63F79}" dt="2024-05-28T23:45:22.621" v="1277"/>
          <ac:picMkLst>
            <pc:docMk/>
            <pc:sldMk cId="1637488720" sldId="349"/>
            <ac:picMk id="31" creationId="{F0D7303C-AAD7-5011-DA78-ED600EFA8057}"/>
          </ac:picMkLst>
        </pc:picChg>
        <pc:picChg chg="mod">
          <ac:chgData name="Stockton, Jemima" userId="bfd8902c-9146-435c-99e3-ead8b8b9a09d" providerId="ADAL" clId="{08C5B41D-54DE-4B8A-A780-40A99DF63F79}" dt="2024-05-28T23:45:22.621" v="1277"/>
          <ac:picMkLst>
            <pc:docMk/>
            <pc:sldMk cId="1637488720" sldId="349"/>
            <ac:picMk id="32" creationId="{F7ECEFF9-26CF-8291-1101-ADE5D689BA26}"/>
          </ac:picMkLst>
        </pc:picChg>
      </pc:sldChg>
      <pc:sldChg chg="addSp delSp modSp mod ord modNotesTx">
        <pc:chgData name="Stockton, Jemima" userId="bfd8902c-9146-435c-99e3-ead8b8b9a09d" providerId="ADAL" clId="{08C5B41D-54DE-4B8A-A780-40A99DF63F79}" dt="2024-05-28T23:54:17.731" v="1488" actId="478"/>
        <pc:sldMkLst>
          <pc:docMk/>
          <pc:sldMk cId="2964640195" sldId="351"/>
        </pc:sldMkLst>
        <pc:spChg chg="mod">
          <ac:chgData name="Stockton, Jemima" userId="bfd8902c-9146-435c-99e3-ead8b8b9a09d" providerId="ADAL" clId="{08C5B41D-54DE-4B8A-A780-40A99DF63F79}" dt="2024-05-28T23:44:03.537" v="1266"/>
          <ac:spMkLst>
            <pc:docMk/>
            <pc:sldMk cId="2964640195" sldId="351"/>
            <ac:spMk id="16" creationId="{AD38D9A2-9E9A-FF55-A225-A2CC2630A187}"/>
          </ac:spMkLst>
        </pc:spChg>
        <pc:spChg chg="mod">
          <ac:chgData name="Stockton, Jemima" userId="bfd8902c-9146-435c-99e3-ead8b8b9a09d" providerId="ADAL" clId="{08C5B41D-54DE-4B8A-A780-40A99DF63F79}" dt="2024-05-28T23:44:03.537" v="1266"/>
          <ac:spMkLst>
            <pc:docMk/>
            <pc:sldMk cId="2964640195" sldId="351"/>
            <ac:spMk id="30" creationId="{C7B810D4-9799-AF4A-5313-29CA2C5B01EE}"/>
          </ac:spMkLst>
        </pc:spChg>
        <pc:spChg chg="mod">
          <ac:chgData name="Stockton, Jemima" userId="bfd8902c-9146-435c-99e3-ead8b8b9a09d" providerId="ADAL" clId="{08C5B41D-54DE-4B8A-A780-40A99DF63F79}" dt="2024-05-28T23:44:03.537" v="1266"/>
          <ac:spMkLst>
            <pc:docMk/>
            <pc:sldMk cId="2964640195" sldId="351"/>
            <ac:spMk id="32" creationId="{60E84070-3516-8071-67BB-C728AF546620}"/>
          </ac:spMkLst>
        </pc:spChg>
        <pc:spChg chg="mod">
          <ac:chgData name="Stockton, Jemima" userId="bfd8902c-9146-435c-99e3-ead8b8b9a09d" providerId="ADAL" clId="{08C5B41D-54DE-4B8A-A780-40A99DF63F79}" dt="2024-05-28T23:44:03.537" v="1266"/>
          <ac:spMkLst>
            <pc:docMk/>
            <pc:sldMk cId="2964640195" sldId="351"/>
            <ac:spMk id="36" creationId="{7F957852-BD2E-43FA-B12A-B660CCF65061}"/>
          </ac:spMkLst>
        </pc:spChg>
        <pc:grpChg chg="add mod">
          <ac:chgData name="Stockton, Jemima" userId="bfd8902c-9146-435c-99e3-ead8b8b9a09d" providerId="ADAL" clId="{08C5B41D-54DE-4B8A-A780-40A99DF63F79}" dt="2024-05-28T23:44:03.537" v="1266"/>
          <ac:grpSpMkLst>
            <pc:docMk/>
            <pc:sldMk cId="2964640195" sldId="351"/>
            <ac:grpSpMk id="14" creationId="{23448C11-8B93-1A2C-1416-C0C7E43EFBE4}"/>
          </ac:grpSpMkLst>
        </pc:grpChg>
        <pc:grpChg chg="mod">
          <ac:chgData name="Stockton, Jemima" userId="bfd8902c-9146-435c-99e3-ead8b8b9a09d" providerId="ADAL" clId="{08C5B41D-54DE-4B8A-A780-40A99DF63F79}" dt="2024-05-28T23:44:03.537" v="1266"/>
          <ac:grpSpMkLst>
            <pc:docMk/>
            <pc:sldMk cId="2964640195" sldId="351"/>
            <ac:grpSpMk id="17" creationId="{C216A9FB-2CF6-A0D5-AB1F-D76075766580}"/>
          </ac:grpSpMkLst>
        </pc:grpChg>
        <pc:grpChg chg="del">
          <ac:chgData name="Stockton, Jemima" userId="bfd8902c-9146-435c-99e3-ead8b8b9a09d" providerId="ADAL" clId="{08C5B41D-54DE-4B8A-A780-40A99DF63F79}" dt="2024-05-28T23:44:01.252" v="1264" actId="478"/>
          <ac:grpSpMkLst>
            <pc:docMk/>
            <pc:sldMk cId="2964640195" sldId="351"/>
            <ac:grpSpMk id="23" creationId="{62F27E20-724D-8320-C3AB-0201538F4EFD}"/>
          </ac:grpSpMkLst>
        </pc:grpChg>
        <pc:grpChg chg="del">
          <ac:chgData name="Stockton, Jemima" userId="bfd8902c-9146-435c-99e3-ead8b8b9a09d" providerId="ADAL" clId="{08C5B41D-54DE-4B8A-A780-40A99DF63F79}" dt="2024-05-28T23:44:03.073" v="1265" actId="478"/>
          <ac:grpSpMkLst>
            <pc:docMk/>
            <pc:sldMk cId="2964640195" sldId="351"/>
            <ac:grpSpMk id="25" creationId="{28307BA4-AD0D-A169-22C8-3E67220295C9}"/>
          </ac:grpSpMkLst>
        </pc:grpChg>
        <pc:grpChg chg="add mod">
          <ac:chgData name="Stockton, Jemima" userId="bfd8902c-9146-435c-99e3-ead8b8b9a09d" providerId="ADAL" clId="{08C5B41D-54DE-4B8A-A780-40A99DF63F79}" dt="2024-05-28T23:44:13.686" v="1267" actId="1076"/>
          <ac:grpSpMkLst>
            <pc:docMk/>
            <pc:sldMk cId="2964640195" sldId="351"/>
            <ac:grpSpMk id="31" creationId="{534DBF78-F74F-87F7-72B3-47FB3BE15AAF}"/>
          </ac:grpSpMkLst>
        </pc:grpChg>
        <pc:grpChg chg="mod">
          <ac:chgData name="Stockton, Jemima" userId="bfd8902c-9146-435c-99e3-ead8b8b9a09d" providerId="ADAL" clId="{08C5B41D-54DE-4B8A-A780-40A99DF63F79}" dt="2024-05-28T23:44:03.537" v="1266"/>
          <ac:grpSpMkLst>
            <pc:docMk/>
            <pc:sldMk cId="2964640195" sldId="351"/>
            <ac:grpSpMk id="33" creationId="{599F7BEA-C22C-3318-C6E1-0DDAA15C8D94}"/>
          </ac:grpSpMkLst>
        </pc:grpChg>
        <pc:graphicFrameChg chg="add del modGraphic">
          <ac:chgData name="Stockton, Jemima" userId="bfd8902c-9146-435c-99e3-ead8b8b9a09d" providerId="ADAL" clId="{08C5B41D-54DE-4B8A-A780-40A99DF63F79}" dt="2024-05-28T23:54:17.731" v="1488" actId="478"/>
          <ac:graphicFrameMkLst>
            <pc:docMk/>
            <pc:sldMk cId="2964640195" sldId="351"/>
            <ac:graphicFrameMk id="38" creationId="{835F5898-48D3-55F1-032D-6F3820EF1B17}"/>
          </ac:graphicFrameMkLst>
        </pc:graphicFrameChg>
        <pc:picChg chg="mod">
          <ac:chgData name="Stockton, Jemima" userId="bfd8902c-9146-435c-99e3-ead8b8b9a09d" providerId="ADAL" clId="{08C5B41D-54DE-4B8A-A780-40A99DF63F79}" dt="2024-05-28T23:44:03.537" v="1266"/>
          <ac:picMkLst>
            <pc:docMk/>
            <pc:sldMk cId="2964640195" sldId="351"/>
            <ac:picMk id="20" creationId="{75168544-2071-28A7-D085-C4E0C64883B0}"/>
          </ac:picMkLst>
        </pc:picChg>
        <pc:picChg chg="mod">
          <ac:chgData name="Stockton, Jemima" userId="bfd8902c-9146-435c-99e3-ead8b8b9a09d" providerId="ADAL" clId="{08C5B41D-54DE-4B8A-A780-40A99DF63F79}" dt="2024-05-28T23:44:03.537" v="1266"/>
          <ac:picMkLst>
            <pc:docMk/>
            <pc:sldMk cId="2964640195" sldId="351"/>
            <ac:picMk id="29" creationId="{1BC63FAB-DF8B-347B-1806-99A404AF496A}"/>
          </ac:picMkLst>
        </pc:picChg>
        <pc:picChg chg="mod">
          <ac:chgData name="Stockton, Jemima" userId="bfd8902c-9146-435c-99e3-ead8b8b9a09d" providerId="ADAL" clId="{08C5B41D-54DE-4B8A-A780-40A99DF63F79}" dt="2024-05-28T23:44:03.537" v="1266"/>
          <ac:picMkLst>
            <pc:docMk/>
            <pc:sldMk cId="2964640195" sldId="351"/>
            <ac:picMk id="34" creationId="{BBC88907-2765-3BE7-5AE9-8479595AF275}"/>
          </ac:picMkLst>
        </pc:picChg>
        <pc:picChg chg="mod">
          <ac:chgData name="Stockton, Jemima" userId="bfd8902c-9146-435c-99e3-ead8b8b9a09d" providerId="ADAL" clId="{08C5B41D-54DE-4B8A-A780-40A99DF63F79}" dt="2024-05-28T23:44:03.537" v="1266"/>
          <ac:picMkLst>
            <pc:docMk/>
            <pc:sldMk cId="2964640195" sldId="351"/>
            <ac:picMk id="35" creationId="{DD503164-85A1-C7CD-5AF1-6B9530E9E108}"/>
          </ac:picMkLst>
        </pc:picChg>
      </pc:sldChg>
      <pc:sldChg chg="addSp delSp modSp mod modNotesTx">
        <pc:chgData name="Stockton, Jemima" userId="bfd8902c-9146-435c-99e3-ead8b8b9a09d" providerId="ADAL" clId="{08C5B41D-54DE-4B8A-A780-40A99DF63F79}" dt="2024-05-28T23:52:15.098" v="1409" actId="20577"/>
        <pc:sldMkLst>
          <pc:docMk/>
          <pc:sldMk cId="4067231382" sldId="353"/>
        </pc:sldMkLst>
        <pc:spChg chg="mod">
          <ac:chgData name="Stockton, Jemima" userId="bfd8902c-9146-435c-99e3-ead8b8b9a09d" providerId="ADAL" clId="{08C5B41D-54DE-4B8A-A780-40A99DF63F79}" dt="2024-05-28T23:43:12.593" v="1259"/>
          <ac:spMkLst>
            <pc:docMk/>
            <pc:sldMk cId="4067231382" sldId="353"/>
            <ac:spMk id="16" creationId="{517DFA02-DF12-7480-B727-1A64EE94F7EC}"/>
          </ac:spMkLst>
        </pc:spChg>
        <pc:spChg chg="mod">
          <ac:chgData name="Stockton, Jemima" userId="bfd8902c-9146-435c-99e3-ead8b8b9a09d" providerId="ADAL" clId="{08C5B41D-54DE-4B8A-A780-40A99DF63F79}" dt="2024-05-28T23:43:12.593" v="1259"/>
          <ac:spMkLst>
            <pc:docMk/>
            <pc:sldMk cId="4067231382" sldId="353"/>
            <ac:spMk id="20" creationId="{EF8027A5-CD9A-D1A6-B926-46B78AE6139D}"/>
          </ac:spMkLst>
        </pc:spChg>
        <pc:spChg chg="mod">
          <ac:chgData name="Stockton, Jemima" userId="bfd8902c-9146-435c-99e3-ead8b8b9a09d" providerId="ADAL" clId="{08C5B41D-54DE-4B8A-A780-40A99DF63F79}" dt="2024-05-28T23:43:12.593" v="1259"/>
          <ac:spMkLst>
            <pc:docMk/>
            <pc:sldMk cId="4067231382" sldId="353"/>
            <ac:spMk id="22" creationId="{A92BFD0F-1D3E-04EE-407F-BF1E7179193F}"/>
          </ac:spMkLst>
        </pc:spChg>
        <pc:spChg chg="mod">
          <ac:chgData name="Stockton, Jemima" userId="bfd8902c-9146-435c-99e3-ead8b8b9a09d" providerId="ADAL" clId="{08C5B41D-54DE-4B8A-A780-40A99DF63F79}" dt="2024-05-28T23:43:12.593" v="1259"/>
          <ac:spMkLst>
            <pc:docMk/>
            <pc:sldMk cId="4067231382" sldId="353"/>
            <ac:spMk id="27" creationId="{934DB4AA-3FD6-FC74-B140-614F11497E64}"/>
          </ac:spMkLst>
        </pc:spChg>
        <pc:grpChg chg="add mod">
          <ac:chgData name="Stockton, Jemima" userId="bfd8902c-9146-435c-99e3-ead8b8b9a09d" providerId="ADAL" clId="{08C5B41D-54DE-4B8A-A780-40A99DF63F79}" dt="2024-05-28T23:43:35.188" v="1263" actId="1076"/>
          <ac:grpSpMkLst>
            <pc:docMk/>
            <pc:sldMk cId="4067231382" sldId="353"/>
            <ac:grpSpMk id="15" creationId="{84CD0BFD-4644-758E-BAB7-EBA78FE45303}"/>
          </ac:grpSpMkLst>
        </pc:grpChg>
        <pc:grpChg chg="mod">
          <ac:chgData name="Stockton, Jemima" userId="bfd8902c-9146-435c-99e3-ead8b8b9a09d" providerId="ADAL" clId="{08C5B41D-54DE-4B8A-A780-40A99DF63F79}" dt="2024-05-28T23:43:12.593" v="1259"/>
          <ac:grpSpMkLst>
            <pc:docMk/>
            <pc:sldMk cId="4067231382" sldId="353"/>
            <ac:grpSpMk id="17" creationId="{BB04DF85-7F8A-D2F8-A8C8-0B374718BD1C}"/>
          </ac:grpSpMkLst>
        </pc:grpChg>
        <pc:grpChg chg="add mod">
          <ac:chgData name="Stockton, Jemima" userId="bfd8902c-9146-435c-99e3-ead8b8b9a09d" providerId="ADAL" clId="{08C5B41D-54DE-4B8A-A780-40A99DF63F79}" dt="2024-05-28T23:43:29.363" v="1262" actId="1076"/>
          <ac:grpSpMkLst>
            <pc:docMk/>
            <pc:sldMk cId="4067231382" sldId="353"/>
            <ac:grpSpMk id="21" creationId="{2A2E124A-134E-C32E-1167-9EC2D71F984A}"/>
          </ac:grpSpMkLst>
        </pc:grpChg>
        <pc:grpChg chg="mod">
          <ac:chgData name="Stockton, Jemima" userId="bfd8902c-9146-435c-99e3-ead8b8b9a09d" providerId="ADAL" clId="{08C5B41D-54DE-4B8A-A780-40A99DF63F79}" dt="2024-05-28T23:43:12.593" v="1259"/>
          <ac:grpSpMkLst>
            <pc:docMk/>
            <pc:sldMk cId="4067231382" sldId="353"/>
            <ac:grpSpMk id="23" creationId="{E8F7D284-D765-6B73-2185-0AE371CF4E68}"/>
          </ac:grpSpMkLst>
        </pc:grpChg>
        <pc:grpChg chg="del">
          <ac:chgData name="Stockton, Jemima" userId="bfd8902c-9146-435c-99e3-ead8b8b9a09d" providerId="ADAL" clId="{08C5B41D-54DE-4B8A-A780-40A99DF63F79}" dt="2024-05-28T23:43:10.981" v="1258" actId="478"/>
          <ac:grpSpMkLst>
            <pc:docMk/>
            <pc:sldMk cId="4067231382" sldId="353"/>
            <ac:grpSpMk id="33" creationId="{88C288F5-25A4-9158-9884-DA67884845B3}"/>
          </ac:grpSpMkLst>
        </pc:grpChg>
        <pc:grpChg chg="del">
          <ac:chgData name="Stockton, Jemima" userId="bfd8902c-9146-435c-99e3-ead8b8b9a09d" providerId="ADAL" clId="{08C5B41D-54DE-4B8A-A780-40A99DF63F79}" dt="2024-05-28T23:43:24.810" v="1261" actId="478"/>
          <ac:grpSpMkLst>
            <pc:docMk/>
            <pc:sldMk cId="4067231382" sldId="353"/>
            <ac:grpSpMk id="39" creationId="{DE0741B7-02D1-C0F2-4EA4-64D9BE5B2874}"/>
          </ac:grpSpMkLst>
        </pc:grpChg>
        <pc:picChg chg="mod">
          <ac:chgData name="Stockton, Jemima" userId="bfd8902c-9146-435c-99e3-ead8b8b9a09d" providerId="ADAL" clId="{08C5B41D-54DE-4B8A-A780-40A99DF63F79}" dt="2024-05-28T23:43:12.593" v="1259"/>
          <ac:picMkLst>
            <pc:docMk/>
            <pc:sldMk cId="4067231382" sldId="353"/>
            <ac:picMk id="18" creationId="{0872410E-38CA-37C6-99C6-5F572C83D5AC}"/>
          </ac:picMkLst>
        </pc:picChg>
        <pc:picChg chg="mod">
          <ac:chgData name="Stockton, Jemima" userId="bfd8902c-9146-435c-99e3-ead8b8b9a09d" providerId="ADAL" clId="{08C5B41D-54DE-4B8A-A780-40A99DF63F79}" dt="2024-05-28T23:43:12.593" v="1259"/>
          <ac:picMkLst>
            <pc:docMk/>
            <pc:sldMk cId="4067231382" sldId="353"/>
            <ac:picMk id="19" creationId="{438BEAF0-E16D-5805-881D-792A5E8A077F}"/>
          </ac:picMkLst>
        </pc:picChg>
        <pc:picChg chg="mod">
          <ac:chgData name="Stockton, Jemima" userId="bfd8902c-9146-435c-99e3-ead8b8b9a09d" providerId="ADAL" clId="{08C5B41D-54DE-4B8A-A780-40A99DF63F79}" dt="2024-05-28T23:43:12.593" v="1259"/>
          <ac:picMkLst>
            <pc:docMk/>
            <pc:sldMk cId="4067231382" sldId="353"/>
            <ac:picMk id="24" creationId="{EDEB1561-DA41-7D4E-1859-DCB301BACFEC}"/>
          </ac:picMkLst>
        </pc:picChg>
        <pc:picChg chg="mod">
          <ac:chgData name="Stockton, Jemima" userId="bfd8902c-9146-435c-99e3-ead8b8b9a09d" providerId="ADAL" clId="{08C5B41D-54DE-4B8A-A780-40A99DF63F79}" dt="2024-05-28T23:43:12.593" v="1259"/>
          <ac:picMkLst>
            <pc:docMk/>
            <pc:sldMk cId="4067231382" sldId="353"/>
            <ac:picMk id="26" creationId="{CA7B3EFE-DB75-A741-ACFE-C93ECE0895A0}"/>
          </ac:picMkLst>
        </pc:picChg>
      </pc:sldChg>
      <pc:sldChg chg="addSp delSp modSp mod modNotesTx">
        <pc:chgData name="Stockton, Jemima" userId="bfd8902c-9146-435c-99e3-ead8b8b9a09d" providerId="ADAL" clId="{08C5B41D-54DE-4B8A-A780-40A99DF63F79}" dt="2024-05-28T23:52:11.631" v="1405" actId="20577"/>
        <pc:sldMkLst>
          <pc:docMk/>
          <pc:sldMk cId="3227095195" sldId="355"/>
        </pc:sldMkLst>
        <pc:spChg chg="mod">
          <ac:chgData name="Stockton, Jemima" userId="bfd8902c-9146-435c-99e3-ead8b8b9a09d" providerId="ADAL" clId="{08C5B41D-54DE-4B8A-A780-40A99DF63F79}" dt="2024-05-28T23:44:59.281" v="1273"/>
          <ac:spMkLst>
            <pc:docMk/>
            <pc:sldMk cId="3227095195" sldId="355"/>
            <ac:spMk id="24" creationId="{F5246FCE-40E8-6482-5D06-57B377897A86}"/>
          </ac:spMkLst>
        </pc:spChg>
        <pc:spChg chg="mod">
          <ac:chgData name="Stockton, Jemima" userId="bfd8902c-9146-435c-99e3-ead8b8b9a09d" providerId="ADAL" clId="{08C5B41D-54DE-4B8A-A780-40A99DF63F79}" dt="2024-05-28T23:44:59.281" v="1273"/>
          <ac:spMkLst>
            <pc:docMk/>
            <pc:sldMk cId="3227095195" sldId="355"/>
            <ac:spMk id="37" creationId="{82DF8176-4F83-BDFE-1F1D-33A56419F6E5}"/>
          </ac:spMkLst>
        </pc:spChg>
        <pc:spChg chg="mod">
          <ac:chgData name="Stockton, Jemima" userId="bfd8902c-9146-435c-99e3-ead8b8b9a09d" providerId="ADAL" clId="{08C5B41D-54DE-4B8A-A780-40A99DF63F79}" dt="2024-05-28T23:44:59.281" v="1273"/>
          <ac:spMkLst>
            <pc:docMk/>
            <pc:sldMk cId="3227095195" sldId="355"/>
            <ac:spMk id="39" creationId="{A39AE26A-738A-080C-305B-E1A263476196}"/>
          </ac:spMkLst>
        </pc:spChg>
        <pc:spChg chg="mod">
          <ac:chgData name="Stockton, Jemima" userId="bfd8902c-9146-435c-99e3-ead8b8b9a09d" providerId="ADAL" clId="{08C5B41D-54DE-4B8A-A780-40A99DF63F79}" dt="2024-05-28T23:44:59.281" v="1273"/>
          <ac:spMkLst>
            <pc:docMk/>
            <pc:sldMk cId="3227095195" sldId="355"/>
            <ac:spMk id="43" creationId="{8EE6637C-1F7F-E1BD-4029-C83273AC99DD}"/>
          </ac:spMkLst>
        </pc:spChg>
        <pc:grpChg chg="del">
          <ac:chgData name="Stockton, Jemima" userId="bfd8902c-9146-435c-99e3-ead8b8b9a09d" providerId="ADAL" clId="{08C5B41D-54DE-4B8A-A780-40A99DF63F79}" dt="2024-05-28T23:44:58.467" v="1272" actId="478"/>
          <ac:grpSpMkLst>
            <pc:docMk/>
            <pc:sldMk cId="3227095195" sldId="355"/>
            <ac:grpSpMk id="12" creationId="{08FAA5DC-0B19-5DDF-4CF6-1AC29897FBAC}"/>
          </ac:grpSpMkLst>
        </pc:grpChg>
        <pc:grpChg chg="add mod">
          <ac:chgData name="Stockton, Jemima" userId="bfd8902c-9146-435c-99e3-ead8b8b9a09d" providerId="ADAL" clId="{08C5B41D-54DE-4B8A-A780-40A99DF63F79}" dt="2024-05-28T23:45:12.696" v="1274" actId="1076"/>
          <ac:grpSpMkLst>
            <pc:docMk/>
            <pc:sldMk cId="3227095195" sldId="355"/>
            <ac:grpSpMk id="21" creationId="{9335BD35-D6A1-0EA4-C712-B2BDBFCB2C90}"/>
          </ac:grpSpMkLst>
        </pc:grpChg>
        <pc:grpChg chg="mod">
          <ac:chgData name="Stockton, Jemima" userId="bfd8902c-9146-435c-99e3-ead8b8b9a09d" providerId="ADAL" clId="{08C5B41D-54DE-4B8A-A780-40A99DF63F79}" dt="2024-05-28T23:44:59.281" v="1273"/>
          <ac:grpSpMkLst>
            <pc:docMk/>
            <pc:sldMk cId="3227095195" sldId="355"/>
            <ac:grpSpMk id="26" creationId="{FC19DD2B-1F3B-9385-EB5F-A6F7A3C2413E}"/>
          </ac:grpSpMkLst>
        </pc:grpChg>
        <pc:grpChg chg="del">
          <ac:chgData name="Stockton, Jemima" userId="bfd8902c-9146-435c-99e3-ead8b8b9a09d" providerId="ADAL" clId="{08C5B41D-54DE-4B8A-A780-40A99DF63F79}" dt="2024-05-28T23:44:58.467" v="1272" actId="478"/>
          <ac:grpSpMkLst>
            <pc:docMk/>
            <pc:sldMk cId="3227095195" sldId="355"/>
            <ac:grpSpMk id="28" creationId="{0D8B27DF-EB72-43EC-6A47-A65B63581436}"/>
          </ac:grpSpMkLst>
        </pc:grpChg>
        <pc:grpChg chg="add mod">
          <ac:chgData name="Stockton, Jemima" userId="bfd8902c-9146-435c-99e3-ead8b8b9a09d" providerId="ADAL" clId="{08C5B41D-54DE-4B8A-A780-40A99DF63F79}" dt="2024-05-28T23:45:12.696" v="1274" actId="1076"/>
          <ac:grpSpMkLst>
            <pc:docMk/>
            <pc:sldMk cId="3227095195" sldId="355"/>
            <ac:grpSpMk id="38" creationId="{492DA97E-C216-569F-46B6-8FE2533BCF09}"/>
          </ac:grpSpMkLst>
        </pc:grpChg>
        <pc:grpChg chg="mod">
          <ac:chgData name="Stockton, Jemima" userId="bfd8902c-9146-435c-99e3-ead8b8b9a09d" providerId="ADAL" clId="{08C5B41D-54DE-4B8A-A780-40A99DF63F79}" dt="2024-05-28T23:44:59.281" v="1273"/>
          <ac:grpSpMkLst>
            <pc:docMk/>
            <pc:sldMk cId="3227095195" sldId="355"/>
            <ac:grpSpMk id="40" creationId="{96E0DFE1-E9CD-E776-C19C-DFC4E7B63CB1}"/>
          </ac:grpSpMkLst>
        </pc:grpChg>
        <pc:picChg chg="mod">
          <ac:chgData name="Stockton, Jemima" userId="bfd8902c-9146-435c-99e3-ead8b8b9a09d" providerId="ADAL" clId="{08C5B41D-54DE-4B8A-A780-40A99DF63F79}" dt="2024-05-28T23:44:59.281" v="1273"/>
          <ac:picMkLst>
            <pc:docMk/>
            <pc:sldMk cId="3227095195" sldId="355"/>
            <ac:picMk id="35" creationId="{49D5679E-06E4-7A9E-7957-7C2E0C8315AA}"/>
          </ac:picMkLst>
        </pc:picChg>
        <pc:picChg chg="mod">
          <ac:chgData name="Stockton, Jemima" userId="bfd8902c-9146-435c-99e3-ead8b8b9a09d" providerId="ADAL" clId="{08C5B41D-54DE-4B8A-A780-40A99DF63F79}" dt="2024-05-28T23:44:59.281" v="1273"/>
          <ac:picMkLst>
            <pc:docMk/>
            <pc:sldMk cId="3227095195" sldId="355"/>
            <ac:picMk id="36" creationId="{3B100B2F-A81E-99EB-1E39-565CDDD189FE}"/>
          </ac:picMkLst>
        </pc:picChg>
        <pc:picChg chg="mod">
          <ac:chgData name="Stockton, Jemima" userId="bfd8902c-9146-435c-99e3-ead8b8b9a09d" providerId="ADAL" clId="{08C5B41D-54DE-4B8A-A780-40A99DF63F79}" dt="2024-05-28T23:44:59.281" v="1273"/>
          <ac:picMkLst>
            <pc:docMk/>
            <pc:sldMk cId="3227095195" sldId="355"/>
            <ac:picMk id="41" creationId="{FB250E07-3B16-588E-707F-CE89300F9FC5}"/>
          </ac:picMkLst>
        </pc:picChg>
        <pc:picChg chg="mod">
          <ac:chgData name="Stockton, Jemima" userId="bfd8902c-9146-435c-99e3-ead8b8b9a09d" providerId="ADAL" clId="{08C5B41D-54DE-4B8A-A780-40A99DF63F79}" dt="2024-05-28T23:44:59.281" v="1273"/>
          <ac:picMkLst>
            <pc:docMk/>
            <pc:sldMk cId="3227095195" sldId="355"/>
            <ac:picMk id="42" creationId="{F81FBD24-9B63-7223-8CE4-4D4F4E12A748}"/>
          </ac:picMkLst>
        </pc:picChg>
      </pc:sldChg>
      <pc:sldChg chg="addSp delSp modSp mod modNotesTx">
        <pc:chgData name="Stockton, Jemima" userId="bfd8902c-9146-435c-99e3-ead8b8b9a09d" providerId="ADAL" clId="{08C5B41D-54DE-4B8A-A780-40A99DF63F79}" dt="2024-05-29T00:00:19.667" v="2281" actId="20577"/>
        <pc:sldMkLst>
          <pc:docMk/>
          <pc:sldMk cId="2704281556" sldId="357"/>
        </pc:sldMkLst>
        <pc:spChg chg="mod">
          <ac:chgData name="Stockton, Jemima" userId="bfd8902c-9146-435c-99e3-ead8b8b9a09d" providerId="ADAL" clId="{08C5B41D-54DE-4B8A-A780-40A99DF63F79}" dt="2024-05-28T23:45:35.150" v="1280"/>
          <ac:spMkLst>
            <pc:docMk/>
            <pc:sldMk cId="2704281556" sldId="357"/>
            <ac:spMk id="12" creationId="{70A61231-6D76-F270-6A65-123D3621D164}"/>
          </ac:spMkLst>
        </pc:spChg>
        <pc:spChg chg="mod">
          <ac:chgData name="Stockton, Jemima" userId="bfd8902c-9146-435c-99e3-ead8b8b9a09d" providerId="ADAL" clId="{08C5B41D-54DE-4B8A-A780-40A99DF63F79}" dt="2024-05-28T23:45:35.150" v="1280"/>
          <ac:spMkLst>
            <pc:docMk/>
            <pc:sldMk cId="2704281556" sldId="357"/>
            <ac:spMk id="26" creationId="{E5879B0B-4FE5-7297-195D-7928C37FBCE9}"/>
          </ac:spMkLst>
        </pc:spChg>
        <pc:spChg chg="mod">
          <ac:chgData name="Stockton, Jemima" userId="bfd8902c-9146-435c-99e3-ead8b8b9a09d" providerId="ADAL" clId="{08C5B41D-54DE-4B8A-A780-40A99DF63F79}" dt="2024-05-28T23:45:35.150" v="1280"/>
          <ac:spMkLst>
            <pc:docMk/>
            <pc:sldMk cId="2704281556" sldId="357"/>
            <ac:spMk id="31" creationId="{6AB19B66-9984-D36C-5FA2-82EDDE51B2D7}"/>
          </ac:spMkLst>
        </pc:spChg>
        <pc:spChg chg="mod">
          <ac:chgData name="Stockton, Jemima" userId="bfd8902c-9146-435c-99e3-ead8b8b9a09d" providerId="ADAL" clId="{08C5B41D-54DE-4B8A-A780-40A99DF63F79}" dt="2024-05-28T23:45:35.150" v="1280"/>
          <ac:spMkLst>
            <pc:docMk/>
            <pc:sldMk cId="2704281556" sldId="357"/>
            <ac:spMk id="35" creationId="{1F642F30-02FB-FA53-7522-FA737E663462}"/>
          </ac:spMkLst>
        </pc:spChg>
        <pc:grpChg chg="add mod">
          <ac:chgData name="Stockton, Jemima" userId="bfd8902c-9146-435c-99e3-ead8b8b9a09d" providerId="ADAL" clId="{08C5B41D-54DE-4B8A-A780-40A99DF63F79}" dt="2024-05-28T23:45:42.749" v="1281" actId="1076"/>
          <ac:grpSpMkLst>
            <pc:docMk/>
            <pc:sldMk cId="2704281556" sldId="357"/>
            <ac:grpSpMk id="11" creationId="{2F9B145B-2D6F-421A-7389-4F38F52FD796}"/>
          </ac:grpSpMkLst>
        </pc:grpChg>
        <pc:grpChg chg="del">
          <ac:chgData name="Stockton, Jemima" userId="bfd8902c-9146-435c-99e3-ead8b8b9a09d" providerId="ADAL" clId="{08C5B41D-54DE-4B8A-A780-40A99DF63F79}" dt="2024-05-28T23:45:34.289" v="1279" actId="478"/>
          <ac:grpSpMkLst>
            <pc:docMk/>
            <pc:sldMk cId="2704281556" sldId="357"/>
            <ac:grpSpMk id="14" creationId="{778886CE-7185-E596-0291-5E417D9556CE}"/>
          </ac:grpSpMkLst>
        </pc:grpChg>
        <pc:grpChg chg="mod">
          <ac:chgData name="Stockton, Jemima" userId="bfd8902c-9146-435c-99e3-ead8b8b9a09d" providerId="ADAL" clId="{08C5B41D-54DE-4B8A-A780-40A99DF63F79}" dt="2024-05-28T23:45:35.150" v="1280"/>
          <ac:grpSpMkLst>
            <pc:docMk/>
            <pc:sldMk cId="2704281556" sldId="357"/>
            <ac:grpSpMk id="16" creationId="{AA2D7012-F023-E402-67DF-D6897EDB0279}"/>
          </ac:grpSpMkLst>
        </pc:grpChg>
        <pc:grpChg chg="del">
          <ac:chgData name="Stockton, Jemima" userId="bfd8902c-9146-435c-99e3-ead8b8b9a09d" providerId="ADAL" clId="{08C5B41D-54DE-4B8A-A780-40A99DF63F79}" dt="2024-05-28T23:45:34.289" v="1279" actId="478"/>
          <ac:grpSpMkLst>
            <pc:docMk/>
            <pc:sldMk cId="2704281556" sldId="357"/>
            <ac:grpSpMk id="22" creationId="{6376FF14-9506-88D6-F0EC-EA49922AEB44}"/>
          </ac:grpSpMkLst>
        </pc:grpChg>
        <pc:grpChg chg="add mod">
          <ac:chgData name="Stockton, Jemima" userId="bfd8902c-9146-435c-99e3-ead8b8b9a09d" providerId="ADAL" clId="{08C5B41D-54DE-4B8A-A780-40A99DF63F79}" dt="2024-05-28T23:45:42.749" v="1281" actId="1076"/>
          <ac:grpSpMkLst>
            <pc:docMk/>
            <pc:sldMk cId="2704281556" sldId="357"/>
            <ac:grpSpMk id="30" creationId="{4BFDC68D-DE8E-EFBC-073F-5360D17D5DFD}"/>
          </ac:grpSpMkLst>
        </pc:grpChg>
        <pc:grpChg chg="mod">
          <ac:chgData name="Stockton, Jemima" userId="bfd8902c-9146-435c-99e3-ead8b8b9a09d" providerId="ADAL" clId="{08C5B41D-54DE-4B8A-A780-40A99DF63F79}" dt="2024-05-28T23:45:35.150" v="1280"/>
          <ac:grpSpMkLst>
            <pc:docMk/>
            <pc:sldMk cId="2704281556" sldId="357"/>
            <ac:grpSpMk id="32" creationId="{8E31955A-C7AE-B9B4-253F-0C03CB627B07}"/>
          </ac:grpSpMkLst>
        </pc:grpChg>
        <pc:picChg chg="mod">
          <ac:chgData name="Stockton, Jemima" userId="bfd8902c-9146-435c-99e3-ead8b8b9a09d" providerId="ADAL" clId="{08C5B41D-54DE-4B8A-A780-40A99DF63F79}" dt="2024-05-28T23:45:35.150" v="1280"/>
          <ac:picMkLst>
            <pc:docMk/>
            <pc:sldMk cId="2704281556" sldId="357"/>
            <ac:picMk id="17" creationId="{96A005B5-0A43-55AB-052D-9EA8A4F28A83}"/>
          </ac:picMkLst>
        </pc:picChg>
        <pc:picChg chg="mod">
          <ac:chgData name="Stockton, Jemima" userId="bfd8902c-9146-435c-99e3-ead8b8b9a09d" providerId="ADAL" clId="{08C5B41D-54DE-4B8A-A780-40A99DF63F79}" dt="2024-05-28T23:45:35.150" v="1280"/>
          <ac:picMkLst>
            <pc:docMk/>
            <pc:sldMk cId="2704281556" sldId="357"/>
            <ac:picMk id="24" creationId="{3366EC52-77CF-FCC9-B42B-747555032784}"/>
          </ac:picMkLst>
        </pc:picChg>
        <pc:picChg chg="mod">
          <ac:chgData name="Stockton, Jemima" userId="bfd8902c-9146-435c-99e3-ead8b8b9a09d" providerId="ADAL" clId="{08C5B41D-54DE-4B8A-A780-40A99DF63F79}" dt="2024-05-28T23:45:35.150" v="1280"/>
          <ac:picMkLst>
            <pc:docMk/>
            <pc:sldMk cId="2704281556" sldId="357"/>
            <ac:picMk id="33" creationId="{6E8CCBD2-9B0A-7444-D9D6-6F49EEAE1A22}"/>
          </ac:picMkLst>
        </pc:picChg>
        <pc:picChg chg="mod">
          <ac:chgData name="Stockton, Jemima" userId="bfd8902c-9146-435c-99e3-ead8b8b9a09d" providerId="ADAL" clId="{08C5B41D-54DE-4B8A-A780-40A99DF63F79}" dt="2024-05-28T23:45:35.150" v="1280"/>
          <ac:picMkLst>
            <pc:docMk/>
            <pc:sldMk cId="2704281556" sldId="357"/>
            <ac:picMk id="34" creationId="{8724F3B6-EA3F-5DD6-08B6-3F80D965F3CD}"/>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https://liveuclac-my.sharepoint.com/personal/rmjljes_ucl_ac_uk/Documents/Desktop/iASSIST/Travel%20to%20work%20from%20census%202001%202011%20and%202021.xls"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Travel%20to%20work%20from%20census%202001%202011%20and%202021.xls"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oleObject" Target="https://liveuclac-my.sharepoint.com/personal/rmjljes_ucl_ac_uk/Documents/Desktop/iASSIST/Retaining_or_switching_walk.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8422671750329072E-2"/>
          <c:y val="3.1898126700755258E-2"/>
          <c:w val="0.94157729453074046"/>
          <c:h val="0.56747694133299775"/>
        </c:manualLayout>
      </c:layout>
      <c:barChart>
        <c:barDir val="col"/>
        <c:grouping val="clustered"/>
        <c:varyColors val="0"/>
        <c:ser>
          <c:idx val="0"/>
          <c:order val="0"/>
          <c:tx>
            <c:strRef>
              <c:f>data!$B$7</c:f>
              <c:strCache>
                <c:ptCount val="1"/>
                <c:pt idx="0">
                  <c:v>Census 2001</c:v>
                </c:pt>
              </c:strCache>
            </c:strRef>
          </c:tx>
          <c:spPr>
            <a:solidFill>
              <a:srgbClr val="000099"/>
            </a:solidFill>
            <a:ln>
              <a:noFill/>
            </a:ln>
            <a:effectLst/>
          </c:spPr>
          <c:invertIfNegative val="0"/>
          <c:cat>
            <c:strRef>
              <c:f>data!$A$8:$A$18</c:f>
              <c:strCache>
                <c:ptCount val="11"/>
                <c:pt idx="0">
                  <c:v>Driving a car/van</c:v>
                </c:pt>
                <c:pt idx="1">
                  <c:v>Works mainly at/from home</c:v>
                </c:pt>
                <c:pt idx="2">
                  <c:v>On foot</c:v>
                </c:pt>
                <c:pt idx="3">
                  <c:v>Bus minibus/coach</c:v>
                </c:pt>
                <c:pt idx="4">
                  <c:v>Passenger in a car/van</c:v>
                </c:pt>
                <c:pt idx="5">
                  <c:v>Train</c:v>
                </c:pt>
                <c:pt idx="6">
                  <c:v>Uground/metro/lightrail/tram</c:v>
                </c:pt>
                <c:pt idx="7">
                  <c:v>Bicycle</c:v>
                </c:pt>
                <c:pt idx="8">
                  <c:v>Motorcycle scooter/moped</c:v>
                </c:pt>
                <c:pt idx="9">
                  <c:v>Taxi/minicab</c:v>
                </c:pt>
                <c:pt idx="10">
                  <c:v>Other </c:v>
                </c:pt>
              </c:strCache>
            </c:strRef>
          </c:cat>
          <c:val>
            <c:numRef>
              <c:f>data!$B$8:$B$18</c:f>
              <c:numCache>
                <c:formatCode>0</c:formatCode>
                <c:ptCount val="11"/>
                <c:pt idx="0">
                  <c:v>55.2</c:v>
                </c:pt>
                <c:pt idx="1">
                  <c:v>9.1999999999999993</c:v>
                </c:pt>
                <c:pt idx="2">
                  <c:v>10</c:v>
                </c:pt>
                <c:pt idx="3">
                  <c:v>7.4</c:v>
                </c:pt>
                <c:pt idx="4">
                  <c:v>6.3</c:v>
                </c:pt>
                <c:pt idx="5">
                  <c:v>4.0999999999999996</c:v>
                </c:pt>
                <c:pt idx="6">
                  <c:v>3</c:v>
                </c:pt>
                <c:pt idx="7">
                  <c:v>2.8</c:v>
                </c:pt>
                <c:pt idx="8">
                  <c:v>1.1000000000000001</c:v>
                </c:pt>
                <c:pt idx="9">
                  <c:v>0.5</c:v>
                </c:pt>
                <c:pt idx="10">
                  <c:v>0.5</c:v>
                </c:pt>
              </c:numCache>
            </c:numRef>
          </c:val>
          <c:extLst>
            <c:ext xmlns:c16="http://schemas.microsoft.com/office/drawing/2014/chart" uri="{C3380CC4-5D6E-409C-BE32-E72D297353CC}">
              <c16:uniqueId val="{00000000-5BD7-43D2-8C45-862DEA6FE465}"/>
            </c:ext>
          </c:extLst>
        </c:ser>
        <c:ser>
          <c:idx val="1"/>
          <c:order val="1"/>
          <c:tx>
            <c:strRef>
              <c:f>data!$C$7</c:f>
              <c:strCache>
                <c:ptCount val="1"/>
                <c:pt idx="0">
                  <c:v>Census 2011</c:v>
                </c:pt>
              </c:strCache>
            </c:strRef>
          </c:tx>
          <c:spPr>
            <a:solidFill>
              <a:srgbClr val="00CC99"/>
            </a:solidFill>
            <a:ln>
              <a:noFill/>
            </a:ln>
            <a:effectLst/>
          </c:spPr>
          <c:invertIfNegative val="0"/>
          <c:cat>
            <c:strRef>
              <c:f>data!$A$8:$A$18</c:f>
              <c:strCache>
                <c:ptCount val="11"/>
                <c:pt idx="0">
                  <c:v>Driving a car/van</c:v>
                </c:pt>
                <c:pt idx="1">
                  <c:v>Works mainly at/from home</c:v>
                </c:pt>
                <c:pt idx="2">
                  <c:v>On foot</c:v>
                </c:pt>
                <c:pt idx="3">
                  <c:v>Bus minibus/coach</c:v>
                </c:pt>
                <c:pt idx="4">
                  <c:v>Passenger in a car/van</c:v>
                </c:pt>
                <c:pt idx="5">
                  <c:v>Train</c:v>
                </c:pt>
                <c:pt idx="6">
                  <c:v>Uground/metro/lightrail/tram</c:v>
                </c:pt>
                <c:pt idx="7">
                  <c:v>Bicycle</c:v>
                </c:pt>
                <c:pt idx="8">
                  <c:v>Motorcycle scooter/moped</c:v>
                </c:pt>
                <c:pt idx="9">
                  <c:v>Taxi/minicab</c:v>
                </c:pt>
                <c:pt idx="10">
                  <c:v>Other </c:v>
                </c:pt>
              </c:strCache>
            </c:strRef>
          </c:cat>
          <c:val>
            <c:numRef>
              <c:f>data!$C$8:$C$18</c:f>
              <c:numCache>
                <c:formatCode>0</c:formatCode>
                <c:ptCount val="11"/>
                <c:pt idx="0">
                  <c:v>54.5</c:v>
                </c:pt>
                <c:pt idx="1">
                  <c:v>10.3</c:v>
                </c:pt>
                <c:pt idx="2">
                  <c:v>9.8000000000000007</c:v>
                </c:pt>
                <c:pt idx="3">
                  <c:v>7.2</c:v>
                </c:pt>
                <c:pt idx="4">
                  <c:v>5</c:v>
                </c:pt>
                <c:pt idx="5">
                  <c:v>5</c:v>
                </c:pt>
                <c:pt idx="6">
                  <c:v>3.8</c:v>
                </c:pt>
                <c:pt idx="7">
                  <c:v>2.8</c:v>
                </c:pt>
                <c:pt idx="8">
                  <c:v>0.8</c:v>
                </c:pt>
                <c:pt idx="9">
                  <c:v>0.5</c:v>
                </c:pt>
                <c:pt idx="10">
                  <c:v>0.5</c:v>
                </c:pt>
              </c:numCache>
            </c:numRef>
          </c:val>
          <c:extLst>
            <c:ext xmlns:c16="http://schemas.microsoft.com/office/drawing/2014/chart" uri="{C3380CC4-5D6E-409C-BE32-E72D297353CC}">
              <c16:uniqueId val="{00000001-5BD7-43D2-8C45-862DEA6FE465}"/>
            </c:ext>
          </c:extLst>
        </c:ser>
        <c:ser>
          <c:idx val="2"/>
          <c:order val="2"/>
          <c:tx>
            <c:strRef>
              <c:f>data!$D$7</c:f>
              <c:strCache>
                <c:ptCount val="1"/>
                <c:pt idx="0">
                  <c:v>Census 2021</c:v>
                </c:pt>
              </c:strCache>
            </c:strRef>
          </c:tx>
          <c:spPr>
            <a:solidFill>
              <a:srgbClr val="FFC000"/>
            </a:solidFill>
            <a:ln>
              <a:noFill/>
            </a:ln>
            <a:effectLst/>
          </c:spPr>
          <c:invertIfNegative val="0"/>
          <c:cat>
            <c:strRef>
              <c:f>data!$A$8:$A$18</c:f>
              <c:strCache>
                <c:ptCount val="11"/>
                <c:pt idx="0">
                  <c:v>Driving a car/van</c:v>
                </c:pt>
                <c:pt idx="1">
                  <c:v>Works mainly at/from home</c:v>
                </c:pt>
                <c:pt idx="2">
                  <c:v>On foot</c:v>
                </c:pt>
                <c:pt idx="3">
                  <c:v>Bus minibus/coach</c:v>
                </c:pt>
                <c:pt idx="4">
                  <c:v>Passenger in a car/van</c:v>
                </c:pt>
                <c:pt idx="5">
                  <c:v>Train</c:v>
                </c:pt>
                <c:pt idx="6">
                  <c:v>Uground/metro/lightrail/tram</c:v>
                </c:pt>
                <c:pt idx="7">
                  <c:v>Bicycle</c:v>
                </c:pt>
                <c:pt idx="8">
                  <c:v>Motorcycle scooter/moped</c:v>
                </c:pt>
                <c:pt idx="9">
                  <c:v>Taxi/minicab</c:v>
                </c:pt>
                <c:pt idx="10">
                  <c:v>Other </c:v>
                </c:pt>
              </c:strCache>
            </c:strRef>
          </c:cat>
          <c:val>
            <c:numRef>
              <c:f>data!$D$8:$D$18</c:f>
              <c:numCache>
                <c:formatCode>0</c:formatCode>
                <c:ptCount val="11"/>
                <c:pt idx="0">
                  <c:v>45.1</c:v>
                </c:pt>
                <c:pt idx="1">
                  <c:v>31.3</c:v>
                </c:pt>
                <c:pt idx="2">
                  <c:v>7.6</c:v>
                </c:pt>
                <c:pt idx="3">
                  <c:v>4.2</c:v>
                </c:pt>
                <c:pt idx="4">
                  <c:v>3.9</c:v>
                </c:pt>
                <c:pt idx="5">
                  <c:v>1.9</c:v>
                </c:pt>
                <c:pt idx="6">
                  <c:v>1.8</c:v>
                </c:pt>
                <c:pt idx="7">
                  <c:v>2</c:v>
                </c:pt>
                <c:pt idx="8">
                  <c:v>0.5</c:v>
                </c:pt>
                <c:pt idx="9">
                  <c:v>0.7</c:v>
                </c:pt>
                <c:pt idx="10">
                  <c:v>1</c:v>
                </c:pt>
              </c:numCache>
            </c:numRef>
          </c:val>
          <c:extLst>
            <c:ext xmlns:c16="http://schemas.microsoft.com/office/drawing/2014/chart" uri="{C3380CC4-5D6E-409C-BE32-E72D297353CC}">
              <c16:uniqueId val="{00000002-5BD7-43D2-8C45-862DEA6FE465}"/>
            </c:ext>
          </c:extLst>
        </c:ser>
        <c:dLbls>
          <c:showLegendKey val="0"/>
          <c:showVal val="0"/>
          <c:showCatName val="0"/>
          <c:showSerName val="0"/>
          <c:showPercent val="0"/>
          <c:showBubbleSize val="0"/>
        </c:dLbls>
        <c:gapWidth val="219"/>
        <c:overlap val="-27"/>
        <c:axId val="841900176"/>
        <c:axId val="1"/>
      </c:barChart>
      <c:catAx>
        <c:axId val="841900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
        <c:crosses val="autoZero"/>
        <c:auto val="1"/>
        <c:lblAlgn val="ctr"/>
        <c:lblOffset val="100"/>
        <c:noMultiLvlLbl val="0"/>
      </c:catAx>
      <c:valAx>
        <c:axId val="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841900176"/>
        <c:crosses val="autoZero"/>
        <c:crossBetween val="between"/>
      </c:valAx>
      <c:spPr>
        <a:noFill/>
        <a:ln w="25400">
          <a:noFill/>
        </a:ln>
      </c:spPr>
    </c:plotArea>
    <c:legend>
      <c:legendPos val="r"/>
      <c:layout>
        <c:manualLayout>
          <c:xMode val="edge"/>
          <c:yMode val="edge"/>
          <c:x val="0.36582399560484369"/>
          <c:y val="0.10733642180629721"/>
          <c:w val="0.49043502877361794"/>
          <c:h val="6.2501939920468028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7710876951964842E-2"/>
          <c:y val="4.614188341248554E-2"/>
          <c:w val="0.88655798254034834"/>
          <c:h val="0.43084502278684078"/>
        </c:manualLayout>
      </c:layout>
      <c:barChart>
        <c:barDir val="col"/>
        <c:grouping val="clustered"/>
        <c:varyColors val="0"/>
        <c:ser>
          <c:idx val="0"/>
          <c:order val="0"/>
          <c:tx>
            <c:strRef>
              <c:f>data!$B$48</c:f>
              <c:strCache>
                <c:ptCount val="1"/>
                <c:pt idx="0">
                  <c:v>Census 2001</c:v>
                </c:pt>
              </c:strCache>
            </c:strRef>
          </c:tx>
          <c:spPr>
            <a:solidFill>
              <a:srgbClr val="000099"/>
            </a:solidFill>
            <a:ln>
              <a:noFill/>
            </a:ln>
            <a:effectLst/>
          </c:spPr>
          <c:invertIfNegative val="0"/>
          <c:cat>
            <c:strRef>
              <c:f>data!$A$49:$A$59</c:f>
              <c:strCache>
                <c:ptCount val="11"/>
                <c:pt idx="0">
                  <c:v>Driving a car or van</c:v>
                </c:pt>
                <c:pt idx="2">
                  <c:v>On foot</c:v>
                </c:pt>
                <c:pt idx="3">
                  <c:v>Bus minibus or coach</c:v>
                </c:pt>
                <c:pt idx="4">
                  <c:v>Passenger in a car or van</c:v>
                </c:pt>
                <c:pt idx="5">
                  <c:v>Train</c:v>
                </c:pt>
                <c:pt idx="6">
                  <c:v>Underground metro light rail or tram</c:v>
                </c:pt>
                <c:pt idx="7">
                  <c:v>Bicycle</c:v>
                </c:pt>
                <c:pt idx="8">
                  <c:v>Motorcycle scooter or moped</c:v>
                </c:pt>
                <c:pt idx="9">
                  <c:v>Taxi or minicab</c:v>
                </c:pt>
                <c:pt idx="10">
                  <c:v>Other </c:v>
                </c:pt>
              </c:strCache>
            </c:strRef>
          </c:cat>
          <c:val>
            <c:numRef>
              <c:f>data!$B$49:$B$59</c:f>
              <c:numCache>
                <c:formatCode>0</c:formatCode>
                <c:ptCount val="11"/>
                <c:pt idx="0">
                  <c:v>60.792951541850222</c:v>
                </c:pt>
                <c:pt idx="1">
                  <c:v>0</c:v>
                </c:pt>
                <c:pt idx="2">
                  <c:v>11.013215859030836</c:v>
                </c:pt>
                <c:pt idx="3">
                  <c:v>8.1497797356828201</c:v>
                </c:pt>
                <c:pt idx="4">
                  <c:v>6.9383259911894273</c:v>
                </c:pt>
                <c:pt idx="5">
                  <c:v>4.5154185022026425</c:v>
                </c:pt>
                <c:pt idx="6">
                  <c:v>3.303964757709251</c:v>
                </c:pt>
                <c:pt idx="7">
                  <c:v>3.0837004405286339</c:v>
                </c:pt>
                <c:pt idx="8">
                  <c:v>1.2114537444933922</c:v>
                </c:pt>
                <c:pt idx="9">
                  <c:v>0.5506607929515418</c:v>
                </c:pt>
                <c:pt idx="10">
                  <c:v>0.5506607929515418</c:v>
                </c:pt>
              </c:numCache>
            </c:numRef>
          </c:val>
          <c:extLst>
            <c:ext xmlns:c16="http://schemas.microsoft.com/office/drawing/2014/chart" uri="{C3380CC4-5D6E-409C-BE32-E72D297353CC}">
              <c16:uniqueId val="{00000000-A869-46E8-9AB0-780F6EDB6521}"/>
            </c:ext>
          </c:extLst>
        </c:ser>
        <c:ser>
          <c:idx val="1"/>
          <c:order val="1"/>
          <c:tx>
            <c:strRef>
              <c:f>data!$C$48</c:f>
              <c:strCache>
                <c:ptCount val="1"/>
                <c:pt idx="0">
                  <c:v>Census 2011</c:v>
                </c:pt>
              </c:strCache>
            </c:strRef>
          </c:tx>
          <c:spPr>
            <a:solidFill>
              <a:srgbClr val="00CC99"/>
            </a:solidFill>
            <a:ln>
              <a:noFill/>
            </a:ln>
            <a:effectLst/>
          </c:spPr>
          <c:invertIfNegative val="0"/>
          <c:cat>
            <c:strRef>
              <c:f>data!$A$49:$A$59</c:f>
              <c:strCache>
                <c:ptCount val="11"/>
                <c:pt idx="0">
                  <c:v>Driving a car or van</c:v>
                </c:pt>
                <c:pt idx="2">
                  <c:v>On foot</c:v>
                </c:pt>
                <c:pt idx="3">
                  <c:v>Bus minibus or coach</c:v>
                </c:pt>
                <c:pt idx="4">
                  <c:v>Passenger in a car or van</c:v>
                </c:pt>
                <c:pt idx="5">
                  <c:v>Train</c:v>
                </c:pt>
                <c:pt idx="6">
                  <c:v>Underground metro light rail or tram</c:v>
                </c:pt>
                <c:pt idx="7">
                  <c:v>Bicycle</c:v>
                </c:pt>
                <c:pt idx="8">
                  <c:v>Motorcycle scooter or moped</c:v>
                </c:pt>
                <c:pt idx="9">
                  <c:v>Taxi or minicab</c:v>
                </c:pt>
                <c:pt idx="10">
                  <c:v>Other </c:v>
                </c:pt>
              </c:strCache>
            </c:strRef>
          </c:cat>
          <c:val>
            <c:numRef>
              <c:f>data!$C$49:$C$59</c:f>
              <c:numCache>
                <c:formatCode>0</c:formatCode>
                <c:ptCount val="11"/>
                <c:pt idx="0">
                  <c:v>60.758082497212932</c:v>
                </c:pt>
                <c:pt idx="1">
                  <c:v>0</c:v>
                </c:pt>
                <c:pt idx="2">
                  <c:v>10.925306577480491</c:v>
                </c:pt>
                <c:pt idx="3">
                  <c:v>8.0267558528428093</c:v>
                </c:pt>
                <c:pt idx="4">
                  <c:v>5.5741360089186172</c:v>
                </c:pt>
                <c:pt idx="5">
                  <c:v>5.5741360089186172</c:v>
                </c:pt>
                <c:pt idx="6">
                  <c:v>4.2363433667781489</c:v>
                </c:pt>
                <c:pt idx="7">
                  <c:v>3.1215161649944254</c:v>
                </c:pt>
                <c:pt idx="8">
                  <c:v>0.89186176142697882</c:v>
                </c:pt>
                <c:pt idx="9">
                  <c:v>0.55741360089186176</c:v>
                </c:pt>
                <c:pt idx="10">
                  <c:v>0.55741360089186176</c:v>
                </c:pt>
              </c:numCache>
            </c:numRef>
          </c:val>
          <c:extLst>
            <c:ext xmlns:c16="http://schemas.microsoft.com/office/drawing/2014/chart" uri="{C3380CC4-5D6E-409C-BE32-E72D297353CC}">
              <c16:uniqueId val="{00000001-A869-46E8-9AB0-780F6EDB6521}"/>
            </c:ext>
          </c:extLst>
        </c:ser>
        <c:ser>
          <c:idx val="2"/>
          <c:order val="2"/>
          <c:tx>
            <c:strRef>
              <c:f>data!$D$48</c:f>
              <c:strCache>
                <c:ptCount val="1"/>
                <c:pt idx="0">
                  <c:v>Census 2021</c:v>
                </c:pt>
              </c:strCache>
            </c:strRef>
          </c:tx>
          <c:spPr>
            <a:solidFill>
              <a:srgbClr val="FFC000"/>
            </a:solidFill>
            <a:ln>
              <a:noFill/>
            </a:ln>
            <a:effectLst/>
          </c:spPr>
          <c:invertIfNegative val="0"/>
          <c:cat>
            <c:strRef>
              <c:f>data!$A$49:$A$59</c:f>
              <c:strCache>
                <c:ptCount val="11"/>
                <c:pt idx="0">
                  <c:v>Driving a car or van</c:v>
                </c:pt>
                <c:pt idx="2">
                  <c:v>On foot</c:v>
                </c:pt>
                <c:pt idx="3">
                  <c:v>Bus minibus or coach</c:v>
                </c:pt>
                <c:pt idx="4">
                  <c:v>Passenger in a car or van</c:v>
                </c:pt>
                <c:pt idx="5">
                  <c:v>Train</c:v>
                </c:pt>
                <c:pt idx="6">
                  <c:v>Underground metro light rail or tram</c:v>
                </c:pt>
                <c:pt idx="7">
                  <c:v>Bicycle</c:v>
                </c:pt>
                <c:pt idx="8">
                  <c:v>Motorcycle scooter or moped</c:v>
                </c:pt>
                <c:pt idx="9">
                  <c:v>Taxi or minicab</c:v>
                </c:pt>
                <c:pt idx="10">
                  <c:v>Other </c:v>
                </c:pt>
              </c:strCache>
            </c:strRef>
          </c:cat>
          <c:val>
            <c:numRef>
              <c:f>data!$D$49:$D$59</c:f>
              <c:numCache>
                <c:formatCode>0</c:formatCode>
                <c:ptCount val="11"/>
                <c:pt idx="0">
                  <c:v>65.647743813682681</c:v>
                </c:pt>
                <c:pt idx="1">
                  <c:v>0</c:v>
                </c:pt>
                <c:pt idx="2">
                  <c:v>11.062590975254729</c:v>
                </c:pt>
                <c:pt idx="3">
                  <c:v>6.1135371179039302</c:v>
                </c:pt>
                <c:pt idx="4">
                  <c:v>5.676855895196506</c:v>
                </c:pt>
                <c:pt idx="5">
                  <c:v>2.7656477438136822</c:v>
                </c:pt>
                <c:pt idx="6">
                  <c:v>2.6200873362445414</c:v>
                </c:pt>
                <c:pt idx="7">
                  <c:v>2.9112081513828238</c:v>
                </c:pt>
                <c:pt idx="8">
                  <c:v>0.72780203784570596</c:v>
                </c:pt>
                <c:pt idx="9">
                  <c:v>1.0189228529839882</c:v>
                </c:pt>
                <c:pt idx="10">
                  <c:v>1.4556040756914119</c:v>
                </c:pt>
              </c:numCache>
            </c:numRef>
          </c:val>
          <c:extLst>
            <c:ext xmlns:c16="http://schemas.microsoft.com/office/drawing/2014/chart" uri="{C3380CC4-5D6E-409C-BE32-E72D297353CC}">
              <c16:uniqueId val="{00000002-A869-46E8-9AB0-780F6EDB6521}"/>
            </c:ext>
          </c:extLst>
        </c:ser>
        <c:dLbls>
          <c:showLegendKey val="0"/>
          <c:showVal val="0"/>
          <c:showCatName val="0"/>
          <c:showSerName val="0"/>
          <c:showPercent val="0"/>
          <c:showBubbleSize val="0"/>
        </c:dLbls>
        <c:gapWidth val="219"/>
        <c:overlap val="-27"/>
        <c:axId val="1390144447"/>
        <c:axId val="1390144927"/>
      </c:barChart>
      <c:catAx>
        <c:axId val="1390144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90144927"/>
        <c:crosses val="autoZero"/>
        <c:auto val="1"/>
        <c:lblAlgn val="ctr"/>
        <c:lblOffset val="100"/>
        <c:noMultiLvlLbl val="0"/>
      </c:catAx>
      <c:valAx>
        <c:axId val="139014492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390144447"/>
        <c:crosses val="autoZero"/>
        <c:crossBetween val="between"/>
      </c:valAx>
      <c:spPr>
        <a:noFill/>
        <a:ln>
          <a:noFill/>
        </a:ln>
        <a:effectLst/>
      </c:spPr>
    </c:plotArea>
    <c:legend>
      <c:legendPos val="b"/>
      <c:layout>
        <c:manualLayout>
          <c:xMode val="edge"/>
          <c:yMode val="edge"/>
          <c:x val="0.39124650352912443"/>
          <c:y val="0.10043990482762054"/>
          <c:w val="0.52111491783941732"/>
          <c:h val="6.273278107894506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sex!$H$1</c:f>
              <c:strCache>
                <c:ptCount val="1"/>
                <c:pt idx="0">
                  <c:v>Male</c:v>
                </c:pt>
              </c:strCache>
            </c:strRef>
          </c:tx>
          <c:spPr>
            <a:solidFill>
              <a:srgbClr val="003399"/>
            </a:solidFill>
            <a:ln>
              <a:noFill/>
            </a:ln>
            <a:effectLst/>
          </c:spPr>
          <c:invertIfNegative val="0"/>
          <c:cat>
            <c:strRef>
              <c:f>sex!$G$2:$G$3</c:f>
              <c:strCache>
                <c:ptCount val="2"/>
                <c:pt idx="0">
                  <c:v>Retain walk</c:v>
                </c:pt>
                <c:pt idx="1">
                  <c:v>Switch to walk</c:v>
                </c:pt>
              </c:strCache>
            </c:strRef>
          </c:cat>
          <c:val>
            <c:numRef>
              <c:f>sex!$H$2:$H$3</c:f>
              <c:numCache>
                <c:formatCode>0.00</c:formatCode>
                <c:ptCount val="2"/>
                <c:pt idx="0">
                  <c:v>0.29078632106294927</c:v>
                </c:pt>
                <c:pt idx="1">
                  <c:v>4.322963019067997E-2</c:v>
                </c:pt>
              </c:numCache>
            </c:numRef>
          </c:val>
          <c:extLst>
            <c:ext xmlns:c16="http://schemas.microsoft.com/office/drawing/2014/chart" uri="{C3380CC4-5D6E-409C-BE32-E72D297353CC}">
              <c16:uniqueId val="{00000000-E43B-40FE-B5FA-B93652E673B0}"/>
            </c:ext>
          </c:extLst>
        </c:ser>
        <c:ser>
          <c:idx val="1"/>
          <c:order val="1"/>
          <c:tx>
            <c:strRef>
              <c:f>sex!$I$1</c:f>
              <c:strCache>
                <c:ptCount val="1"/>
                <c:pt idx="0">
                  <c:v>Female</c:v>
                </c:pt>
              </c:strCache>
            </c:strRef>
          </c:tx>
          <c:spPr>
            <a:solidFill>
              <a:srgbClr val="00CC99"/>
            </a:solidFill>
            <a:ln>
              <a:noFill/>
            </a:ln>
            <a:effectLst/>
          </c:spPr>
          <c:invertIfNegative val="0"/>
          <c:cat>
            <c:strRef>
              <c:f>sex!$G$2:$G$3</c:f>
              <c:strCache>
                <c:ptCount val="2"/>
                <c:pt idx="0">
                  <c:v>Retain walk</c:v>
                </c:pt>
                <c:pt idx="1">
                  <c:v>Switch to walk</c:v>
                </c:pt>
              </c:strCache>
            </c:strRef>
          </c:cat>
          <c:val>
            <c:numRef>
              <c:f>sex!$I$2:$I$3</c:f>
              <c:numCache>
                <c:formatCode>0.00</c:formatCode>
                <c:ptCount val="2"/>
                <c:pt idx="0">
                  <c:v>0.39361957303909811</c:v>
                </c:pt>
                <c:pt idx="1">
                  <c:v>8.2571874303543569E-2</c:v>
                </c:pt>
              </c:numCache>
            </c:numRef>
          </c:val>
          <c:extLst>
            <c:ext xmlns:c16="http://schemas.microsoft.com/office/drawing/2014/chart" uri="{C3380CC4-5D6E-409C-BE32-E72D297353CC}">
              <c16:uniqueId val="{00000001-E43B-40FE-B5FA-B93652E673B0}"/>
            </c:ext>
          </c:extLst>
        </c:ser>
        <c:dLbls>
          <c:showLegendKey val="0"/>
          <c:showVal val="0"/>
          <c:showCatName val="0"/>
          <c:showSerName val="0"/>
          <c:showPercent val="0"/>
          <c:showBubbleSize val="0"/>
        </c:dLbls>
        <c:gapWidth val="219"/>
        <c:overlap val="-27"/>
        <c:axId val="745101631"/>
        <c:axId val="745104511"/>
      </c:barChart>
      <c:catAx>
        <c:axId val="745101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745104511"/>
        <c:crosses val="autoZero"/>
        <c:auto val="1"/>
        <c:lblAlgn val="ctr"/>
        <c:lblOffset val="100"/>
        <c:noMultiLvlLbl val="0"/>
      </c:catAx>
      <c:valAx>
        <c:axId val="7451045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745101631"/>
        <c:crosses val="autoZero"/>
        <c:crossBetween val="between"/>
      </c:valAx>
      <c:spPr>
        <a:noFill/>
        <a:ln>
          <a:noFill/>
        </a:ln>
        <a:effectLst/>
      </c:spPr>
    </c:plotArea>
    <c:legend>
      <c:legendPos val="b"/>
      <c:layout>
        <c:manualLayout>
          <c:xMode val="edge"/>
          <c:yMode val="edge"/>
          <c:x val="0.47330103166930759"/>
          <c:y val="5.6207362118289902E-2"/>
          <c:w val="0.47943340786034327"/>
          <c:h val="7.0529528530463778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age!$B$8</c:f>
              <c:strCache>
                <c:ptCount val="1"/>
                <c:pt idx="0">
                  <c:v>16 to 25y</c:v>
                </c:pt>
              </c:strCache>
            </c:strRef>
          </c:tx>
          <c:spPr>
            <a:solidFill>
              <a:schemeClr val="accent1">
                <a:lumMod val="20000"/>
                <a:lumOff val="80000"/>
              </a:schemeClr>
            </a:solidFill>
            <a:ln>
              <a:noFill/>
            </a:ln>
            <a:effectLst/>
          </c:spPr>
          <c:invertIfNegative val="0"/>
          <c:cat>
            <c:strRef>
              <c:f>age!$A$9:$A$10</c:f>
              <c:strCache>
                <c:ptCount val="2"/>
                <c:pt idx="0">
                  <c:v>Retain walk</c:v>
                </c:pt>
                <c:pt idx="1">
                  <c:v>Switch to walking</c:v>
                </c:pt>
              </c:strCache>
            </c:strRef>
          </c:cat>
          <c:val>
            <c:numRef>
              <c:f>age!$B$9:$B$10</c:f>
              <c:numCache>
                <c:formatCode>General</c:formatCode>
                <c:ptCount val="2"/>
                <c:pt idx="0">
                  <c:v>0.19236332079838001</c:v>
                </c:pt>
                <c:pt idx="1">
                  <c:v>7.9759915846791693E-2</c:v>
                </c:pt>
              </c:numCache>
            </c:numRef>
          </c:val>
          <c:extLst>
            <c:ext xmlns:c16="http://schemas.microsoft.com/office/drawing/2014/chart" uri="{C3380CC4-5D6E-409C-BE32-E72D297353CC}">
              <c16:uniqueId val="{00000000-877A-4339-8CA2-78AE26332C0D}"/>
            </c:ext>
          </c:extLst>
        </c:ser>
        <c:ser>
          <c:idx val="1"/>
          <c:order val="1"/>
          <c:tx>
            <c:strRef>
              <c:f>age!$C$8</c:f>
              <c:strCache>
                <c:ptCount val="1"/>
                <c:pt idx="0">
                  <c:v>26 to 35y</c:v>
                </c:pt>
              </c:strCache>
            </c:strRef>
          </c:tx>
          <c:spPr>
            <a:solidFill>
              <a:schemeClr val="accent1">
                <a:lumMod val="40000"/>
                <a:lumOff val="60000"/>
              </a:schemeClr>
            </a:solidFill>
            <a:ln>
              <a:noFill/>
            </a:ln>
            <a:effectLst/>
          </c:spPr>
          <c:invertIfNegative val="0"/>
          <c:cat>
            <c:strRef>
              <c:f>age!$A$9:$A$10</c:f>
              <c:strCache>
                <c:ptCount val="2"/>
                <c:pt idx="0">
                  <c:v>Retain walk</c:v>
                </c:pt>
                <c:pt idx="1">
                  <c:v>Switch to walking</c:v>
                </c:pt>
              </c:strCache>
            </c:strRef>
          </c:cat>
          <c:val>
            <c:numRef>
              <c:f>age!$C$9:$C$10</c:f>
              <c:numCache>
                <c:formatCode>General</c:formatCode>
                <c:ptCount val="2"/>
                <c:pt idx="0">
                  <c:v>0.30388349514563101</c:v>
                </c:pt>
                <c:pt idx="1">
                  <c:v>6.0618714549187498E-2</c:v>
                </c:pt>
              </c:numCache>
            </c:numRef>
          </c:val>
          <c:extLst>
            <c:ext xmlns:c16="http://schemas.microsoft.com/office/drawing/2014/chart" uri="{C3380CC4-5D6E-409C-BE32-E72D297353CC}">
              <c16:uniqueId val="{00000001-877A-4339-8CA2-78AE26332C0D}"/>
            </c:ext>
          </c:extLst>
        </c:ser>
        <c:ser>
          <c:idx val="2"/>
          <c:order val="2"/>
          <c:tx>
            <c:strRef>
              <c:f>age!$D$8</c:f>
              <c:strCache>
                <c:ptCount val="1"/>
                <c:pt idx="0">
                  <c:v>36 to 45y</c:v>
                </c:pt>
              </c:strCache>
            </c:strRef>
          </c:tx>
          <c:spPr>
            <a:solidFill>
              <a:schemeClr val="accent1">
                <a:lumMod val="60000"/>
                <a:lumOff val="40000"/>
              </a:schemeClr>
            </a:solidFill>
            <a:ln>
              <a:noFill/>
            </a:ln>
            <a:effectLst/>
          </c:spPr>
          <c:invertIfNegative val="0"/>
          <c:cat>
            <c:strRef>
              <c:f>age!$A$9:$A$10</c:f>
              <c:strCache>
                <c:ptCount val="2"/>
                <c:pt idx="0">
                  <c:v>Retain walk</c:v>
                </c:pt>
                <c:pt idx="1">
                  <c:v>Switch to walking</c:v>
                </c:pt>
              </c:strCache>
            </c:strRef>
          </c:cat>
          <c:val>
            <c:numRef>
              <c:f>age!$D$9:$D$10</c:f>
              <c:numCache>
                <c:formatCode>General</c:formatCode>
                <c:ptCount val="2"/>
                <c:pt idx="0">
                  <c:v>0.43758498776176197</c:v>
                </c:pt>
                <c:pt idx="1">
                  <c:v>5.5954317797556399E-2</c:v>
                </c:pt>
              </c:numCache>
            </c:numRef>
          </c:val>
          <c:extLst>
            <c:ext xmlns:c16="http://schemas.microsoft.com/office/drawing/2014/chart" uri="{C3380CC4-5D6E-409C-BE32-E72D297353CC}">
              <c16:uniqueId val="{00000002-877A-4339-8CA2-78AE26332C0D}"/>
            </c:ext>
          </c:extLst>
        </c:ser>
        <c:ser>
          <c:idx val="3"/>
          <c:order val="3"/>
          <c:tx>
            <c:strRef>
              <c:f>age!$E$8</c:f>
              <c:strCache>
                <c:ptCount val="1"/>
                <c:pt idx="0">
                  <c:v>46 to 55y</c:v>
                </c:pt>
              </c:strCache>
            </c:strRef>
          </c:tx>
          <c:spPr>
            <a:solidFill>
              <a:schemeClr val="accent1">
                <a:lumMod val="75000"/>
              </a:schemeClr>
            </a:solidFill>
            <a:ln>
              <a:noFill/>
            </a:ln>
            <a:effectLst/>
          </c:spPr>
          <c:invertIfNegative val="0"/>
          <c:cat>
            <c:strRef>
              <c:f>age!$A$9:$A$10</c:f>
              <c:strCache>
                <c:ptCount val="2"/>
                <c:pt idx="0">
                  <c:v>Retain walk</c:v>
                </c:pt>
                <c:pt idx="1">
                  <c:v>Switch to walking</c:v>
                </c:pt>
              </c:strCache>
            </c:strRef>
          </c:cat>
          <c:val>
            <c:numRef>
              <c:f>age!$E$9:$E$10</c:f>
              <c:numCache>
                <c:formatCode>General</c:formatCode>
                <c:ptCount val="2"/>
                <c:pt idx="0">
                  <c:v>0.52124891587163902</c:v>
                </c:pt>
                <c:pt idx="1">
                  <c:v>5.50134048257373E-2</c:v>
                </c:pt>
              </c:numCache>
            </c:numRef>
          </c:val>
          <c:extLst>
            <c:ext xmlns:c16="http://schemas.microsoft.com/office/drawing/2014/chart" uri="{C3380CC4-5D6E-409C-BE32-E72D297353CC}">
              <c16:uniqueId val="{00000003-877A-4339-8CA2-78AE26332C0D}"/>
            </c:ext>
          </c:extLst>
        </c:ser>
        <c:ser>
          <c:idx val="4"/>
          <c:order val="4"/>
          <c:tx>
            <c:strRef>
              <c:f>age!$F$8</c:f>
              <c:strCache>
                <c:ptCount val="1"/>
                <c:pt idx="0">
                  <c:v>56 and over</c:v>
                </c:pt>
              </c:strCache>
            </c:strRef>
          </c:tx>
          <c:spPr>
            <a:solidFill>
              <a:schemeClr val="accent1">
                <a:lumMod val="50000"/>
              </a:schemeClr>
            </a:solidFill>
            <a:ln>
              <a:noFill/>
            </a:ln>
            <a:effectLst/>
          </c:spPr>
          <c:invertIfNegative val="0"/>
          <c:cat>
            <c:strRef>
              <c:f>age!$A$9:$A$10</c:f>
              <c:strCache>
                <c:ptCount val="2"/>
                <c:pt idx="0">
                  <c:v>Retain walk</c:v>
                </c:pt>
                <c:pt idx="1">
                  <c:v>Switch to walking</c:v>
                </c:pt>
              </c:strCache>
            </c:strRef>
          </c:cat>
          <c:val>
            <c:numRef>
              <c:f>age!$F$9:$F$10</c:f>
              <c:numCache>
                <c:formatCode>General</c:formatCode>
                <c:ptCount val="2"/>
                <c:pt idx="0">
                  <c:v>0.50626566416040097</c:v>
                </c:pt>
                <c:pt idx="1">
                  <c:v>6.3531945441493196E-2</c:v>
                </c:pt>
              </c:numCache>
            </c:numRef>
          </c:val>
          <c:extLst>
            <c:ext xmlns:c16="http://schemas.microsoft.com/office/drawing/2014/chart" uri="{C3380CC4-5D6E-409C-BE32-E72D297353CC}">
              <c16:uniqueId val="{00000004-877A-4339-8CA2-78AE26332C0D}"/>
            </c:ext>
          </c:extLst>
        </c:ser>
        <c:dLbls>
          <c:showLegendKey val="0"/>
          <c:showVal val="0"/>
          <c:showCatName val="0"/>
          <c:showSerName val="0"/>
          <c:showPercent val="0"/>
          <c:showBubbleSize val="0"/>
        </c:dLbls>
        <c:gapWidth val="219"/>
        <c:overlap val="-27"/>
        <c:axId val="745142751"/>
        <c:axId val="745143231"/>
      </c:barChart>
      <c:catAx>
        <c:axId val="745142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745143231"/>
        <c:crosses val="autoZero"/>
        <c:auto val="1"/>
        <c:lblAlgn val="ctr"/>
        <c:lblOffset val="100"/>
        <c:noMultiLvlLbl val="0"/>
      </c:catAx>
      <c:valAx>
        <c:axId val="74514323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745142751"/>
        <c:crosses val="autoZero"/>
        <c:crossBetween val="between"/>
      </c:valAx>
      <c:spPr>
        <a:noFill/>
        <a:ln>
          <a:noFill/>
        </a:ln>
        <a:effectLst/>
      </c:spPr>
    </c:plotArea>
    <c:legend>
      <c:legendPos val="b"/>
      <c:layout>
        <c:manualLayout>
          <c:xMode val="edge"/>
          <c:yMode val="edge"/>
          <c:x val="0.16398544444910759"/>
          <c:y val="1.3811434077890801E-2"/>
          <c:w val="0.83555981128406354"/>
          <c:h val="6.5699134171510465E-2"/>
        </c:manualLayout>
      </c:layout>
      <c:overlay val="0"/>
      <c:spPr>
        <a:solidFill>
          <a:schemeClr val="bg1"/>
        </a:solid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cars!$K$6</c:f>
              <c:strCache>
                <c:ptCount val="1"/>
                <c:pt idx="0">
                  <c:v>No car in 2001</c:v>
                </c:pt>
              </c:strCache>
            </c:strRef>
          </c:tx>
          <c:spPr>
            <a:solidFill>
              <a:srgbClr val="003399"/>
            </a:solidFill>
            <a:ln>
              <a:noFill/>
            </a:ln>
            <a:effectLst/>
          </c:spPr>
          <c:invertIfNegative val="0"/>
          <c:cat>
            <c:strRef>
              <c:f>cars!$L$5:$M$5</c:f>
              <c:strCache>
                <c:ptCount val="2"/>
                <c:pt idx="0">
                  <c:v>Retain walk</c:v>
                </c:pt>
                <c:pt idx="1">
                  <c:v>Switch to walk</c:v>
                </c:pt>
              </c:strCache>
            </c:strRef>
          </c:cat>
          <c:val>
            <c:numRef>
              <c:f>cars!$L$6:$M$6</c:f>
              <c:numCache>
                <c:formatCode>General</c:formatCode>
                <c:ptCount val="2"/>
                <c:pt idx="0">
                  <c:v>0.43353209400210452</c:v>
                </c:pt>
                <c:pt idx="1">
                  <c:v>0.22396856581532418</c:v>
                </c:pt>
              </c:numCache>
            </c:numRef>
          </c:val>
          <c:extLst>
            <c:ext xmlns:c16="http://schemas.microsoft.com/office/drawing/2014/chart" uri="{C3380CC4-5D6E-409C-BE32-E72D297353CC}">
              <c16:uniqueId val="{00000000-38BE-4231-A164-47D3C4C24F48}"/>
            </c:ext>
          </c:extLst>
        </c:ser>
        <c:ser>
          <c:idx val="1"/>
          <c:order val="1"/>
          <c:tx>
            <c:strRef>
              <c:f>cars!$K$7</c:f>
              <c:strCache>
                <c:ptCount val="1"/>
                <c:pt idx="0">
                  <c:v>Car in 2001</c:v>
                </c:pt>
              </c:strCache>
            </c:strRef>
          </c:tx>
          <c:spPr>
            <a:solidFill>
              <a:srgbClr val="00CC99"/>
            </a:solidFill>
            <a:ln>
              <a:noFill/>
            </a:ln>
            <a:effectLst/>
          </c:spPr>
          <c:invertIfNegative val="0"/>
          <c:cat>
            <c:strRef>
              <c:f>cars!$L$5:$M$5</c:f>
              <c:strCache>
                <c:ptCount val="2"/>
                <c:pt idx="0">
                  <c:v>Retain walk</c:v>
                </c:pt>
                <c:pt idx="1">
                  <c:v>Switch to walk</c:v>
                </c:pt>
              </c:strCache>
            </c:strRef>
          </c:cat>
          <c:val>
            <c:numRef>
              <c:f>cars!$L$7:$M$7</c:f>
              <c:numCache>
                <c:formatCode>General</c:formatCode>
                <c:ptCount val="2"/>
                <c:pt idx="0">
                  <c:v>0.3425545043192102</c:v>
                </c:pt>
                <c:pt idx="1">
                  <c:v>5.4688122361188564E-2</c:v>
                </c:pt>
              </c:numCache>
            </c:numRef>
          </c:val>
          <c:extLst>
            <c:ext xmlns:c16="http://schemas.microsoft.com/office/drawing/2014/chart" uri="{C3380CC4-5D6E-409C-BE32-E72D297353CC}">
              <c16:uniqueId val="{00000001-38BE-4231-A164-47D3C4C24F48}"/>
            </c:ext>
          </c:extLst>
        </c:ser>
        <c:dLbls>
          <c:showLegendKey val="0"/>
          <c:showVal val="0"/>
          <c:showCatName val="0"/>
          <c:showSerName val="0"/>
          <c:showPercent val="0"/>
          <c:showBubbleSize val="0"/>
        </c:dLbls>
        <c:gapWidth val="219"/>
        <c:overlap val="-27"/>
        <c:axId val="11574751"/>
        <c:axId val="11570911"/>
      </c:barChart>
      <c:catAx>
        <c:axId val="1157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570911"/>
        <c:crosses val="autoZero"/>
        <c:auto val="1"/>
        <c:lblAlgn val="ctr"/>
        <c:lblOffset val="100"/>
        <c:noMultiLvlLbl val="0"/>
      </c:catAx>
      <c:valAx>
        <c:axId val="115709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1574751"/>
        <c:crosses val="autoZero"/>
        <c:crossBetween val="between"/>
      </c:valAx>
      <c:spPr>
        <a:noFill/>
        <a:ln>
          <a:noFill/>
        </a:ln>
        <a:effectLst/>
      </c:spPr>
    </c:plotArea>
    <c:legend>
      <c:legendPos val="b"/>
      <c:layout>
        <c:manualLayout>
          <c:xMode val="edge"/>
          <c:yMode val="edge"/>
          <c:x val="0.40012843951096766"/>
          <c:y val="4.49379195981656E-2"/>
          <c:w val="0.55338185168662513"/>
          <c:h val="7.81694210365423E-2"/>
        </c:manualLayout>
      </c:layout>
      <c:overlay val="0"/>
      <c:spPr>
        <a:solidFill>
          <a:schemeClr val="bg1"/>
        </a:solid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nssec!$S$2</c:f>
              <c:strCache>
                <c:ptCount val="1"/>
                <c:pt idx="0">
                  <c:v>Lrge. emp</c:v>
                </c:pt>
              </c:strCache>
            </c:strRef>
          </c:tx>
          <c:spPr>
            <a:solidFill>
              <a:schemeClr val="accent1">
                <a:lumMod val="20000"/>
                <a:lumOff val="80000"/>
              </a:schemeClr>
            </a:solidFill>
            <a:ln>
              <a:noFill/>
            </a:ln>
            <a:effectLst/>
          </c:spPr>
          <c:invertIfNegative val="0"/>
          <c:cat>
            <c:strRef>
              <c:f>nssec!$T$1:$U$1</c:f>
              <c:strCache>
                <c:ptCount val="2"/>
                <c:pt idx="0">
                  <c:v>Retain walk</c:v>
                </c:pt>
                <c:pt idx="1">
                  <c:v>Switch to walk</c:v>
                </c:pt>
              </c:strCache>
            </c:strRef>
          </c:cat>
          <c:val>
            <c:numRef>
              <c:f>nssec!$T$2:$U$2</c:f>
              <c:numCache>
                <c:formatCode>General</c:formatCode>
                <c:ptCount val="2"/>
                <c:pt idx="0">
                  <c:v>0.27750000000000002</c:v>
                </c:pt>
                <c:pt idx="1">
                  <c:v>4.1100000000000005E-2</c:v>
                </c:pt>
              </c:numCache>
            </c:numRef>
          </c:val>
          <c:extLst>
            <c:ext xmlns:c16="http://schemas.microsoft.com/office/drawing/2014/chart" uri="{C3380CC4-5D6E-409C-BE32-E72D297353CC}">
              <c16:uniqueId val="{00000000-2CAF-4389-BD6F-4530F7EB55B0}"/>
            </c:ext>
          </c:extLst>
        </c:ser>
        <c:ser>
          <c:idx val="1"/>
          <c:order val="1"/>
          <c:tx>
            <c:strRef>
              <c:f>nssec!$S$3</c:f>
              <c:strCache>
                <c:ptCount val="1"/>
                <c:pt idx="0">
                  <c:v>Lower man</c:v>
                </c:pt>
              </c:strCache>
            </c:strRef>
          </c:tx>
          <c:spPr>
            <a:solidFill>
              <a:schemeClr val="accent1">
                <a:lumMod val="40000"/>
                <a:lumOff val="60000"/>
              </a:schemeClr>
            </a:solidFill>
            <a:ln>
              <a:noFill/>
            </a:ln>
            <a:effectLst/>
          </c:spPr>
          <c:invertIfNegative val="0"/>
          <c:cat>
            <c:strRef>
              <c:f>nssec!$T$1:$U$1</c:f>
              <c:strCache>
                <c:ptCount val="2"/>
                <c:pt idx="0">
                  <c:v>Retain walk</c:v>
                </c:pt>
                <c:pt idx="1">
                  <c:v>Switch to walk</c:v>
                </c:pt>
              </c:strCache>
            </c:strRef>
          </c:cat>
          <c:val>
            <c:numRef>
              <c:f>nssec!$T$3:$U$3</c:f>
              <c:numCache>
                <c:formatCode>General</c:formatCode>
                <c:ptCount val="2"/>
                <c:pt idx="0">
                  <c:v>0.31409999999999999</c:v>
                </c:pt>
                <c:pt idx="1">
                  <c:v>4.9400000000000006E-2</c:v>
                </c:pt>
              </c:numCache>
            </c:numRef>
          </c:val>
          <c:extLst>
            <c:ext xmlns:c16="http://schemas.microsoft.com/office/drawing/2014/chart" uri="{C3380CC4-5D6E-409C-BE32-E72D297353CC}">
              <c16:uniqueId val="{00000001-2CAF-4389-BD6F-4530F7EB55B0}"/>
            </c:ext>
          </c:extLst>
        </c:ser>
        <c:ser>
          <c:idx val="2"/>
          <c:order val="2"/>
          <c:tx>
            <c:strRef>
              <c:f>nssec!$S$4</c:f>
              <c:strCache>
                <c:ptCount val="1"/>
                <c:pt idx="0">
                  <c:v>Intermedi</c:v>
                </c:pt>
              </c:strCache>
            </c:strRef>
          </c:tx>
          <c:spPr>
            <a:solidFill>
              <a:schemeClr val="accent1">
                <a:lumMod val="60000"/>
                <a:lumOff val="40000"/>
              </a:schemeClr>
            </a:solidFill>
            <a:ln>
              <a:noFill/>
            </a:ln>
            <a:effectLst/>
          </c:spPr>
          <c:invertIfNegative val="0"/>
          <c:cat>
            <c:strRef>
              <c:f>nssec!$T$1:$U$1</c:f>
              <c:strCache>
                <c:ptCount val="2"/>
                <c:pt idx="0">
                  <c:v>Retain walk</c:v>
                </c:pt>
                <c:pt idx="1">
                  <c:v>Switch to walk</c:v>
                </c:pt>
              </c:strCache>
            </c:strRef>
          </c:cat>
          <c:val>
            <c:numRef>
              <c:f>nssec!$T$4:$U$4</c:f>
              <c:numCache>
                <c:formatCode>General</c:formatCode>
                <c:ptCount val="2"/>
                <c:pt idx="0">
                  <c:v>0.32799999999999996</c:v>
                </c:pt>
                <c:pt idx="1">
                  <c:v>7.3800000000000004E-2</c:v>
                </c:pt>
              </c:numCache>
            </c:numRef>
          </c:val>
          <c:extLst>
            <c:ext xmlns:c16="http://schemas.microsoft.com/office/drawing/2014/chart" uri="{C3380CC4-5D6E-409C-BE32-E72D297353CC}">
              <c16:uniqueId val="{00000002-2CAF-4389-BD6F-4530F7EB55B0}"/>
            </c:ext>
          </c:extLst>
        </c:ser>
        <c:ser>
          <c:idx val="3"/>
          <c:order val="3"/>
          <c:tx>
            <c:strRef>
              <c:f>nssec!$S$5</c:f>
              <c:strCache>
                <c:ptCount val="1"/>
                <c:pt idx="0">
                  <c:v>Small emp</c:v>
                </c:pt>
              </c:strCache>
            </c:strRef>
          </c:tx>
          <c:spPr>
            <a:solidFill>
              <a:schemeClr val="accent1">
                <a:lumMod val="75000"/>
              </a:schemeClr>
            </a:solidFill>
            <a:ln>
              <a:noFill/>
            </a:ln>
            <a:effectLst/>
          </c:spPr>
          <c:invertIfNegative val="0"/>
          <c:cat>
            <c:strRef>
              <c:f>nssec!$T$1:$U$1</c:f>
              <c:strCache>
                <c:ptCount val="2"/>
                <c:pt idx="0">
                  <c:v>Retain walk</c:v>
                </c:pt>
                <c:pt idx="1">
                  <c:v>Switch to walk</c:v>
                </c:pt>
              </c:strCache>
            </c:strRef>
          </c:cat>
          <c:val>
            <c:numRef>
              <c:f>nssec!$T$5:$U$5</c:f>
              <c:numCache>
                <c:formatCode>General</c:formatCode>
                <c:ptCount val="2"/>
                <c:pt idx="0">
                  <c:v>0.35509999999999997</c:v>
                </c:pt>
                <c:pt idx="1">
                  <c:v>3.5799999999999998E-2</c:v>
                </c:pt>
              </c:numCache>
            </c:numRef>
          </c:val>
          <c:extLst>
            <c:ext xmlns:c16="http://schemas.microsoft.com/office/drawing/2014/chart" uri="{C3380CC4-5D6E-409C-BE32-E72D297353CC}">
              <c16:uniqueId val="{00000003-2CAF-4389-BD6F-4530F7EB55B0}"/>
            </c:ext>
          </c:extLst>
        </c:ser>
        <c:ser>
          <c:idx val="4"/>
          <c:order val="4"/>
          <c:tx>
            <c:strRef>
              <c:f>nssec!$S$6</c:f>
              <c:strCache>
                <c:ptCount val="1"/>
                <c:pt idx="0">
                  <c:v>Lower sup</c:v>
                </c:pt>
              </c:strCache>
            </c:strRef>
          </c:tx>
          <c:spPr>
            <a:solidFill>
              <a:schemeClr val="accent1">
                <a:lumMod val="50000"/>
              </a:schemeClr>
            </a:solidFill>
            <a:ln>
              <a:noFill/>
            </a:ln>
            <a:effectLst/>
          </c:spPr>
          <c:invertIfNegative val="0"/>
          <c:cat>
            <c:strRef>
              <c:f>nssec!$T$1:$U$1</c:f>
              <c:strCache>
                <c:ptCount val="2"/>
                <c:pt idx="0">
                  <c:v>Retain walk</c:v>
                </c:pt>
                <c:pt idx="1">
                  <c:v>Switch to walk</c:v>
                </c:pt>
              </c:strCache>
            </c:strRef>
          </c:cat>
          <c:val>
            <c:numRef>
              <c:f>nssec!$T$6:$U$6</c:f>
              <c:numCache>
                <c:formatCode>General</c:formatCode>
                <c:ptCount val="2"/>
                <c:pt idx="0">
                  <c:v>0.34840000000000004</c:v>
                </c:pt>
                <c:pt idx="1">
                  <c:v>0.05</c:v>
                </c:pt>
              </c:numCache>
            </c:numRef>
          </c:val>
          <c:extLst>
            <c:ext xmlns:c16="http://schemas.microsoft.com/office/drawing/2014/chart" uri="{C3380CC4-5D6E-409C-BE32-E72D297353CC}">
              <c16:uniqueId val="{00000004-2CAF-4389-BD6F-4530F7EB55B0}"/>
            </c:ext>
          </c:extLst>
        </c:ser>
        <c:ser>
          <c:idx val="5"/>
          <c:order val="5"/>
          <c:tx>
            <c:strRef>
              <c:f>nssec!$S$7</c:f>
              <c:strCache>
                <c:ptCount val="1"/>
                <c:pt idx="0">
                  <c:v>Semi-rout</c:v>
                </c:pt>
              </c:strCache>
            </c:strRef>
          </c:tx>
          <c:spPr>
            <a:solidFill>
              <a:schemeClr val="tx2">
                <a:lumMod val="75000"/>
              </a:schemeClr>
            </a:solidFill>
            <a:ln>
              <a:noFill/>
            </a:ln>
            <a:effectLst/>
          </c:spPr>
          <c:invertIfNegative val="0"/>
          <c:cat>
            <c:strRef>
              <c:f>nssec!$T$1:$U$1</c:f>
              <c:strCache>
                <c:ptCount val="2"/>
                <c:pt idx="0">
                  <c:v>Retain walk</c:v>
                </c:pt>
                <c:pt idx="1">
                  <c:v>Switch to walk</c:v>
                </c:pt>
              </c:strCache>
            </c:strRef>
          </c:cat>
          <c:val>
            <c:numRef>
              <c:f>nssec!$T$7:$U$7</c:f>
              <c:numCache>
                <c:formatCode>General</c:formatCode>
                <c:ptCount val="2"/>
                <c:pt idx="0">
                  <c:v>0.44280000000000003</c:v>
                </c:pt>
                <c:pt idx="1">
                  <c:v>9.3800000000000008E-2</c:v>
                </c:pt>
              </c:numCache>
            </c:numRef>
          </c:val>
          <c:extLst>
            <c:ext xmlns:c16="http://schemas.microsoft.com/office/drawing/2014/chart" uri="{C3380CC4-5D6E-409C-BE32-E72D297353CC}">
              <c16:uniqueId val="{00000005-2CAF-4389-BD6F-4530F7EB55B0}"/>
            </c:ext>
          </c:extLst>
        </c:ser>
        <c:ser>
          <c:idx val="6"/>
          <c:order val="6"/>
          <c:tx>
            <c:strRef>
              <c:f>nssec!$S$8</c:f>
              <c:strCache>
                <c:ptCount val="1"/>
                <c:pt idx="0">
                  <c:v>Routine</c:v>
                </c:pt>
              </c:strCache>
            </c:strRef>
          </c:tx>
          <c:spPr>
            <a:solidFill>
              <a:schemeClr val="tx2">
                <a:lumMod val="50000"/>
              </a:schemeClr>
            </a:solidFill>
            <a:ln>
              <a:noFill/>
            </a:ln>
            <a:effectLst/>
          </c:spPr>
          <c:invertIfNegative val="0"/>
          <c:cat>
            <c:strRef>
              <c:f>nssec!$T$1:$U$1</c:f>
              <c:strCache>
                <c:ptCount val="2"/>
                <c:pt idx="0">
                  <c:v>Retain walk</c:v>
                </c:pt>
                <c:pt idx="1">
                  <c:v>Switch to walk</c:v>
                </c:pt>
              </c:strCache>
            </c:strRef>
          </c:cat>
          <c:val>
            <c:numRef>
              <c:f>nssec!$T$8:$U$8</c:f>
              <c:numCache>
                <c:formatCode>General</c:formatCode>
                <c:ptCount val="2"/>
                <c:pt idx="0">
                  <c:v>0.44280000000000003</c:v>
                </c:pt>
                <c:pt idx="1">
                  <c:v>7.8100000000000003E-2</c:v>
                </c:pt>
              </c:numCache>
            </c:numRef>
          </c:val>
          <c:extLst>
            <c:ext xmlns:c16="http://schemas.microsoft.com/office/drawing/2014/chart" uri="{C3380CC4-5D6E-409C-BE32-E72D297353CC}">
              <c16:uniqueId val="{00000006-2CAF-4389-BD6F-4530F7EB55B0}"/>
            </c:ext>
          </c:extLst>
        </c:ser>
        <c:dLbls>
          <c:showLegendKey val="0"/>
          <c:showVal val="0"/>
          <c:showCatName val="0"/>
          <c:showSerName val="0"/>
          <c:showPercent val="0"/>
          <c:showBubbleSize val="0"/>
        </c:dLbls>
        <c:gapWidth val="219"/>
        <c:overlap val="-27"/>
        <c:axId val="402232607"/>
        <c:axId val="402233567"/>
      </c:barChart>
      <c:catAx>
        <c:axId val="402232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402233567"/>
        <c:crosses val="autoZero"/>
        <c:auto val="1"/>
        <c:lblAlgn val="ctr"/>
        <c:lblOffset val="100"/>
        <c:noMultiLvlLbl val="0"/>
      </c:catAx>
      <c:valAx>
        <c:axId val="40223356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402232607"/>
        <c:crosses val="autoZero"/>
        <c:crossBetween val="between"/>
      </c:valAx>
      <c:spPr>
        <a:noFill/>
        <a:ln>
          <a:noFill/>
        </a:ln>
        <a:effectLst/>
      </c:spPr>
    </c:plotArea>
    <c:legend>
      <c:legendPos val="b"/>
      <c:layout>
        <c:manualLayout>
          <c:xMode val="edge"/>
          <c:yMode val="edge"/>
          <c:x val="0.53015239166532757"/>
          <c:y val="3.4445225937558985E-2"/>
          <c:w val="0.4693438320209975"/>
          <c:h val="0.17569845435987169"/>
        </c:manualLayout>
      </c:layout>
      <c:overlay val="0"/>
      <c:spPr>
        <a:solidFill>
          <a:schemeClr val="bg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residence!$G$1</c:f>
              <c:strCache>
                <c:ptCount val="1"/>
                <c:pt idx="0">
                  <c:v>Residence changed</c:v>
                </c:pt>
              </c:strCache>
            </c:strRef>
          </c:tx>
          <c:spPr>
            <a:solidFill>
              <a:srgbClr val="000099"/>
            </a:solidFill>
            <a:ln>
              <a:solidFill>
                <a:srgbClr val="000099"/>
              </a:solidFill>
            </a:ln>
            <a:effectLst/>
          </c:spPr>
          <c:invertIfNegative val="0"/>
          <c:cat>
            <c:strRef>
              <c:f>residence!$F$2:$F$3</c:f>
              <c:strCache>
                <c:ptCount val="2"/>
                <c:pt idx="0">
                  <c:v>Retain walk</c:v>
                </c:pt>
                <c:pt idx="1">
                  <c:v>Switch to walk</c:v>
                </c:pt>
              </c:strCache>
            </c:strRef>
          </c:cat>
          <c:val>
            <c:numRef>
              <c:f>residence!$G$2:$G$3</c:f>
              <c:numCache>
                <c:formatCode>0.00</c:formatCode>
                <c:ptCount val="2"/>
                <c:pt idx="0">
                  <c:v>0.19829192546583851</c:v>
                </c:pt>
                <c:pt idx="1">
                  <c:v>6.8246944795617367E-2</c:v>
                </c:pt>
              </c:numCache>
            </c:numRef>
          </c:val>
          <c:extLst>
            <c:ext xmlns:c16="http://schemas.microsoft.com/office/drawing/2014/chart" uri="{C3380CC4-5D6E-409C-BE32-E72D297353CC}">
              <c16:uniqueId val="{00000000-CFB3-44AD-BDAA-8D7883DDA35B}"/>
            </c:ext>
          </c:extLst>
        </c:ser>
        <c:ser>
          <c:idx val="1"/>
          <c:order val="1"/>
          <c:tx>
            <c:strRef>
              <c:f>residence!$H$1</c:f>
              <c:strCache>
                <c:ptCount val="1"/>
                <c:pt idx="0">
                  <c:v>Residence same</c:v>
                </c:pt>
              </c:strCache>
            </c:strRef>
          </c:tx>
          <c:spPr>
            <a:solidFill>
              <a:srgbClr val="00CC99"/>
            </a:solidFill>
            <a:ln>
              <a:noFill/>
            </a:ln>
            <a:effectLst/>
          </c:spPr>
          <c:invertIfNegative val="0"/>
          <c:cat>
            <c:strRef>
              <c:f>residence!$F$2:$F$3</c:f>
              <c:strCache>
                <c:ptCount val="2"/>
                <c:pt idx="0">
                  <c:v>Retain walk</c:v>
                </c:pt>
                <c:pt idx="1">
                  <c:v>Switch to walk</c:v>
                </c:pt>
              </c:strCache>
            </c:strRef>
          </c:cat>
          <c:val>
            <c:numRef>
              <c:f>residence!$H$2:$H$3</c:f>
              <c:numCache>
                <c:formatCode>0.00</c:formatCode>
                <c:ptCount val="2"/>
                <c:pt idx="0">
                  <c:v>0.5147217511946971</c:v>
                </c:pt>
                <c:pt idx="1">
                  <c:v>5.4688122361188564E-2</c:v>
                </c:pt>
              </c:numCache>
            </c:numRef>
          </c:val>
          <c:extLst>
            <c:ext xmlns:c16="http://schemas.microsoft.com/office/drawing/2014/chart" uri="{C3380CC4-5D6E-409C-BE32-E72D297353CC}">
              <c16:uniqueId val="{00000001-CFB3-44AD-BDAA-8D7883DDA35B}"/>
            </c:ext>
          </c:extLst>
        </c:ser>
        <c:dLbls>
          <c:showLegendKey val="0"/>
          <c:showVal val="0"/>
          <c:showCatName val="0"/>
          <c:showSerName val="0"/>
          <c:showPercent val="0"/>
          <c:showBubbleSize val="0"/>
        </c:dLbls>
        <c:gapWidth val="219"/>
        <c:overlap val="-27"/>
        <c:axId val="2042319887"/>
        <c:axId val="2042321807"/>
      </c:barChart>
      <c:catAx>
        <c:axId val="2042319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42321807"/>
        <c:crosses val="autoZero"/>
        <c:auto val="1"/>
        <c:lblAlgn val="ctr"/>
        <c:lblOffset val="100"/>
        <c:noMultiLvlLbl val="0"/>
      </c:catAx>
      <c:valAx>
        <c:axId val="20423218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42319887"/>
        <c:crosses val="autoZero"/>
        <c:crossBetween val="between"/>
      </c:valAx>
      <c:spPr>
        <a:noFill/>
        <a:ln>
          <a:noFill/>
        </a:ln>
        <a:effectLst/>
      </c:spPr>
    </c:plotArea>
    <c:legend>
      <c:legendPos val="b"/>
      <c:layout>
        <c:manualLayout>
          <c:xMode val="edge"/>
          <c:yMode val="edge"/>
          <c:x val="0.59724505139982498"/>
          <c:y val="2.6976332840468492E-2"/>
          <c:w val="0.40275490336435216"/>
          <c:h val="0.24486943861642557"/>
        </c:manualLayout>
      </c:layout>
      <c:overlay val="0"/>
      <c:spPr>
        <a:solidFill>
          <a:schemeClr val="bg1"/>
        </a:solid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Arial" panose="020B0604020202020204" pitchFamily="34" charset="0"/>
          <a:cs typeface="Arial" panose="020B060402020202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workplace!$I$1</c:f>
              <c:strCache>
                <c:ptCount val="1"/>
                <c:pt idx="0">
                  <c:v>Workplace changed</c:v>
                </c:pt>
              </c:strCache>
            </c:strRef>
          </c:tx>
          <c:spPr>
            <a:solidFill>
              <a:srgbClr val="000099"/>
            </a:solidFill>
            <a:ln>
              <a:noFill/>
            </a:ln>
            <a:effectLst/>
          </c:spPr>
          <c:invertIfNegative val="0"/>
          <c:cat>
            <c:strRef>
              <c:f>workplace!$H$2:$H$3</c:f>
              <c:strCache>
                <c:ptCount val="2"/>
                <c:pt idx="0">
                  <c:v>Retain walk</c:v>
                </c:pt>
                <c:pt idx="1">
                  <c:v>Switch to walk</c:v>
                </c:pt>
              </c:strCache>
            </c:strRef>
          </c:cat>
          <c:val>
            <c:numRef>
              <c:f>workplace!$I$2:$I$3</c:f>
              <c:numCache>
                <c:formatCode>0.00</c:formatCode>
                <c:ptCount val="2"/>
                <c:pt idx="0">
                  <c:v>0.2870015535991714</c:v>
                </c:pt>
                <c:pt idx="1">
                  <c:v>7.137136116733897E-2</c:v>
                </c:pt>
              </c:numCache>
            </c:numRef>
          </c:val>
          <c:extLst>
            <c:ext xmlns:c16="http://schemas.microsoft.com/office/drawing/2014/chart" uri="{C3380CC4-5D6E-409C-BE32-E72D297353CC}">
              <c16:uniqueId val="{00000000-8A4D-47A9-A1C0-FBC2312B28B3}"/>
            </c:ext>
          </c:extLst>
        </c:ser>
        <c:ser>
          <c:idx val="1"/>
          <c:order val="1"/>
          <c:tx>
            <c:strRef>
              <c:f>workplace!$J$1</c:f>
              <c:strCache>
                <c:ptCount val="1"/>
                <c:pt idx="0">
                  <c:v>Workplace same</c:v>
                </c:pt>
              </c:strCache>
            </c:strRef>
          </c:tx>
          <c:spPr>
            <a:solidFill>
              <a:srgbClr val="00CC99"/>
            </a:solidFill>
            <a:ln>
              <a:noFill/>
            </a:ln>
            <a:effectLst/>
          </c:spPr>
          <c:invertIfNegative val="0"/>
          <c:cat>
            <c:strRef>
              <c:f>workplace!$H$2:$H$3</c:f>
              <c:strCache>
                <c:ptCount val="2"/>
                <c:pt idx="0">
                  <c:v>Retain walk</c:v>
                </c:pt>
                <c:pt idx="1">
                  <c:v>Switch to walk</c:v>
                </c:pt>
              </c:strCache>
            </c:strRef>
          </c:cat>
          <c:val>
            <c:numRef>
              <c:f>workplace!$J$2:$J$3</c:f>
              <c:numCache>
                <c:formatCode>0.00</c:formatCode>
                <c:ptCount val="2"/>
                <c:pt idx="0">
                  <c:v>0.67026610104126494</c:v>
                </c:pt>
                <c:pt idx="1">
                  <c:v>4.3596427977147925E-2</c:v>
                </c:pt>
              </c:numCache>
            </c:numRef>
          </c:val>
          <c:extLst>
            <c:ext xmlns:c16="http://schemas.microsoft.com/office/drawing/2014/chart" uri="{C3380CC4-5D6E-409C-BE32-E72D297353CC}">
              <c16:uniqueId val="{00000001-8A4D-47A9-A1C0-FBC2312B28B3}"/>
            </c:ext>
          </c:extLst>
        </c:ser>
        <c:dLbls>
          <c:showLegendKey val="0"/>
          <c:showVal val="0"/>
          <c:showCatName val="0"/>
          <c:showSerName val="0"/>
          <c:showPercent val="0"/>
          <c:showBubbleSize val="0"/>
        </c:dLbls>
        <c:gapWidth val="219"/>
        <c:overlap val="-27"/>
        <c:axId val="321120671"/>
        <c:axId val="321119231"/>
      </c:barChart>
      <c:catAx>
        <c:axId val="321120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321119231"/>
        <c:crosses val="autoZero"/>
        <c:auto val="1"/>
        <c:lblAlgn val="ctr"/>
        <c:lblOffset val="100"/>
        <c:noMultiLvlLbl val="0"/>
      </c:catAx>
      <c:valAx>
        <c:axId val="32111923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321120671"/>
        <c:crosses val="autoZero"/>
        <c:crossBetween val="between"/>
      </c:valAx>
      <c:spPr>
        <a:noFill/>
        <a:ln>
          <a:noFill/>
        </a:ln>
        <a:effectLst/>
      </c:spPr>
    </c:plotArea>
    <c:legend>
      <c:legendPos val="b"/>
      <c:layout>
        <c:manualLayout>
          <c:xMode val="edge"/>
          <c:yMode val="edge"/>
          <c:x val="0.5817655501750526"/>
          <c:y val="2.5356360841635147E-3"/>
          <c:w val="0.41653087231217051"/>
          <c:h val="0.24679079479705918"/>
        </c:manualLayout>
      </c:layout>
      <c:overlay val="0"/>
      <c:spPr>
        <a:solidFill>
          <a:schemeClr val="bg1"/>
        </a:solid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Arial" panose="020B0604020202020204" pitchFamily="34" charset="0"/>
          <a:cs typeface="Arial" panose="020B060402020202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1"/>
          <c:order val="0"/>
          <c:tx>
            <c:strRef>
              <c:f>workplace!$F$3</c:f>
              <c:strCache>
                <c:ptCount val="1"/>
                <c:pt idx="0">
                  <c:v>Retain walk: yes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6-BB78-417C-AC11-A8170A946AE9}"/>
              </c:ext>
            </c:extLst>
          </c:dPt>
          <c:cat>
            <c:strRef>
              <c:f>workplace!$F$3:$F$4</c:f>
              <c:strCache>
                <c:ptCount val="2"/>
                <c:pt idx="0">
                  <c:v>Retain walk: yes</c:v>
                </c:pt>
                <c:pt idx="1">
                  <c:v>Retain walk: no</c:v>
                </c:pt>
              </c:strCache>
            </c:strRef>
          </c:cat>
          <c:val>
            <c:numRef>
              <c:f>workplace!$F$4</c:f>
              <c:numCache>
                <c:formatCode>General</c:formatCode>
                <c:ptCount val="1"/>
                <c:pt idx="0">
                  <c:v>0</c:v>
                </c:pt>
              </c:numCache>
            </c:numRef>
          </c:val>
          <c:extLst>
            <c:ext xmlns:c16="http://schemas.microsoft.com/office/drawing/2014/chart" uri="{C3380CC4-5D6E-409C-BE32-E72D297353CC}">
              <c16:uniqueId val="{00000007-BB78-417C-AC11-A8170A946AE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route!$H$1</c:f>
              <c:strCache>
                <c:ptCount val="1"/>
                <c:pt idx="0">
                  <c:v>Route changed</c:v>
                </c:pt>
              </c:strCache>
            </c:strRef>
          </c:tx>
          <c:spPr>
            <a:solidFill>
              <a:srgbClr val="000099"/>
            </a:solidFill>
            <a:ln>
              <a:noFill/>
            </a:ln>
            <a:effectLst/>
          </c:spPr>
          <c:invertIfNegative val="0"/>
          <c:cat>
            <c:strRef>
              <c:f>route!$G$2:$G$3</c:f>
              <c:strCache>
                <c:ptCount val="2"/>
                <c:pt idx="0">
                  <c:v>Retain walk</c:v>
                </c:pt>
                <c:pt idx="1">
                  <c:v>Switch to walk</c:v>
                </c:pt>
              </c:strCache>
            </c:strRef>
          </c:cat>
          <c:val>
            <c:numRef>
              <c:f>route!$H$2:$H$3</c:f>
              <c:numCache>
                <c:formatCode>0.00</c:formatCode>
                <c:ptCount val="2"/>
                <c:pt idx="0">
                  <c:v>0.28984390055887455</c:v>
                </c:pt>
                <c:pt idx="1">
                  <c:v>7.021375774122661E-2</c:v>
                </c:pt>
              </c:numCache>
            </c:numRef>
          </c:val>
          <c:extLst>
            <c:ext xmlns:c16="http://schemas.microsoft.com/office/drawing/2014/chart" uri="{C3380CC4-5D6E-409C-BE32-E72D297353CC}">
              <c16:uniqueId val="{00000000-F890-4413-9D5D-69DE52FC7648}"/>
            </c:ext>
          </c:extLst>
        </c:ser>
        <c:ser>
          <c:idx val="1"/>
          <c:order val="1"/>
          <c:tx>
            <c:strRef>
              <c:f>route!$I$1</c:f>
              <c:strCache>
                <c:ptCount val="1"/>
                <c:pt idx="0">
                  <c:v>Route same</c:v>
                </c:pt>
              </c:strCache>
            </c:strRef>
          </c:tx>
          <c:spPr>
            <a:solidFill>
              <a:srgbClr val="00CC99"/>
            </a:solidFill>
            <a:ln>
              <a:noFill/>
            </a:ln>
            <a:effectLst/>
          </c:spPr>
          <c:invertIfNegative val="0"/>
          <c:cat>
            <c:strRef>
              <c:f>route!$G$2:$G$3</c:f>
              <c:strCache>
                <c:ptCount val="2"/>
                <c:pt idx="0">
                  <c:v>Retain walk</c:v>
                </c:pt>
                <c:pt idx="1">
                  <c:v>Switch to walk</c:v>
                </c:pt>
              </c:strCache>
            </c:strRef>
          </c:cat>
          <c:val>
            <c:numRef>
              <c:f>route!$I$2:$I$3</c:f>
              <c:numCache>
                <c:formatCode>0.00</c:formatCode>
                <c:ptCount val="2"/>
                <c:pt idx="0">
                  <c:v>0.80299785867237683</c:v>
                </c:pt>
                <c:pt idx="1">
                  <c:v>3.5501938819474367E-2</c:v>
                </c:pt>
              </c:numCache>
            </c:numRef>
          </c:val>
          <c:extLst>
            <c:ext xmlns:c16="http://schemas.microsoft.com/office/drawing/2014/chart" uri="{C3380CC4-5D6E-409C-BE32-E72D297353CC}">
              <c16:uniqueId val="{00000001-F890-4413-9D5D-69DE52FC7648}"/>
            </c:ext>
          </c:extLst>
        </c:ser>
        <c:dLbls>
          <c:showLegendKey val="0"/>
          <c:showVal val="0"/>
          <c:showCatName val="0"/>
          <c:showSerName val="0"/>
          <c:showPercent val="0"/>
          <c:showBubbleSize val="0"/>
        </c:dLbls>
        <c:gapWidth val="219"/>
        <c:overlap val="-27"/>
        <c:axId val="972574959"/>
        <c:axId val="972577359"/>
      </c:barChart>
      <c:catAx>
        <c:axId val="972574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2577359"/>
        <c:crosses val="autoZero"/>
        <c:auto val="1"/>
        <c:lblAlgn val="ctr"/>
        <c:lblOffset val="100"/>
        <c:noMultiLvlLbl val="0"/>
      </c:catAx>
      <c:valAx>
        <c:axId val="97257735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2574959"/>
        <c:crosses val="autoZero"/>
        <c:crossBetween val="between"/>
      </c:valAx>
      <c:spPr>
        <a:noFill/>
        <a:ln>
          <a:noFill/>
        </a:ln>
        <a:effectLst/>
      </c:spPr>
    </c:plotArea>
    <c:legend>
      <c:legendPos val="b"/>
      <c:layout>
        <c:manualLayout>
          <c:xMode val="edge"/>
          <c:yMode val="edge"/>
          <c:x val="0.52229620786328446"/>
          <c:y val="4.8076185551046133E-2"/>
          <c:w val="0.47611045494313209"/>
          <c:h val="0.14291858081689812"/>
        </c:manualLayout>
      </c:layout>
      <c:overlay val="0"/>
      <c:spPr>
        <a:solidFill>
          <a:schemeClr val="bg1"/>
        </a:solid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BEE1CD-6EDF-5C43-ACE9-942F6C137C3E}" type="datetimeFigureOut">
              <a:rPr lang="en-US" smtClean="0"/>
              <a:t>5/29/2024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455201-7865-8744-8A9B-9F5FC03C5C4C}" type="slidenum">
              <a:rPr lang="en-US" smtClean="0"/>
              <a:t>‹#›</a:t>
            </a:fld>
            <a:endParaRPr lang="en-US" dirty="0"/>
          </a:p>
        </p:txBody>
      </p:sp>
    </p:spTree>
    <p:extLst>
      <p:ext uri="{BB962C8B-B14F-4D97-AF65-F5344CB8AC3E}">
        <p14:creationId xmlns:p14="http://schemas.microsoft.com/office/powerpoint/2010/main" val="177610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This presentation is about using the Office for National Statistics Longitudinal Study of England and Wales, or LS for short, to study patterns in mode of transport to work, and the potential implications of the UK government’s proposition that there will be no more censuses. </a:t>
            </a:r>
          </a:p>
        </p:txBody>
      </p:sp>
      <p:sp>
        <p:nvSpPr>
          <p:cNvPr id="4" name="Slide Number Placeholder 3"/>
          <p:cNvSpPr>
            <a:spLocks noGrp="1"/>
          </p:cNvSpPr>
          <p:nvPr>
            <p:ph type="sldNum" sz="quarter" idx="5"/>
          </p:nvPr>
        </p:nvSpPr>
        <p:spPr/>
        <p:txBody>
          <a:bodyPr/>
          <a:lstStyle/>
          <a:p>
            <a:fld id="{78455201-7865-8744-8A9B-9F5FC03C5C4C}" type="slidenum">
              <a:rPr lang="en-US" smtClean="0"/>
              <a:t>1</a:t>
            </a:fld>
            <a:endParaRPr lang="en-US" dirty="0"/>
          </a:p>
        </p:txBody>
      </p:sp>
    </p:spTree>
    <p:extLst>
      <p:ext uri="{BB962C8B-B14F-4D97-AF65-F5344CB8AC3E}">
        <p14:creationId xmlns:p14="http://schemas.microsoft.com/office/powerpoint/2010/main" val="3522130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And this slide shows the location of England and Wales relative to where we are now.</a:t>
            </a:r>
          </a:p>
        </p:txBody>
      </p:sp>
      <p:sp>
        <p:nvSpPr>
          <p:cNvPr id="4" name="Slide Number Placeholder 3"/>
          <p:cNvSpPr>
            <a:spLocks noGrp="1"/>
          </p:cNvSpPr>
          <p:nvPr>
            <p:ph type="sldNum" sz="quarter" idx="5"/>
          </p:nvPr>
        </p:nvSpPr>
        <p:spPr/>
        <p:txBody>
          <a:bodyPr/>
          <a:lstStyle/>
          <a:p>
            <a:fld id="{78455201-7865-8744-8A9B-9F5FC03C5C4C}" type="slidenum">
              <a:rPr lang="en-US" smtClean="0"/>
              <a:t>2</a:t>
            </a:fld>
            <a:endParaRPr lang="en-US" dirty="0"/>
          </a:p>
        </p:txBody>
      </p:sp>
    </p:spTree>
    <p:extLst>
      <p:ext uri="{BB962C8B-B14F-4D97-AF65-F5344CB8AC3E}">
        <p14:creationId xmlns:p14="http://schemas.microsoft.com/office/powerpoint/2010/main" val="3189422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effectLst/>
                <a:latin typeface="Calibri" panose="020F0502020204030204" pitchFamily="34" charset="0"/>
                <a:ea typeface="Calibri" panose="020F0502020204030204" pitchFamily="34" charset="0"/>
                <a:cs typeface="Times New Roman" panose="02020603050405020304" pitchFamily="18" charset="0"/>
              </a:rPr>
              <a:t>Censuses of the general population of England and Wales (E&amp;W) started in 1801 and have taken place almost every 10 years since. A primary purpose of these decennial censuses – to serve as a basis for calculation of resource allocation across areas – has remained, but the data collected has grown in complexity, giving a richer population profile snapshot, which is great for researchers.  //      But the most recent E&amp;W census, in 2021, which cost around £900 million, may be the last. // This is because the National Statistician is questioning the cost-efficiency of the census and argues that there may be alternative, more cost-effective and/or accurate methods of data collection from which to gain information about the population that would save some money. </a:t>
            </a:r>
          </a:p>
          <a:p>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800" dirty="0">
                <a:effectLst/>
                <a:latin typeface="Calibri" panose="020F0502020204030204" pitchFamily="34" charset="0"/>
                <a:ea typeface="Calibri" panose="020F0502020204030204" pitchFamily="34" charset="0"/>
                <a:cs typeface="Times New Roman" panose="02020603050405020304" pitchFamily="18" charset="0"/>
              </a:rPr>
              <a:t>Despite potential financial savings in scrapping the census, critics believe that the alternative would </a:t>
            </a:r>
            <a:r>
              <a:rPr lang="en-GB" sz="1800" i="0" u="none" dirty="0">
                <a:effectLst/>
                <a:latin typeface="Calibri" panose="020F0502020204030204" pitchFamily="34" charset="0"/>
                <a:ea typeface="Calibri" panose="020F0502020204030204" pitchFamily="34" charset="0"/>
                <a:cs typeface="Times New Roman" panose="02020603050405020304" pitchFamily="18" charset="0"/>
              </a:rPr>
              <a:t>be “an untested </a:t>
            </a:r>
            <a:r>
              <a:rPr lang="en-GB" i="0" u="none" dirty="0">
                <a:latin typeface="Arial" panose="020B0604020202020204" pitchFamily="34" charset="0"/>
                <a:ea typeface="Calibri" panose="020F0502020204030204" pitchFamily="34" charset="0"/>
                <a:cs typeface="Arial" panose="020B0604020202020204" pitchFamily="34" charset="0"/>
              </a:rPr>
              <a:t>patchwork of administrative data and surveys”, disproportionately omitting hard-to-reach populations, and with data owners unaccountable for the quality of their data. And if the census is stopped, there will undoubtedly be a profound effect on the Longitudinal Study. </a:t>
            </a:r>
          </a:p>
          <a:p>
            <a:endParaRPr lang="en-GB" i="0" u="none"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78455201-7865-8744-8A9B-9F5FC03C5C4C}" type="slidenum">
              <a:rPr lang="en-US" smtClean="0"/>
              <a:t>3</a:t>
            </a:fld>
            <a:endParaRPr lang="en-US" dirty="0"/>
          </a:p>
        </p:txBody>
      </p:sp>
    </p:spTree>
    <p:extLst>
      <p:ext uri="{BB962C8B-B14F-4D97-AF65-F5344CB8AC3E}">
        <p14:creationId xmlns:p14="http://schemas.microsoft.com/office/powerpoint/2010/main" val="2942854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LS comprises linked census and life events data for a 1% sample of the population of England and Wales, with individuals becoming members of the LS if they have one of four undisclosed birthdays. Individuals’ census forms have been linked from 1971 to 2011, allowing individuals to be tracked over time. The 2021 census is due to be linked imminently but if the plan to end the census is implemented, no more census data will be added to the LS after this. </a:t>
            </a:r>
          </a:p>
          <a:p>
            <a:endParaRPr lang="en-GB" dirty="0"/>
          </a:p>
          <a:p>
            <a:r>
              <a:rPr lang="en-GB" dirty="0"/>
              <a:t>Our research is part of a project which uses the LS to look at individuals’ changes in mode of transport to work, and how these relate to individuals’ characteristics. And we’re particularly interested in identifying factors associated with uptake or maintenance of active travel to work because active travel is far better for human and planetary health than motorised transport. And I’m going to skin over the next few slides which argue this point because I don’t have enough time to say too much.</a:t>
            </a:r>
          </a:p>
        </p:txBody>
      </p:sp>
      <p:sp>
        <p:nvSpPr>
          <p:cNvPr id="4" name="Slide Number Placeholder 3"/>
          <p:cNvSpPr>
            <a:spLocks noGrp="1"/>
          </p:cNvSpPr>
          <p:nvPr>
            <p:ph type="sldNum" sz="quarter" idx="5"/>
          </p:nvPr>
        </p:nvSpPr>
        <p:spPr/>
        <p:txBody>
          <a:bodyPr/>
          <a:lstStyle/>
          <a:p>
            <a:fld id="{78455201-7865-8744-8A9B-9F5FC03C5C4C}" type="slidenum">
              <a:rPr lang="en-US" smtClean="0"/>
              <a:t>4</a:t>
            </a:fld>
            <a:endParaRPr lang="en-US" dirty="0"/>
          </a:p>
        </p:txBody>
      </p:sp>
    </p:spTree>
    <p:extLst>
      <p:ext uri="{BB962C8B-B14F-4D97-AF65-F5344CB8AC3E}">
        <p14:creationId xmlns:p14="http://schemas.microsoft.com/office/powerpoint/2010/main" val="3995279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Car ownership has shot up since the 1950s</a:t>
            </a:r>
          </a:p>
        </p:txBody>
      </p:sp>
      <p:sp>
        <p:nvSpPr>
          <p:cNvPr id="4" name="Slide Number Placeholder 3"/>
          <p:cNvSpPr>
            <a:spLocks noGrp="1"/>
          </p:cNvSpPr>
          <p:nvPr>
            <p:ph type="sldNum" sz="quarter" idx="5"/>
          </p:nvPr>
        </p:nvSpPr>
        <p:spPr/>
        <p:txBody>
          <a:bodyPr/>
          <a:lstStyle/>
          <a:p>
            <a:fld id="{78455201-7865-8744-8A9B-9F5FC03C5C4C}" type="slidenum">
              <a:rPr lang="en-US" smtClean="0"/>
              <a:t>5</a:t>
            </a:fld>
            <a:endParaRPr lang="en-US" dirty="0"/>
          </a:p>
        </p:txBody>
      </p:sp>
    </p:spTree>
    <p:extLst>
      <p:ext uri="{BB962C8B-B14F-4D97-AF65-F5344CB8AC3E}">
        <p14:creationId xmlns:p14="http://schemas.microsoft.com/office/powerpoint/2010/main" val="3597619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globally obesity has shot up because we’re eating more and moving less at work. So active travel to work would help combat this energy imbalance.</a:t>
            </a:r>
          </a:p>
          <a:p>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6</a:t>
            </a:fld>
            <a:endParaRPr lang="en-US" dirty="0"/>
          </a:p>
        </p:txBody>
      </p:sp>
    </p:spTree>
    <p:extLst>
      <p:ext uri="{BB962C8B-B14F-4D97-AF65-F5344CB8AC3E}">
        <p14:creationId xmlns:p14="http://schemas.microsoft.com/office/powerpoint/2010/main" val="146909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know cars contribute to climate change.</a:t>
            </a:r>
          </a:p>
        </p:txBody>
      </p:sp>
      <p:sp>
        <p:nvSpPr>
          <p:cNvPr id="4" name="Slide Number Placeholder 3"/>
          <p:cNvSpPr>
            <a:spLocks noGrp="1"/>
          </p:cNvSpPr>
          <p:nvPr>
            <p:ph type="sldNum" sz="quarter" idx="5"/>
          </p:nvPr>
        </p:nvSpPr>
        <p:spPr/>
        <p:txBody>
          <a:bodyPr/>
          <a:lstStyle/>
          <a:p>
            <a:fld id="{78455201-7865-8744-8A9B-9F5FC03C5C4C}" type="slidenum">
              <a:rPr lang="en-US" smtClean="0"/>
              <a:t>7</a:t>
            </a:fld>
            <a:endParaRPr lang="en-US" dirty="0"/>
          </a:p>
        </p:txBody>
      </p:sp>
    </p:spTree>
    <p:extLst>
      <p:ext uri="{BB962C8B-B14F-4D97-AF65-F5344CB8AC3E}">
        <p14:creationId xmlns:p14="http://schemas.microsoft.com/office/powerpoint/2010/main" val="892632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And emit lethal air pollutants. So active travel is way, way better.</a:t>
            </a:r>
          </a:p>
          <a:p>
            <a:pPr algn="l"/>
            <a:endParaRPr lang="en-GB" dirty="0"/>
          </a:p>
          <a:p>
            <a:pPr algn="l"/>
            <a:endParaRPr lang="en-GB" dirty="0"/>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8</a:t>
            </a:fld>
            <a:endParaRPr lang="en-US" dirty="0"/>
          </a:p>
        </p:txBody>
      </p:sp>
    </p:spTree>
    <p:extLst>
      <p:ext uri="{BB962C8B-B14F-4D97-AF65-F5344CB8AC3E}">
        <p14:creationId xmlns:p14="http://schemas.microsoft.com/office/powerpoint/2010/main" val="29906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And we’ve been trying to better understand people’s travel to work behaviour by using the Longitudinal Study, which contains a lot of members. But we didn’t want everyone, and this flowchart illustrated how we picked our samples. We included members of the LS who were present in 1991, 2001 or 2011, who were working and for whom a valid mode of travel to work had been recorded. And you can see final sample sizes at the bottom.</a:t>
            </a:r>
          </a:p>
          <a:p>
            <a:pPr algn="l"/>
            <a:endParaRPr lang="en-GB" dirty="0"/>
          </a:p>
          <a:p>
            <a:pPr algn="l"/>
            <a:endParaRPr lang="en-GB" dirty="0"/>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9</a:t>
            </a:fld>
            <a:endParaRPr lang="en-US" dirty="0"/>
          </a:p>
        </p:txBody>
      </p:sp>
    </p:spTree>
    <p:extLst>
      <p:ext uri="{BB962C8B-B14F-4D97-AF65-F5344CB8AC3E}">
        <p14:creationId xmlns:p14="http://schemas.microsoft.com/office/powerpoint/2010/main" val="3288592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census of England and Wales has included questions on travel to work since 1991. The 2001, 2011 and 2021 censuses asked exactly the same question, “How do you usually travel to work?” and the answer options were the same too. However, 2021 is not perfectly comparable because, those who were furloughed and had a temporary leave of absence which included census day, were asked to report their travel patterns before being furloughed. So, some of the 2021 answers will reflect normal pre-pandemic travel behaviours and the rest will reflect the impact of Covid. Nevertheless, it is still interesting to look and compare how individuals were travelling in 2001, 2011 and 2021. Also, using the LS, we can determine for each individual whether their mode of transport remained the same or changed between 2001 and 2011.</a:t>
            </a:r>
          </a:p>
          <a:p>
            <a:endParaRPr lang="en-GB" dirty="0"/>
          </a:p>
          <a:p>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10</a:t>
            </a:fld>
            <a:endParaRPr lang="en-US" dirty="0"/>
          </a:p>
        </p:txBody>
      </p:sp>
    </p:spTree>
    <p:extLst>
      <p:ext uri="{BB962C8B-B14F-4D97-AF65-F5344CB8AC3E}">
        <p14:creationId xmlns:p14="http://schemas.microsoft.com/office/powerpoint/2010/main" val="540583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contrast to the more recent censuses, the 1991 census asked a slightly different question, “Please tick the appropriate box to show how the longest part, by distance, of your daily journey to work is normally made?” and offered a different set of answer options. So, really it is impossible to compare 1991 answers with those in later census years.</a:t>
            </a:r>
          </a:p>
        </p:txBody>
      </p:sp>
      <p:sp>
        <p:nvSpPr>
          <p:cNvPr id="4" name="Slide Number Placeholder 3"/>
          <p:cNvSpPr>
            <a:spLocks noGrp="1"/>
          </p:cNvSpPr>
          <p:nvPr>
            <p:ph type="sldNum" sz="quarter" idx="5"/>
          </p:nvPr>
        </p:nvSpPr>
        <p:spPr/>
        <p:txBody>
          <a:bodyPr/>
          <a:lstStyle/>
          <a:p>
            <a:fld id="{78455201-7865-8744-8A9B-9F5FC03C5C4C}" type="slidenum">
              <a:rPr lang="en-US" smtClean="0"/>
              <a:t>11</a:t>
            </a:fld>
            <a:endParaRPr lang="en-US" dirty="0"/>
          </a:p>
        </p:txBody>
      </p:sp>
    </p:spTree>
    <p:extLst>
      <p:ext uri="{BB962C8B-B14F-4D97-AF65-F5344CB8AC3E}">
        <p14:creationId xmlns:p14="http://schemas.microsoft.com/office/powerpoint/2010/main" val="614150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This graph shows that, in 2001, 2011</a:t>
            </a:r>
            <a:r>
              <a:rPr lang="en-GB" sz="1200" baseline="0" dirty="0"/>
              <a:t> and 2021, the highest proportion of people in employment commuted to work by car or van, and the proportion appears to decline between 2001 and 2021. However, this graph includes those in employment who were working </a:t>
            </a:r>
            <a:r>
              <a:rPr lang="en-GB" sz="1200" baseline="0" dirty="0">
                <a:solidFill>
                  <a:schemeClr val="tx1"/>
                </a:solidFill>
                <a:effectLst/>
                <a:latin typeface="+mn-lt"/>
                <a:ea typeface="+mn-ea"/>
                <a:cs typeface="+mn-cs"/>
              </a:rPr>
              <a:t>at or from</a:t>
            </a:r>
            <a:r>
              <a:rPr lang="en-GB" sz="1200" baseline="0" dirty="0"/>
              <a:t> home.     //     And as you can see, due to Covid, the proportion working at or from home tripled to over 30% in 2021. </a:t>
            </a:r>
            <a:endParaRPr lang="en-GB" sz="1200" dirty="0"/>
          </a:p>
          <a:p>
            <a:pPr algn="l"/>
            <a:endParaRPr lang="en-GB" dirty="0"/>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12</a:t>
            </a:fld>
            <a:endParaRPr lang="en-US" dirty="0"/>
          </a:p>
        </p:txBody>
      </p:sp>
    </p:spTree>
    <p:extLst>
      <p:ext uri="{BB962C8B-B14F-4D97-AF65-F5344CB8AC3E}">
        <p14:creationId xmlns:p14="http://schemas.microsoft.com/office/powerpoint/2010/main" val="177280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effectLst/>
                <a:latin typeface="+mn-lt"/>
                <a:ea typeface="+mn-ea"/>
                <a:cs typeface="+mn-cs"/>
              </a:rPr>
              <a:t>So, when we include only commuters in the equation in this graph, we see that the proportion of workers travelling by car actually increases to 66% in 2021. Walking is the next most common mode of transport in all years and is steady at around 11%. Looking at the public transport mode rates, we can see a substantial drop, reflecting reduced service availability during the pandemic. But, given that for 2021, answers are included for furloughed people, reporting their pre-pandemic modes, it’s likely that on census day in 2021, the actual proportions using public transport were lower.</a:t>
            </a:r>
            <a:endParaRPr lang="en-GB" sz="1200" dirty="0"/>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13</a:t>
            </a:fld>
            <a:endParaRPr lang="en-US" dirty="0"/>
          </a:p>
        </p:txBody>
      </p:sp>
    </p:spTree>
    <p:extLst>
      <p:ext uri="{BB962C8B-B14F-4D97-AF65-F5344CB8AC3E}">
        <p14:creationId xmlns:p14="http://schemas.microsoft.com/office/powerpoint/2010/main" val="2169454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now using the LS to look at mode transition from 2001 to 2011, this is a cross tabulation of mode in 2001 by mode in 2011. If you look along the diagonal you can see that for only tube passengers, train passengers and car drivers in 2001, retaining their mode in 2011 is the most prevalent outcome. For all other modes in 2001, switching to car driving in 2011 is the most common outcome. For these modes retaining them is only the second most common outcome and you can see that, for walking, the percentage retaining this mode is 34% and, for cycling, its 31%.</a:t>
            </a:r>
          </a:p>
          <a:p>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14</a:t>
            </a:fld>
            <a:endParaRPr lang="en-US" dirty="0"/>
          </a:p>
        </p:txBody>
      </p:sp>
    </p:spTree>
    <p:extLst>
      <p:ext uri="{BB962C8B-B14F-4D97-AF65-F5344CB8AC3E}">
        <p14:creationId xmlns:p14="http://schemas.microsoft.com/office/powerpoint/2010/main" val="4153013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to give an insight into major shifts in travel mode categories, this is a cross tabulation of mode in 2001 by mode in 2011, with modes collapsed into Public Transport, Private motor, and Active Travel. Again, with dark blue cells indicating the most prevalent outcome in 2011 and light blue the second most prevalent. You can see the retention rate between 2001 and 2011 for public transport is 47%, for private motor it is 88% and for active travel it is 39%.   //      So, who are the people that continue their active travel?   //       And who are the people who switch from inactive to active travel?  We’ve looked at the characteristics of people retaining or switching to active travel, be it walking or cycling. We’ve also looked separately at walking and cycling. But here, I’ll present only the results for retention or uptake of walking. And I’ll summarise the results in the interests of speediness but I’m happy to discuss in detail later.</a:t>
            </a:r>
          </a:p>
          <a:p>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15</a:t>
            </a:fld>
            <a:endParaRPr lang="en-US" dirty="0"/>
          </a:p>
        </p:txBody>
      </p:sp>
    </p:spTree>
    <p:extLst>
      <p:ext uri="{BB962C8B-B14F-4D97-AF65-F5344CB8AC3E}">
        <p14:creationId xmlns:p14="http://schemas.microsoft.com/office/powerpoint/2010/main" val="3772371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this graph, we can see significantly higher proportions of women than men retained and switched to walking.</a:t>
            </a:r>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16</a:t>
            </a:fld>
            <a:endParaRPr lang="en-US" dirty="0"/>
          </a:p>
        </p:txBody>
      </p:sp>
    </p:spTree>
    <p:extLst>
      <p:ext uri="{BB962C8B-B14F-4D97-AF65-F5344CB8AC3E}">
        <p14:creationId xmlns:p14="http://schemas.microsoft.com/office/powerpoint/2010/main" val="3637354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here we see that older age groups tend to be more likely to retain walking but the uptake of walking has a less clear association with age.</a:t>
            </a:r>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17</a:t>
            </a:fld>
            <a:endParaRPr lang="en-US" dirty="0"/>
          </a:p>
        </p:txBody>
      </p:sp>
    </p:spTree>
    <p:extLst>
      <p:ext uri="{BB962C8B-B14F-4D97-AF65-F5344CB8AC3E}">
        <p14:creationId xmlns:p14="http://schemas.microsoft.com/office/powerpoint/2010/main" val="2740097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Unsurprisingly, those with a car in 2001 were less likely to keep walking to work and also less likely to take up walking by 2011 than those without a car in 2001.</a:t>
            </a:r>
          </a:p>
        </p:txBody>
      </p:sp>
      <p:sp>
        <p:nvSpPr>
          <p:cNvPr id="4" name="Slide Number Placeholder 3"/>
          <p:cNvSpPr>
            <a:spLocks noGrp="1"/>
          </p:cNvSpPr>
          <p:nvPr>
            <p:ph type="sldNum" sz="quarter" idx="5"/>
          </p:nvPr>
        </p:nvSpPr>
        <p:spPr/>
        <p:txBody>
          <a:bodyPr/>
          <a:lstStyle/>
          <a:p>
            <a:fld id="{78455201-7865-8744-8A9B-9F5FC03C5C4C}" type="slidenum">
              <a:rPr lang="en-US" smtClean="0"/>
              <a:t>18</a:t>
            </a:fld>
            <a:endParaRPr lang="en-US" dirty="0"/>
          </a:p>
        </p:txBody>
      </p:sp>
    </p:spTree>
    <p:extLst>
      <p:ext uri="{BB962C8B-B14F-4D97-AF65-F5344CB8AC3E}">
        <p14:creationId xmlns:p14="http://schemas.microsoft.com/office/powerpoint/2010/main" val="2534918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And here we can see that rates of walking </a:t>
            </a:r>
            <a:r>
              <a:rPr lang="en-GB"/>
              <a:t>retention tend </a:t>
            </a:r>
            <a:r>
              <a:rPr lang="en-GB" dirty="0"/>
              <a:t>to be higher for those in the lower socioeconomic classes, indicated by darker blue, but the association with switching to walking is less clear.</a:t>
            </a:r>
          </a:p>
        </p:txBody>
      </p:sp>
      <p:sp>
        <p:nvSpPr>
          <p:cNvPr id="4" name="Slide Number Placeholder 3"/>
          <p:cNvSpPr>
            <a:spLocks noGrp="1"/>
          </p:cNvSpPr>
          <p:nvPr>
            <p:ph type="sldNum" sz="quarter" idx="5"/>
          </p:nvPr>
        </p:nvSpPr>
        <p:spPr/>
        <p:txBody>
          <a:bodyPr/>
          <a:lstStyle/>
          <a:p>
            <a:fld id="{78455201-7865-8744-8A9B-9F5FC03C5C4C}" type="slidenum">
              <a:rPr lang="en-US" smtClean="0"/>
              <a:t>19</a:t>
            </a:fld>
            <a:endParaRPr lang="en-US" dirty="0"/>
          </a:p>
        </p:txBody>
      </p:sp>
    </p:spTree>
    <p:extLst>
      <p:ext uri="{BB962C8B-B14F-4D97-AF65-F5344CB8AC3E}">
        <p14:creationId xmlns:p14="http://schemas.microsoft.com/office/powerpoint/2010/main" val="3189910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Compared to those who moved, those who had the same residential location between 2001 and 2011 were </a:t>
            </a:r>
            <a:r>
              <a:rPr lang="en-GB" b="1" dirty="0"/>
              <a:t>MORE</a:t>
            </a:r>
            <a:r>
              <a:rPr lang="en-GB" dirty="0"/>
              <a:t> likely to keep walking and, among those who weren’t already walking, those who had the same residential location between 2001 and 2011 were </a:t>
            </a:r>
            <a:r>
              <a:rPr lang="en-GB" b="1" dirty="0"/>
              <a:t>LESS</a:t>
            </a:r>
            <a:r>
              <a:rPr lang="en-GB" dirty="0"/>
              <a:t> likely to switch to walking.</a:t>
            </a:r>
          </a:p>
        </p:txBody>
      </p:sp>
      <p:sp>
        <p:nvSpPr>
          <p:cNvPr id="4" name="Slide Number Placeholder 3"/>
          <p:cNvSpPr>
            <a:spLocks noGrp="1"/>
          </p:cNvSpPr>
          <p:nvPr>
            <p:ph type="sldNum" sz="quarter" idx="5"/>
          </p:nvPr>
        </p:nvSpPr>
        <p:spPr/>
        <p:txBody>
          <a:bodyPr/>
          <a:lstStyle/>
          <a:p>
            <a:fld id="{78455201-7865-8744-8A9B-9F5FC03C5C4C}" type="slidenum">
              <a:rPr lang="en-US" smtClean="0"/>
              <a:t>20</a:t>
            </a:fld>
            <a:endParaRPr lang="en-US" dirty="0"/>
          </a:p>
        </p:txBody>
      </p:sp>
    </p:spTree>
    <p:extLst>
      <p:ext uri="{BB962C8B-B14F-4D97-AF65-F5344CB8AC3E}">
        <p14:creationId xmlns:p14="http://schemas.microsoft.com/office/powerpoint/2010/main" val="906042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The same pattern emerged for workplace stability.</a:t>
            </a:r>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21</a:t>
            </a:fld>
            <a:endParaRPr lang="en-US" dirty="0"/>
          </a:p>
        </p:txBody>
      </p:sp>
    </p:spTree>
    <p:extLst>
      <p:ext uri="{BB962C8B-B14F-4D97-AF65-F5344CB8AC3E}">
        <p14:creationId xmlns:p14="http://schemas.microsoft.com/office/powerpoint/2010/main" val="2152273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And for those whose route remained the same, as indicated by both residential AND workplace stability, the contrast in retention and switching rates with those whose route changed was particularly stark. And you can see the retention rate is 80% for those with route stability and less than 30% for those without.</a:t>
            </a:r>
          </a:p>
        </p:txBody>
      </p:sp>
      <p:sp>
        <p:nvSpPr>
          <p:cNvPr id="4" name="Slide Number Placeholder 3"/>
          <p:cNvSpPr>
            <a:spLocks noGrp="1"/>
          </p:cNvSpPr>
          <p:nvPr>
            <p:ph type="sldNum" sz="quarter" idx="5"/>
          </p:nvPr>
        </p:nvSpPr>
        <p:spPr/>
        <p:txBody>
          <a:bodyPr/>
          <a:lstStyle/>
          <a:p>
            <a:fld id="{78455201-7865-8744-8A9B-9F5FC03C5C4C}" type="slidenum">
              <a:rPr lang="en-US" smtClean="0"/>
              <a:t>22</a:t>
            </a:fld>
            <a:endParaRPr lang="en-US" dirty="0"/>
          </a:p>
        </p:txBody>
      </p:sp>
    </p:spTree>
    <p:extLst>
      <p:ext uri="{BB962C8B-B14F-4D97-AF65-F5344CB8AC3E}">
        <p14:creationId xmlns:p14="http://schemas.microsoft.com/office/powerpoint/2010/main" val="4292387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And these findings, that changing route -  as indicated by change in either residential or workplace location or both – is associated with a lower rate of retention of walking as commute mode, and a higher rate of switching to walking, are entirely consistent with the habit discontinuity hypothesis which states that habitual behaviour becomes weakened when interrupted by contextual change. And our results support previous research showing that mode switches occur when commute distance changes, due to change in job locations and/ or residential location. </a:t>
            </a:r>
          </a:p>
          <a:p>
            <a:pPr algn="l"/>
            <a:endParaRPr lang="en-GB" dirty="0"/>
          </a:p>
          <a:p>
            <a:pPr algn="l"/>
            <a:endParaRPr lang="en-GB" dirty="0"/>
          </a:p>
          <a:p>
            <a:pPr algn="l"/>
            <a:endParaRPr lang="en-GB" dirty="0"/>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23</a:t>
            </a:fld>
            <a:endParaRPr lang="en-US" dirty="0"/>
          </a:p>
        </p:txBody>
      </p:sp>
    </p:spTree>
    <p:extLst>
      <p:ext uri="{BB962C8B-B14F-4D97-AF65-F5344CB8AC3E}">
        <p14:creationId xmlns:p14="http://schemas.microsoft.com/office/powerpoint/2010/main" val="40402482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Given the importance of contextual change, we wondered about the role of the walkability of the neighbourhood – or </a:t>
            </a:r>
            <a:r>
              <a:rPr lang="en-GB" sz="1200" kern="0" dirty="0">
                <a:latin typeface="Arial" panose="020B0604020202020204" pitchFamily="34" charset="0"/>
                <a:cs typeface="Arial" panose="020B0604020202020204" pitchFamily="34" charset="0"/>
              </a:rPr>
              <a:t>the extent to which walking is supported in the neighbourhood – </a:t>
            </a:r>
            <a:r>
              <a:rPr lang="en-GB" sz="1200" kern="1200" dirty="0">
                <a:solidFill>
                  <a:schemeClr val="tx1"/>
                </a:solidFill>
                <a:effectLst/>
                <a:latin typeface="+mn-lt"/>
                <a:ea typeface="+mn-ea"/>
                <a:cs typeface="+mn-cs"/>
              </a:rPr>
              <a:t>in stability of active commuting among those whose residential location remains the same between 2001 and 2011.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b="0" i="0" kern="1200" dirty="0">
              <a:solidFill>
                <a:schemeClr val="tx1"/>
              </a:solidFill>
              <a:effectLst/>
              <a:latin typeface="+mn-lt"/>
              <a:ea typeface="+mn-ea"/>
              <a:cs typeface="+mn-cs"/>
            </a:endParaRPr>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24</a:t>
            </a:fld>
            <a:endParaRPr lang="en-US" dirty="0"/>
          </a:p>
        </p:txBody>
      </p:sp>
    </p:spTree>
    <p:extLst>
      <p:ext uri="{BB962C8B-B14F-4D97-AF65-F5344CB8AC3E}">
        <p14:creationId xmlns:p14="http://schemas.microsoft.com/office/powerpoint/2010/main" val="4164802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 test the idea that walkability encourages the maintenance or uptake of walking. I used a ward-level walkability index that I created specifically for London during my PhD. Neighbourhoods in London were defined as the administrative units of Census Area Statistics wards, of which there are 633 in London, and walkability was calculated from measures of residential density, street connectivity and land use mix. Each ward was then given a walkability score, denoting its walkability relative to the other wards, and these scores were </a:t>
            </a:r>
            <a:r>
              <a:rPr lang="en-GB" sz="1200" kern="1200" dirty="0" err="1">
                <a:solidFill>
                  <a:schemeClr val="tx1"/>
                </a:solidFill>
                <a:effectLst/>
                <a:latin typeface="+mn-lt"/>
                <a:ea typeface="+mn-ea"/>
                <a:cs typeface="+mn-cs"/>
              </a:rPr>
              <a:t>quantiled</a:t>
            </a:r>
            <a:r>
              <a:rPr lang="en-GB" sz="1200" kern="1200" dirty="0">
                <a:solidFill>
                  <a:schemeClr val="tx1"/>
                </a:solidFill>
                <a:effectLst/>
                <a:latin typeface="+mn-lt"/>
                <a:ea typeface="+mn-ea"/>
                <a:cs typeface="+mn-cs"/>
              </a:rPr>
              <a:t> into quartiles. A score of 1 indicated low walkability whilst a score of 4 indicated that the ward, or neighbourhood, was very walkable. </a:t>
            </a:r>
          </a:p>
          <a:p>
            <a:r>
              <a:rPr lang="en-GB" sz="1200" kern="1200" dirty="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b="0" i="0" kern="1200" dirty="0">
              <a:solidFill>
                <a:schemeClr val="tx1"/>
              </a:solidFill>
              <a:effectLst/>
              <a:latin typeface="+mn-lt"/>
              <a:ea typeface="+mn-ea"/>
              <a:cs typeface="+mn-cs"/>
            </a:endParaRPr>
          </a:p>
          <a:p>
            <a:pPr algn="l"/>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25</a:t>
            </a:fld>
            <a:endParaRPr lang="en-US" dirty="0"/>
          </a:p>
        </p:txBody>
      </p:sp>
    </p:spTree>
    <p:extLst>
      <p:ext uri="{BB962C8B-B14F-4D97-AF65-F5344CB8AC3E}">
        <p14:creationId xmlns:p14="http://schemas.microsoft.com/office/powerpoint/2010/main" val="15396340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Walkability scores were linked to LS members’ wards and commute mode change between 2001 and 2011 </a:t>
            </a:r>
            <a:r>
              <a:rPr lang="en-GB" sz="1200" kern="1200" baseline="0" dirty="0">
                <a:solidFill>
                  <a:schemeClr val="tx1"/>
                </a:solidFill>
                <a:effectLst/>
                <a:latin typeface="+mn-lt"/>
                <a:ea typeface="+mn-ea"/>
                <a:cs typeface="+mn-cs"/>
              </a:rPr>
              <a:t>could then be related to </a:t>
            </a:r>
            <a:r>
              <a:rPr lang="en-GB" sz="1200" kern="1200" dirty="0">
                <a:solidFill>
                  <a:schemeClr val="tx1"/>
                </a:solidFill>
                <a:effectLst/>
                <a:latin typeface="+mn-lt"/>
                <a:ea typeface="+mn-ea"/>
                <a:cs typeface="+mn-cs"/>
              </a:rPr>
              <a:t>ward-level neighbourhood walkability for each LS member, and statistical associations were measured using logistic regression, with adjustment for covariates, among those who did not move between 2001 and 2011.</a:t>
            </a:r>
          </a:p>
        </p:txBody>
      </p:sp>
      <p:sp>
        <p:nvSpPr>
          <p:cNvPr id="4" name="Slide Number Placeholder 3"/>
          <p:cNvSpPr>
            <a:spLocks noGrp="1"/>
          </p:cNvSpPr>
          <p:nvPr>
            <p:ph type="sldNum" sz="quarter" idx="5"/>
          </p:nvPr>
        </p:nvSpPr>
        <p:spPr/>
        <p:txBody>
          <a:bodyPr/>
          <a:lstStyle/>
          <a:p>
            <a:fld id="{78455201-7865-8744-8A9B-9F5FC03C5C4C}" type="slidenum">
              <a:rPr lang="en-US" smtClean="0"/>
              <a:t>26</a:t>
            </a:fld>
            <a:endParaRPr lang="en-US" dirty="0"/>
          </a:p>
        </p:txBody>
      </p:sp>
    </p:spTree>
    <p:extLst>
      <p:ext uri="{BB962C8B-B14F-4D97-AF65-F5344CB8AC3E}">
        <p14:creationId xmlns:p14="http://schemas.microsoft.com/office/powerpoint/2010/main" val="23320822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Looking first at the associations between walkability of the ward of residence and walking to work in 2001 you can see that people living in more walkable were more likely to walk to work in 2001 than those living in less walkable neighbourhoods after adjusting for </a:t>
            </a:r>
            <a:r>
              <a:rPr lang="en-GB" sz="1200" dirty="0"/>
              <a:t>sex, age, car availability &amp; socio-economic classification</a:t>
            </a:r>
            <a:r>
              <a:rPr lang="en-GB" sz="1200" kern="1200" dirty="0">
                <a:solidFill>
                  <a:schemeClr val="tx1"/>
                </a:solidFill>
                <a:effectLst/>
                <a:latin typeface="+mn-lt"/>
                <a:ea typeface="+mn-ea"/>
                <a:cs typeface="+mn-cs"/>
              </a:rPr>
              <a:t>. And there seems to be a dose-response, with those in the most walkable neighbourhoods almost 3 times more likely to walk to work than those in the least walkable neighbourhoods. </a:t>
            </a:r>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27</a:t>
            </a:fld>
            <a:endParaRPr lang="en-US" dirty="0"/>
          </a:p>
        </p:txBody>
      </p:sp>
    </p:spTree>
    <p:extLst>
      <p:ext uri="{BB962C8B-B14F-4D97-AF65-F5344CB8AC3E}">
        <p14:creationId xmlns:p14="http://schemas.microsoft.com/office/powerpoint/2010/main" val="33901699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you can see that there is a statistically significant positive association between walkability and retaining the walking to work mode between 2001 and 2011, with those in the most walkable ward over twice as likely to continue walking than those in the least walkable ward.</a:t>
            </a:r>
          </a:p>
        </p:txBody>
      </p:sp>
      <p:sp>
        <p:nvSpPr>
          <p:cNvPr id="4" name="Slide Number Placeholder 3"/>
          <p:cNvSpPr>
            <a:spLocks noGrp="1"/>
          </p:cNvSpPr>
          <p:nvPr>
            <p:ph type="sldNum" sz="quarter" idx="5"/>
          </p:nvPr>
        </p:nvSpPr>
        <p:spPr/>
        <p:txBody>
          <a:bodyPr/>
          <a:lstStyle/>
          <a:p>
            <a:fld id="{78455201-7865-8744-8A9B-9F5FC03C5C4C}" type="slidenum">
              <a:rPr lang="en-US" smtClean="0"/>
              <a:t>28</a:t>
            </a:fld>
            <a:endParaRPr lang="en-US" dirty="0"/>
          </a:p>
        </p:txBody>
      </p:sp>
    </p:spTree>
    <p:extLst>
      <p:ext uri="{BB962C8B-B14F-4D97-AF65-F5344CB8AC3E}">
        <p14:creationId xmlns:p14="http://schemas.microsoft.com/office/powerpoint/2010/main" val="901219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 is also a statistically significant positive association between walkability and switching to the walking to work mode between 2001 and 2011, with those in the most walkable ward three times as likely to switch to walking than those in the least walkable ward.</a:t>
            </a:r>
          </a:p>
        </p:txBody>
      </p:sp>
      <p:sp>
        <p:nvSpPr>
          <p:cNvPr id="4" name="Slide Number Placeholder 3"/>
          <p:cNvSpPr>
            <a:spLocks noGrp="1"/>
          </p:cNvSpPr>
          <p:nvPr>
            <p:ph type="sldNum" sz="quarter" idx="5"/>
          </p:nvPr>
        </p:nvSpPr>
        <p:spPr/>
        <p:txBody>
          <a:bodyPr/>
          <a:lstStyle/>
          <a:p>
            <a:fld id="{78455201-7865-8744-8A9B-9F5FC03C5C4C}" type="slidenum">
              <a:rPr lang="en-US" smtClean="0"/>
              <a:t>29</a:t>
            </a:fld>
            <a:endParaRPr lang="en-US" dirty="0"/>
          </a:p>
        </p:txBody>
      </p:sp>
    </p:spTree>
    <p:extLst>
      <p:ext uri="{BB962C8B-B14F-4D97-AF65-F5344CB8AC3E}">
        <p14:creationId xmlns:p14="http://schemas.microsoft.com/office/powerpoint/2010/main" val="3401566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conclusion, we that age, sex  and residential and workplace stability are important factors in commute mode choice, retention and transition. Also, walkability appears to promote walking to work, including retention and uptake, among those whose residential location does not change, after accounting for age, sex, car availability, socioeconomic classification and workplace location. </a:t>
            </a:r>
            <a:r>
              <a:rPr lang="en-GB" b="0" dirty="0"/>
              <a:t>But it’s worth emphasising that the associations with walkability are just for London, and there is likely to be a big London effect on associations because, outside London, car reliance may increase as careers progress, and we are currently looking into that effect.</a:t>
            </a:r>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30</a:t>
            </a:fld>
            <a:endParaRPr lang="en-US" dirty="0"/>
          </a:p>
        </p:txBody>
      </p:sp>
    </p:spTree>
    <p:extLst>
      <p:ext uri="{BB962C8B-B14F-4D97-AF65-F5344CB8AC3E}">
        <p14:creationId xmlns:p14="http://schemas.microsoft.com/office/powerpoint/2010/main" val="2623957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as we’ve demonstrated, the census-based Longitudinal Study allows us to look at how individuals’ travel to work habits relate to their characteristics. And knowing what kinds of people, for example, are likely to take up walking - or not - is useful for targeted policy interventions. However, with data collected in the census only every ten years, we have to make huge assumptions about their travel behaviours and residential and work locations in the intervening periods. Also, the questions in the census cover a range of topics, including transport to work, but none elicit in-depth information, and they are subject to minor change between censuses, making comparisons difficult.</a:t>
            </a:r>
          </a:p>
          <a:p>
            <a:endParaRPr lang="en-GB" dirty="0"/>
          </a:p>
          <a:p>
            <a:r>
              <a:rPr lang="en-GB" dirty="0"/>
              <a:t>An interesting alternative to census data is GPS data collected by mobile or cell phone network operators, which can estimate their customers’ usual residence and place of work based on the masts that they frequently connect to. Information on commuting flows, in terms of route, distance and mode can then be collated to give regularly updated snapshots of commuting behaviours. Benefits of mobile phone data are that data acquisition is cheaper than surveys and more accurate.  However, a limitation is that data is collected from select populations because not all people own phones, although this is probably less of an issue when the target population is commuters. And another limitation is that the mobile phone data is noisy and requires a lot of technical expertise to process. Also, mobile phone data is stripped of all personal data, making it difficult to determine anything other than routes and modes, and cannot track people to see how habits evolve over time. </a:t>
            </a:r>
          </a:p>
          <a:p>
            <a:endParaRPr lang="en-GB" dirty="0"/>
          </a:p>
          <a:p>
            <a:r>
              <a:rPr lang="en-GB" dirty="0"/>
              <a:t>So, whilst there are potentially cheaper ways of collecting information about travel behaviours than using LS data, they are perhaps not a match in terms of understanding travel behaviours.</a:t>
            </a:r>
          </a:p>
          <a:p>
            <a:endParaRPr lang="en-GB" dirty="0"/>
          </a:p>
          <a:p>
            <a:endParaRPr lang="en-GB" dirty="0"/>
          </a:p>
        </p:txBody>
      </p:sp>
      <p:sp>
        <p:nvSpPr>
          <p:cNvPr id="4" name="Slide Number Placeholder 3"/>
          <p:cNvSpPr>
            <a:spLocks noGrp="1"/>
          </p:cNvSpPr>
          <p:nvPr>
            <p:ph type="sldNum" sz="quarter" idx="5"/>
          </p:nvPr>
        </p:nvSpPr>
        <p:spPr/>
        <p:txBody>
          <a:bodyPr/>
          <a:lstStyle/>
          <a:p>
            <a:fld id="{78455201-7865-8744-8A9B-9F5FC03C5C4C}" type="slidenum">
              <a:rPr lang="en-US" smtClean="0"/>
              <a:t>31</a:t>
            </a:fld>
            <a:endParaRPr lang="en-US" dirty="0"/>
          </a:p>
        </p:txBody>
      </p:sp>
    </p:spTree>
    <p:extLst>
      <p:ext uri="{BB962C8B-B14F-4D97-AF65-F5344CB8AC3E}">
        <p14:creationId xmlns:p14="http://schemas.microsoft.com/office/powerpoint/2010/main" val="202406446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rge banner">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463"/>
            <a:ext cx="7886700" cy="994172"/>
          </a:xfrm>
          <a:prstGeom prst="rect">
            <a:avLst/>
          </a:prstGeom>
        </p:spPr>
        <p:txBody>
          <a:bodyPr/>
          <a:lstStyle>
            <a:lvl1pPr>
              <a:defRPr sz="3200" b="1">
                <a:solidFill>
                  <a:srgbClr val="002855"/>
                </a:solidFill>
                <a:latin typeface="Arial" charset="0"/>
                <a:ea typeface="Arial" charset="0"/>
                <a:cs typeface="Arial" charset="0"/>
              </a:defRPr>
            </a:lvl1pPr>
          </a:lstStyle>
          <a:p>
            <a:r>
              <a:rPr lang="en-US" dirty="0"/>
              <a:t>Click to edit Master title style</a:t>
            </a:r>
          </a:p>
        </p:txBody>
      </p:sp>
      <p:sp>
        <p:nvSpPr>
          <p:cNvPr id="3" name="Content Placeholder 2"/>
          <p:cNvSpPr>
            <a:spLocks noGrp="1"/>
          </p:cNvSpPr>
          <p:nvPr>
            <p:ph idx="1"/>
          </p:nvPr>
        </p:nvSpPr>
        <p:spPr>
          <a:xfrm>
            <a:off x="628650" y="2606039"/>
            <a:ext cx="7886700" cy="2026683"/>
          </a:xfrm>
        </p:spPr>
        <p:txBody>
          <a:bodyPr/>
          <a:lstStyle>
            <a:lvl1pPr>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p:cNvGrpSpPr/>
          <p:nvPr userDrawn="1"/>
        </p:nvGrpSpPr>
        <p:grpSpPr>
          <a:xfrm>
            <a:off x="0" y="0"/>
            <a:ext cx="9144000" cy="1235075"/>
            <a:chOff x="0" y="-66259"/>
            <a:chExt cx="9144000" cy="1235075"/>
          </a:xfrm>
        </p:grpSpPr>
        <p:sp>
          <p:nvSpPr>
            <p:cNvPr id="10" name="Freeform 24"/>
            <p:cNvSpPr>
              <a:spLocks/>
            </p:cNvSpPr>
            <p:nvPr/>
          </p:nvSpPr>
          <p:spPr bwMode="auto">
            <a:xfrm>
              <a:off x="0" y="-66259"/>
              <a:ext cx="9144000" cy="1235075"/>
            </a:xfrm>
            <a:custGeom>
              <a:avLst/>
              <a:gdLst>
                <a:gd name="T0" fmla="*/ 0 w 1123"/>
                <a:gd name="T1" fmla="*/ 0 h 151"/>
                <a:gd name="T2" fmla="*/ 0 w 1123"/>
                <a:gd name="T3" fmla="*/ 151 h 151"/>
                <a:gd name="T4" fmla="*/ 844 w 1123"/>
                <a:gd name="T5" fmla="*/ 151 h 151"/>
                <a:gd name="T6" fmla="*/ 841 w 1123"/>
                <a:gd name="T7" fmla="*/ 148 h 151"/>
                <a:gd name="T8" fmla="*/ 832 w 1123"/>
                <a:gd name="T9" fmla="*/ 122 h 151"/>
                <a:gd name="T10" fmla="*/ 832 w 1123"/>
                <a:gd name="T11" fmla="*/ 72 h 151"/>
                <a:gd name="T12" fmla="*/ 859 w 1123"/>
                <a:gd name="T13" fmla="*/ 72 h 151"/>
                <a:gd name="T14" fmla="*/ 859 w 1123"/>
                <a:gd name="T15" fmla="*/ 124 h 151"/>
                <a:gd name="T16" fmla="*/ 863 w 1123"/>
                <a:gd name="T17" fmla="*/ 135 h 151"/>
                <a:gd name="T18" fmla="*/ 871 w 1123"/>
                <a:gd name="T19" fmla="*/ 138 h 151"/>
                <a:gd name="T20" fmla="*/ 880 w 1123"/>
                <a:gd name="T21" fmla="*/ 135 h 151"/>
                <a:gd name="T22" fmla="*/ 883 w 1123"/>
                <a:gd name="T23" fmla="*/ 124 h 151"/>
                <a:gd name="T24" fmla="*/ 883 w 1123"/>
                <a:gd name="T25" fmla="*/ 72 h 151"/>
                <a:gd name="T26" fmla="*/ 910 w 1123"/>
                <a:gd name="T27" fmla="*/ 72 h 151"/>
                <a:gd name="T28" fmla="*/ 910 w 1123"/>
                <a:gd name="T29" fmla="*/ 117 h 151"/>
                <a:gd name="T30" fmla="*/ 900 w 1123"/>
                <a:gd name="T31" fmla="*/ 148 h 151"/>
                <a:gd name="T32" fmla="*/ 897 w 1123"/>
                <a:gd name="T33" fmla="*/ 151 h 151"/>
                <a:gd name="T34" fmla="*/ 937 w 1123"/>
                <a:gd name="T35" fmla="*/ 151 h 151"/>
                <a:gd name="T36" fmla="*/ 920 w 1123"/>
                <a:gd name="T37" fmla="*/ 114 h 151"/>
                <a:gd name="T38" fmla="*/ 964 w 1123"/>
                <a:gd name="T39" fmla="*/ 69 h 151"/>
                <a:gd name="T40" fmla="*/ 998 w 1123"/>
                <a:gd name="T41" fmla="*/ 82 h 151"/>
                <a:gd name="T42" fmla="*/ 1005 w 1123"/>
                <a:gd name="T43" fmla="*/ 92 h 151"/>
                <a:gd name="T44" fmla="*/ 982 w 1123"/>
                <a:gd name="T45" fmla="*/ 103 h 151"/>
                <a:gd name="T46" fmla="*/ 965 w 1123"/>
                <a:gd name="T47" fmla="*/ 89 h 151"/>
                <a:gd name="T48" fmla="*/ 953 w 1123"/>
                <a:gd name="T49" fmla="*/ 94 h 151"/>
                <a:gd name="T50" fmla="*/ 947 w 1123"/>
                <a:gd name="T51" fmla="*/ 113 h 151"/>
                <a:gd name="T52" fmla="*/ 965 w 1123"/>
                <a:gd name="T53" fmla="*/ 137 h 151"/>
                <a:gd name="T54" fmla="*/ 982 w 1123"/>
                <a:gd name="T55" fmla="*/ 123 h 151"/>
                <a:gd name="T56" fmla="*/ 1005 w 1123"/>
                <a:gd name="T57" fmla="*/ 134 h 151"/>
                <a:gd name="T58" fmla="*/ 997 w 1123"/>
                <a:gd name="T59" fmla="*/ 146 h 151"/>
                <a:gd name="T60" fmla="*/ 991 w 1123"/>
                <a:gd name="T61" fmla="*/ 151 h 151"/>
                <a:gd name="T62" fmla="*/ 1016 w 1123"/>
                <a:gd name="T63" fmla="*/ 151 h 151"/>
                <a:gd name="T64" fmla="*/ 1016 w 1123"/>
                <a:gd name="T65" fmla="*/ 72 h 151"/>
                <a:gd name="T66" fmla="*/ 1042 w 1123"/>
                <a:gd name="T67" fmla="*/ 72 h 151"/>
                <a:gd name="T68" fmla="*/ 1042 w 1123"/>
                <a:gd name="T69" fmla="*/ 134 h 151"/>
                <a:gd name="T70" fmla="*/ 1077 w 1123"/>
                <a:gd name="T71" fmla="*/ 134 h 151"/>
                <a:gd name="T72" fmla="*/ 1077 w 1123"/>
                <a:gd name="T73" fmla="*/ 151 h 151"/>
                <a:gd name="T74" fmla="*/ 1123 w 1123"/>
                <a:gd name="T75" fmla="*/ 151 h 151"/>
                <a:gd name="T76" fmla="*/ 1123 w 1123"/>
                <a:gd name="T77" fmla="*/ 0 h 151"/>
                <a:gd name="T78" fmla="*/ 0 w 1123"/>
                <a:gd name="T79"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151">
                  <a:moveTo>
                    <a:pt x="0" y="0"/>
                  </a:moveTo>
                  <a:cubicBezTo>
                    <a:pt x="0" y="151"/>
                    <a:pt x="0" y="151"/>
                    <a:pt x="0" y="151"/>
                  </a:cubicBezTo>
                  <a:cubicBezTo>
                    <a:pt x="844" y="151"/>
                    <a:pt x="844" y="151"/>
                    <a:pt x="844" y="151"/>
                  </a:cubicBezTo>
                  <a:cubicBezTo>
                    <a:pt x="843" y="150"/>
                    <a:pt x="842" y="149"/>
                    <a:pt x="841" y="148"/>
                  </a:cubicBezTo>
                  <a:cubicBezTo>
                    <a:pt x="833" y="140"/>
                    <a:pt x="833" y="131"/>
                    <a:pt x="832" y="122"/>
                  </a:cubicBezTo>
                  <a:cubicBezTo>
                    <a:pt x="832" y="72"/>
                    <a:pt x="832" y="72"/>
                    <a:pt x="832" y="72"/>
                  </a:cubicBezTo>
                  <a:cubicBezTo>
                    <a:pt x="859" y="72"/>
                    <a:pt x="859" y="72"/>
                    <a:pt x="859" y="72"/>
                  </a:cubicBezTo>
                  <a:cubicBezTo>
                    <a:pt x="859" y="124"/>
                    <a:pt x="859" y="124"/>
                    <a:pt x="859" y="124"/>
                  </a:cubicBezTo>
                  <a:cubicBezTo>
                    <a:pt x="859" y="128"/>
                    <a:pt x="860" y="132"/>
                    <a:pt x="863" y="135"/>
                  </a:cubicBezTo>
                  <a:cubicBezTo>
                    <a:pt x="865" y="137"/>
                    <a:pt x="868" y="138"/>
                    <a:pt x="871" y="138"/>
                  </a:cubicBezTo>
                  <a:cubicBezTo>
                    <a:pt x="875" y="138"/>
                    <a:pt x="878" y="136"/>
                    <a:pt x="880" y="135"/>
                  </a:cubicBezTo>
                  <a:cubicBezTo>
                    <a:pt x="883" y="132"/>
                    <a:pt x="883" y="128"/>
                    <a:pt x="883" y="124"/>
                  </a:cubicBezTo>
                  <a:cubicBezTo>
                    <a:pt x="883" y="72"/>
                    <a:pt x="883" y="72"/>
                    <a:pt x="883" y="72"/>
                  </a:cubicBezTo>
                  <a:cubicBezTo>
                    <a:pt x="910" y="72"/>
                    <a:pt x="910" y="72"/>
                    <a:pt x="910" y="72"/>
                  </a:cubicBezTo>
                  <a:cubicBezTo>
                    <a:pt x="910" y="117"/>
                    <a:pt x="910" y="117"/>
                    <a:pt x="910" y="117"/>
                  </a:cubicBezTo>
                  <a:cubicBezTo>
                    <a:pt x="910" y="126"/>
                    <a:pt x="910" y="139"/>
                    <a:pt x="900" y="148"/>
                  </a:cubicBezTo>
                  <a:cubicBezTo>
                    <a:pt x="899" y="149"/>
                    <a:pt x="898" y="150"/>
                    <a:pt x="897" y="151"/>
                  </a:cubicBezTo>
                  <a:cubicBezTo>
                    <a:pt x="937" y="151"/>
                    <a:pt x="937" y="151"/>
                    <a:pt x="937" y="151"/>
                  </a:cubicBezTo>
                  <a:cubicBezTo>
                    <a:pt x="925" y="142"/>
                    <a:pt x="920" y="128"/>
                    <a:pt x="920" y="114"/>
                  </a:cubicBezTo>
                  <a:cubicBezTo>
                    <a:pt x="920" y="92"/>
                    <a:pt x="935" y="69"/>
                    <a:pt x="964" y="69"/>
                  </a:cubicBezTo>
                  <a:cubicBezTo>
                    <a:pt x="976" y="69"/>
                    <a:pt x="989" y="73"/>
                    <a:pt x="998" y="82"/>
                  </a:cubicBezTo>
                  <a:cubicBezTo>
                    <a:pt x="1001" y="86"/>
                    <a:pt x="1003" y="89"/>
                    <a:pt x="1005" y="92"/>
                  </a:cubicBezTo>
                  <a:cubicBezTo>
                    <a:pt x="982" y="103"/>
                    <a:pt x="982" y="103"/>
                    <a:pt x="982" y="103"/>
                  </a:cubicBezTo>
                  <a:cubicBezTo>
                    <a:pt x="980" y="98"/>
                    <a:pt x="976" y="89"/>
                    <a:pt x="965" y="89"/>
                  </a:cubicBezTo>
                  <a:cubicBezTo>
                    <a:pt x="959" y="89"/>
                    <a:pt x="955" y="92"/>
                    <a:pt x="953" y="94"/>
                  </a:cubicBezTo>
                  <a:cubicBezTo>
                    <a:pt x="947" y="100"/>
                    <a:pt x="947" y="109"/>
                    <a:pt x="947" y="113"/>
                  </a:cubicBezTo>
                  <a:cubicBezTo>
                    <a:pt x="947" y="125"/>
                    <a:pt x="952" y="137"/>
                    <a:pt x="965" y="137"/>
                  </a:cubicBezTo>
                  <a:cubicBezTo>
                    <a:pt x="977" y="137"/>
                    <a:pt x="981" y="126"/>
                    <a:pt x="982" y="123"/>
                  </a:cubicBezTo>
                  <a:cubicBezTo>
                    <a:pt x="1005" y="134"/>
                    <a:pt x="1005" y="134"/>
                    <a:pt x="1005" y="134"/>
                  </a:cubicBezTo>
                  <a:cubicBezTo>
                    <a:pt x="1003" y="138"/>
                    <a:pt x="1001" y="142"/>
                    <a:pt x="997" y="146"/>
                  </a:cubicBezTo>
                  <a:cubicBezTo>
                    <a:pt x="995" y="148"/>
                    <a:pt x="993" y="150"/>
                    <a:pt x="991" y="151"/>
                  </a:cubicBezTo>
                  <a:cubicBezTo>
                    <a:pt x="1016" y="151"/>
                    <a:pt x="1016" y="151"/>
                    <a:pt x="1016" y="151"/>
                  </a:cubicBezTo>
                  <a:cubicBezTo>
                    <a:pt x="1016" y="72"/>
                    <a:pt x="1016" y="72"/>
                    <a:pt x="1016" y="72"/>
                  </a:cubicBezTo>
                  <a:cubicBezTo>
                    <a:pt x="1042" y="72"/>
                    <a:pt x="1042" y="72"/>
                    <a:pt x="1042" y="72"/>
                  </a:cubicBezTo>
                  <a:cubicBezTo>
                    <a:pt x="1042" y="134"/>
                    <a:pt x="1042" y="134"/>
                    <a:pt x="1042" y="134"/>
                  </a:cubicBezTo>
                  <a:cubicBezTo>
                    <a:pt x="1077" y="134"/>
                    <a:pt x="1077" y="134"/>
                    <a:pt x="1077" y="134"/>
                  </a:cubicBezTo>
                  <a:cubicBezTo>
                    <a:pt x="1077" y="151"/>
                    <a:pt x="1077" y="151"/>
                    <a:pt x="1077" y="151"/>
                  </a:cubicBezTo>
                  <a:cubicBezTo>
                    <a:pt x="1123" y="151"/>
                    <a:pt x="1123" y="151"/>
                    <a:pt x="1123" y="151"/>
                  </a:cubicBezTo>
                  <a:cubicBezTo>
                    <a:pt x="1123" y="0"/>
                    <a:pt x="1123" y="0"/>
                    <a:pt x="1123" y="0"/>
                  </a:cubicBezTo>
                  <a:lnTo>
                    <a:pt x="0" y="0"/>
                  </a:lnTo>
                  <a:close/>
                </a:path>
              </a:pathLst>
            </a:custGeom>
            <a:solidFill>
              <a:srgbClr val="002855"/>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11" name="Picture 10"/>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6420182" y="514785"/>
              <a:ext cx="257986" cy="303133"/>
            </a:xfrm>
            <a:prstGeom prst="rect">
              <a:avLst/>
            </a:prstGeom>
          </p:spPr>
        </p:pic>
      </p:grpSp>
      <p:sp>
        <p:nvSpPr>
          <p:cNvPr id="7" name="Text Placeholder 6"/>
          <p:cNvSpPr>
            <a:spLocks noGrp="1"/>
          </p:cNvSpPr>
          <p:nvPr>
            <p:ph type="body" sz="quarter" idx="12" hasCustomPrompt="1"/>
          </p:nvPr>
        </p:nvSpPr>
        <p:spPr>
          <a:xfrm>
            <a:off x="287999" y="288000"/>
            <a:ext cx="5488958" cy="293044"/>
          </a:xfrm>
        </p:spPr>
        <p:txBody>
          <a:bodyPr lIns="0" tIns="0" rIns="0" bIns="0">
            <a:noAutofit/>
          </a:bodyPr>
          <a:lstStyle>
            <a:lvl1pPr marL="0" indent="0">
              <a:lnSpc>
                <a:spcPct val="80000"/>
              </a:lnSpc>
              <a:buNone/>
              <a:defRPr sz="1100" baseline="0">
                <a:solidFill>
                  <a:schemeClr val="bg1"/>
                </a:solidFill>
              </a:defRPr>
            </a:lvl1pPr>
            <a:lvl2pPr marL="0" indent="0">
              <a:lnSpc>
                <a:spcPct val="80000"/>
              </a:lnSpc>
              <a:buNone/>
              <a:defRPr sz="1100">
                <a:solidFill>
                  <a:schemeClr val="bg1"/>
                </a:solidFill>
              </a:defRPr>
            </a:lvl2pPr>
            <a:lvl3pPr marL="0" indent="0">
              <a:buNone/>
              <a:defRPr sz="1100">
                <a:solidFill>
                  <a:schemeClr val="tx1"/>
                </a:solidFill>
              </a:defRPr>
            </a:lvl3pPr>
            <a:lvl4pPr marL="0" indent="0">
              <a:buNone/>
              <a:defRPr sz="1100">
                <a:solidFill>
                  <a:schemeClr val="tx1"/>
                </a:solidFill>
              </a:defRPr>
            </a:lvl4pPr>
            <a:lvl5pPr marL="0" indent="0">
              <a:buNone/>
              <a:defRPr sz="1100">
                <a:solidFill>
                  <a:schemeClr val="tx1"/>
                </a:solidFill>
              </a:defRPr>
            </a:lvl5pPr>
          </a:lstStyle>
          <a:p>
            <a:pPr lvl="0"/>
            <a:r>
              <a:rPr lang="en-US" dirty="0"/>
              <a:t>FACULTY, SCHOOL, DEPARTMENT OR INSTITUTE NAME HERE</a:t>
            </a:r>
          </a:p>
          <a:p>
            <a:pPr lvl="1"/>
            <a:r>
              <a:rPr lang="en-US" dirty="0"/>
              <a:t>SECOND TIER INFORMATION HERE IF NEEDED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hin banner">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994718"/>
            <a:ext cx="4629150" cy="3745062"/>
          </a:xfrm>
        </p:spPr>
        <p:txBody>
          <a:bodyPr anchor="t">
            <a:normAutofit/>
          </a:bodyPr>
          <a:lstStyle>
            <a:lvl1pPr marL="0" indent="0">
              <a:buNone/>
              <a:defRPr sz="12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p>
        </p:txBody>
      </p:sp>
      <p:sp>
        <p:nvSpPr>
          <p:cNvPr id="4" name="Text Placeholder 3"/>
          <p:cNvSpPr>
            <a:spLocks noGrp="1"/>
          </p:cNvSpPr>
          <p:nvPr>
            <p:ph type="body" sz="half" idx="2"/>
          </p:nvPr>
        </p:nvSpPr>
        <p:spPr>
          <a:xfrm>
            <a:off x="629841" y="994718"/>
            <a:ext cx="2949178" cy="3745062"/>
          </a:xfrm>
        </p:spPr>
        <p:txBody>
          <a:bodyPr>
            <a:normAutofit/>
          </a:bodyPr>
          <a:lstStyle>
            <a:lvl1pPr marL="0" indent="0">
              <a:buNone/>
              <a:defRPr sz="3200">
                <a:solidFill>
                  <a:srgbClr val="002855"/>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grpSp>
        <p:nvGrpSpPr>
          <p:cNvPr id="6" name="Group 5"/>
          <p:cNvGrpSpPr/>
          <p:nvPr userDrawn="1"/>
        </p:nvGrpSpPr>
        <p:grpSpPr>
          <a:xfrm>
            <a:off x="0" y="-1588"/>
            <a:ext cx="9144000" cy="741363"/>
            <a:chOff x="0" y="-1588"/>
            <a:chExt cx="9144000" cy="741363"/>
          </a:xfrm>
          <a:solidFill>
            <a:srgbClr val="D6D2C4"/>
          </a:solidFill>
        </p:grpSpPr>
        <p:sp>
          <p:nvSpPr>
            <p:cNvPr id="8" name="Freeform 5"/>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rgbClr val="002855"/>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1" name="Text Placeholder 6"/>
          <p:cNvSpPr>
            <a:spLocks noGrp="1"/>
          </p:cNvSpPr>
          <p:nvPr>
            <p:ph type="body" sz="quarter" idx="12" hasCustomPrompt="1"/>
          </p:nvPr>
        </p:nvSpPr>
        <p:spPr>
          <a:xfrm>
            <a:off x="216000" y="216000"/>
            <a:ext cx="5488958" cy="293044"/>
          </a:xfrm>
        </p:spPr>
        <p:txBody>
          <a:bodyPr lIns="0" tIns="0" rIns="0" bIns="0">
            <a:noAutofit/>
          </a:bodyPr>
          <a:lstStyle>
            <a:lvl1pPr marL="0" indent="0">
              <a:lnSpc>
                <a:spcPct val="80000"/>
              </a:lnSpc>
              <a:buNone/>
              <a:defRPr sz="1100" baseline="0">
                <a:solidFill>
                  <a:schemeClr val="bg1"/>
                </a:solidFill>
              </a:defRPr>
            </a:lvl1pPr>
            <a:lvl2pPr marL="0" indent="0">
              <a:lnSpc>
                <a:spcPct val="80000"/>
              </a:lnSpc>
              <a:buNone/>
              <a:defRPr sz="1100">
                <a:solidFill>
                  <a:schemeClr val="bg1"/>
                </a:solidFill>
              </a:defRPr>
            </a:lvl2pPr>
            <a:lvl3pPr marL="0" indent="0">
              <a:buNone/>
              <a:defRPr sz="1100">
                <a:solidFill>
                  <a:schemeClr val="tx1"/>
                </a:solidFill>
              </a:defRPr>
            </a:lvl3pPr>
            <a:lvl4pPr marL="0" indent="0">
              <a:buNone/>
              <a:defRPr sz="1100">
                <a:solidFill>
                  <a:schemeClr val="tx1"/>
                </a:solidFill>
              </a:defRPr>
            </a:lvl4pPr>
            <a:lvl5pPr marL="0" indent="0">
              <a:buNone/>
              <a:defRPr sz="1100">
                <a:solidFill>
                  <a:schemeClr val="tx1"/>
                </a:solidFill>
              </a:defRPr>
            </a:lvl5pPr>
          </a:lstStyle>
          <a:p>
            <a:pPr lvl="0"/>
            <a:r>
              <a:rPr lang="en-US" dirty="0"/>
              <a:t>FACULTY, SCHOOL, DEPARTMENT OR INSTITUTE NAME HERE</a:t>
            </a:r>
          </a:p>
          <a:p>
            <a:pPr lvl="1"/>
            <a:r>
              <a:rPr lang="en-US" dirty="0"/>
              <a:t>SECOND TIER INFORMATION HERE IF NEEDED</a:t>
            </a:r>
          </a:p>
        </p:txBody>
      </p:sp>
    </p:spTree>
    <p:extLst>
      <p:ext uri="{BB962C8B-B14F-4D97-AF65-F5344CB8AC3E}">
        <p14:creationId xmlns:p14="http://schemas.microsoft.com/office/powerpoint/2010/main" val="1771749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reframe banner">
    <p:bg>
      <p:bgPr>
        <a:solidFill>
          <a:srgbClr val="002855">
            <a:alpha val="1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038713"/>
            <a:ext cx="7886700" cy="678815"/>
          </a:xfrm>
          <a:prstGeom prst="rect">
            <a:avLst/>
          </a:prstGeom>
        </p:spPr>
        <p:txBody>
          <a:bodyPr/>
          <a:lstStyle>
            <a:lvl1pPr>
              <a:defRPr sz="3200" b="1">
                <a:solidFill>
                  <a:srgbClr val="002855"/>
                </a:solidFill>
                <a:latin typeface="Arial" charset="0"/>
                <a:ea typeface="Arial" charset="0"/>
                <a:cs typeface="Arial" charset="0"/>
              </a:defRPr>
            </a:lvl1pPr>
          </a:lstStyle>
          <a:p>
            <a:r>
              <a:rPr lang="en-US" dirty="0"/>
              <a:t>Click to edit Master title style</a:t>
            </a:r>
          </a:p>
        </p:txBody>
      </p:sp>
      <p:sp>
        <p:nvSpPr>
          <p:cNvPr id="3" name="Content Placeholder 2"/>
          <p:cNvSpPr>
            <a:spLocks noGrp="1"/>
          </p:cNvSpPr>
          <p:nvPr>
            <p:ph sz="half" idx="1"/>
          </p:nvPr>
        </p:nvSpPr>
        <p:spPr>
          <a:xfrm>
            <a:off x="628650" y="2012185"/>
            <a:ext cx="3886200" cy="2620537"/>
          </a:xfrm>
        </p:spPr>
        <p:txBody>
          <a:bodyPr/>
          <a:lstStyle>
            <a:lvl1pPr>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2012185"/>
            <a:ext cx="3886200" cy="2620538"/>
          </a:xfrm>
        </p:spPr>
        <p:txBody>
          <a:bodyPr/>
          <a:lstStyle>
            <a:lvl1pPr>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34658"/>
            <a:ext cx="9144000" cy="409398"/>
          </a:xfrm>
          <a:prstGeom prst="rect">
            <a:avLst/>
          </a:prstGeom>
        </p:spPr>
      </p:pic>
      <p:sp>
        <p:nvSpPr>
          <p:cNvPr id="9" name="Text Placeholder 6"/>
          <p:cNvSpPr>
            <a:spLocks noGrp="1"/>
          </p:cNvSpPr>
          <p:nvPr>
            <p:ph type="body" sz="quarter" idx="12" hasCustomPrompt="1"/>
          </p:nvPr>
        </p:nvSpPr>
        <p:spPr>
          <a:xfrm>
            <a:off x="216000" y="216000"/>
            <a:ext cx="5488958" cy="293044"/>
          </a:xfrm>
        </p:spPr>
        <p:txBody>
          <a:bodyPr lIns="0" tIns="0" rIns="0" bIns="0">
            <a:noAutofit/>
          </a:bodyPr>
          <a:lstStyle>
            <a:lvl1pPr marL="0" indent="0">
              <a:lnSpc>
                <a:spcPct val="80000"/>
              </a:lnSpc>
              <a:buNone/>
              <a:defRPr sz="1100" baseline="0">
                <a:solidFill>
                  <a:schemeClr val="tx1"/>
                </a:solidFill>
              </a:defRPr>
            </a:lvl1pPr>
            <a:lvl2pPr marL="0" indent="0">
              <a:lnSpc>
                <a:spcPct val="80000"/>
              </a:lnSpc>
              <a:buNone/>
              <a:defRPr sz="1100">
                <a:solidFill>
                  <a:schemeClr val="tx1"/>
                </a:solidFill>
              </a:defRPr>
            </a:lvl2pPr>
            <a:lvl3pPr marL="0" indent="0">
              <a:buNone/>
              <a:defRPr sz="1100">
                <a:solidFill>
                  <a:schemeClr val="tx1"/>
                </a:solidFill>
              </a:defRPr>
            </a:lvl3pPr>
            <a:lvl4pPr marL="0" indent="0">
              <a:buNone/>
              <a:defRPr sz="1100">
                <a:solidFill>
                  <a:schemeClr val="tx1"/>
                </a:solidFill>
              </a:defRPr>
            </a:lvl4pPr>
            <a:lvl5pPr marL="0" indent="0">
              <a:buNone/>
              <a:defRPr sz="1100">
                <a:solidFill>
                  <a:schemeClr val="tx1"/>
                </a:solidFill>
              </a:defRPr>
            </a:lvl5pPr>
          </a:lstStyle>
          <a:p>
            <a:pPr lvl="0"/>
            <a:r>
              <a:rPr lang="en-US" dirty="0"/>
              <a:t>FACULTY, SCHOOL, DEPARTMENT OR INSTITUTE NAME HERE</a:t>
            </a:r>
          </a:p>
          <a:p>
            <a:pPr lvl="1"/>
            <a:r>
              <a:rPr lang="en-US" dirty="0"/>
              <a:t>SECOND TIER INFORMATION HERE IF NEEDED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500742"/>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1"/>
          <p:cNvSpPr txBox="1">
            <a:spLocks/>
          </p:cNvSpPr>
          <p:nvPr userDrawn="1"/>
        </p:nvSpPr>
        <p:spPr>
          <a:xfrm>
            <a:off x="165187" y="165584"/>
            <a:ext cx="3216840" cy="704975"/>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Arial" charset="0"/>
                <a:ea typeface="Arial" charset="0"/>
                <a:cs typeface="Arial" charset="0"/>
              </a:defRPr>
            </a:lvl1pPr>
          </a:lstStyle>
          <a:p>
            <a:pPr marL="12700"/>
            <a:endParaRPr lang="en-GB" sz="1000" dirty="0">
              <a:solidFill>
                <a:schemeClr val="bg1"/>
              </a:solidFill>
              <a:latin typeface="Arial"/>
              <a:cs typeface="Arial"/>
            </a:endParaRPr>
          </a:p>
        </p:txBody>
      </p:sp>
    </p:spTree>
    <p:extLst>
      <p:ext uri="{BB962C8B-B14F-4D97-AF65-F5344CB8AC3E}">
        <p14:creationId xmlns:p14="http://schemas.microsoft.com/office/powerpoint/2010/main" val="308303588"/>
      </p:ext>
    </p:extLst>
  </p:cSld>
  <p:clrMap bg1="lt1" tx1="dk1" bg2="lt2" tx2="dk2" accent1="accent1" accent2="accent2" accent3="accent3" accent4="accent4" accent5="accent5" accent6="accent6" hlink="hlink" folHlink="folHlink"/>
  <p:sldLayoutIdLst>
    <p:sldLayoutId id="2147483797" r:id="rId1"/>
    <p:sldLayoutId id="2147483811" r:id="rId2"/>
    <p:sldLayoutId id="2147483813"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90000" indent="-90000" algn="l" defTabSz="685800" rtl="0" eaLnBrk="1" latinLnBrk="0" hangingPunct="1">
        <a:lnSpc>
          <a:spcPct val="90000"/>
        </a:lnSpc>
        <a:spcBef>
          <a:spcPts val="750"/>
        </a:spcBef>
        <a:buFont typeface="Arial" panose="020B0604020202020204" pitchFamily="34" charset="0"/>
        <a:buChar char="•"/>
        <a:defRPr sz="2800" b="1" kern="1200">
          <a:solidFill>
            <a:schemeClr val="tx1"/>
          </a:solidFill>
          <a:latin typeface="Arial" charset="0"/>
          <a:ea typeface="Arial" charset="0"/>
          <a:cs typeface="Arial" charset="0"/>
        </a:defRPr>
      </a:lvl1pPr>
      <a:lvl2pPr marL="90000" indent="-9000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Arial" charset="0"/>
          <a:ea typeface="Arial" charset="0"/>
          <a:cs typeface="Arial" charset="0"/>
        </a:defRPr>
      </a:lvl2pPr>
      <a:lvl3pPr marL="90000" indent="-90000" algn="l" defTabSz="685800" rtl="0" eaLnBrk="1" latinLnBrk="0" hangingPunct="1">
        <a:lnSpc>
          <a:spcPct val="90000"/>
        </a:lnSpc>
        <a:spcBef>
          <a:spcPts val="375"/>
        </a:spcBef>
        <a:buFont typeface="Arial" panose="020B0604020202020204" pitchFamily="34" charset="0"/>
        <a:buChar char="•"/>
        <a:defRPr sz="1400" b="1" kern="1200">
          <a:solidFill>
            <a:schemeClr val="tx1"/>
          </a:solidFill>
          <a:latin typeface="Arial" charset="0"/>
          <a:ea typeface="Arial" charset="0"/>
          <a:cs typeface="Arial" charset="0"/>
        </a:defRPr>
      </a:lvl3pPr>
      <a:lvl4pPr marL="90000" indent="-9000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Arial" charset="0"/>
          <a:ea typeface="Arial" charset="0"/>
          <a:cs typeface="Arial" charset="0"/>
        </a:defRPr>
      </a:lvl4pPr>
      <a:lvl5pPr marL="90000" indent="-90000" algn="l" defTabSz="685800" rtl="0" eaLnBrk="1" latinLnBrk="0" hangingPunct="1">
        <a:lnSpc>
          <a:spcPct val="90000"/>
        </a:lnSpc>
        <a:spcBef>
          <a:spcPts val="375"/>
        </a:spcBef>
        <a:buFont typeface="Arial" panose="020B0604020202020204" pitchFamily="34" charset="0"/>
        <a:buChar char="•"/>
        <a:defRPr sz="10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emima.stockton@ucl.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ucl.ac.uk/epidemiology-health-care/research/epidemiology-and-public-health/research/health-and-social-surveys-research-group/studies-1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nms.kcl.ac.uk/john.armstrong/openletters/letter.php?campaign=future_of_population_statistic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ons.gov.uk/news/news/haveyoursayonthefutureofpopulationandmigrationstatistic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gov.uk/government/collections/transport-statistics-great-britain"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13.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3.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hart" Target="../charts/chart5.xml"/><Relationship Id="rId7" Type="http://schemas.openxmlformats.org/officeDocument/2006/relationships/image" Target="../media/image11.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hart" Target="../charts/chart7.xml"/><Relationship Id="rId4" Type="http://schemas.openxmlformats.org/officeDocument/2006/relationships/chart" Target="../charts/chart6.xml"/><Relationship Id="rId9"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image" Target="../media/image13.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7" Type="http://schemas.openxmlformats.org/officeDocument/2006/relationships/image" Target="../media/image13.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chart" Target="../charts/chart10.xml"/><Relationship Id="rId7" Type="http://schemas.openxmlformats.org/officeDocument/2006/relationships/image" Target="../media/image13.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hart" Target="../charts/chart11.xml"/><Relationship Id="rId7" Type="http://schemas.openxmlformats.org/officeDocument/2006/relationships/image" Target="../media/image11.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hart" Target="../charts/chart13.xml"/><Relationship Id="rId4" Type="http://schemas.openxmlformats.org/officeDocument/2006/relationships/chart" Target="../charts/chart12.xml"/><Relationship Id="rId9"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hyperlink" Target="https://www.sciencedirect.com/science/article/abs/pii/S0272494407000898"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sciencedirect.com/science/article/pii/S0965856416303871"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4.gif"/><Relationship Id="rId4" Type="http://schemas.openxmlformats.org/officeDocument/2006/relationships/hyperlink" Target="https://bmcpublichealth.biomedcentral.com/articles/10.1186/s12889-016-3012-2"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 name="Text Placeholder 12"/>
          <p:cNvSpPr>
            <a:spLocks noGrp="1"/>
          </p:cNvSpPr>
          <p:nvPr>
            <p:ph type="body" sz="quarter" idx="12"/>
          </p:nvPr>
        </p:nvSpPr>
        <p:spPr>
          <a:xfrm>
            <a:off x="287999" y="217733"/>
            <a:ext cx="6788662" cy="368676"/>
          </a:xfrm>
        </p:spPr>
        <p:txBody>
          <a:bodyPr/>
          <a:lstStyle/>
          <a:p>
            <a:r>
              <a:rPr lang="en-GB" sz="2400" dirty="0">
                <a:latin typeface="Arial" panose="020B0604020202020204" pitchFamily="34" charset="0"/>
                <a:cs typeface="Arial" panose="020B0604020202020204" pitchFamily="34" charset="0"/>
              </a:rPr>
              <a:t>UCL Epidemiology and Public Health</a:t>
            </a:r>
          </a:p>
        </p:txBody>
      </p:sp>
      <p:sp>
        <p:nvSpPr>
          <p:cNvPr id="2" name="TextBox 1">
            <a:extLst>
              <a:ext uri="{FF2B5EF4-FFF2-40B4-BE49-F238E27FC236}">
                <a16:creationId xmlns:a16="http://schemas.microsoft.com/office/drawing/2014/main" id="{978BD887-DDC6-D31E-D93B-ACD6BF51BCAE}"/>
              </a:ext>
            </a:extLst>
          </p:cNvPr>
          <p:cNvSpPr txBox="1"/>
          <p:nvPr/>
        </p:nvSpPr>
        <p:spPr>
          <a:xfrm>
            <a:off x="108163" y="1408699"/>
            <a:ext cx="8927674" cy="3939540"/>
          </a:xfrm>
          <a:prstGeom prst="rect">
            <a:avLst/>
          </a:prstGeom>
          <a:noFill/>
        </p:spPr>
        <p:txBody>
          <a:bodyPr wrap="square" rtlCol="0">
            <a:spAutoFit/>
          </a:bodyPr>
          <a:lstStyle/>
          <a:p>
            <a:pPr marL="0" lvl="5" indent="0" algn="ctr">
              <a:lnSpc>
                <a:spcPct val="160000"/>
              </a:lnSpc>
              <a:buNone/>
              <a:defRPr/>
            </a:pPr>
            <a:r>
              <a:rPr lang="en-GB" sz="2800" dirty="0">
                <a:latin typeface="Arial" panose="020B0604020202020204" pitchFamily="34" charset="0"/>
                <a:cs typeface="Arial" panose="020B0604020202020204" pitchFamily="34" charset="0"/>
              </a:rPr>
              <a:t>Scrapping the decennial census of England &amp; Wales: </a:t>
            </a:r>
          </a:p>
          <a:p>
            <a:pPr marL="0" lvl="5" indent="0" algn="ctr">
              <a:lnSpc>
                <a:spcPct val="160000"/>
              </a:lnSpc>
              <a:buNone/>
              <a:defRPr/>
            </a:pPr>
            <a:r>
              <a:rPr lang="en-GB" sz="2800" i="1" dirty="0">
                <a:latin typeface="Arial" panose="020B0604020202020204" pitchFamily="34" charset="0"/>
                <a:cs typeface="Arial" panose="020B0604020202020204" pitchFamily="34" charset="0"/>
              </a:rPr>
              <a:t>The end of the road for tracking commuters?</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a:p>
            <a:pPr marL="0" lvl="5" indent="0" algn="ctr">
              <a:lnSpc>
                <a:spcPct val="160000"/>
              </a:lnSpc>
              <a:buNone/>
              <a:defRPr/>
            </a:pPr>
            <a:endParaRPr lang="en-US" sz="1600" dirty="0">
              <a:latin typeface="Arial" panose="020B0604020202020204" pitchFamily="34" charset="0"/>
              <a:cs typeface="Arial" panose="020B0604020202020204" pitchFamily="34" charset="0"/>
            </a:endParaRPr>
          </a:p>
          <a:p>
            <a:pPr marL="0" lvl="5" indent="0">
              <a:buNone/>
              <a:defRPr/>
            </a:pPr>
            <a:r>
              <a:rPr lang="en-GB" sz="1600" dirty="0">
                <a:latin typeface="Arial" panose="020B0604020202020204" pitchFamily="34" charset="0"/>
                <a:cs typeface="Arial" panose="020B0604020202020204" pitchFamily="34" charset="0"/>
              </a:rPr>
              <a:t>Dr Jemima Stockton</a:t>
            </a:r>
            <a:r>
              <a:rPr lang="en-GB" sz="1600" baseline="30000" dirty="0">
                <a:latin typeface="Arial" panose="020B0604020202020204" pitchFamily="34" charset="0"/>
                <a:cs typeface="Arial" panose="020B0604020202020204" pitchFamily="34" charset="0"/>
              </a:rPr>
              <a:t>1</a:t>
            </a:r>
            <a:r>
              <a:rPr lang="en-GB"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hlinkClick r:id="rId3"/>
              </a:rPr>
              <a:t>jemima.stockton@ucl.ac.uk</a:t>
            </a:r>
            <a:r>
              <a:rPr lang="en-GB" sz="1600" dirty="0">
                <a:latin typeface="Arial" panose="020B0604020202020204" pitchFamily="34" charset="0"/>
                <a:cs typeface="Arial" panose="020B0604020202020204" pitchFamily="34" charset="0"/>
              </a:rPr>
              <a:t>) &amp; Professor Oli Duke-Williams</a:t>
            </a:r>
            <a:r>
              <a:rPr lang="en-GB" sz="1600" baseline="30000" dirty="0">
                <a:latin typeface="Arial" panose="020B0604020202020204" pitchFamily="34" charset="0"/>
                <a:cs typeface="Arial" panose="020B0604020202020204" pitchFamily="34" charset="0"/>
              </a:rPr>
              <a:t>2</a:t>
            </a:r>
          </a:p>
          <a:p>
            <a:pPr marL="0" lvl="5" indent="0">
              <a:buNone/>
              <a:defRPr/>
            </a:pP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1. UCL Epidemiology and Public Health</a:t>
            </a:r>
          </a:p>
          <a:p>
            <a:pPr marL="0" lvl="5" indent="0">
              <a:buNone/>
              <a:defRPr/>
            </a:pPr>
            <a:r>
              <a:rPr lang="en-GB" sz="1600" dirty="0">
                <a:latin typeface="Arial" panose="020B0604020202020204" pitchFamily="34" charset="0"/>
                <a:cs typeface="Arial" panose="020B0604020202020204" pitchFamily="34" charset="0"/>
              </a:rPr>
              <a:t>2. UCL Department of Information Studies</a:t>
            </a:r>
          </a:p>
          <a:p>
            <a:pPr marL="0" lvl="5" indent="0">
              <a:buNone/>
              <a:defRPr/>
            </a:pPr>
            <a:r>
              <a:rPr lang="en-GB" sz="1000" dirty="0">
                <a:latin typeface="Arial" panose="020B0604020202020204" pitchFamily="34" charset="0"/>
                <a:cs typeface="Arial" panose="020B0604020202020204" pitchFamily="34" charset="0"/>
                <a:hlinkClick r:id="rId4"/>
              </a:rPr>
              <a:t>https://www.ucl.ac.uk/epidemiology-health-care/research/epidemiology-and-public-health/research/health-and-social-surveys-research-group/studies-10</a:t>
            </a:r>
            <a:r>
              <a:rPr lang="en-GB" sz="1000" dirty="0">
                <a:latin typeface="Arial" panose="020B0604020202020204" pitchFamily="34" charset="0"/>
                <a:cs typeface="Arial" panose="020B0604020202020204" pitchFamily="34" charset="0"/>
              </a:rPr>
              <a:t> </a:t>
            </a:r>
          </a:p>
          <a:p>
            <a:pPr marL="0" lvl="5" indent="0">
              <a:buNone/>
              <a:defRPr/>
            </a:pPr>
            <a:endParaRPr lang="en-GB"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7758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2"/>
          </p:nvPr>
        </p:nvSpPr>
        <p:spPr>
          <a:xfrm>
            <a:off x="287999" y="217733"/>
            <a:ext cx="6788662" cy="368676"/>
          </a:xfrm>
        </p:spPr>
        <p:txBody>
          <a:bodyPr/>
          <a:lstStyle/>
          <a:p>
            <a:r>
              <a:rPr lang="en-GB" sz="2400" dirty="0">
                <a:latin typeface="Arial" panose="020B0604020202020204" pitchFamily="34" charset="0"/>
                <a:cs typeface="Arial" panose="020B0604020202020204" pitchFamily="34" charset="0"/>
              </a:rPr>
              <a:t>UCL Epidemiology and Public Health</a:t>
            </a:r>
          </a:p>
        </p:txBody>
      </p:sp>
      <p:pic>
        <p:nvPicPr>
          <p:cNvPr id="4" name="Picture 3" descr="A map of the world with a red circle&#10;&#10;Description automatically generated">
            <a:extLst>
              <a:ext uri="{FF2B5EF4-FFF2-40B4-BE49-F238E27FC236}">
                <a16:creationId xmlns:a16="http://schemas.microsoft.com/office/drawing/2014/main" id="{D5ED6459-B7B5-CA24-A250-B33DD25F29D4}"/>
              </a:ext>
            </a:extLst>
          </p:cNvPr>
          <p:cNvPicPr>
            <a:picLocks noChangeAspect="1"/>
          </p:cNvPicPr>
          <p:nvPr/>
        </p:nvPicPr>
        <p:blipFill>
          <a:blip r:embed="rId3"/>
          <a:stretch>
            <a:fillRect/>
          </a:stretch>
        </p:blipFill>
        <p:spPr>
          <a:xfrm>
            <a:off x="0" y="-171720"/>
            <a:ext cx="9143999" cy="5452170"/>
          </a:xfrm>
          <a:prstGeom prst="rect">
            <a:avLst/>
          </a:prstGeom>
        </p:spPr>
      </p:pic>
      <p:sp>
        <p:nvSpPr>
          <p:cNvPr id="5" name="Oval 4">
            <a:extLst>
              <a:ext uri="{FF2B5EF4-FFF2-40B4-BE49-F238E27FC236}">
                <a16:creationId xmlns:a16="http://schemas.microsoft.com/office/drawing/2014/main" id="{6525F75E-0830-E48A-B7CB-E0E775F9D126}"/>
              </a:ext>
            </a:extLst>
          </p:cNvPr>
          <p:cNvSpPr>
            <a:spLocks noChangeAspect="1"/>
          </p:cNvSpPr>
          <p:nvPr/>
        </p:nvSpPr>
        <p:spPr>
          <a:xfrm>
            <a:off x="2706253" y="1388153"/>
            <a:ext cx="511839" cy="5118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cxnSp>
        <p:nvCxnSpPr>
          <p:cNvPr id="16" name="Straight Arrow Connector 15">
            <a:extLst>
              <a:ext uri="{FF2B5EF4-FFF2-40B4-BE49-F238E27FC236}">
                <a16:creationId xmlns:a16="http://schemas.microsoft.com/office/drawing/2014/main" id="{83218D30-02AC-C03F-083F-DBC69034A07B}"/>
              </a:ext>
            </a:extLst>
          </p:cNvPr>
          <p:cNvCxnSpPr>
            <a:cxnSpLocks/>
          </p:cNvCxnSpPr>
          <p:nvPr/>
        </p:nvCxnSpPr>
        <p:spPr>
          <a:xfrm flipH="1" flipV="1">
            <a:off x="4571999" y="1505527"/>
            <a:ext cx="526474" cy="504373"/>
          </a:xfrm>
          <a:prstGeom prst="straightConnector1">
            <a:avLst/>
          </a:prstGeom>
          <a:ln w="603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8AB980F-B4E1-4298-7772-FCF1A245C222}"/>
              </a:ext>
            </a:extLst>
          </p:cNvPr>
          <p:cNvSpPr txBox="1"/>
          <p:nvPr/>
        </p:nvSpPr>
        <p:spPr>
          <a:xfrm>
            <a:off x="4197924" y="2009900"/>
            <a:ext cx="2878738" cy="646331"/>
          </a:xfrm>
          <a:prstGeom prst="rect">
            <a:avLst/>
          </a:prstGeom>
          <a:solidFill>
            <a:srgbClr val="B2E2ED"/>
          </a:solidFill>
        </p:spPr>
        <p:txBody>
          <a:bodyPr wrap="square" rtlCol="0">
            <a:spAutoFit/>
          </a:bodyPr>
          <a:lstStyle/>
          <a:p>
            <a:r>
              <a:rPr lang="en-GB" dirty="0"/>
              <a:t>United Kingdom </a:t>
            </a:r>
          </a:p>
          <a:p>
            <a:r>
              <a:rPr lang="en-GB" dirty="0"/>
              <a:t>(including England &amp; Wales)</a:t>
            </a:r>
          </a:p>
        </p:txBody>
      </p:sp>
      <p:sp>
        <p:nvSpPr>
          <p:cNvPr id="24" name="Oval 23">
            <a:extLst>
              <a:ext uri="{FF2B5EF4-FFF2-40B4-BE49-F238E27FC236}">
                <a16:creationId xmlns:a16="http://schemas.microsoft.com/office/drawing/2014/main" id="{590855EF-CF27-AC71-1336-59697B074EC3}"/>
              </a:ext>
            </a:extLst>
          </p:cNvPr>
          <p:cNvSpPr/>
          <p:nvPr/>
        </p:nvSpPr>
        <p:spPr>
          <a:xfrm>
            <a:off x="2504972" y="1186872"/>
            <a:ext cx="914400" cy="914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NS</a:t>
            </a:r>
          </a:p>
        </p:txBody>
      </p:sp>
      <p:sp>
        <p:nvSpPr>
          <p:cNvPr id="25" name="TextBox 24">
            <a:extLst>
              <a:ext uri="{FF2B5EF4-FFF2-40B4-BE49-F238E27FC236}">
                <a16:creationId xmlns:a16="http://schemas.microsoft.com/office/drawing/2014/main" id="{A0588075-BAC1-08C3-4B52-48350ADF1CE4}"/>
              </a:ext>
            </a:extLst>
          </p:cNvPr>
          <p:cNvSpPr txBox="1"/>
          <p:nvPr/>
        </p:nvSpPr>
        <p:spPr>
          <a:xfrm>
            <a:off x="6268296" y="4997435"/>
            <a:ext cx="2778196" cy="276999"/>
          </a:xfrm>
          <a:prstGeom prst="rect">
            <a:avLst/>
          </a:prstGeom>
          <a:noFill/>
        </p:spPr>
        <p:txBody>
          <a:bodyPr wrap="none" rtlCol="0">
            <a:spAutoFit/>
          </a:bodyPr>
          <a:lstStyle/>
          <a:p>
            <a:r>
              <a:rPr lang="en-GB" sz="1200" dirty="0"/>
              <a:t>Source: https://www.freeworldmaps.net/</a:t>
            </a:r>
          </a:p>
        </p:txBody>
      </p:sp>
    </p:spTree>
    <p:extLst>
      <p:ext uri="{BB962C8B-B14F-4D97-AF65-F5344CB8AC3E}">
        <p14:creationId xmlns:p14="http://schemas.microsoft.com/office/powerpoint/2010/main" val="2678330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09442491-3AB0-884A-92D7-717DB2185C1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Census of England &amp; Wales</a:t>
            </a:r>
          </a:p>
        </p:txBody>
      </p:sp>
      <p:sp>
        <p:nvSpPr>
          <p:cNvPr id="8" name="TextBox 7">
            <a:extLst>
              <a:ext uri="{FF2B5EF4-FFF2-40B4-BE49-F238E27FC236}">
                <a16:creationId xmlns:a16="http://schemas.microsoft.com/office/drawing/2014/main" id="{AD32E874-3D83-11F7-CDF9-7BAF2F264E70}"/>
              </a:ext>
            </a:extLst>
          </p:cNvPr>
          <p:cNvSpPr txBox="1"/>
          <p:nvPr/>
        </p:nvSpPr>
        <p:spPr>
          <a:xfrm>
            <a:off x="83128" y="761038"/>
            <a:ext cx="9060872" cy="4247317"/>
          </a:xfrm>
          <a:prstGeom prst="rect">
            <a:avLst/>
          </a:prstGeom>
          <a:noFill/>
        </p:spPr>
        <p:txBody>
          <a:bodyPr wrap="square">
            <a:spAutoFit/>
          </a:bodyPr>
          <a:lstStyle/>
          <a:p>
            <a:pPr marL="285750" indent="-285750" algn="l">
              <a:buFont typeface="Arial" panose="020B0604020202020204" pitchFamily="34" charset="0"/>
              <a:buChar char="•"/>
            </a:pPr>
            <a:r>
              <a:rPr lang="en-GB" dirty="0">
                <a:solidFill>
                  <a:srgbClr val="242424"/>
                </a:solidFill>
                <a:latin typeface="Arial" panose="020B0604020202020204" pitchFamily="34" charset="0"/>
                <a:cs typeface="Arial" panose="020B0604020202020204" pitchFamily="34" charset="0"/>
              </a:rPr>
              <a:t>C</a:t>
            </a:r>
            <a:r>
              <a:rPr lang="en-GB" b="0" i="0" dirty="0">
                <a:solidFill>
                  <a:srgbClr val="242424"/>
                </a:solidFill>
                <a:effectLst/>
                <a:latin typeface="Arial" panose="020B0604020202020204" pitchFamily="34" charset="0"/>
                <a:cs typeface="Arial" panose="020B0604020202020204" pitchFamily="34" charset="0"/>
              </a:rPr>
              <a:t>ensus =  a count of all people in a population, serving as basis </a:t>
            </a:r>
            <a:r>
              <a:rPr lang="en-GB" sz="1800" dirty="0">
                <a:effectLst/>
                <a:latin typeface="Arial" panose="020B0604020202020204" pitchFamily="34" charset="0"/>
                <a:ea typeface="Calibri" panose="020F0502020204030204" pitchFamily="34" charset="0"/>
                <a:cs typeface="Arial" panose="020B0604020202020204" pitchFamily="34" charset="0"/>
              </a:rPr>
              <a:t>for calculation of resource allocation across areas </a:t>
            </a:r>
          </a:p>
          <a:p>
            <a:pPr algn="l"/>
            <a:endParaRPr lang="en-GB" b="0" i="0" dirty="0">
              <a:solidFill>
                <a:srgbClr val="242424"/>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GB" sz="1800" dirty="0">
                <a:effectLst/>
                <a:latin typeface="Arial" panose="020B0604020202020204" pitchFamily="34" charset="0"/>
                <a:ea typeface="Calibri" panose="020F0502020204030204" pitchFamily="34" charset="0"/>
                <a:cs typeface="Arial" panose="020B0604020202020204" pitchFamily="34" charset="0"/>
              </a:rPr>
              <a:t>First census of E&amp;W in 1801; every 10 years since; increasingly detailed</a:t>
            </a:r>
          </a:p>
          <a:p>
            <a:pPr marL="285750" indent="-285750" algn="l">
              <a:buFont typeface="Arial" panose="020B0604020202020204" pitchFamily="34" charset="0"/>
              <a:buChar char="•"/>
            </a:pPr>
            <a:endParaRPr lang="en-GB" dirty="0">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ea typeface="Calibri" panose="020F0502020204030204" pitchFamily="34" charset="0"/>
                <a:cs typeface="Arial" panose="020B0604020202020204" pitchFamily="34" charset="0"/>
              </a:rPr>
              <a:t>Was the 2021 census the last?</a:t>
            </a:r>
          </a:p>
          <a:p>
            <a:pPr marL="742950" lvl="1" indent="-285750">
              <a:buFont typeface="Wingdings" panose="05000000000000000000" pitchFamily="2" charset="2"/>
              <a:buChar char="Ø"/>
            </a:pPr>
            <a:r>
              <a:rPr lang="en-GB" dirty="0">
                <a:latin typeface="Arial" panose="020B0604020202020204" pitchFamily="34" charset="0"/>
                <a:ea typeface="Calibri" panose="020F0502020204030204" pitchFamily="34" charset="0"/>
                <a:cs typeface="Arial" panose="020B0604020202020204" pitchFamily="34" charset="0"/>
              </a:rPr>
              <a:t>2021 census of E&amp;W cost:                                          £900,000,000</a:t>
            </a:r>
          </a:p>
          <a:p>
            <a:pPr marL="742950" lvl="1" indent="-285750">
              <a:buFont typeface="Wingdings" panose="05000000000000000000" pitchFamily="2" charset="2"/>
              <a:buChar char="Ø"/>
            </a:pPr>
            <a:r>
              <a:rPr lang="en-GB" dirty="0">
                <a:latin typeface="Arial" panose="020B0604020202020204" pitchFamily="34" charset="0"/>
                <a:ea typeface="Calibri" panose="020F0502020204030204" pitchFamily="34" charset="0"/>
                <a:cs typeface="Arial" panose="020B0604020202020204" pitchFamily="34" charset="0"/>
              </a:rPr>
              <a:t>2023/24 UK government annual deficit:               £121,000,000,000 (≈4.4%GDP)</a:t>
            </a:r>
            <a:endParaRPr lang="en-GB" dirty="0">
              <a:effectLst/>
              <a:latin typeface="Arial" panose="020B0604020202020204" pitchFamily="34" charset="0"/>
              <a:ea typeface="Calibri" panose="020F0502020204030204" pitchFamily="34" charset="0"/>
              <a:cs typeface="Arial" panose="020B0604020202020204" pitchFamily="34" charset="0"/>
            </a:endParaRPr>
          </a:p>
          <a:p>
            <a:pPr marL="285750" indent="-285750" algn="l">
              <a:buFont typeface="Arial" panose="020B0604020202020204" pitchFamily="34" charset="0"/>
              <a:buChar char="•"/>
            </a:pPr>
            <a:endParaRPr lang="en-GB" dirty="0">
              <a:latin typeface="Arial" panose="020B0604020202020204" pitchFamily="34" charset="0"/>
              <a:ea typeface="Calibri" panose="020F0502020204030204" pitchFamily="34" charset="0"/>
              <a:cs typeface="Arial" panose="020B0604020202020204" pitchFamily="34" charset="0"/>
            </a:endParaRPr>
          </a:p>
          <a:p>
            <a:pPr algn="l"/>
            <a:endParaRPr lang="en-GB" dirty="0">
              <a:latin typeface="Arial" panose="020B0604020202020204" pitchFamily="34" charset="0"/>
              <a:ea typeface="Calibri" panose="020F0502020204030204" pitchFamily="34" charset="0"/>
              <a:cs typeface="Arial" panose="020B0604020202020204" pitchFamily="34" charset="0"/>
            </a:endParaRPr>
          </a:p>
          <a:p>
            <a:pPr marL="742950" lvl="1" indent="-285750">
              <a:buFont typeface="Arial" panose="020B0604020202020204" pitchFamily="34" charset="0"/>
              <a:buChar char="•"/>
            </a:pPr>
            <a:r>
              <a:rPr lang="en-GB" b="1" dirty="0">
                <a:latin typeface="Arial" panose="020B0604020202020204" pitchFamily="34" charset="0"/>
                <a:ea typeface="Calibri" panose="020F0502020204030204" pitchFamily="34" charset="0"/>
                <a:cs typeface="Arial" panose="020B0604020202020204" pitchFamily="34" charset="0"/>
              </a:rPr>
              <a:t>National Statistician: </a:t>
            </a:r>
            <a:r>
              <a:rPr lang="en-GB" i="1" dirty="0">
                <a:latin typeface="Arial" panose="020B0604020202020204" pitchFamily="34" charset="0"/>
                <a:ea typeface="Calibri" panose="020F0502020204030204" pitchFamily="34" charset="0"/>
                <a:cs typeface="Arial" panose="020B0604020202020204" pitchFamily="34" charset="0"/>
              </a:rPr>
              <a:t>“We have reached a point where a serious question can be asked about the role the census plays in our statistical system”</a:t>
            </a:r>
          </a:p>
          <a:p>
            <a:pPr marL="742950" lvl="1" indent="-285750">
              <a:buFont typeface="Arial" panose="020B0604020202020204" pitchFamily="34" charset="0"/>
              <a:buChar char="•"/>
            </a:pPr>
            <a:endParaRPr lang="en-GB" dirty="0">
              <a:latin typeface="Arial" panose="020B0604020202020204" pitchFamily="34" charset="0"/>
              <a:ea typeface="Calibri" panose="020F0502020204030204" pitchFamily="34" charset="0"/>
              <a:cs typeface="Arial" panose="020B0604020202020204" pitchFamily="34" charset="0"/>
            </a:endParaRPr>
          </a:p>
          <a:p>
            <a:pPr marL="742950" lvl="1" indent="-285750">
              <a:buFont typeface="Arial" panose="020B0604020202020204" pitchFamily="34" charset="0"/>
              <a:buChar char="•"/>
            </a:pPr>
            <a:r>
              <a:rPr lang="en-GB" b="1" dirty="0">
                <a:latin typeface="Arial" panose="020B0604020202020204" pitchFamily="34" charset="0"/>
                <a:ea typeface="Calibri" panose="020F0502020204030204" pitchFamily="34" charset="0"/>
                <a:cs typeface="Arial" panose="020B0604020202020204" pitchFamily="34" charset="0"/>
              </a:rPr>
              <a:t>Critics: </a:t>
            </a:r>
            <a:r>
              <a:rPr lang="en-GB" i="1" dirty="0">
                <a:latin typeface="Arial" panose="020B0604020202020204" pitchFamily="34" charset="0"/>
                <a:ea typeface="Calibri" panose="020F0502020204030204" pitchFamily="34" charset="0"/>
                <a:cs typeface="Arial" panose="020B0604020202020204" pitchFamily="34" charset="0"/>
              </a:rPr>
              <a:t>“[it will be replaced] with an untested patchwork of administrative data and surveys</a:t>
            </a:r>
            <a:endParaRPr lang="en-GB" b="0" i="0" dirty="0">
              <a:solidFill>
                <a:srgbClr val="242424"/>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72EC6EB-601C-E0E9-349A-141097E144B1}"/>
              </a:ext>
            </a:extLst>
          </p:cNvPr>
          <p:cNvSpPr txBox="1"/>
          <p:nvPr/>
        </p:nvSpPr>
        <p:spPr>
          <a:xfrm>
            <a:off x="3499274" y="4804490"/>
            <a:ext cx="5895474" cy="246221"/>
          </a:xfrm>
          <a:prstGeom prst="rect">
            <a:avLst/>
          </a:prstGeom>
          <a:noFill/>
        </p:spPr>
        <p:txBody>
          <a:bodyPr wrap="square">
            <a:spAutoFit/>
          </a:bodyPr>
          <a:lstStyle/>
          <a:p>
            <a:r>
              <a:rPr lang="en-GB" sz="1000" dirty="0">
                <a:hlinkClick r:id="rId3"/>
              </a:rPr>
              <a:t>https://nms.kcl.ac.uk/john.armstrong/openletters/letter.php?campaign=future_of_population_statistics</a:t>
            </a:r>
            <a:endParaRPr lang="en-GB" sz="1000" dirty="0"/>
          </a:p>
        </p:txBody>
      </p:sp>
      <p:sp>
        <p:nvSpPr>
          <p:cNvPr id="5" name="TextBox 4">
            <a:extLst>
              <a:ext uri="{FF2B5EF4-FFF2-40B4-BE49-F238E27FC236}">
                <a16:creationId xmlns:a16="http://schemas.microsoft.com/office/drawing/2014/main" id="{FDEF83BC-B232-D2A8-3BBC-8B3604761062}"/>
              </a:ext>
            </a:extLst>
          </p:cNvPr>
          <p:cNvSpPr txBox="1"/>
          <p:nvPr/>
        </p:nvSpPr>
        <p:spPr>
          <a:xfrm>
            <a:off x="3833151" y="4050177"/>
            <a:ext cx="5227721" cy="246221"/>
          </a:xfrm>
          <a:prstGeom prst="rect">
            <a:avLst/>
          </a:prstGeom>
          <a:noFill/>
        </p:spPr>
        <p:txBody>
          <a:bodyPr wrap="square">
            <a:spAutoFit/>
          </a:bodyPr>
          <a:lstStyle/>
          <a:p>
            <a:r>
              <a:rPr lang="en-GB" sz="1000" dirty="0">
                <a:hlinkClick r:id="rId4"/>
              </a:rPr>
              <a:t>https://www.ons.gov.uk/news/news/haveyoursayonthefutureofpopulationandmigrationstatistics</a:t>
            </a:r>
            <a:r>
              <a:rPr lang="en-GB" sz="1000" dirty="0"/>
              <a:t> </a:t>
            </a:r>
          </a:p>
        </p:txBody>
      </p:sp>
    </p:spTree>
    <p:extLst>
      <p:ext uri="{BB962C8B-B14F-4D97-AF65-F5344CB8AC3E}">
        <p14:creationId xmlns:p14="http://schemas.microsoft.com/office/powerpoint/2010/main" val="180610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09442491-3AB0-884A-92D7-717DB2185C1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ONS Longitudinal Study (LS)</a:t>
            </a:r>
          </a:p>
        </p:txBody>
      </p:sp>
      <p:sp>
        <p:nvSpPr>
          <p:cNvPr id="8" name="TextBox 7">
            <a:extLst>
              <a:ext uri="{FF2B5EF4-FFF2-40B4-BE49-F238E27FC236}">
                <a16:creationId xmlns:a16="http://schemas.microsoft.com/office/drawing/2014/main" id="{AD32E874-3D83-11F7-CDF9-7BAF2F264E70}"/>
              </a:ext>
            </a:extLst>
          </p:cNvPr>
          <p:cNvSpPr txBox="1"/>
          <p:nvPr/>
        </p:nvSpPr>
        <p:spPr>
          <a:xfrm>
            <a:off x="36093" y="705105"/>
            <a:ext cx="9107907" cy="3884397"/>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GB" b="0" i="0" dirty="0">
                <a:solidFill>
                  <a:srgbClr val="242424"/>
                </a:solidFill>
                <a:effectLst/>
                <a:latin typeface="Arial" panose="020B0604020202020204" pitchFamily="34" charset="0"/>
              </a:rPr>
              <a:t>Contains linked census &amp; life events data for 1% sample of E</a:t>
            </a:r>
            <a:r>
              <a:rPr lang="en-GB" dirty="0">
                <a:solidFill>
                  <a:srgbClr val="242424"/>
                </a:solidFill>
                <a:latin typeface="Arial" panose="020B0604020202020204" pitchFamily="34" charset="0"/>
              </a:rPr>
              <a:t>&amp;W pop</a:t>
            </a:r>
            <a:endParaRPr lang="en-GB" b="0" i="0" dirty="0">
              <a:solidFill>
                <a:srgbClr val="242424"/>
              </a:solidFill>
              <a:effectLst/>
              <a:latin typeface="Arial" panose="020B0604020202020204" pitchFamily="34" charset="0"/>
            </a:endParaRPr>
          </a:p>
          <a:p>
            <a:pPr marL="285750" indent="-285750" algn="l">
              <a:lnSpc>
                <a:spcPct val="200000"/>
              </a:lnSpc>
              <a:buFont typeface="Arial" panose="020B0604020202020204" pitchFamily="34" charset="0"/>
              <a:buChar char="•"/>
            </a:pPr>
            <a:r>
              <a:rPr lang="en-GB" b="0" dirty="0">
                <a:solidFill>
                  <a:srgbClr val="3C4245"/>
                </a:solidFill>
                <a:effectLst/>
                <a:latin typeface="Arial" panose="020B0604020202020204" pitchFamily="34" charset="0"/>
              </a:rPr>
              <a:t>Members selected if birthday falls on one of four days in year (</a:t>
            </a:r>
            <a:r>
              <a:rPr lang="en-GB" b="0" dirty="0" err="1">
                <a:solidFill>
                  <a:srgbClr val="3C4245"/>
                </a:solidFill>
                <a:effectLst/>
                <a:latin typeface="Arial" panose="020B0604020202020204" pitchFamily="34" charset="0"/>
              </a:rPr>
              <a:t>ie</a:t>
            </a:r>
            <a:r>
              <a:rPr lang="en-GB" b="0" dirty="0">
                <a:solidFill>
                  <a:srgbClr val="3C4245"/>
                </a:solidFill>
                <a:effectLst/>
                <a:latin typeface="Arial" panose="020B0604020202020204" pitchFamily="34" charset="0"/>
              </a:rPr>
              <a:t>. 4/365 = 1% of pop)</a:t>
            </a:r>
          </a:p>
          <a:p>
            <a:pPr marL="285750" indent="-285750" algn="l">
              <a:lnSpc>
                <a:spcPct val="200000"/>
              </a:lnSpc>
              <a:buFont typeface="Arial" panose="020B0604020202020204" pitchFamily="34" charset="0"/>
              <a:buChar char="•"/>
            </a:pPr>
            <a:r>
              <a:rPr lang="en-GB" b="0" dirty="0">
                <a:solidFill>
                  <a:srgbClr val="3C4245"/>
                </a:solidFill>
                <a:effectLst/>
                <a:latin typeface="Arial" panose="020B0604020202020204" pitchFamily="34" charset="0"/>
              </a:rPr>
              <a:t>Individuals’ census forms linked from 1971 to 2011 </a:t>
            </a:r>
          </a:p>
          <a:p>
            <a:pPr marL="742950" lvl="1" indent="-285750">
              <a:lnSpc>
                <a:spcPct val="200000"/>
              </a:lnSpc>
              <a:buFont typeface="Wingdings" panose="05000000000000000000" pitchFamily="2" charset="2"/>
              <a:buChar char="Ø"/>
            </a:pPr>
            <a:r>
              <a:rPr lang="en-GB" b="0" dirty="0">
                <a:solidFill>
                  <a:srgbClr val="3C4245"/>
                </a:solidFill>
                <a:effectLst/>
                <a:latin typeface="Arial" panose="020B0604020202020204" pitchFamily="34" charset="0"/>
              </a:rPr>
              <a:t>allows individuals to be tracked over time</a:t>
            </a:r>
          </a:p>
          <a:p>
            <a:pPr marL="285750" indent="-285750" algn="l">
              <a:lnSpc>
                <a:spcPct val="200000"/>
              </a:lnSpc>
              <a:buFont typeface="Arial" panose="020B0604020202020204" pitchFamily="34" charset="0"/>
              <a:buChar char="•"/>
            </a:pPr>
            <a:r>
              <a:rPr lang="en-GB" i="1" dirty="0">
                <a:solidFill>
                  <a:srgbClr val="3C4245"/>
                </a:solidFill>
                <a:latin typeface="Arial" panose="020B0604020202020204" pitchFamily="34" charset="0"/>
              </a:rPr>
              <a:t>2021 </a:t>
            </a:r>
            <a:r>
              <a:rPr lang="en-GB" i="1" dirty="0">
                <a:solidFill>
                  <a:srgbClr val="3C4245"/>
                </a:solidFill>
                <a:effectLst/>
                <a:latin typeface="Arial" panose="020B0604020202020204" pitchFamily="34" charset="0"/>
              </a:rPr>
              <a:t>census data </a:t>
            </a:r>
            <a:r>
              <a:rPr lang="en-GB" i="1" dirty="0">
                <a:solidFill>
                  <a:srgbClr val="3C4245"/>
                </a:solidFill>
                <a:latin typeface="Arial" panose="020B0604020202020204" pitchFamily="34" charset="0"/>
              </a:rPr>
              <a:t>expected to be linked to ONS LS soon</a:t>
            </a:r>
          </a:p>
          <a:p>
            <a:pPr marL="285750" indent="-285750" algn="l">
              <a:lnSpc>
                <a:spcPct val="200000"/>
              </a:lnSpc>
              <a:buFont typeface="Arial" panose="020B0604020202020204" pitchFamily="34" charset="0"/>
              <a:buChar char="•"/>
            </a:pPr>
            <a:r>
              <a:rPr lang="en-GB" dirty="0">
                <a:solidFill>
                  <a:srgbClr val="3C4245"/>
                </a:solidFill>
                <a:latin typeface="Arial" panose="020B0604020202020204" pitchFamily="34" charset="0"/>
              </a:rPr>
              <a:t>No more censuses (???)</a:t>
            </a:r>
            <a:r>
              <a:rPr lang="en-GB" dirty="0">
                <a:solidFill>
                  <a:srgbClr val="3C4245"/>
                </a:solidFill>
                <a:latin typeface="Arial" panose="020B0604020202020204" pitchFamily="34" charset="0"/>
                <a:cs typeface="Arial" panose="020B0604020202020204" pitchFamily="34" charset="0"/>
              </a:rPr>
              <a:t>→</a:t>
            </a:r>
            <a:r>
              <a:rPr lang="en-GB" dirty="0">
                <a:solidFill>
                  <a:srgbClr val="3C4245"/>
                </a:solidFill>
                <a:latin typeface="Arial" panose="020B0604020202020204" pitchFamily="34" charset="0"/>
              </a:rPr>
              <a:t> no more census data linked</a:t>
            </a:r>
          </a:p>
          <a:p>
            <a:pPr marL="285750" indent="-285750" algn="l">
              <a:lnSpc>
                <a:spcPct val="200000"/>
              </a:lnSpc>
              <a:buFont typeface="Arial" panose="020B0604020202020204" pitchFamily="34" charset="0"/>
              <a:buChar char="•"/>
            </a:pPr>
            <a:r>
              <a:rPr lang="en-GB" b="1" dirty="0">
                <a:solidFill>
                  <a:srgbClr val="3C4245"/>
                </a:solidFill>
                <a:latin typeface="Arial" panose="020B0604020202020204" pitchFamily="34" charset="0"/>
              </a:rPr>
              <a:t>OUR RESEARCH: Individual-level factors associated with travel to work habits</a:t>
            </a:r>
          </a:p>
        </p:txBody>
      </p:sp>
    </p:spTree>
    <p:extLst>
      <p:ext uri="{BB962C8B-B14F-4D97-AF65-F5344CB8AC3E}">
        <p14:creationId xmlns:p14="http://schemas.microsoft.com/office/powerpoint/2010/main" val="284992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7C91D6FC-7760-4ACD-B741-018ED449C573}"/>
              </a:ext>
            </a:extLst>
          </p:cNvPr>
          <p:cNvSpPr>
            <a:spLocks noGrp="1"/>
          </p:cNvSpPr>
          <p:nvPr>
            <p:ph type="body" sz="quarter" idx="12"/>
          </p:nvPr>
        </p:nvSpPr>
        <p:spPr>
          <a:xfrm>
            <a:off x="215999" y="216000"/>
            <a:ext cx="6721513" cy="293044"/>
          </a:xfrm>
        </p:spPr>
        <p:txBody>
          <a:bodyPr/>
          <a:lstStyle/>
          <a:p>
            <a:r>
              <a:rPr lang="en-US" sz="3000" b="0" dirty="0">
                <a:latin typeface="Arial" panose="020B0604020202020204" pitchFamily="34" charset="0"/>
                <a:cs typeface="Arial" panose="020B0604020202020204" pitchFamily="34" charset="0"/>
              </a:rPr>
              <a:t>Changes in transport &amp; travel patterns</a:t>
            </a:r>
          </a:p>
        </p:txBody>
      </p:sp>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5</a:t>
            </a:fld>
            <a:endParaRPr lang="en-US" altLang="en-US" dirty="0"/>
          </a:p>
        </p:txBody>
      </p:sp>
      <p:pic>
        <p:nvPicPr>
          <p:cNvPr id="5" name="Picture 4" descr="Chart, line chart&#10;&#10;Description automatically generated">
            <a:extLst>
              <a:ext uri="{FF2B5EF4-FFF2-40B4-BE49-F238E27FC236}">
                <a16:creationId xmlns:a16="http://schemas.microsoft.com/office/drawing/2014/main" id="{0461E24A-DC64-6D95-95CF-DFD86A405B79}"/>
              </a:ext>
            </a:extLst>
          </p:cNvPr>
          <p:cNvPicPr>
            <a:picLocks noChangeAspect="1"/>
          </p:cNvPicPr>
          <p:nvPr/>
        </p:nvPicPr>
        <p:blipFill>
          <a:blip r:embed="rId3"/>
          <a:stretch>
            <a:fillRect/>
          </a:stretch>
        </p:blipFill>
        <p:spPr>
          <a:xfrm>
            <a:off x="215884" y="1351438"/>
            <a:ext cx="8490065" cy="3693622"/>
          </a:xfrm>
          <a:prstGeom prst="rect">
            <a:avLst/>
          </a:prstGeom>
        </p:spPr>
      </p:pic>
      <p:sp>
        <p:nvSpPr>
          <p:cNvPr id="3" name="TextBox 2">
            <a:extLst>
              <a:ext uri="{FF2B5EF4-FFF2-40B4-BE49-F238E27FC236}">
                <a16:creationId xmlns:a16="http://schemas.microsoft.com/office/drawing/2014/main" id="{EA8F0CD5-45BE-C39E-9773-469010155363}"/>
              </a:ext>
            </a:extLst>
          </p:cNvPr>
          <p:cNvSpPr txBox="1"/>
          <p:nvPr/>
        </p:nvSpPr>
        <p:spPr>
          <a:xfrm>
            <a:off x="4572001" y="4699034"/>
            <a:ext cx="4572000" cy="400110"/>
          </a:xfrm>
          <a:prstGeom prst="rect">
            <a:avLst/>
          </a:prstGeom>
          <a:noFill/>
        </p:spPr>
        <p:txBody>
          <a:bodyPr wrap="square" rtlCol="0">
            <a:spAutoFit/>
          </a:bodyPr>
          <a:lstStyle/>
          <a:p>
            <a:pPr algn="r"/>
            <a:r>
              <a:rPr lang="en-GB" sz="1000" dirty="0">
                <a:latin typeface="Arial" panose="020B0604020202020204" pitchFamily="34" charset="0"/>
                <a:cs typeface="Arial" panose="020B0604020202020204" pitchFamily="34" charset="0"/>
              </a:rPr>
              <a:t>Data source: National Travel Survey</a:t>
            </a:r>
          </a:p>
          <a:p>
            <a:pPr algn="r"/>
            <a:r>
              <a:rPr lang="en-GB" sz="1000" dirty="0">
                <a:latin typeface="Arial" panose="020B0604020202020204" pitchFamily="34" charset="0"/>
                <a:cs typeface="Arial" panose="020B0604020202020204" pitchFamily="34" charset="0"/>
                <a:hlinkClick r:id="rId4"/>
              </a:rPr>
              <a:t>https://www.gov.uk/government/collections/transport-statistics-great-britain</a:t>
            </a:r>
            <a:r>
              <a:rPr lang="en-GB"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B7F809B2-8F25-830D-C2E6-EAB385C88206}"/>
              </a:ext>
            </a:extLst>
          </p:cNvPr>
          <p:cNvSpPr txBox="1"/>
          <p:nvPr/>
        </p:nvSpPr>
        <p:spPr>
          <a:xfrm>
            <a:off x="1600915" y="908925"/>
            <a:ext cx="6410024" cy="400110"/>
          </a:xfrm>
          <a:prstGeom prst="rect">
            <a:avLst/>
          </a:prstGeom>
          <a:noFill/>
        </p:spPr>
        <p:txBody>
          <a:bodyPr wrap="square" rtlCol="0">
            <a:spAutoFit/>
          </a:bodyPr>
          <a:lstStyle/>
          <a:p>
            <a:pPr algn="ctr"/>
            <a:r>
              <a:rPr lang="en-GB" sz="2000" dirty="0">
                <a:latin typeface="Arial" panose="020B0604020202020204" pitchFamily="34" charset="0"/>
                <a:cs typeface="Arial" panose="020B0604020202020204" pitchFamily="34" charset="0"/>
              </a:rPr>
              <a:t>Household car availability  in England, 1951 -2021</a:t>
            </a:r>
          </a:p>
        </p:txBody>
      </p:sp>
    </p:spTree>
    <p:extLst>
      <p:ext uri="{BB962C8B-B14F-4D97-AF65-F5344CB8AC3E}">
        <p14:creationId xmlns:p14="http://schemas.microsoft.com/office/powerpoint/2010/main" val="3303696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7C91D6FC-7760-4ACD-B741-018ED449C573}"/>
              </a:ext>
            </a:extLst>
          </p:cNvPr>
          <p:cNvSpPr>
            <a:spLocks noGrp="1"/>
          </p:cNvSpPr>
          <p:nvPr>
            <p:ph type="body" sz="quarter" idx="12"/>
          </p:nvPr>
        </p:nvSpPr>
        <p:spPr>
          <a:xfrm>
            <a:off x="215999" y="216000"/>
            <a:ext cx="6815115" cy="293044"/>
          </a:xfrm>
        </p:spPr>
        <p:txBody>
          <a:bodyPr/>
          <a:lstStyle/>
          <a:p>
            <a:r>
              <a:rPr lang="en-GB" sz="3000" b="0" dirty="0">
                <a:latin typeface="Arial" panose="020B0604020202020204" pitchFamily="34" charset="0"/>
                <a:cs typeface="Arial" panose="020B0604020202020204" pitchFamily="34" charset="0"/>
              </a:rPr>
              <a:t>Transport &amp; overweight/ obesity</a:t>
            </a: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6</a:t>
            </a:fld>
            <a:endParaRPr lang="en-US" altLang="en-US" dirty="0"/>
          </a:p>
        </p:txBody>
      </p:sp>
      <p:sp>
        <p:nvSpPr>
          <p:cNvPr id="4" name="TextBox 3">
            <a:extLst>
              <a:ext uri="{FF2B5EF4-FFF2-40B4-BE49-F238E27FC236}">
                <a16:creationId xmlns:a16="http://schemas.microsoft.com/office/drawing/2014/main" id="{185B42C1-688D-9BBD-E458-872853E79502}"/>
              </a:ext>
            </a:extLst>
          </p:cNvPr>
          <p:cNvSpPr txBox="1"/>
          <p:nvPr/>
        </p:nvSpPr>
        <p:spPr>
          <a:xfrm>
            <a:off x="215999" y="1818033"/>
            <a:ext cx="8564394" cy="2308324"/>
          </a:xfrm>
          <a:prstGeom prst="rect">
            <a:avLst/>
          </a:prstGeom>
          <a:noFill/>
        </p:spPr>
        <p:txBody>
          <a:bodyPr wrap="square">
            <a:spAutoFit/>
          </a:bodyPr>
          <a:lstStyle/>
          <a:p>
            <a:pPr algn="l"/>
            <a:r>
              <a:rPr lang="en-GB" b="0" i="1" dirty="0">
                <a:solidFill>
                  <a:srgbClr val="3C4245"/>
                </a:solidFill>
                <a:effectLst/>
                <a:latin typeface="Arial" panose="020B0604020202020204" pitchFamily="34" charset="0"/>
              </a:rPr>
              <a:t>The fundamental cause of obesity and overweight is an </a:t>
            </a:r>
            <a:r>
              <a:rPr lang="en-GB" b="1" i="1" dirty="0">
                <a:solidFill>
                  <a:srgbClr val="3C4245"/>
                </a:solidFill>
                <a:effectLst/>
                <a:latin typeface="Arial" panose="020B0604020202020204" pitchFamily="34" charset="0"/>
              </a:rPr>
              <a:t>energy imbalance between calories consumed and calories expended</a:t>
            </a:r>
            <a:r>
              <a:rPr lang="en-GB" b="0" i="1" dirty="0">
                <a:solidFill>
                  <a:srgbClr val="3C4245"/>
                </a:solidFill>
                <a:effectLst/>
                <a:latin typeface="Arial" panose="020B0604020202020204" pitchFamily="34" charset="0"/>
              </a:rPr>
              <a:t>. Globally, there has been:</a:t>
            </a:r>
          </a:p>
          <a:p>
            <a:pPr algn="l"/>
            <a:endParaRPr lang="en-GB" b="0" i="1" dirty="0">
              <a:solidFill>
                <a:srgbClr val="3C4245"/>
              </a:solidFill>
              <a:effectLst/>
              <a:latin typeface="Arial" panose="020B0604020202020204" pitchFamily="34" charset="0"/>
            </a:endParaRPr>
          </a:p>
          <a:p>
            <a:pPr marL="285750" indent="-285750" algn="l">
              <a:buFont typeface="Arial" panose="020B0604020202020204" pitchFamily="34" charset="0"/>
              <a:buChar char="•"/>
            </a:pPr>
            <a:r>
              <a:rPr lang="en-GB" b="0" i="1" dirty="0">
                <a:solidFill>
                  <a:srgbClr val="3C4245"/>
                </a:solidFill>
                <a:effectLst/>
                <a:latin typeface="Arial" panose="020B0604020202020204" pitchFamily="34" charset="0"/>
              </a:rPr>
              <a:t>an increased intake of energy-dense foods that are high in fat and sugars; and</a:t>
            </a:r>
          </a:p>
          <a:p>
            <a:pPr algn="l"/>
            <a:endParaRPr lang="en-GB" b="0" i="1" dirty="0">
              <a:solidFill>
                <a:srgbClr val="3C4245"/>
              </a:solidFill>
              <a:effectLst/>
              <a:latin typeface="Arial" panose="020B0604020202020204" pitchFamily="34" charset="0"/>
            </a:endParaRPr>
          </a:p>
          <a:p>
            <a:pPr marL="285750" indent="-285750" algn="l">
              <a:buFont typeface="Arial" panose="020B0604020202020204" pitchFamily="34" charset="0"/>
              <a:buChar char="•"/>
            </a:pPr>
            <a:r>
              <a:rPr lang="en-GB" b="0" i="1" dirty="0">
                <a:solidFill>
                  <a:srgbClr val="3C4245"/>
                </a:solidFill>
                <a:effectLst/>
                <a:highlight>
                  <a:srgbClr val="FFFF00"/>
                </a:highlight>
                <a:latin typeface="Arial" panose="020B0604020202020204" pitchFamily="34" charset="0"/>
              </a:rPr>
              <a:t>an increase in physical inactivity </a:t>
            </a:r>
            <a:r>
              <a:rPr lang="en-GB" b="0" i="1" dirty="0">
                <a:solidFill>
                  <a:srgbClr val="3C4245"/>
                </a:solidFill>
                <a:effectLst/>
                <a:latin typeface="Arial" panose="020B0604020202020204" pitchFamily="34" charset="0"/>
              </a:rPr>
              <a:t>due to the increasingly sedentary nature of many forms of work, </a:t>
            </a:r>
            <a:r>
              <a:rPr lang="en-GB" b="0" i="1" dirty="0">
                <a:solidFill>
                  <a:srgbClr val="3C4245"/>
                </a:solidFill>
                <a:effectLst/>
                <a:highlight>
                  <a:srgbClr val="FFFF00"/>
                </a:highlight>
                <a:latin typeface="Arial" panose="020B0604020202020204" pitchFamily="34" charset="0"/>
              </a:rPr>
              <a:t>changing modes of transportation</a:t>
            </a:r>
            <a:r>
              <a:rPr lang="en-GB" b="0" i="1" dirty="0">
                <a:solidFill>
                  <a:srgbClr val="3C4245"/>
                </a:solidFill>
                <a:effectLst/>
                <a:latin typeface="Arial" panose="020B0604020202020204" pitchFamily="34" charset="0"/>
              </a:rPr>
              <a:t>, and increasing urbanization.</a:t>
            </a:r>
          </a:p>
        </p:txBody>
      </p:sp>
      <p:sp>
        <p:nvSpPr>
          <p:cNvPr id="7" name="TextBox 6">
            <a:extLst>
              <a:ext uri="{FF2B5EF4-FFF2-40B4-BE49-F238E27FC236}">
                <a16:creationId xmlns:a16="http://schemas.microsoft.com/office/drawing/2014/main" id="{2B4940DF-F194-8DEB-9CF0-0C58C79D6604}"/>
              </a:ext>
            </a:extLst>
          </p:cNvPr>
          <p:cNvSpPr txBox="1"/>
          <p:nvPr/>
        </p:nvSpPr>
        <p:spPr>
          <a:xfrm>
            <a:off x="3766102" y="4789000"/>
            <a:ext cx="5173325" cy="276999"/>
          </a:xfrm>
          <a:prstGeom prst="rect">
            <a:avLst/>
          </a:prstGeom>
          <a:noFill/>
        </p:spPr>
        <p:txBody>
          <a:bodyPr wrap="square">
            <a:spAutoFit/>
          </a:bodyPr>
          <a:lstStyle/>
          <a:p>
            <a:r>
              <a:rPr lang="en-GB" sz="1200" dirty="0">
                <a:latin typeface="Arial" panose="020B0604020202020204" pitchFamily="34" charset="0"/>
                <a:cs typeface="Arial" panose="020B0604020202020204" pitchFamily="34" charset="0"/>
              </a:rPr>
              <a:t>https://www.who.int/news-room/fact-sheets/detail/obesity-and-overweight</a:t>
            </a:r>
          </a:p>
        </p:txBody>
      </p:sp>
    </p:spTree>
    <p:extLst>
      <p:ext uri="{BB962C8B-B14F-4D97-AF65-F5344CB8AC3E}">
        <p14:creationId xmlns:p14="http://schemas.microsoft.com/office/powerpoint/2010/main" val="179380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7C91D6FC-7760-4ACD-B741-018ED449C573}"/>
              </a:ext>
            </a:extLst>
          </p:cNvPr>
          <p:cNvSpPr>
            <a:spLocks noGrp="1"/>
          </p:cNvSpPr>
          <p:nvPr>
            <p:ph type="body" sz="quarter" idx="12"/>
          </p:nvPr>
        </p:nvSpPr>
        <p:spPr>
          <a:xfrm>
            <a:off x="215999" y="216000"/>
            <a:ext cx="6657445" cy="293044"/>
          </a:xfrm>
        </p:spPr>
        <p:txBody>
          <a:bodyPr/>
          <a:lstStyle/>
          <a:p>
            <a:r>
              <a:rPr lang="en-US" sz="3000" b="0" dirty="0">
                <a:latin typeface="Arial" panose="020B0604020202020204" pitchFamily="34" charset="0"/>
                <a:cs typeface="Arial" panose="020B0604020202020204" pitchFamily="34" charset="0"/>
              </a:rPr>
              <a:t>Transport &amp; climate change</a:t>
            </a:r>
          </a:p>
          <a:p>
            <a:endParaRPr lang="en-US" sz="3000" b="0" dirty="0">
              <a:latin typeface="Arial" panose="020B0604020202020204" pitchFamily="34" charset="0"/>
              <a:cs typeface="Arial" panose="020B0604020202020204" pitchFamily="34" charset="0"/>
            </a:endParaRPr>
          </a:p>
        </p:txBody>
      </p:sp>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8308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7</a:t>
            </a:fld>
            <a:endParaRPr lang="en-US" altLang="en-US" dirty="0"/>
          </a:p>
        </p:txBody>
      </p:sp>
      <p:sp>
        <p:nvSpPr>
          <p:cNvPr id="4" name="TextBox 3">
            <a:extLst>
              <a:ext uri="{FF2B5EF4-FFF2-40B4-BE49-F238E27FC236}">
                <a16:creationId xmlns:a16="http://schemas.microsoft.com/office/drawing/2014/main" id="{318C496E-34C0-234C-A908-C7CAB8012840}"/>
              </a:ext>
            </a:extLst>
          </p:cNvPr>
          <p:cNvSpPr txBox="1"/>
          <p:nvPr/>
        </p:nvSpPr>
        <p:spPr>
          <a:xfrm>
            <a:off x="2669310" y="857354"/>
            <a:ext cx="6308436" cy="1200329"/>
          </a:xfrm>
          <a:prstGeom prst="rect">
            <a:avLst/>
          </a:prstGeom>
          <a:noFill/>
        </p:spPr>
        <p:txBody>
          <a:bodyPr wrap="square" rtlCol="0">
            <a:spAutoFit/>
          </a:bodyPr>
          <a:lstStyle/>
          <a:p>
            <a:pPr algn="r"/>
            <a:r>
              <a:rPr lang="en-GB" sz="2400" dirty="0"/>
              <a:t>Total anthropogenic direct and indirect GHG emissions for the year 2019 (in GtCO2-eq) by sector and subsector</a:t>
            </a:r>
            <a:endParaRPr lang="en-GB" sz="2400" b="1"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8745E81-1921-27DB-31F9-3EB82633E5D2}"/>
              </a:ext>
            </a:extLst>
          </p:cNvPr>
          <p:cNvSpPr txBox="1"/>
          <p:nvPr/>
        </p:nvSpPr>
        <p:spPr>
          <a:xfrm>
            <a:off x="1348509" y="2033672"/>
            <a:ext cx="1800305" cy="369332"/>
          </a:xfrm>
          <a:prstGeom prst="rect">
            <a:avLst/>
          </a:prstGeom>
          <a:noFill/>
        </p:spPr>
        <p:txBody>
          <a:bodyPr wrap="square" rtlCol="0">
            <a:spAutoFit/>
          </a:bodyPr>
          <a:lstStyle/>
          <a:p>
            <a:pPr algn="r"/>
            <a:r>
              <a:rPr lang="en-GB" dirty="0">
                <a:latin typeface="Arial" panose="020B0604020202020204" pitchFamily="34" charset="0"/>
                <a:cs typeface="Arial" panose="020B0604020202020204" pitchFamily="34" charset="0"/>
              </a:rPr>
              <a:t>Transport: 15%</a:t>
            </a:r>
          </a:p>
        </p:txBody>
      </p:sp>
      <p:pic>
        <p:nvPicPr>
          <p:cNvPr id="3" name="Picture 2" descr="A colorful rectangular lines with text&#10;&#10;Description automatically generated with medium confidence">
            <a:extLst>
              <a:ext uri="{FF2B5EF4-FFF2-40B4-BE49-F238E27FC236}">
                <a16:creationId xmlns:a16="http://schemas.microsoft.com/office/drawing/2014/main" id="{B88444A8-03AE-9F6D-A3BB-5DA2E330B00E}"/>
              </a:ext>
            </a:extLst>
          </p:cNvPr>
          <p:cNvPicPr>
            <a:picLocks noChangeAspect="1"/>
          </p:cNvPicPr>
          <p:nvPr/>
        </p:nvPicPr>
        <p:blipFill rotWithShape="1">
          <a:blip r:embed="rId3"/>
          <a:srcRect t="56566" b="1478"/>
          <a:stretch/>
        </p:blipFill>
        <p:spPr>
          <a:xfrm>
            <a:off x="83127" y="2571750"/>
            <a:ext cx="9060873" cy="2442085"/>
          </a:xfrm>
          <a:prstGeom prst="rect">
            <a:avLst/>
          </a:prstGeom>
        </p:spPr>
      </p:pic>
      <p:sp>
        <p:nvSpPr>
          <p:cNvPr id="8" name="Rectangle 7">
            <a:extLst>
              <a:ext uri="{FF2B5EF4-FFF2-40B4-BE49-F238E27FC236}">
                <a16:creationId xmlns:a16="http://schemas.microsoft.com/office/drawing/2014/main" id="{109CA755-2242-7C3E-0B09-DEB1AC50B88E}"/>
              </a:ext>
            </a:extLst>
          </p:cNvPr>
          <p:cNvSpPr/>
          <p:nvPr/>
        </p:nvSpPr>
        <p:spPr>
          <a:xfrm>
            <a:off x="1505527" y="2424931"/>
            <a:ext cx="1468582" cy="2294851"/>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C25868AA-5679-C48A-8391-27E2BC9B95E5}"/>
              </a:ext>
            </a:extLst>
          </p:cNvPr>
          <p:cNvSpPr txBox="1"/>
          <p:nvPr/>
        </p:nvSpPr>
        <p:spPr>
          <a:xfrm>
            <a:off x="5555839" y="4789000"/>
            <a:ext cx="5520560" cy="276999"/>
          </a:xfrm>
          <a:prstGeom prst="rect">
            <a:avLst/>
          </a:prstGeom>
          <a:noFill/>
        </p:spPr>
        <p:txBody>
          <a:bodyPr wrap="square">
            <a:spAutoFit/>
          </a:bodyPr>
          <a:lstStyle/>
          <a:p>
            <a:r>
              <a:rPr lang="en-GB" sz="1200" b="0" i="0" dirty="0">
                <a:solidFill>
                  <a:srgbClr val="212529"/>
                </a:solidFill>
                <a:effectLst/>
                <a:latin typeface="ipccsans"/>
              </a:rPr>
              <a:t>Source: IPCC, 2022 </a:t>
            </a:r>
            <a:r>
              <a:rPr lang="en-GB" sz="1200" b="0" i="0" dirty="0" err="1">
                <a:solidFill>
                  <a:srgbClr val="212529"/>
                </a:solidFill>
                <a:effectLst/>
                <a:latin typeface="ipccsans"/>
              </a:rPr>
              <a:t>doi</a:t>
            </a:r>
            <a:r>
              <a:rPr lang="en-GB" sz="1200" b="0" i="0" dirty="0">
                <a:solidFill>
                  <a:srgbClr val="212529"/>
                </a:solidFill>
                <a:effectLst/>
                <a:latin typeface="ipccsans"/>
              </a:rPr>
              <a:t>: 10.1017/9781009157926.004</a:t>
            </a:r>
            <a:endParaRPr lang="en-GB" sz="1200" dirty="0"/>
          </a:p>
        </p:txBody>
      </p:sp>
    </p:spTree>
    <p:extLst>
      <p:ext uri="{BB962C8B-B14F-4D97-AF65-F5344CB8AC3E}">
        <p14:creationId xmlns:p14="http://schemas.microsoft.com/office/powerpoint/2010/main" val="413574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8</a:t>
            </a:fld>
            <a:endParaRPr lang="en-US" altLang="en-US" dirty="0"/>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6642100" cy="422275"/>
          </a:xfrm>
        </p:spPr>
        <p:txBody>
          <a:bodyPr/>
          <a:lstStyle/>
          <a:p>
            <a:r>
              <a:rPr lang="en-US" sz="3000" b="0" dirty="0">
                <a:latin typeface="Arial" panose="020B0604020202020204" pitchFamily="34" charset="0"/>
                <a:cs typeface="Arial" panose="020B0604020202020204" pitchFamily="34" charset="0"/>
              </a:rPr>
              <a:t>Transport &amp; air pollution</a:t>
            </a:r>
          </a:p>
        </p:txBody>
      </p:sp>
      <p:sp>
        <p:nvSpPr>
          <p:cNvPr id="5" name="TextBox 4">
            <a:extLst>
              <a:ext uri="{FF2B5EF4-FFF2-40B4-BE49-F238E27FC236}">
                <a16:creationId xmlns:a16="http://schemas.microsoft.com/office/drawing/2014/main" id="{AAE2DCA8-0A03-E261-EF49-E2AA01124AC4}"/>
              </a:ext>
            </a:extLst>
          </p:cNvPr>
          <p:cNvSpPr txBox="1"/>
          <p:nvPr/>
        </p:nvSpPr>
        <p:spPr>
          <a:xfrm>
            <a:off x="516731" y="938941"/>
            <a:ext cx="8110537" cy="3046988"/>
          </a:xfrm>
          <a:prstGeom prst="rect">
            <a:avLst/>
          </a:prstGeom>
          <a:noFill/>
        </p:spPr>
        <p:txBody>
          <a:bodyPr wrap="square">
            <a:spAutoFit/>
          </a:bodyPr>
          <a:lstStyle/>
          <a:p>
            <a:pPr algn="l"/>
            <a:r>
              <a:rPr lang="en-GB" sz="2400" dirty="0">
                <a:latin typeface="Arial" panose="020B0604020202020204" pitchFamily="34" charset="0"/>
                <a:cs typeface="Arial" panose="020B0604020202020204" pitchFamily="34" charset="0"/>
              </a:rPr>
              <a:t>Transport emissions are harmful to health</a:t>
            </a:r>
          </a:p>
          <a:p>
            <a:pPr algn="l"/>
            <a:endParaRPr lang="en-GB" sz="2400"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particulate matter</a:t>
            </a: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nitrous oxides</a:t>
            </a: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sulphur dioxide</a:t>
            </a: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carbon monoxide</a:t>
            </a: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benzene</a:t>
            </a: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butadiene </a:t>
            </a:r>
          </a:p>
          <a:p>
            <a:pPr marL="285750" indent="-285750" algn="l">
              <a:buFont typeface="Arial" panose="020B0604020202020204" pitchFamily="34" charset="0"/>
              <a:buChar char="•"/>
            </a:pPr>
            <a:r>
              <a:rPr lang="en-GB" dirty="0">
                <a:latin typeface="Arial" panose="020B0604020202020204" pitchFamily="34" charset="0"/>
                <a:cs typeface="Arial" panose="020B0604020202020204" pitchFamily="34" charset="0"/>
              </a:rPr>
              <a:t>lead</a:t>
            </a:r>
          </a:p>
          <a:p>
            <a:pPr algn="l"/>
            <a:endParaRPr lang="en-GB"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1EFD41A-FA1A-6083-0079-3179D6336AA6}"/>
              </a:ext>
            </a:extLst>
          </p:cNvPr>
          <p:cNvSpPr txBox="1"/>
          <p:nvPr/>
        </p:nvSpPr>
        <p:spPr>
          <a:xfrm>
            <a:off x="215900" y="4094013"/>
            <a:ext cx="8928099" cy="1046440"/>
          </a:xfrm>
          <a:prstGeom prst="rect">
            <a:avLst/>
          </a:prstGeom>
          <a:noFill/>
        </p:spPr>
        <p:txBody>
          <a:bodyPr wrap="square">
            <a:spAutoFit/>
          </a:bodyPr>
          <a:lstStyle/>
          <a:p>
            <a:r>
              <a:rPr lang="en-GB" sz="2400" i="1" dirty="0"/>
              <a:t>“Nine out of ten people now breathe polluted air, which kills 7 million people every year.”</a:t>
            </a:r>
          </a:p>
          <a:p>
            <a:pPr algn="r"/>
            <a:r>
              <a:rPr lang="en-GB" sz="1400" dirty="0"/>
              <a:t>World Health Organisation</a:t>
            </a:r>
          </a:p>
        </p:txBody>
      </p:sp>
      <p:grpSp>
        <p:nvGrpSpPr>
          <p:cNvPr id="13" name="Group 12">
            <a:extLst>
              <a:ext uri="{FF2B5EF4-FFF2-40B4-BE49-F238E27FC236}">
                <a16:creationId xmlns:a16="http://schemas.microsoft.com/office/drawing/2014/main" id="{56F90307-BF03-F433-9CF4-8F10EFA1F1BE}"/>
              </a:ext>
            </a:extLst>
          </p:cNvPr>
          <p:cNvGrpSpPr/>
          <p:nvPr/>
        </p:nvGrpSpPr>
        <p:grpSpPr>
          <a:xfrm>
            <a:off x="3179255" y="1843540"/>
            <a:ext cx="5364670" cy="1477328"/>
            <a:chOff x="3179255" y="1843540"/>
            <a:chExt cx="5364670" cy="1477328"/>
          </a:xfrm>
        </p:grpSpPr>
        <p:sp>
          <p:nvSpPr>
            <p:cNvPr id="11" name="TextBox 10">
              <a:extLst>
                <a:ext uri="{FF2B5EF4-FFF2-40B4-BE49-F238E27FC236}">
                  <a16:creationId xmlns:a16="http://schemas.microsoft.com/office/drawing/2014/main" id="{26202D32-92A1-9715-151F-574C39636F69}"/>
                </a:ext>
              </a:extLst>
            </p:cNvPr>
            <p:cNvSpPr txBox="1"/>
            <p:nvPr/>
          </p:nvSpPr>
          <p:spPr>
            <a:xfrm>
              <a:off x="4214813" y="1843540"/>
              <a:ext cx="4329112" cy="1477328"/>
            </a:xfrm>
            <a:prstGeom prst="rect">
              <a:avLst/>
            </a:prstGeom>
            <a:noFill/>
            <a:ln>
              <a:solidFill>
                <a:schemeClr val="tx1"/>
              </a:solidFill>
            </a:ln>
          </p:spPr>
          <p:txBody>
            <a:bodyPr wrap="square">
              <a:spAutoFit/>
            </a:bodyPr>
            <a:lstStyle/>
            <a:p>
              <a:pPr algn="l"/>
              <a:r>
                <a:rPr lang="en-GB" dirty="0">
                  <a:latin typeface="Arial" panose="020B0604020202020204" pitchFamily="34" charset="0"/>
                  <a:cs typeface="Arial" panose="020B0604020202020204" pitchFamily="34" charset="0"/>
                </a:rPr>
                <a:t>Stroke…chronic obstructive pulmonary disease… lung cancers…aggravated asthma…lower respiratory infections…type 2 diabetes…obesity… Alzheimer’s disease</a:t>
              </a:r>
            </a:p>
          </p:txBody>
        </p:sp>
        <p:sp>
          <p:nvSpPr>
            <p:cNvPr id="12" name="Arrow: Right 11">
              <a:extLst>
                <a:ext uri="{FF2B5EF4-FFF2-40B4-BE49-F238E27FC236}">
                  <a16:creationId xmlns:a16="http://schemas.microsoft.com/office/drawing/2014/main" id="{331B0313-9C69-912D-72DE-9B2697554F08}"/>
                </a:ext>
              </a:extLst>
            </p:cNvPr>
            <p:cNvSpPr/>
            <p:nvPr/>
          </p:nvSpPr>
          <p:spPr>
            <a:xfrm>
              <a:off x="3179255" y="241253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215744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9</a:t>
            </a:fld>
            <a:endParaRPr lang="en-US" altLang="en-US" dirty="0"/>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6642100" cy="422275"/>
          </a:xfrm>
        </p:spPr>
        <p:txBody>
          <a:bodyPr/>
          <a:lstStyle/>
          <a:p>
            <a:r>
              <a:rPr lang="en-US" sz="3000" b="0" dirty="0">
                <a:latin typeface="Arial" panose="020B0604020202020204" pitchFamily="34" charset="0"/>
                <a:cs typeface="Arial" panose="020B0604020202020204" pitchFamily="34" charset="0"/>
              </a:rPr>
              <a:t>Population eligibility flow chart</a:t>
            </a:r>
          </a:p>
        </p:txBody>
      </p:sp>
      <p:sp>
        <p:nvSpPr>
          <p:cNvPr id="2" name="TextBox 1">
            <a:extLst>
              <a:ext uri="{FF2B5EF4-FFF2-40B4-BE49-F238E27FC236}">
                <a16:creationId xmlns:a16="http://schemas.microsoft.com/office/drawing/2014/main" id="{FFAB422D-9A81-2D7B-3CC9-950BC162C4F7}"/>
              </a:ext>
            </a:extLst>
          </p:cNvPr>
          <p:cNvSpPr txBox="1"/>
          <p:nvPr/>
        </p:nvSpPr>
        <p:spPr>
          <a:xfrm>
            <a:off x="6687738" y="4906327"/>
            <a:ext cx="2468698" cy="246221"/>
          </a:xfrm>
          <a:prstGeom prst="rect">
            <a:avLst/>
          </a:prstGeom>
          <a:noFill/>
        </p:spPr>
        <p:txBody>
          <a:bodyPr wrap="square">
            <a:spAutoFit/>
          </a:bodyPr>
          <a:lstStyle/>
          <a:p>
            <a:pPr algn="r"/>
            <a:r>
              <a:rPr lang="en-GB" sz="1000" dirty="0"/>
              <a:t>Source: ONS Longitudinal Study</a:t>
            </a:r>
          </a:p>
        </p:txBody>
      </p:sp>
      <p:graphicFrame>
        <p:nvGraphicFramePr>
          <p:cNvPr id="4" name="Table 3">
            <a:extLst>
              <a:ext uri="{FF2B5EF4-FFF2-40B4-BE49-F238E27FC236}">
                <a16:creationId xmlns:a16="http://schemas.microsoft.com/office/drawing/2014/main" id="{AB053631-7AA7-F700-D95E-DD99929F2A93}"/>
              </a:ext>
            </a:extLst>
          </p:cNvPr>
          <p:cNvGraphicFramePr>
            <a:graphicFrameLocks noGrp="1"/>
          </p:cNvGraphicFramePr>
          <p:nvPr>
            <p:extLst>
              <p:ext uri="{D42A27DB-BD31-4B8C-83A1-F6EECF244321}">
                <p14:modId xmlns:p14="http://schemas.microsoft.com/office/powerpoint/2010/main" val="2061875752"/>
              </p:ext>
            </p:extLst>
          </p:nvPr>
        </p:nvGraphicFramePr>
        <p:xfrm>
          <a:off x="120316" y="932904"/>
          <a:ext cx="9023684" cy="3997486"/>
        </p:xfrm>
        <a:graphic>
          <a:graphicData uri="http://schemas.openxmlformats.org/drawingml/2006/table">
            <a:tbl>
              <a:tblPr firstRow="1" bandRow="1">
                <a:tableStyleId>{5C22544A-7EE6-4342-B048-85BDC9FD1C3A}</a:tableStyleId>
              </a:tblPr>
              <a:tblGrid>
                <a:gridCol w="2967357">
                  <a:extLst>
                    <a:ext uri="{9D8B030D-6E8A-4147-A177-3AD203B41FA5}">
                      <a16:colId xmlns:a16="http://schemas.microsoft.com/office/drawing/2014/main" val="3922470025"/>
                    </a:ext>
                  </a:extLst>
                </a:gridCol>
                <a:gridCol w="1191808">
                  <a:extLst>
                    <a:ext uri="{9D8B030D-6E8A-4147-A177-3AD203B41FA5}">
                      <a16:colId xmlns:a16="http://schemas.microsoft.com/office/drawing/2014/main" val="2909106869"/>
                    </a:ext>
                  </a:extLst>
                </a:gridCol>
                <a:gridCol w="814807">
                  <a:extLst>
                    <a:ext uri="{9D8B030D-6E8A-4147-A177-3AD203B41FA5}">
                      <a16:colId xmlns:a16="http://schemas.microsoft.com/office/drawing/2014/main" val="3805918318"/>
                    </a:ext>
                  </a:extLst>
                </a:gridCol>
                <a:gridCol w="1289097">
                  <a:extLst>
                    <a:ext uri="{9D8B030D-6E8A-4147-A177-3AD203B41FA5}">
                      <a16:colId xmlns:a16="http://schemas.microsoft.com/office/drawing/2014/main" val="594003451"/>
                    </a:ext>
                  </a:extLst>
                </a:gridCol>
                <a:gridCol w="802645">
                  <a:extLst>
                    <a:ext uri="{9D8B030D-6E8A-4147-A177-3AD203B41FA5}">
                      <a16:colId xmlns:a16="http://schemas.microsoft.com/office/drawing/2014/main" val="2578724091"/>
                    </a:ext>
                  </a:extLst>
                </a:gridCol>
                <a:gridCol w="1115759">
                  <a:extLst>
                    <a:ext uri="{9D8B030D-6E8A-4147-A177-3AD203B41FA5}">
                      <a16:colId xmlns:a16="http://schemas.microsoft.com/office/drawing/2014/main" val="1118672367"/>
                    </a:ext>
                  </a:extLst>
                </a:gridCol>
                <a:gridCol w="842211">
                  <a:extLst>
                    <a:ext uri="{9D8B030D-6E8A-4147-A177-3AD203B41FA5}">
                      <a16:colId xmlns:a16="http://schemas.microsoft.com/office/drawing/2014/main" val="1824186027"/>
                    </a:ext>
                  </a:extLst>
                </a:gridCol>
              </a:tblGrid>
              <a:tr h="714296">
                <a:tc>
                  <a:txBody>
                    <a:bodyPr/>
                    <a:lstStyle/>
                    <a:p>
                      <a:endParaRPr lang="en-GB"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a:solidFill>
                            <a:schemeClr val="tx1"/>
                          </a:solidFill>
                          <a:latin typeface="Arial" panose="020B0604020202020204" pitchFamily="34" charset="0"/>
                          <a:cs typeface="Arial" panose="020B0604020202020204" pitchFamily="34" charset="0"/>
                        </a:rPr>
                        <a:t>1991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00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a:solidFill>
                            <a:schemeClr val="tx1"/>
                          </a:solidFill>
                          <a:latin typeface="Arial" panose="020B0604020202020204" pitchFamily="34" charset="0"/>
                          <a:cs typeface="Arial" panose="020B0604020202020204" pitchFamily="34" charset="0"/>
                        </a:rPr>
                        <a:t>2001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00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a:solidFill>
                            <a:schemeClr val="tx1"/>
                          </a:solidFill>
                          <a:latin typeface="Arial" panose="020B0604020202020204" pitchFamily="34" charset="0"/>
                          <a:cs typeface="Arial" panose="020B0604020202020204" pitchFamily="34" charset="0"/>
                        </a:rPr>
                        <a:t>2011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00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779704"/>
                  </a:ext>
                </a:extLst>
              </a:tr>
              <a:tr h="422009">
                <a:tc>
                  <a:txBody>
                    <a:bodyPr/>
                    <a:lstStyle/>
                    <a:p>
                      <a:r>
                        <a:rPr lang="en-GB" sz="1400" dirty="0">
                          <a:latin typeface="Arial" panose="020B0604020202020204" pitchFamily="34" charset="0"/>
                          <a:cs typeface="Arial" panose="020B0604020202020204" pitchFamily="34" charset="0"/>
                        </a:rPr>
                        <a:t>All LS members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1600" dirty="0">
                          <a:latin typeface="Arial" panose="020B0604020202020204" pitchFamily="34" charset="0"/>
                          <a:cs typeface="Arial" panose="020B0604020202020204" pitchFamily="34" charset="0"/>
                        </a:rPr>
                        <a:t>543,884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1600" dirty="0">
                          <a:latin typeface="Arial" panose="020B0604020202020204" pitchFamily="34" charset="0"/>
                          <a:cs typeface="Arial" panose="020B0604020202020204" pitchFamily="34" charset="0"/>
                        </a:rPr>
                        <a:t>540,068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1600" dirty="0">
                          <a:latin typeface="Arial" panose="020B0604020202020204" pitchFamily="34" charset="0"/>
                          <a:cs typeface="Arial" panose="020B0604020202020204" pitchFamily="34" charset="0"/>
                        </a:rPr>
                        <a:t>585,895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9083107"/>
                  </a:ext>
                </a:extLst>
              </a:tr>
              <a:tr h="728400">
                <a:tc>
                  <a:txBody>
                    <a:bodyPr/>
                    <a:lstStyle/>
                    <a:p>
                      <a:endParaRPr lang="en-GB" sz="1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1200" dirty="0">
                          <a:latin typeface="Arial" panose="020B0604020202020204" pitchFamily="34" charset="0"/>
                          <a:cs typeface="Arial" panose="020B0604020202020204" pitchFamily="34" charset="0"/>
                        </a:rPr>
                        <a:t>307,286 excluded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295,895 </a:t>
                      </a:r>
                      <a:r>
                        <a:rPr lang="en-GB" sz="1200" kern="1200" dirty="0">
                          <a:solidFill>
                            <a:schemeClr val="dk1"/>
                          </a:solidFill>
                          <a:latin typeface="Arial" panose="020B0604020202020204" pitchFamily="34" charset="0"/>
                          <a:ea typeface="+mn-ea"/>
                          <a:cs typeface="Arial" panose="020B0604020202020204" pitchFamily="34" charset="0"/>
                        </a:rPr>
                        <a:t>excluded</a:t>
                      </a:r>
                    </a:p>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306,689 excluded</a:t>
                      </a:r>
                    </a:p>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42515598"/>
                  </a:ext>
                </a:extLst>
              </a:tr>
              <a:tr h="659028">
                <a:tc>
                  <a:txBody>
                    <a:bodyPr/>
                    <a:lstStyle/>
                    <a:p>
                      <a:r>
                        <a:rPr lang="en-GB" sz="1400" dirty="0">
                          <a:latin typeface="Arial" panose="020B0604020202020204" pitchFamily="34" charset="0"/>
                          <a:cs typeface="Arial" panose="020B0604020202020204" pitchFamily="34" charset="0"/>
                        </a:rPr>
                        <a:t>LS members who were working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1600" dirty="0">
                          <a:latin typeface="Arial" panose="020B0604020202020204" pitchFamily="34" charset="0"/>
                          <a:cs typeface="Arial" panose="020B0604020202020204" pitchFamily="34" charset="0"/>
                        </a:rPr>
                        <a:t>236, 598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244,173</a:t>
                      </a:r>
                    </a:p>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600" dirty="0">
                          <a:latin typeface="Arial" panose="020B0604020202020204" pitchFamily="34" charset="0"/>
                          <a:cs typeface="Arial" panose="020B0604020202020204" pitchFamily="34" charset="0"/>
                        </a:rPr>
                        <a:t>279,207</a:t>
                      </a:r>
                    </a:p>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20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492232"/>
                  </a:ext>
                </a:extLst>
              </a:tr>
              <a:tr h="728400">
                <a:tc>
                  <a:txBody>
                    <a:bodyPr/>
                    <a:lstStyle/>
                    <a:p>
                      <a:endParaRPr lang="en-GB" sz="1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3,960 excluded</a:t>
                      </a:r>
                    </a:p>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*5 excluded</a:t>
                      </a:r>
                    </a:p>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GB"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0 excluded</a:t>
                      </a:r>
                    </a:p>
                    <a:p>
                      <a:pPr algn="r"/>
                      <a:endParaRPr lang="en-GB" sz="12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19072287"/>
                  </a:ext>
                </a:extLst>
              </a:tr>
              <a:tr h="745353">
                <a:tc>
                  <a:txBody>
                    <a:bodyPr/>
                    <a:lstStyle/>
                    <a:p>
                      <a:r>
                        <a:rPr lang="en-GB" sz="1400" dirty="0">
                          <a:latin typeface="Arial" panose="020B0604020202020204" pitchFamily="34" charset="0"/>
                          <a:cs typeface="Arial" panose="020B0604020202020204" pitchFamily="34" charset="0"/>
                        </a:rPr>
                        <a:t>LS members who were working AND had a valid mode of travel to work recorded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2000" dirty="0">
                          <a:latin typeface="Arial" panose="020B0604020202020204" pitchFamily="34" charset="0"/>
                          <a:cs typeface="Arial" panose="020B0604020202020204" pitchFamily="34" charset="0"/>
                        </a:rPr>
                        <a:t>232,638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2000" dirty="0">
                          <a:latin typeface="Arial" panose="020B0604020202020204" pitchFamily="34" charset="0"/>
                          <a:cs typeface="Arial" panose="020B0604020202020204" pitchFamily="34" charset="0"/>
                        </a:rPr>
                        <a:t>244,168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GB" sz="2000" dirty="0">
                          <a:latin typeface="Arial" panose="020B0604020202020204" pitchFamily="34" charset="0"/>
                          <a:cs typeface="Arial" panose="020B0604020202020204" pitchFamily="34" charset="0"/>
                        </a:rPr>
                        <a:t>279,206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GB" sz="2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9900340"/>
                  </a:ext>
                </a:extLst>
              </a:tr>
            </a:tbl>
          </a:graphicData>
        </a:graphic>
      </p:graphicFrame>
      <p:sp>
        <p:nvSpPr>
          <p:cNvPr id="6" name="Arrow: Down 5">
            <a:extLst>
              <a:ext uri="{FF2B5EF4-FFF2-40B4-BE49-F238E27FC236}">
                <a16:creationId xmlns:a16="http://schemas.microsoft.com/office/drawing/2014/main" id="{CEE74F20-7094-4D57-3611-695BD2DE8E39}"/>
              </a:ext>
            </a:extLst>
          </p:cNvPr>
          <p:cNvSpPr/>
          <p:nvPr/>
        </p:nvSpPr>
        <p:spPr>
          <a:xfrm>
            <a:off x="3536951" y="2069432"/>
            <a:ext cx="168776" cy="6226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F4E41B16-152B-0ACB-9BA6-2D0616A6F6F4}"/>
              </a:ext>
            </a:extLst>
          </p:cNvPr>
          <p:cNvSpPr/>
          <p:nvPr/>
        </p:nvSpPr>
        <p:spPr>
          <a:xfrm>
            <a:off x="3536951" y="3280611"/>
            <a:ext cx="168776" cy="6226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Down 14">
            <a:extLst>
              <a:ext uri="{FF2B5EF4-FFF2-40B4-BE49-F238E27FC236}">
                <a16:creationId xmlns:a16="http://schemas.microsoft.com/office/drawing/2014/main" id="{4032B8FA-982E-6C3C-59F6-A821DB166147}"/>
              </a:ext>
            </a:extLst>
          </p:cNvPr>
          <p:cNvSpPr/>
          <p:nvPr/>
        </p:nvSpPr>
        <p:spPr>
          <a:xfrm>
            <a:off x="5722687" y="2069432"/>
            <a:ext cx="168776" cy="6226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Down 15">
            <a:extLst>
              <a:ext uri="{FF2B5EF4-FFF2-40B4-BE49-F238E27FC236}">
                <a16:creationId xmlns:a16="http://schemas.microsoft.com/office/drawing/2014/main" id="{CB0FC429-E515-F3A4-14A2-E3F793642540}"/>
              </a:ext>
            </a:extLst>
          </p:cNvPr>
          <p:cNvSpPr/>
          <p:nvPr/>
        </p:nvSpPr>
        <p:spPr>
          <a:xfrm>
            <a:off x="5722687" y="3280611"/>
            <a:ext cx="168776" cy="6226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Down 18">
            <a:extLst>
              <a:ext uri="{FF2B5EF4-FFF2-40B4-BE49-F238E27FC236}">
                <a16:creationId xmlns:a16="http://schemas.microsoft.com/office/drawing/2014/main" id="{DBFDFBBD-8C72-2DAD-E8BD-6995E3EE84B9}"/>
              </a:ext>
            </a:extLst>
          </p:cNvPr>
          <p:cNvSpPr/>
          <p:nvPr/>
        </p:nvSpPr>
        <p:spPr>
          <a:xfrm>
            <a:off x="7739647" y="2069432"/>
            <a:ext cx="168776" cy="6226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Arrow: Down 19">
            <a:extLst>
              <a:ext uri="{FF2B5EF4-FFF2-40B4-BE49-F238E27FC236}">
                <a16:creationId xmlns:a16="http://schemas.microsoft.com/office/drawing/2014/main" id="{33212147-F865-55BA-3C95-29245380D557}"/>
              </a:ext>
            </a:extLst>
          </p:cNvPr>
          <p:cNvSpPr/>
          <p:nvPr/>
        </p:nvSpPr>
        <p:spPr>
          <a:xfrm>
            <a:off x="7739647" y="3280611"/>
            <a:ext cx="168776" cy="6226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Right 20">
            <a:extLst>
              <a:ext uri="{FF2B5EF4-FFF2-40B4-BE49-F238E27FC236}">
                <a16:creationId xmlns:a16="http://schemas.microsoft.com/office/drawing/2014/main" id="{47454000-EA44-98D4-60C0-0D8FF4C12370}"/>
              </a:ext>
            </a:extLst>
          </p:cNvPr>
          <p:cNvSpPr/>
          <p:nvPr/>
        </p:nvSpPr>
        <p:spPr>
          <a:xfrm>
            <a:off x="3781427" y="2317402"/>
            <a:ext cx="481262" cy="12669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Right 22">
            <a:extLst>
              <a:ext uri="{FF2B5EF4-FFF2-40B4-BE49-F238E27FC236}">
                <a16:creationId xmlns:a16="http://schemas.microsoft.com/office/drawing/2014/main" id="{5A822F47-63C1-2F1E-C41D-6BE22FBBD9FA}"/>
              </a:ext>
            </a:extLst>
          </p:cNvPr>
          <p:cNvSpPr/>
          <p:nvPr/>
        </p:nvSpPr>
        <p:spPr>
          <a:xfrm>
            <a:off x="3781427" y="3559104"/>
            <a:ext cx="481262" cy="12669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Right 23">
            <a:extLst>
              <a:ext uri="{FF2B5EF4-FFF2-40B4-BE49-F238E27FC236}">
                <a16:creationId xmlns:a16="http://schemas.microsoft.com/office/drawing/2014/main" id="{FBCCB539-D2B9-5ECC-4AEA-E846B1F9CCB5}"/>
              </a:ext>
            </a:extLst>
          </p:cNvPr>
          <p:cNvSpPr/>
          <p:nvPr/>
        </p:nvSpPr>
        <p:spPr>
          <a:xfrm>
            <a:off x="5891463" y="2343109"/>
            <a:ext cx="481262" cy="12669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Right 24">
            <a:extLst>
              <a:ext uri="{FF2B5EF4-FFF2-40B4-BE49-F238E27FC236}">
                <a16:creationId xmlns:a16="http://schemas.microsoft.com/office/drawing/2014/main" id="{BE439BBD-62ED-168F-57EA-DFB13B6FD35B}"/>
              </a:ext>
            </a:extLst>
          </p:cNvPr>
          <p:cNvSpPr/>
          <p:nvPr/>
        </p:nvSpPr>
        <p:spPr>
          <a:xfrm>
            <a:off x="5891463" y="3584811"/>
            <a:ext cx="481262" cy="12669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Right 25">
            <a:extLst>
              <a:ext uri="{FF2B5EF4-FFF2-40B4-BE49-F238E27FC236}">
                <a16:creationId xmlns:a16="http://schemas.microsoft.com/office/drawing/2014/main" id="{5277416B-0BD3-F17C-09A7-951232AEDEF9}"/>
              </a:ext>
            </a:extLst>
          </p:cNvPr>
          <p:cNvSpPr/>
          <p:nvPr/>
        </p:nvSpPr>
        <p:spPr>
          <a:xfrm>
            <a:off x="7908423" y="2336076"/>
            <a:ext cx="481262" cy="12669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Right 26">
            <a:extLst>
              <a:ext uri="{FF2B5EF4-FFF2-40B4-BE49-F238E27FC236}">
                <a16:creationId xmlns:a16="http://schemas.microsoft.com/office/drawing/2014/main" id="{3514733E-DDD9-9143-E2A0-8F2171CA76EF}"/>
              </a:ext>
            </a:extLst>
          </p:cNvPr>
          <p:cNvSpPr/>
          <p:nvPr/>
        </p:nvSpPr>
        <p:spPr>
          <a:xfrm>
            <a:off x="7908423" y="3577778"/>
            <a:ext cx="481262" cy="12669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55050F0-6A3F-92BE-6787-564C578981EF}"/>
              </a:ext>
            </a:extLst>
          </p:cNvPr>
          <p:cNvSpPr txBox="1"/>
          <p:nvPr/>
        </p:nvSpPr>
        <p:spPr>
          <a:xfrm>
            <a:off x="5032850" y="4927500"/>
            <a:ext cx="2198487" cy="276999"/>
          </a:xfrm>
          <a:prstGeom prst="rect">
            <a:avLst/>
          </a:prstGeom>
          <a:noFill/>
        </p:spPr>
        <p:txBody>
          <a:bodyPr wrap="square">
            <a:spAutoFit/>
          </a:bodyPr>
          <a:lstStyle/>
          <a:p>
            <a:r>
              <a:rPr lang="en-GB" sz="1200" dirty="0">
                <a:latin typeface="Arial" panose="020B0604020202020204" pitchFamily="34" charset="0"/>
                <a:cs typeface="Arial" panose="020B0604020202020204" pitchFamily="34" charset="0"/>
              </a:rPr>
              <a:t>*Non-disclosive as missing</a:t>
            </a:r>
            <a:endParaRPr lang="en-GB" sz="1200" dirty="0"/>
          </a:p>
        </p:txBody>
      </p:sp>
    </p:spTree>
    <p:extLst>
      <p:ext uri="{BB962C8B-B14F-4D97-AF65-F5344CB8AC3E}">
        <p14:creationId xmlns:p14="http://schemas.microsoft.com/office/powerpoint/2010/main" val="3422991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09442491-3AB0-884A-92D7-717DB2185C1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Travel to work question</a:t>
            </a:r>
          </a:p>
        </p:txBody>
      </p:sp>
      <p:pic>
        <p:nvPicPr>
          <p:cNvPr id="3" name="Picture 2">
            <a:extLst>
              <a:ext uri="{FF2B5EF4-FFF2-40B4-BE49-F238E27FC236}">
                <a16:creationId xmlns:a16="http://schemas.microsoft.com/office/drawing/2014/main" id="{FBAAC292-9061-E5AC-473A-32FF22FD4135}"/>
              </a:ext>
            </a:extLst>
          </p:cNvPr>
          <p:cNvPicPr>
            <a:picLocks noChangeAspect="1"/>
          </p:cNvPicPr>
          <p:nvPr/>
        </p:nvPicPr>
        <p:blipFill>
          <a:blip r:embed="rId3"/>
          <a:stretch>
            <a:fillRect/>
          </a:stretch>
        </p:blipFill>
        <p:spPr>
          <a:xfrm>
            <a:off x="2" y="741406"/>
            <a:ext cx="3172624" cy="4402094"/>
          </a:xfrm>
          <a:prstGeom prst="rect">
            <a:avLst/>
          </a:prstGeom>
        </p:spPr>
      </p:pic>
      <p:pic>
        <p:nvPicPr>
          <p:cNvPr id="5" name="Picture 4">
            <a:extLst>
              <a:ext uri="{FF2B5EF4-FFF2-40B4-BE49-F238E27FC236}">
                <a16:creationId xmlns:a16="http://schemas.microsoft.com/office/drawing/2014/main" id="{8A06981A-A52B-783D-A9CF-535F632F82DB}"/>
              </a:ext>
            </a:extLst>
          </p:cNvPr>
          <p:cNvPicPr>
            <a:picLocks noChangeAspect="1"/>
          </p:cNvPicPr>
          <p:nvPr/>
        </p:nvPicPr>
        <p:blipFill>
          <a:blip r:embed="rId4"/>
          <a:stretch>
            <a:fillRect/>
          </a:stretch>
        </p:blipFill>
        <p:spPr>
          <a:xfrm>
            <a:off x="3172626" y="827903"/>
            <a:ext cx="2869623" cy="4315597"/>
          </a:xfrm>
          <a:prstGeom prst="rect">
            <a:avLst/>
          </a:prstGeom>
        </p:spPr>
      </p:pic>
      <p:sp>
        <p:nvSpPr>
          <p:cNvPr id="6" name="TextBox 5">
            <a:extLst>
              <a:ext uri="{FF2B5EF4-FFF2-40B4-BE49-F238E27FC236}">
                <a16:creationId xmlns:a16="http://schemas.microsoft.com/office/drawing/2014/main" id="{E302277F-C2BD-1A07-FEE0-E24A87704EDB}"/>
              </a:ext>
            </a:extLst>
          </p:cNvPr>
          <p:cNvSpPr txBox="1"/>
          <p:nvPr/>
        </p:nvSpPr>
        <p:spPr>
          <a:xfrm>
            <a:off x="1993820" y="4204381"/>
            <a:ext cx="1087395" cy="830997"/>
          </a:xfrm>
          <a:prstGeom prst="rect">
            <a:avLst/>
          </a:prstGeom>
          <a:noFill/>
          <a:ln>
            <a:solidFill>
              <a:schemeClr val="tx1"/>
            </a:solidFill>
          </a:ln>
        </p:spPr>
        <p:txBody>
          <a:bodyPr wrap="square" rtlCol="0">
            <a:spAutoFit/>
          </a:bodyPr>
          <a:lstStyle/>
          <a:p>
            <a:r>
              <a:rPr lang="en-GB" sz="2400" dirty="0"/>
              <a:t>2001 Census</a:t>
            </a:r>
          </a:p>
        </p:txBody>
      </p:sp>
      <p:sp>
        <p:nvSpPr>
          <p:cNvPr id="10" name="TextBox 9">
            <a:extLst>
              <a:ext uri="{FF2B5EF4-FFF2-40B4-BE49-F238E27FC236}">
                <a16:creationId xmlns:a16="http://schemas.microsoft.com/office/drawing/2014/main" id="{5ACD07B4-9D94-34C1-1DE3-A8D2A1AC6AC9}"/>
              </a:ext>
            </a:extLst>
          </p:cNvPr>
          <p:cNvSpPr txBox="1"/>
          <p:nvPr/>
        </p:nvSpPr>
        <p:spPr>
          <a:xfrm>
            <a:off x="4954854" y="4204380"/>
            <a:ext cx="1087395" cy="830997"/>
          </a:xfrm>
          <a:prstGeom prst="rect">
            <a:avLst/>
          </a:prstGeom>
          <a:noFill/>
          <a:ln>
            <a:solidFill>
              <a:schemeClr val="tx1"/>
            </a:solidFill>
          </a:ln>
        </p:spPr>
        <p:txBody>
          <a:bodyPr wrap="square" rtlCol="0">
            <a:spAutoFit/>
          </a:bodyPr>
          <a:lstStyle/>
          <a:p>
            <a:r>
              <a:rPr lang="en-GB" sz="2400" dirty="0"/>
              <a:t>2011 Census</a:t>
            </a:r>
          </a:p>
        </p:txBody>
      </p:sp>
      <p:pic>
        <p:nvPicPr>
          <p:cNvPr id="4" name="Picture 3">
            <a:extLst>
              <a:ext uri="{FF2B5EF4-FFF2-40B4-BE49-F238E27FC236}">
                <a16:creationId xmlns:a16="http://schemas.microsoft.com/office/drawing/2014/main" id="{C4AC85D4-6640-470C-FC4B-ECADBCEBE349}"/>
              </a:ext>
            </a:extLst>
          </p:cNvPr>
          <p:cNvPicPr>
            <a:picLocks noChangeAspect="1"/>
          </p:cNvPicPr>
          <p:nvPr/>
        </p:nvPicPr>
        <p:blipFill>
          <a:blip r:embed="rId5"/>
          <a:stretch>
            <a:fillRect/>
          </a:stretch>
        </p:blipFill>
        <p:spPr>
          <a:xfrm>
            <a:off x="6042249" y="741406"/>
            <a:ext cx="3101751" cy="4402094"/>
          </a:xfrm>
          <a:prstGeom prst="rect">
            <a:avLst/>
          </a:prstGeom>
        </p:spPr>
      </p:pic>
      <p:sp>
        <p:nvSpPr>
          <p:cNvPr id="11" name="TextBox 10">
            <a:extLst>
              <a:ext uri="{FF2B5EF4-FFF2-40B4-BE49-F238E27FC236}">
                <a16:creationId xmlns:a16="http://schemas.microsoft.com/office/drawing/2014/main" id="{06E3A215-355C-ECD5-CA97-1288C3D061FD}"/>
              </a:ext>
            </a:extLst>
          </p:cNvPr>
          <p:cNvSpPr txBox="1"/>
          <p:nvPr/>
        </p:nvSpPr>
        <p:spPr>
          <a:xfrm>
            <a:off x="7954689" y="4207470"/>
            <a:ext cx="1087395" cy="830997"/>
          </a:xfrm>
          <a:prstGeom prst="rect">
            <a:avLst/>
          </a:prstGeom>
          <a:noFill/>
          <a:ln>
            <a:solidFill>
              <a:schemeClr val="tx1"/>
            </a:solidFill>
          </a:ln>
        </p:spPr>
        <p:txBody>
          <a:bodyPr wrap="square" rtlCol="0">
            <a:spAutoFit/>
          </a:bodyPr>
          <a:lstStyle/>
          <a:p>
            <a:r>
              <a:rPr lang="en-GB" sz="2400" dirty="0"/>
              <a:t>2021 Census</a:t>
            </a:r>
          </a:p>
        </p:txBody>
      </p:sp>
    </p:spTree>
    <p:extLst>
      <p:ext uri="{BB962C8B-B14F-4D97-AF65-F5344CB8AC3E}">
        <p14:creationId xmlns:p14="http://schemas.microsoft.com/office/powerpoint/2010/main" val="1415942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09442491-3AB0-884A-92D7-717DB2185C1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Travel to work question</a:t>
            </a:r>
          </a:p>
        </p:txBody>
      </p:sp>
      <p:sp>
        <p:nvSpPr>
          <p:cNvPr id="10" name="TextBox 9">
            <a:extLst>
              <a:ext uri="{FF2B5EF4-FFF2-40B4-BE49-F238E27FC236}">
                <a16:creationId xmlns:a16="http://schemas.microsoft.com/office/drawing/2014/main" id="{5ACD07B4-9D94-34C1-1DE3-A8D2A1AC6AC9}"/>
              </a:ext>
            </a:extLst>
          </p:cNvPr>
          <p:cNvSpPr txBox="1"/>
          <p:nvPr/>
        </p:nvSpPr>
        <p:spPr>
          <a:xfrm>
            <a:off x="7685698" y="4101067"/>
            <a:ext cx="1087395" cy="830997"/>
          </a:xfrm>
          <a:prstGeom prst="rect">
            <a:avLst/>
          </a:prstGeom>
          <a:noFill/>
          <a:ln>
            <a:solidFill>
              <a:schemeClr val="tx1"/>
            </a:solidFill>
          </a:ln>
        </p:spPr>
        <p:txBody>
          <a:bodyPr wrap="square" rtlCol="0">
            <a:spAutoFit/>
          </a:bodyPr>
          <a:lstStyle/>
          <a:p>
            <a:r>
              <a:rPr lang="en-GB" sz="2400" dirty="0"/>
              <a:t>1991 Census</a:t>
            </a:r>
          </a:p>
        </p:txBody>
      </p:sp>
      <p:pic>
        <p:nvPicPr>
          <p:cNvPr id="4" name="Picture 3" descr="A close up of a box&#10;&#10;Description automatically generated">
            <a:extLst>
              <a:ext uri="{FF2B5EF4-FFF2-40B4-BE49-F238E27FC236}">
                <a16:creationId xmlns:a16="http://schemas.microsoft.com/office/drawing/2014/main" id="{2B9C0EA8-9B25-1390-4E2E-26B61EFE6876}"/>
              </a:ext>
            </a:extLst>
          </p:cNvPr>
          <p:cNvPicPr>
            <a:picLocks noChangeAspect="1"/>
          </p:cNvPicPr>
          <p:nvPr/>
        </p:nvPicPr>
        <p:blipFill>
          <a:blip r:embed="rId3"/>
          <a:stretch>
            <a:fillRect/>
          </a:stretch>
        </p:blipFill>
        <p:spPr>
          <a:xfrm>
            <a:off x="78123" y="926757"/>
            <a:ext cx="9012218" cy="3076832"/>
          </a:xfrm>
          <a:prstGeom prst="rect">
            <a:avLst/>
          </a:prstGeom>
        </p:spPr>
      </p:pic>
    </p:spTree>
    <p:extLst>
      <p:ext uri="{BB962C8B-B14F-4D97-AF65-F5344CB8AC3E}">
        <p14:creationId xmlns:p14="http://schemas.microsoft.com/office/powerpoint/2010/main" val="2982985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latin typeface="Arial" panose="020B0604020202020204" pitchFamily="34" charset="0"/>
                <a:cs typeface="Arial" panose="020B0604020202020204" pitchFamily="34" charset="0"/>
              </a:rPr>
              <a:pPr>
                <a:defRPr/>
              </a:pPr>
              <a:t>12</a:t>
            </a:fld>
            <a:endParaRPr lang="en-US" altLang="en-US" dirty="0">
              <a:latin typeface="Arial" panose="020B0604020202020204" pitchFamily="34" charset="0"/>
              <a:cs typeface="Arial" panose="020B0604020202020204" pitchFamily="34" charset="0"/>
            </a:endParaRPr>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of transport to work</a:t>
            </a:r>
            <a:endParaRPr lang="en-US" sz="3000" b="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2CE19E7-FCF3-BFAE-8052-C663FA20004A}"/>
              </a:ext>
            </a:extLst>
          </p:cNvPr>
          <p:cNvSpPr txBox="1"/>
          <p:nvPr/>
        </p:nvSpPr>
        <p:spPr>
          <a:xfrm>
            <a:off x="6687738" y="4906327"/>
            <a:ext cx="2468698" cy="246221"/>
          </a:xfrm>
          <a:prstGeom prst="rect">
            <a:avLst/>
          </a:prstGeom>
          <a:noFill/>
        </p:spPr>
        <p:txBody>
          <a:bodyPr wrap="square">
            <a:spAutoFit/>
          </a:bodyPr>
          <a:lstStyle/>
          <a:p>
            <a:pPr algn="r"/>
            <a:r>
              <a:rPr lang="en-GB" sz="1000" dirty="0">
                <a:latin typeface="Arial" panose="020B0604020202020204" pitchFamily="34" charset="0"/>
                <a:cs typeface="Arial" panose="020B0604020202020204" pitchFamily="34" charset="0"/>
              </a:rPr>
              <a:t>Source: ONS</a:t>
            </a:r>
          </a:p>
        </p:txBody>
      </p:sp>
      <p:graphicFrame>
        <p:nvGraphicFramePr>
          <p:cNvPr id="5" name="Chart 4">
            <a:extLst>
              <a:ext uri="{FF2B5EF4-FFF2-40B4-BE49-F238E27FC236}">
                <a16:creationId xmlns:a16="http://schemas.microsoft.com/office/drawing/2014/main" id="{6CF045C0-A732-A6F9-33C3-C9A33BC8051F}"/>
              </a:ext>
            </a:extLst>
          </p:cNvPr>
          <p:cNvGraphicFramePr>
            <a:graphicFrameLocks/>
          </p:cNvGraphicFramePr>
          <p:nvPr>
            <p:extLst>
              <p:ext uri="{D42A27DB-BD31-4B8C-83A1-F6EECF244321}">
                <p14:modId xmlns:p14="http://schemas.microsoft.com/office/powerpoint/2010/main" val="3293417031"/>
              </p:ext>
            </p:extLst>
          </p:nvPr>
        </p:nvGraphicFramePr>
        <p:xfrm>
          <a:off x="215900" y="757058"/>
          <a:ext cx="8940536" cy="483094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102ECFAF-ED8B-4196-FFF4-DC208103CC98}"/>
              </a:ext>
            </a:extLst>
          </p:cNvPr>
          <p:cNvSpPr txBox="1"/>
          <p:nvPr/>
        </p:nvSpPr>
        <p:spPr>
          <a:xfrm>
            <a:off x="1940715" y="757058"/>
            <a:ext cx="5435445" cy="369332"/>
          </a:xfrm>
          <a:prstGeom prst="rect">
            <a:avLst/>
          </a:prstGeom>
          <a:solidFill>
            <a:schemeClr val="bg1"/>
          </a:solidFill>
        </p:spPr>
        <p:txBody>
          <a:bodyPr wrap="square">
            <a:spAutoFit/>
          </a:bodyPr>
          <a:lstStyle/>
          <a:p>
            <a:r>
              <a:rPr lang="en-GB" dirty="0">
                <a:latin typeface="Arial" panose="020B0604020202020204" pitchFamily="34" charset="0"/>
                <a:cs typeface="Arial" panose="020B0604020202020204" pitchFamily="34" charset="0"/>
              </a:rPr>
              <a:t>Mode of transport to work in E&amp;W, by census year</a:t>
            </a:r>
          </a:p>
        </p:txBody>
      </p:sp>
      <p:sp>
        <p:nvSpPr>
          <p:cNvPr id="6" name="TextBox 5">
            <a:extLst>
              <a:ext uri="{FF2B5EF4-FFF2-40B4-BE49-F238E27FC236}">
                <a16:creationId xmlns:a16="http://schemas.microsoft.com/office/drawing/2014/main" id="{14AC485C-C702-153A-06B6-3F58AC704410}"/>
              </a:ext>
            </a:extLst>
          </p:cNvPr>
          <p:cNvSpPr txBox="1"/>
          <p:nvPr/>
        </p:nvSpPr>
        <p:spPr>
          <a:xfrm>
            <a:off x="-36181" y="1756204"/>
            <a:ext cx="404278" cy="461665"/>
          </a:xfrm>
          <a:prstGeom prst="rect">
            <a:avLst/>
          </a:prstGeom>
          <a:noFill/>
        </p:spPr>
        <p:txBody>
          <a:bodyPr wrap="none" rtlCol="0">
            <a:spAutoFit/>
          </a:bodyPr>
          <a:lstStyle/>
          <a:p>
            <a:r>
              <a:rPr lang="en-GB" sz="2400" dirty="0"/>
              <a:t>%</a:t>
            </a:r>
          </a:p>
        </p:txBody>
      </p:sp>
      <p:sp>
        <p:nvSpPr>
          <p:cNvPr id="4" name="TextBox 3">
            <a:extLst>
              <a:ext uri="{FF2B5EF4-FFF2-40B4-BE49-F238E27FC236}">
                <a16:creationId xmlns:a16="http://schemas.microsoft.com/office/drawing/2014/main" id="{AF0C7417-5DCA-F12A-CA33-166D3302A45C}"/>
              </a:ext>
            </a:extLst>
          </p:cNvPr>
          <p:cNvSpPr txBox="1"/>
          <p:nvPr/>
        </p:nvSpPr>
        <p:spPr>
          <a:xfrm>
            <a:off x="6675302" y="4857303"/>
            <a:ext cx="2468698" cy="246221"/>
          </a:xfrm>
          <a:prstGeom prst="rect">
            <a:avLst/>
          </a:prstGeom>
          <a:noFill/>
        </p:spPr>
        <p:txBody>
          <a:bodyPr wrap="square">
            <a:spAutoFit/>
          </a:bodyPr>
          <a:lstStyle/>
          <a:p>
            <a:pPr algn="r"/>
            <a:r>
              <a:rPr lang="en-GB" sz="1000" dirty="0">
                <a:latin typeface="Arial" panose="020B0604020202020204" pitchFamily="34" charset="0"/>
                <a:cs typeface="Arial" panose="020B0604020202020204" pitchFamily="34" charset="0"/>
              </a:rPr>
              <a:t>Source: ONS Census</a:t>
            </a:r>
          </a:p>
        </p:txBody>
      </p:sp>
      <p:sp>
        <p:nvSpPr>
          <p:cNvPr id="8" name="Rectangle 7">
            <a:extLst>
              <a:ext uri="{FF2B5EF4-FFF2-40B4-BE49-F238E27FC236}">
                <a16:creationId xmlns:a16="http://schemas.microsoft.com/office/drawing/2014/main" id="{A81932A8-E099-DDA7-285E-58972FD7236C}"/>
              </a:ext>
            </a:extLst>
          </p:cNvPr>
          <p:cNvSpPr/>
          <p:nvPr/>
        </p:nvSpPr>
        <p:spPr>
          <a:xfrm>
            <a:off x="782320" y="1005840"/>
            <a:ext cx="670560" cy="2712720"/>
          </a:xfrm>
          <a:prstGeom prst="rect">
            <a:avLst/>
          </a:prstGeom>
          <a:noFill/>
          <a:ln w="285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4733CE7-ABD8-B7EA-C3D4-482BE4D62CA0}"/>
              </a:ext>
            </a:extLst>
          </p:cNvPr>
          <p:cNvSpPr/>
          <p:nvPr/>
        </p:nvSpPr>
        <p:spPr>
          <a:xfrm>
            <a:off x="1586385" y="2092960"/>
            <a:ext cx="670560" cy="1625600"/>
          </a:xfrm>
          <a:prstGeom prst="rect">
            <a:avLst/>
          </a:prstGeom>
          <a:noFill/>
          <a:ln w="285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0442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C6EC1708-53D7-0324-7742-B03FABDAD637}"/>
              </a:ext>
            </a:extLst>
          </p:cNvPr>
          <p:cNvGraphicFramePr>
            <a:graphicFrameLocks/>
          </p:cNvGraphicFramePr>
          <p:nvPr>
            <p:extLst>
              <p:ext uri="{D42A27DB-BD31-4B8C-83A1-F6EECF244321}">
                <p14:modId xmlns:p14="http://schemas.microsoft.com/office/powerpoint/2010/main" val="2374176201"/>
              </p:ext>
            </p:extLst>
          </p:nvPr>
        </p:nvGraphicFramePr>
        <p:xfrm>
          <a:off x="0" y="638175"/>
          <a:ext cx="9370921" cy="5391922"/>
        </p:xfrm>
        <a:graphic>
          <a:graphicData uri="http://schemas.openxmlformats.org/drawingml/2006/chart">
            <c:chart xmlns:c="http://schemas.openxmlformats.org/drawingml/2006/chart" xmlns:r="http://schemas.openxmlformats.org/officeDocument/2006/relationships" r:id="rId3"/>
          </a:graphicData>
        </a:graphic>
      </p:graphicFrame>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latin typeface="Arial" panose="020B0604020202020204" pitchFamily="34" charset="0"/>
                <a:cs typeface="Arial" panose="020B0604020202020204" pitchFamily="34" charset="0"/>
              </a:rPr>
              <a:pPr>
                <a:defRPr/>
              </a:pPr>
              <a:t>13</a:t>
            </a:fld>
            <a:endParaRPr lang="en-US" altLang="en-US" dirty="0">
              <a:latin typeface="Arial" panose="020B0604020202020204" pitchFamily="34" charset="0"/>
              <a:cs typeface="Arial" panose="020B0604020202020204" pitchFamily="34" charset="0"/>
            </a:endParaRPr>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of transport to work, </a:t>
            </a:r>
            <a:r>
              <a:rPr lang="en-GB" sz="1800" b="0" dirty="0" err="1">
                <a:latin typeface="Arial" panose="020B0604020202020204" pitchFamily="34" charset="0"/>
                <a:cs typeface="Arial" panose="020B0604020202020204" pitchFamily="34" charset="0"/>
              </a:rPr>
              <a:t>excl</a:t>
            </a:r>
            <a:r>
              <a:rPr lang="en-GB" sz="1800" b="0" dirty="0">
                <a:latin typeface="Arial" panose="020B0604020202020204" pitchFamily="34" charset="0"/>
                <a:cs typeface="Arial" panose="020B0604020202020204" pitchFamily="34" charset="0"/>
              </a:rPr>
              <a:t> work at/from home </a:t>
            </a:r>
            <a:endParaRPr lang="en-US" sz="1800" b="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02ECFAF-ED8B-4196-FFF4-DC208103CC98}"/>
              </a:ext>
            </a:extLst>
          </p:cNvPr>
          <p:cNvSpPr txBox="1"/>
          <p:nvPr/>
        </p:nvSpPr>
        <p:spPr>
          <a:xfrm>
            <a:off x="1990142" y="735695"/>
            <a:ext cx="5386018" cy="369332"/>
          </a:xfrm>
          <a:prstGeom prst="rect">
            <a:avLst/>
          </a:prstGeom>
          <a:solidFill>
            <a:schemeClr val="bg1"/>
          </a:solidFill>
        </p:spPr>
        <p:txBody>
          <a:bodyPr wrap="square">
            <a:spAutoFit/>
          </a:bodyPr>
          <a:lstStyle/>
          <a:p>
            <a:r>
              <a:rPr lang="en-GB" dirty="0">
                <a:latin typeface="Arial" panose="020B0604020202020204" pitchFamily="34" charset="0"/>
                <a:cs typeface="Arial" panose="020B0604020202020204" pitchFamily="34" charset="0"/>
              </a:rPr>
              <a:t>Mode of transport to work in E&amp;W, by census year</a:t>
            </a:r>
          </a:p>
        </p:txBody>
      </p:sp>
      <p:sp>
        <p:nvSpPr>
          <p:cNvPr id="6" name="TextBox 5">
            <a:extLst>
              <a:ext uri="{FF2B5EF4-FFF2-40B4-BE49-F238E27FC236}">
                <a16:creationId xmlns:a16="http://schemas.microsoft.com/office/drawing/2014/main" id="{BB5439BC-5CDA-355F-84EF-09C87FA41BA0}"/>
              </a:ext>
            </a:extLst>
          </p:cNvPr>
          <p:cNvSpPr txBox="1"/>
          <p:nvPr/>
        </p:nvSpPr>
        <p:spPr>
          <a:xfrm>
            <a:off x="27319" y="1756204"/>
            <a:ext cx="404278" cy="461665"/>
          </a:xfrm>
          <a:prstGeom prst="rect">
            <a:avLst/>
          </a:prstGeom>
          <a:noFill/>
        </p:spPr>
        <p:txBody>
          <a:bodyPr wrap="none" rtlCol="0">
            <a:spAutoFit/>
          </a:bodyPr>
          <a:lstStyle/>
          <a:p>
            <a:r>
              <a:rPr lang="en-GB" sz="2400" dirty="0"/>
              <a:t>%</a:t>
            </a:r>
          </a:p>
        </p:txBody>
      </p:sp>
      <p:sp>
        <p:nvSpPr>
          <p:cNvPr id="4" name="TextBox 3">
            <a:extLst>
              <a:ext uri="{FF2B5EF4-FFF2-40B4-BE49-F238E27FC236}">
                <a16:creationId xmlns:a16="http://schemas.microsoft.com/office/drawing/2014/main" id="{35067659-0D91-1C92-AAB5-62C6B2BF91E4}"/>
              </a:ext>
            </a:extLst>
          </p:cNvPr>
          <p:cNvSpPr txBox="1"/>
          <p:nvPr/>
        </p:nvSpPr>
        <p:spPr>
          <a:xfrm>
            <a:off x="6675302" y="4857303"/>
            <a:ext cx="2468698" cy="246221"/>
          </a:xfrm>
          <a:prstGeom prst="rect">
            <a:avLst/>
          </a:prstGeom>
          <a:noFill/>
        </p:spPr>
        <p:txBody>
          <a:bodyPr wrap="square">
            <a:spAutoFit/>
          </a:bodyPr>
          <a:lstStyle/>
          <a:p>
            <a:pPr algn="r"/>
            <a:r>
              <a:rPr lang="en-GB" sz="1000" dirty="0">
                <a:latin typeface="Arial" panose="020B0604020202020204" pitchFamily="34" charset="0"/>
                <a:cs typeface="Arial" panose="020B0604020202020204" pitchFamily="34" charset="0"/>
              </a:rPr>
              <a:t>Source: ONS Census</a:t>
            </a:r>
          </a:p>
        </p:txBody>
      </p:sp>
    </p:spTree>
    <p:extLst>
      <p:ext uri="{BB962C8B-B14F-4D97-AF65-F5344CB8AC3E}">
        <p14:creationId xmlns:p14="http://schemas.microsoft.com/office/powerpoint/2010/main" val="3081143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0">
            <a:extLst>
              <a:ext uri="{FF2B5EF4-FFF2-40B4-BE49-F238E27FC236}">
                <a16:creationId xmlns:a16="http://schemas.microsoft.com/office/drawing/2014/main" id="{89FF9E20-93A3-678E-AF1D-1AA282B473AB}"/>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2001 to 2011 mode transition</a:t>
            </a:r>
            <a:endParaRPr lang="en-US" sz="3000" b="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6BE9D2E-CA6A-90AF-F100-8A5648D3592D}"/>
              </a:ext>
            </a:extLst>
          </p:cNvPr>
          <p:cNvGraphicFramePr>
            <a:graphicFrameLocks noGrp="1"/>
          </p:cNvGraphicFramePr>
          <p:nvPr>
            <p:extLst>
              <p:ext uri="{D42A27DB-BD31-4B8C-83A1-F6EECF244321}">
                <p14:modId xmlns:p14="http://schemas.microsoft.com/office/powerpoint/2010/main" val="3145746021"/>
              </p:ext>
            </p:extLst>
          </p:nvPr>
        </p:nvGraphicFramePr>
        <p:xfrm>
          <a:off x="215900" y="1201315"/>
          <a:ext cx="8556837" cy="3633418"/>
        </p:xfrm>
        <a:graphic>
          <a:graphicData uri="http://schemas.openxmlformats.org/drawingml/2006/table">
            <a:tbl>
              <a:tblPr/>
              <a:tblGrid>
                <a:gridCol w="339047">
                  <a:extLst>
                    <a:ext uri="{9D8B030D-6E8A-4147-A177-3AD203B41FA5}">
                      <a16:colId xmlns:a16="http://schemas.microsoft.com/office/drawing/2014/main" val="872861808"/>
                    </a:ext>
                  </a:extLst>
                </a:gridCol>
                <a:gridCol w="1013407">
                  <a:extLst>
                    <a:ext uri="{9D8B030D-6E8A-4147-A177-3AD203B41FA5}">
                      <a16:colId xmlns:a16="http://schemas.microsoft.com/office/drawing/2014/main" val="630896707"/>
                    </a:ext>
                  </a:extLst>
                </a:gridCol>
                <a:gridCol w="635082">
                  <a:extLst>
                    <a:ext uri="{9D8B030D-6E8A-4147-A177-3AD203B41FA5}">
                      <a16:colId xmlns:a16="http://schemas.microsoft.com/office/drawing/2014/main" val="3877894255"/>
                    </a:ext>
                  </a:extLst>
                </a:gridCol>
                <a:gridCol w="685485">
                  <a:extLst>
                    <a:ext uri="{9D8B030D-6E8A-4147-A177-3AD203B41FA5}">
                      <a16:colId xmlns:a16="http://schemas.microsoft.com/office/drawing/2014/main" val="4024692206"/>
                    </a:ext>
                  </a:extLst>
                </a:gridCol>
                <a:gridCol w="604839">
                  <a:extLst>
                    <a:ext uri="{9D8B030D-6E8A-4147-A177-3AD203B41FA5}">
                      <a16:colId xmlns:a16="http://schemas.microsoft.com/office/drawing/2014/main" val="2545656152"/>
                    </a:ext>
                  </a:extLst>
                </a:gridCol>
                <a:gridCol w="564517">
                  <a:extLst>
                    <a:ext uri="{9D8B030D-6E8A-4147-A177-3AD203B41FA5}">
                      <a16:colId xmlns:a16="http://schemas.microsoft.com/office/drawing/2014/main" val="2988540855"/>
                    </a:ext>
                  </a:extLst>
                </a:gridCol>
                <a:gridCol w="1068551">
                  <a:extLst>
                    <a:ext uri="{9D8B030D-6E8A-4147-A177-3AD203B41FA5}">
                      <a16:colId xmlns:a16="http://schemas.microsoft.com/office/drawing/2014/main" val="690957589"/>
                    </a:ext>
                  </a:extLst>
                </a:gridCol>
                <a:gridCol w="776211">
                  <a:extLst>
                    <a:ext uri="{9D8B030D-6E8A-4147-A177-3AD203B41FA5}">
                      <a16:colId xmlns:a16="http://schemas.microsoft.com/office/drawing/2014/main" val="1133819597"/>
                    </a:ext>
                  </a:extLst>
                </a:gridCol>
                <a:gridCol w="887099">
                  <a:extLst>
                    <a:ext uri="{9D8B030D-6E8A-4147-A177-3AD203B41FA5}">
                      <a16:colId xmlns:a16="http://schemas.microsoft.com/office/drawing/2014/main" val="2470932929"/>
                    </a:ext>
                  </a:extLst>
                </a:gridCol>
                <a:gridCol w="705646">
                  <a:extLst>
                    <a:ext uri="{9D8B030D-6E8A-4147-A177-3AD203B41FA5}">
                      <a16:colId xmlns:a16="http://schemas.microsoft.com/office/drawing/2014/main" val="1408877160"/>
                    </a:ext>
                  </a:extLst>
                </a:gridCol>
                <a:gridCol w="715727">
                  <a:extLst>
                    <a:ext uri="{9D8B030D-6E8A-4147-A177-3AD203B41FA5}">
                      <a16:colId xmlns:a16="http://schemas.microsoft.com/office/drawing/2014/main" val="367122570"/>
                    </a:ext>
                  </a:extLst>
                </a:gridCol>
                <a:gridCol w="561226">
                  <a:extLst>
                    <a:ext uri="{9D8B030D-6E8A-4147-A177-3AD203B41FA5}">
                      <a16:colId xmlns:a16="http://schemas.microsoft.com/office/drawing/2014/main" val="177854951"/>
                    </a:ext>
                  </a:extLst>
                </a:gridCol>
              </a:tblGrid>
              <a:tr h="334759">
                <a:tc rowSpan="2" gridSpan="2">
                  <a:txBody>
                    <a:bodyPr/>
                    <a:lstStyle/>
                    <a:p>
                      <a:pPr algn="ctr" fontAlgn="b"/>
                      <a:r>
                        <a:rPr lang="en-GB" sz="1800" b="1" i="0" u="none" strike="noStrike" dirty="0">
                          <a:solidFill>
                            <a:srgbClr val="000000"/>
                          </a:solidFill>
                          <a:effectLst/>
                          <a:latin typeface="Arial" panose="020B0604020202020204" pitchFamily="34" charset="0"/>
                        </a:rPr>
                        <a:t>N=132,789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hMerge="1">
                  <a:txBody>
                    <a:bodyPr/>
                    <a:lstStyle/>
                    <a:p>
                      <a:endParaRPr lang="en-GB"/>
                    </a:p>
                  </a:txBody>
                  <a:tcPr/>
                </a:tc>
                <a:tc gridSpan="10">
                  <a:txBody>
                    <a:bodyPr/>
                    <a:lstStyle/>
                    <a:p>
                      <a:pPr algn="ctr" fontAlgn="ctr"/>
                      <a:r>
                        <a:rPr lang="en-GB" sz="1800" b="1" i="0" u="none" strike="noStrike" dirty="0">
                          <a:solidFill>
                            <a:srgbClr val="000000"/>
                          </a:solidFill>
                          <a:effectLst/>
                          <a:latin typeface="Arial" panose="020B0604020202020204" pitchFamily="34" charset="0"/>
                        </a:rPr>
                        <a:t>Mode in 2011(%)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412089398"/>
                  </a:ext>
                </a:extLst>
              </a:tr>
              <a:tr h="516907">
                <a:tc gridSpan="2" vMerge="1">
                  <a:txBody>
                    <a:bodyPr/>
                    <a:lstStyle/>
                    <a:p>
                      <a:endParaRPr lang="en-GB"/>
                    </a:p>
                  </a:txBody>
                  <a:tcPr/>
                </a:tc>
                <a:tc hMerge="1"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Tube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Train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Bus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Taxi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Motorcycle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Car/van driver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Car/van passenger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Bicycle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On foot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Other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7462086"/>
                  </a:ext>
                </a:extLst>
              </a:tr>
              <a:tr h="172302">
                <a:tc rowSpan="10">
                  <a:txBody>
                    <a:bodyPr/>
                    <a:lstStyle/>
                    <a:p>
                      <a:pPr algn="ctr" fontAlgn="ctr"/>
                      <a:r>
                        <a:rPr lang="en-GB" sz="1800" b="1" i="0" u="none" strike="noStrike" dirty="0">
                          <a:solidFill>
                            <a:srgbClr val="000000"/>
                          </a:solidFill>
                          <a:effectLst/>
                          <a:latin typeface="Arial" panose="020B0604020202020204" pitchFamily="34" charset="0"/>
                        </a:rPr>
                        <a:t>Mode in 2001(%)</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400" b="0" i="0" u="none" strike="noStrike">
                          <a:solidFill>
                            <a:srgbClr val="000000"/>
                          </a:solidFill>
                          <a:effectLst/>
                          <a:latin typeface="Arial" panose="020B0604020202020204" pitchFamily="34" charset="0"/>
                        </a:rPr>
                        <a:t>Tube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35.9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dirty="0">
                          <a:solidFill>
                            <a:srgbClr val="000000"/>
                          </a:solidFill>
                          <a:effectLst/>
                          <a:latin typeface="Arial" panose="020B0604020202020204" pitchFamily="34" charset="0"/>
                        </a:rPr>
                        <a:t>18.7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25.1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dirty="0">
                          <a:solidFill>
                            <a:srgbClr val="000000"/>
                          </a:solidFill>
                          <a:effectLst/>
                          <a:latin typeface="Arial" panose="020B0604020202020204" pitchFamily="34" charset="0"/>
                        </a:rPr>
                        <a:t>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5.5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103774"/>
                  </a:ext>
                </a:extLst>
              </a:tr>
              <a:tr h="172302">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Train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44.5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7218560"/>
                  </a:ext>
                </a:extLst>
              </a:tr>
              <a:tr h="172302">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Bus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28.3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40.0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370942"/>
                  </a:ext>
                </a:extLst>
              </a:tr>
              <a:tr h="172302">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Taxi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36.7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0054914"/>
                  </a:ext>
                </a:extLst>
              </a:tr>
              <a:tr h="344605">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Motorcycle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57.2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6917037"/>
                  </a:ext>
                </a:extLst>
              </a:tr>
              <a:tr h="344605">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Car/van driver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86.3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7351677"/>
                  </a:ext>
                </a:extLst>
              </a:tr>
              <a:tr h="516907">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Car/van passenger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55.1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18.8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4655587"/>
                  </a:ext>
                </a:extLst>
              </a:tr>
              <a:tr h="172302">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Bicycle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43.5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10.0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2133500"/>
                  </a:ext>
                </a:extLst>
              </a:tr>
              <a:tr h="172302">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On foot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41.7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200" b="0" i="0" u="none" strike="noStrike">
                          <a:solidFill>
                            <a:srgbClr val="000000"/>
                          </a:solidFill>
                          <a:effectLst/>
                          <a:latin typeface="Arial" panose="020B0604020202020204" pitchFamily="34" charset="0"/>
                        </a:rPr>
                        <a:t>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482495"/>
                  </a:ext>
                </a:extLst>
              </a:tr>
              <a:tr h="172302">
                <a:tc vMerge="1">
                  <a:txBody>
                    <a:bodyPr/>
                    <a:lstStyle/>
                    <a:p>
                      <a:endParaRPr lang="en-GB"/>
                    </a:p>
                  </a:txBody>
                  <a:tcPr/>
                </a:tc>
                <a:tc>
                  <a:txBody>
                    <a:bodyPr/>
                    <a:lstStyle/>
                    <a:p>
                      <a:pPr algn="r" fontAlgn="b"/>
                      <a:r>
                        <a:rPr lang="en-GB" sz="1400" b="0" i="0" u="none" strike="noStrike">
                          <a:solidFill>
                            <a:srgbClr val="000000"/>
                          </a:solidFill>
                          <a:effectLst/>
                          <a:latin typeface="Arial" panose="020B0604020202020204" pitchFamily="34" charset="0"/>
                        </a:rPr>
                        <a:t>Other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51.7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200" b="0" i="0" u="none" strike="noStrike">
                          <a:solidFill>
                            <a:srgbClr val="000000"/>
                          </a:solidFill>
                          <a:effectLst/>
                          <a:latin typeface="Arial" panose="020B0604020202020204" pitchFamily="34" charset="0"/>
                        </a:rPr>
                        <a:t>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Arial" panose="020B0604020202020204" pitchFamily="34" charset="0"/>
                        </a:rPr>
                        <a:t>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Arial" panose="020B0604020202020204" pitchFamily="34" charset="0"/>
                        </a:rPr>
                        <a:t>18.0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238989071"/>
                  </a:ext>
                </a:extLst>
              </a:tr>
            </a:tbl>
          </a:graphicData>
        </a:graphic>
      </p:graphicFrame>
      <p:graphicFrame>
        <p:nvGraphicFramePr>
          <p:cNvPr id="8" name="Table 7">
            <a:extLst>
              <a:ext uri="{FF2B5EF4-FFF2-40B4-BE49-F238E27FC236}">
                <a16:creationId xmlns:a16="http://schemas.microsoft.com/office/drawing/2014/main" id="{0631232B-5FEF-5DD0-381B-629243C96E17}"/>
              </a:ext>
            </a:extLst>
          </p:cNvPr>
          <p:cNvGraphicFramePr>
            <a:graphicFrameLocks noGrp="1"/>
          </p:cNvGraphicFramePr>
          <p:nvPr/>
        </p:nvGraphicFramePr>
        <p:xfrm>
          <a:off x="672529" y="800517"/>
          <a:ext cx="2209800" cy="393700"/>
        </p:xfrm>
        <a:graphic>
          <a:graphicData uri="http://schemas.openxmlformats.org/drawingml/2006/table">
            <a:tbl>
              <a:tblPr/>
              <a:tblGrid>
                <a:gridCol w="2209800">
                  <a:extLst>
                    <a:ext uri="{9D8B030D-6E8A-4147-A177-3AD203B41FA5}">
                      <a16:colId xmlns:a16="http://schemas.microsoft.com/office/drawing/2014/main" val="128880491"/>
                    </a:ext>
                  </a:extLst>
                </a:gridCol>
              </a:tblGrid>
              <a:tr h="196850">
                <a:tc>
                  <a:txBody>
                    <a:bodyPr/>
                    <a:lstStyle/>
                    <a:p>
                      <a:pPr algn="l" fontAlgn="b"/>
                      <a:r>
                        <a:rPr lang="en-GB" sz="1200" b="0" i="0" u="none" strike="noStrike" dirty="0">
                          <a:solidFill>
                            <a:srgbClr val="000000"/>
                          </a:solidFill>
                          <a:effectLst/>
                          <a:latin typeface="Arial" panose="020B0604020202020204" pitchFamily="34" charset="0"/>
                        </a:rPr>
                        <a:t>First most prevalent in 2011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extLst>
                  <a:ext uri="{0D108BD9-81ED-4DB2-BD59-A6C34878D82A}">
                    <a16:rowId xmlns:a16="http://schemas.microsoft.com/office/drawing/2014/main" val="3881936257"/>
                  </a:ext>
                </a:extLst>
              </a:tr>
              <a:tr h="196850">
                <a:tc>
                  <a:txBody>
                    <a:bodyPr/>
                    <a:lstStyle/>
                    <a:p>
                      <a:pPr algn="l" fontAlgn="b"/>
                      <a:r>
                        <a:rPr lang="en-GB" sz="1200" b="0" i="0" u="none" strike="noStrike" dirty="0">
                          <a:solidFill>
                            <a:srgbClr val="000000"/>
                          </a:solidFill>
                          <a:effectLst/>
                          <a:latin typeface="Arial" panose="020B0604020202020204" pitchFamily="34" charset="0"/>
                        </a:rPr>
                        <a:t>Second most prevalent in 2011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831476920"/>
                  </a:ext>
                </a:extLst>
              </a:tr>
            </a:tbl>
          </a:graphicData>
        </a:graphic>
      </p:graphicFrame>
      <p:sp>
        <p:nvSpPr>
          <p:cNvPr id="9" name="TextBox 8">
            <a:extLst>
              <a:ext uri="{FF2B5EF4-FFF2-40B4-BE49-F238E27FC236}">
                <a16:creationId xmlns:a16="http://schemas.microsoft.com/office/drawing/2014/main" id="{866E12A5-ABAD-9E9B-B3F3-4CC62F722331}"/>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spTree>
    <p:extLst>
      <p:ext uri="{BB962C8B-B14F-4D97-AF65-F5344CB8AC3E}">
        <p14:creationId xmlns:p14="http://schemas.microsoft.com/office/powerpoint/2010/main" val="127878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0">
            <a:extLst>
              <a:ext uri="{FF2B5EF4-FFF2-40B4-BE49-F238E27FC236}">
                <a16:creationId xmlns:a16="http://schemas.microsoft.com/office/drawing/2014/main" id="{89FF9E20-93A3-678E-AF1D-1AA282B473AB}"/>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2001 to 2011 mode transition</a:t>
            </a:r>
            <a:endParaRPr lang="en-US" sz="3000" b="0"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0631232B-5FEF-5DD0-381B-629243C96E17}"/>
              </a:ext>
            </a:extLst>
          </p:cNvPr>
          <p:cNvGraphicFramePr>
            <a:graphicFrameLocks noGrp="1"/>
          </p:cNvGraphicFramePr>
          <p:nvPr/>
        </p:nvGraphicFramePr>
        <p:xfrm>
          <a:off x="672529" y="800517"/>
          <a:ext cx="2553556" cy="680720"/>
        </p:xfrm>
        <a:graphic>
          <a:graphicData uri="http://schemas.openxmlformats.org/drawingml/2006/table">
            <a:tbl>
              <a:tblPr/>
              <a:tblGrid>
                <a:gridCol w="2553556">
                  <a:extLst>
                    <a:ext uri="{9D8B030D-6E8A-4147-A177-3AD203B41FA5}">
                      <a16:colId xmlns:a16="http://schemas.microsoft.com/office/drawing/2014/main" val="128880491"/>
                    </a:ext>
                  </a:extLst>
                </a:gridCol>
              </a:tblGrid>
              <a:tr h="196850">
                <a:tc>
                  <a:txBody>
                    <a:bodyPr/>
                    <a:lstStyle/>
                    <a:p>
                      <a:pPr algn="l" fontAlgn="b">
                        <a:lnSpc>
                          <a:spcPct val="200000"/>
                        </a:lnSpc>
                      </a:pPr>
                      <a:r>
                        <a:rPr lang="en-GB" sz="1400" b="0" i="0" u="none" strike="noStrike" dirty="0">
                          <a:solidFill>
                            <a:srgbClr val="000000"/>
                          </a:solidFill>
                          <a:effectLst/>
                          <a:latin typeface="Arial" panose="020B0604020202020204" pitchFamily="34" charset="0"/>
                        </a:rPr>
                        <a:t>First most prevalent in 2011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extLst>
                  <a:ext uri="{0D108BD9-81ED-4DB2-BD59-A6C34878D82A}">
                    <a16:rowId xmlns:a16="http://schemas.microsoft.com/office/drawing/2014/main" val="3881936257"/>
                  </a:ext>
                </a:extLst>
              </a:tr>
              <a:tr h="196850">
                <a:tc>
                  <a:txBody>
                    <a:bodyPr/>
                    <a:lstStyle/>
                    <a:p>
                      <a:pPr algn="l" fontAlgn="b">
                        <a:lnSpc>
                          <a:spcPct val="200000"/>
                        </a:lnSpc>
                      </a:pPr>
                      <a:r>
                        <a:rPr lang="en-GB" sz="1400" b="0" i="0" u="none" strike="noStrike" dirty="0">
                          <a:solidFill>
                            <a:srgbClr val="000000"/>
                          </a:solidFill>
                          <a:effectLst/>
                          <a:latin typeface="Arial" panose="020B0604020202020204" pitchFamily="34" charset="0"/>
                        </a:rPr>
                        <a:t>Second most prevalent in 2011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831476920"/>
                  </a:ext>
                </a:extLst>
              </a:tr>
            </a:tbl>
          </a:graphicData>
        </a:graphic>
      </p:graphicFrame>
      <p:graphicFrame>
        <p:nvGraphicFramePr>
          <p:cNvPr id="7" name="Table 6">
            <a:extLst>
              <a:ext uri="{FF2B5EF4-FFF2-40B4-BE49-F238E27FC236}">
                <a16:creationId xmlns:a16="http://schemas.microsoft.com/office/drawing/2014/main" id="{5C676AF2-E860-907A-8B19-D21CBE62CA43}"/>
              </a:ext>
            </a:extLst>
          </p:cNvPr>
          <p:cNvGraphicFramePr>
            <a:graphicFrameLocks noGrp="1"/>
          </p:cNvGraphicFramePr>
          <p:nvPr>
            <p:extLst>
              <p:ext uri="{D42A27DB-BD31-4B8C-83A1-F6EECF244321}">
                <p14:modId xmlns:p14="http://schemas.microsoft.com/office/powerpoint/2010/main" val="3731439346"/>
              </p:ext>
            </p:extLst>
          </p:nvPr>
        </p:nvGraphicFramePr>
        <p:xfrm>
          <a:off x="263133" y="1664413"/>
          <a:ext cx="7027522" cy="3092522"/>
        </p:xfrm>
        <a:graphic>
          <a:graphicData uri="http://schemas.openxmlformats.org/drawingml/2006/table">
            <a:tbl>
              <a:tblPr/>
              <a:tblGrid>
                <a:gridCol w="1089538">
                  <a:extLst>
                    <a:ext uri="{9D8B030D-6E8A-4147-A177-3AD203B41FA5}">
                      <a16:colId xmlns:a16="http://schemas.microsoft.com/office/drawing/2014/main" val="2287088464"/>
                    </a:ext>
                  </a:extLst>
                </a:gridCol>
                <a:gridCol w="1647927">
                  <a:extLst>
                    <a:ext uri="{9D8B030D-6E8A-4147-A177-3AD203B41FA5}">
                      <a16:colId xmlns:a16="http://schemas.microsoft.com/office/drawing/2014/main" val="442240284"/>
                    </a:ext>
                  </a:extLst>
                </a:gridCol>
                <a:gridCol w="1647927">
                  <a:extLst>
                    <a:ext uri="{9D8B030D-6E8A-4147-A177-3AD203B41FA5}">
                      <a16:colId xmlns:a16="http://schemas.microsoft.com/office/drawing/2014/main" val="240170269"/>
                    </a:ext>
                  </a:extLst>
                </a:gridCol>
                <a:gridCol w="1375542">
                  <a:extLst>
                    <a:ext uri="{9D8B030D-6E8A-4147-A177-3AD203B41FA5}">
                      <a16:colId xmlns:a16="http://schemas.microsoft.com/office/drawing/2014/main" val="2685853913"/>
                    </a:ext>
                  </a:extLst>
                </a:gridCol>
                <a:gridCol w="1266588">
                  <a:extLst>
                    <a:ext uri="{9D8B030D-6E8A-4147-A177-3AD203B41FA5}">
                      <a16:colId xmlns:a16="http://schemas.microsoft.com/office/drawing/2014/main" val="2944480440"/>
                    </a:ext>
                  </a:extLst>
                </a:gridCol>
              </a:tblGrid>
              <a:tr h="341168">
                <a:tc rowSpan="2" gridSpan="2">
                  <a:txBody>
                    <a:bodyPr/>
                    <a:lstStyle/>
                    <a:p>
                      <a:pPr algn="l" fontAlgn="t"/>
                      <a:r>
                        <a:rPr lang="en-GB" sz="1800" b="1" i="0" u="none" strike="noStrike" dirty="0">
                          <a:solidFill>
                            <a:srgbClr val="000000"/>
                          </a:solidFill>
                          <a:effectLst/>
                          <a:latin typeface="Arial" panose="020B0604020202020204" pitchFamily="34" charset="0"/>
                        </a:rPr>
                        <a:t>N=131,803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hMerge="1">
                  <a:txBody>
                    <a:bodyPr/>
                    <a:lstStyle/>
                    <a:p>
                      <a:endParaRPr lang="en-GB"/>
                    </a:p>
                  </a:txBody>
                  <a:tcPr/>
                </a:tc>
                <a:tc gridSpan="3">
                  <a:txBody>
                    <a:bodyPr/>
                    <a:lstStyle/>
                    <a:p>
                      <a:pPr algn="ctr" fontAlgn="b"/>
                      <a:r>
                        <a:rPr lang="en-GB" sz="1800" b="1" i="0" u="none" strike="noStrike" dirty="0">
                          <a:solidFill>
                            <a:srgbClr val="000000"/>
                          </a:solidFill>
                          <a:effectLst/>
                          <a:latin typeface="Arial" panose="020B0604020202020204" pitchFamily="34" charset="0"/>
                        </a:rPr>
                        <a:t>Mode in 2011(%)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7793741"/>
                  </a:ext>
                </a:extLst>
              </a:tr>
              <a:tr h="341168">
                <a:tc gridSpan="2" vMerge="1">
                  <a:txBody>
                    <a:bodyPr/>
                    <a:lstStyle/>
                    <a:p>
                      <a:endParaRPr lang="en-GB"/>
                    </a:p>
                  </a:txBody>
                  <a:tcPr/>
                </a:tc>
                <a:tc hMerge="1" vMerge="1">
                  <a:txBody>
                    <a:bodyPr/>
                    <a:lstStyle/>
                    <a:p>
                      <a:endParaRPr lang="en-GB"/>
                    </a:p>
                  </a:txBody>
                  <a:tcPr/>
                </a:tc>
                <a:tc>
                  <a:txBody>
                    <a:bodyPr/>
                    <a:lstStyle/>
                    <a:p>
                      <a:pPr algn="l" fontAlgn="b"/>
                      <a:r>
                        <a:rPr lang="en-GB" sz="1800" b="0" i="0" u="none" strike="noStrike">
                          <a:solidFill>
                            <a:srgbClr val="000000"/>
                          </a:solidFill>
                          <a:effectLst/>
                          <a:latin typeface="Arial" panose="020B0604020202020204" pitchFamily="34" charset="0"/>
                        </a:rPr>
                        <a:t>Public transport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Arial" panose="020B0604020202020204" pitchFamily="34" charset="0"/>
                        </a:rPr>
                        <a:t>Private motor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Arial" panose="020B0604020202020204" pitchFamily="34" charset="0"/>
                        </a:rPr>
                        <a:t>Active travel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0502947"/>
                  </a:ext>
                </a:extLst>
              </a:tr>
              <a:tr h="715352">
                <a:tc rowSpan="3">
                  <a:txBody>
                    <a:bodyPr/>
                    <a:lstStyle/>
                    <a:p>
                      <a:pPr algn="ctr" fontAlgn="ctr"/>
                      <a:r>
                        <a:rPr lang="en-GB" sz="1800" b="1" i="0" u="none" strike="noStrike" dirty="0">
                          <a:solidFill>
                            <a:srgbClr val="000000"/>
                          </a:solidFill>
                          <a:effectLst/>
                          <a:latin typeface="Arial" panose="020B0604020202020204" pitchFamily="34" charset="0"/>
                        </a:rPr>
                        <a:t>Mode in 2001(%)</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dirty="0">
                          <a:solidFill>
                            <a:srgbClr val="000000"/>
                          </a:solidFill>
                          <a:effectLst/>
                          <a:latin typeface="Arial" panose="020B0604020202020204" pitchFamily="34" charset="0"/>
                        </a:rPr>
                        <a:t>Public transport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Arial" panose="020B0604020202020204" pitchFamily="34" charset="0"/>
                        </a:rPr>
                        <a:t>47.5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800" b="0" i="0" u="none" strike="noStrike" dirty="0">
                          <a:solidFill>
                            <a:srgbClr val="000000"/>
                          </a:solidFill>
                          <a:effectLst/>
                          <a:latin typeface="Arial" panose="020B0604020202020204" pitchFamily="34" charset="0"/>
                        </a:rPr>
                        <a:t>41.3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b"/>
                      <a:r>
                        <a:rPr lang="en-GB" sz="1800" b="0" i="0" u="none" strike="noStrike" dirty="0">
                          <a:solidFill>
                            <a:srgbClr val="000000"/>
                          </a:solidFill>
                          <a:effectLst/>
                          <a:latin typeface="Arial" panose="020B0604020202020204" pitchFamily="34" charset="0"/>
                        </a:rPr>
                        <a:t>11.1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070820"/>
                  </a:ext>
                </a:extLst>
              </a:tr>
              <a:tr h="814400">
                <a:tc vMerge="1">
                  <a:txBody>
                    <a:bodyPr/>
                    <a:lstStyle/>
                    <a:p>
                      <a:endParaRPr lang="en-GB"/>
                    </a:p>
                  </a:txBody>
                  <a:tcPr/>
                </a:tc>
                <a:tc>
                  <a:txBody>
                    <a:bodyPr/>
                    <a:lstStyle/>
                    <a:p>
                      <a:pPr algn="l" fontAlgn="b"/>
                      <a:r>
                        <a:rPr lang="en-GB" sz="1800" b="0" i="0" u="none" strike="noStrike">
                          <a:solidFill>
                            <a:srgbClr val="000000"/>
                          </a:solidFill>
                          <a:effectLst/>
                          <a:latin typeface="Arial" panose="020B0604020202020204" pitchFamily="34" charset="0"/>
                        </a:rPr>
                        <a:t>Private motor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Arial" panose="020B0604020202020204" pitchFamily="34" charset="0"/>
                        </a:rPr>
                        <a:t>5.8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Arial" panose="020B0604020202020204" pitchFamily="34" charset="0"/>
                        </a:rPr>
                        <a:t>88.0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800" b="0" i="0" u="none" strike="noStrike" dirty="0">
                          <a:solidFill>
                            <a:srgbClr val="000000"/>
                          </a:solidFill>
                          <a:effectLst/>
                          <a:latin typeface="Arial" panose="020B0604020202020204" pitchFamily="34" charset="0"/>
                        </a:rPr>
                        <a:t>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234111443"/>
                  </a:ext>
                </a:extLst>
              </a:tr>
              <a:tr h="880434">
                <a:tc vMerge="1">
                  <a:txBody>
                    <a:bodyPr/>
                    <a:lstStyle/>
                    <a:p>
                      <a:endParaRPr lang="en-GB"/>
                    </a:p>
                  </a:txBody>
                  <a:tcPr/>
                </a:tc>
                <a:tc>
                  <a:txBody>
                    <a:bodyPr/>
                    <a:lstStyle/>
                    <a:p>
                      <a:pPr algn="l" fontAlgn="b"/>
                      <a:r>
                        <a:rPr lang="en-GB" sz="1800" b="0" i="0" u="none" strike="noStrike">
                          <a:solidFill>
                            <a:srgbClr val="000000"/>
                          </a:solidFill>
                          <a:effectLst/>
                          <a:latin typeface="Arial" panose="020B0604020202020204" pitchFamily="34" charset="0"/>
                        </a:rPr>
                        <a:t>Active travel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Arial" panose="020B0604020202020204" pitchFamily="34" charset="0"/>
                        </a:rPr>
                        <a:t>11.8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800" b="0" i="0" u="none" strike="noStrike" dirty="0">
                          <a:solidFill>
                            <a:srgbClr val="000000"/>
                          </a:solidFill>
                          <a:effectLst/>
                          <a:latin typeface="Arial" panose="020B0604020202020204" pitchFamily="34" charset="0"/>
                        </a:rPr>
                        <a:t>49.6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r" fontAlgn="b"/>
                      <a:r>
                        <a:rPr lang="en-GB" sz="1800" b="0" i="0" u="none" strike="noStrike" dirty="0">
                          <a:solidFill>
                            <a:srgbClr val="000000"/>
                          </a:solidFill>
                          <a:effectLst/>
                          <a:latin typeface="Arial" panose="020B0604020202020204" pitchFamily="34" charset="0"/>
                        </a:rPr>
                        <a:t>38.7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637387327"/>
                  </a:ext>
                </a:extLst>
              </a:tr>
            </a:tbl>
          </a:graphicData>
        </a:graphic>
      </p:graphicFrame>
      <p:sp>
        <p:nvSpPr>
          <p:cNvPr id="9" name="TextBox 8">
            <a:extLst>
              <a:ext uri="{FF2B5EF4-FFF2-40B4-BE49-F238E27FC236}">
                <a16:creationId xmlns:a16="http://schemas.microsoft.com/office/drawing/2014/main" id="{67F34A52-DBBD-3739-5A98-3FEC08BBAB97}"/>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sp>
        <p:nvSpPr>
          <p:cNvPr id="3" name="Oval 2">
            <a:extLst>
              <a:ext uri="{FF2B5EF4-FFF2-40B4-BE49-F238E27FC236}">
                <a16:creationId xmlns:a16="http://schemas.microsoft.com/office/drawing/2014/main" id="{1792FEC1-FCFA-3525-6C46-454C4236C5AD}"/>
              </a:ext>
            </a:extLst>
          </p:cNvPr>
          <p:cNvSpPr/>
          <p:nvPr/>
        </p:nvSpPr>
        <p:spPr>
          <a:xfrm>
            <a:off x="6550751" y="2677274"/>
            <a:ext cx="990600" cy="1384936"/>
          </a:xfrm>
          <a:prstGeom prst="ellipse">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61C7494C-522C-C303-2EF2-C94F245D6814}"/>
              </a:ext>
            </a:extLst>
          </p:cNvPr>
          <p:cNvSpPr/>
          <p:nvPr/>
        </p:nvSpPr>
        <p:spPr>
          <a:xfrm>
            <a:off x="6550751" y="4308431"/>
            <a:ext cx="990600" cy="533400"/>
          </a:xfrm>
          <a:prstGeom prst="ellipse">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0D7DBED1-28E5-B1FC-925C-CEDC2456BCC4}"/>
              </a:ext>
            </a:extLst>
          </p:cNvPr>
          <p:cNvSpPr txBox="1"/>
          <p:nvPr/>
        </p:nvSpPr>
        <p:spPr>
          <a:xfrm>
            <a:off x="7652868" y="2954248"/>
            <a:ext cx="1227999" cy="738664"/>
          </a:xfrm>
          <a:prstGeom prst="rect">
            <a:avLst/>
          </a:prstGeom>
          <a:noFill/>
        </p:spPr>
        <p:txBody>
          <a:bodyPr wrap="square" rtlCol="0">
            <a:spAutoFit/>
          </a:bodyPr>
          <a:lstStyle/>
          <a:p>
            <a:r>
              <a:rPr lang="en-GB" sz="1400" i="1" dirty="0">
                <a:latin typeface="Arial" panose="020B0604020202020204" pitchFamily="34" charset="0"/>
                <a:cs typeface="Arial" panose="020B0604020202020204" pitchFamily="34" charset="0"/>
              </a:rPr>
              <a:t>Who switches to AT?</a:t>
            </a:r>
          </a:p>
        </p:txBody>
      </p:sp>
      <p:sp>
        <p:nvSpPr>
          <p:cNvPr id="11" name="TextBox 10">
            <a:extLst>
              <a:ext uri="{FF2B5EF4-FFF2-40B4-BE49-F238E27FC236}">
                <a16:creationId xmlns:a16="http://schemas.microsoft.com/office/drawing/2014/main" id="{518247E2-B50F-DB58-6D4B-6CA6D1AADBD1}"/>
              </a:ext>
            </a:extLst>
          </p:cNvPr>
          <p:cNvSpPr txBox="1"/>
          <p:nvPr/>
        </p:nvSpPr>
        <p:spPr>
          <a:xfrm>
            <a:off x="7665901" y="4276163"/>
            <a:ext cx="1478099" cy="523220"/>
          </a:xfrm>
          <a:prstGeom prst="rect">
            <a:avLst/>
          </a:prstGeom>
          <a:noFill/>
        </p:spPr>
        <p:txBody>
          <a:bodyPr wrap="square" rtlCol="0">
            <a:spAutoFit/>
          </a:bodyPr>
          <a:lstStyle/>
          <a:p>
            <a:r>
              <a:rPr lang="en-GB" sz="1400" i="1" dirty="0">
                <a:latin typeface="Arial" panose="020B0604020202020204" pitchFamily="34" charset="0"/>
                <a:cs typeface="Arial" panose="020B0604020202020204" pitchFamily="34" charset="0"/>
              </a:rPr>
              <a:t>Who retains AT?</a:t>
            </a:r>
          </a:p>
        </p:txBody>
      </p:sp>
    </p:spTree>
    <p:extLst>
      <p:ext uri="{BB962C8B-B14F-4D97-AF65-F5344CB8AC3E}">
        <p14:creationId xmlns:p14="http://schemas.microsoft.com/office/powerpoint/2010/main" val="258187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16</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graphicFrame>
        <p:nvGraphicFramePr>
          <p:cNvPr id="23" name="Chart 22">
            <a:extLst>
              <a:ext uri="{FF2B5EF4-FFF2-40B4-BE49-F238E27FC236}">
                <a16:creationId xmlns:a16="http://schemas.microsoft.com/office/drawing/2014/main" id="{8E74E095-FDFF-54C1-B496-D86A0681B2AA}"/>
              </a:ext>
            </a:extLst>
          </p:cNvPr>
          <p:cNvGraphicFramePr>
            <a:graphicFrameLocks/>
          </p:cNvGraphicFramePr>
          <p:nvPr>
            <p:extLst>
              <p:ext uri="{D42A27DB-BD31-4B8C-83A1-F6EECF244321}">
                <p14:modId xmlns:p14="http://schemas.microsoft.com/office/powerpoint/2010/main" val="3116209903"/>
              </p:ext>
            </p:extLst>
          </p:nvPr>
        </p:nvGraphicFramePr>
        <p:xfrm>
          <a:off x="1104900" y="738326"/>
          <a:ext cx="6707188" cy="3868479"/>
        </p:xfrm>
        <a:graphic>
          <a:graphicData uri="http://schemas.openxmlformats.org/drawingml/2006/chart">
            <c:chart xmlns:c="http://schemas.openxmlformats.org/drawingml/2006/chart" xmlns:r="http://schemas.openxmlformats.org/officeDocument/2006/relationships" r:id="rId3"/>
          </a:graphicData>
        </a:graphic>
      </p:graphicFrame>
      <p:grpSp>
        <p:nvGrpSpPr>
          <p:cNvPr id="28" name="Group 27">
            <a:extLst>
              <a:ext uri="{FF2B5EF4-FFF2-40B4-BE49-F238E27FC236}">
                <a16:creationId xmlns:a16="http://schemas.microsoft.com/office/drawing/2014/main" id="{F0CE6B52-5BB9-8BE0-92F1-C9B6352AA88F}"/>
              </a:ext>
            </a:extLst>
          </p:cNvPr>
          <p:cNvGrpSpPr/>
          <p:nvPr/>
        </p:nvGrpSpPr>
        <p:grpSpPr>
          <a:xfrm>
            <a:off x="2285673" y="4295864"/>
            <a:ext cx="970856" cy="327181"/>
            <a:chOff x="422080" y="1466925"/>
            <a:chExt cx="1642620" cy="540817"/>
          </a:xfrm>
        </p:grpSpPr>
        <p:sp>
          <p:nvSpPr>
            <p:cNvPr id="29" name="Rectangle 28">
              <a:extLst>
                <a:ext uri="{FF2B5EF4-FFF2-40B4-BE49-F238E27FC236}">
                  <a16:creationId xmlns:a16="http://schemas.microsoft.com/office/drawing/2014/main" id="{81682A40-6C79-05F1-D884-DB5CB348451F}"/>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oup 29">
              <a:extLst>
                <a:ext uri="{FF2B5EF4-FFF2-40B4-BE49-F238E27FC236}">
                  <a16:creationId xmlns:a16="http://schemas.microsoft.com/office/drawing/2014/main" id="{2AC27F5D-BDDD-6079-33F3-A3795E6E2B18}"/>
                </a:ext>
              </a:extLst>
            </p:cNvPr>
            <p:cNvGrpSpPr>
              <a:grpSpLocks noChangeAspect="1"/>
            </p:cNvGrpSpPr>
            <p:nvPr/>
          </p:nvGrpSpPr>
          <p:grpSpPr>
            <a:xfrm>
              <a:off x="422080" y="1466925"/>
              <a:ext cx="1642619" cy="540817"/>
              <a:chOff x="447480" y="1193277"/>
              <a:chExt cx="2550920" cy="839866"/>
            </a:xfrm>
          </p:grpSpPr>
          <p:pic>
            <p:nvPicPr>
              <p:cNvPr id="31" name="Graphic 30" descr="Footprints outline">
                <a:extLst>
                  <a:ext uri="{FF2B5EF4-FFF2-40B4-BE49-F238E27FC236}">
                    <a16:creationId xmlns:a16="http://schemas.microsoft.com/office/drawing/2014/main" id="{037675A2-65AE-CBBE-B1C1-42826AE6DD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68793" y="1230226"/>
                <a:ext cx="781604" cy="824230"/>
              </a:xfrm>
              <a:prstGeom prst="rect">
                <a:avLst/>
              </a:prstGeom>
            </p:spPr>
          </p:pic>
          <p:pic>
            <p:nvPicPr>
              <p:cNvPr id="32" name="Graphic 31" descr="Footprints outline">
                <a:extLst>
                  <a:ext uri="{FF2B5EF4-FFF2-40B4-BE49-F238E27FC236}">
                    <a16:creationId xmlns:a16="http://schemas.microsoft.com/office/drawing/2014/main" id="{DBEEE4A8-588B-934A-9537-71621EC649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2174170" y="1193277"/>
                <a:ext cx="824230" cy="824230"/>
              </a:xfrm>
              <a:prstGeom prst="rect">
                <a:avLst/>
              </a:prstGeom>
            </p:spPr>
          </p:pic>
          <p:sp>
            <p:nvSpPr>
              <p:cNvPr id="33" name="Arrow: Right 32">
                <a:extLst>
                  <a:ext uri="{FF2B5EF4-FFF2-40B4-BE49-F238E27FC236}">
                    <a16:creationId xmlns:a16="http://schemas.microsoft.com/office/drawing/2014/main" id="{1C8089AE-14F2-1066-0341-1C6AA6807492}"/>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4" name="Group 33">
            <a:extLst>
              <a:ext uri="{FF2B5EF4-FFF2-40B4-BE49-F238E27FC236}">
                <a16:creationId xmlns:a16="http://schemas.microsoft.com/office/drawing/2014/main" id="{D3485D58-8C89-628B-3FA4-02D4BF9403FC}"/>
              </a:ext>
            </a:extLst>
          </p:cNvPr>
          <p:cNvGrpSpPr/>
          <p:nvPr/>
        </p:nvGrpSpPr>
        <p:grpSpPr>
          <a:xfrm>
            <a:off x="5280707" y="4278240"/>
            <a:ext cx="994382" cy="348985"/>
            <a:chOff x="376287" y="3585179"/>
            <a:chExt cx="1682424" cy="576858"/>
          </a:xfrm>
        </p:grpSpPr>
        <p:sp>
          <p:nvSpPr>
            <p:cNvPr id="35" name="Rectangle 34">
              <a:extLst>
                <a:ext uri="{FF2B5EF4-FFF2-40B4-BE49-F238E27FC236}">
                  <a16:creationId xmlns:a16="http://schemas.microsoft.com/office/drawing/2014/main" id="{0EE5645B-75B7-34A5-1515-087408945DF7}"/>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6" name="Group 35">
              <a:extLst>
                <a:ext uri="{FF2B5EF4-FFF2-40B4-BE49-F238E27FC236}">
                  <a16:creationId xmlns:a16="http://schemas.microsoft.com/office/drawing/2014/main" id="{95BFB0F0-8821-B99E-FBFE-ED3EF3547584}"/>
                </a:ext>
              </a:extLst>
            </p:cNvPr>
            <p:cNvGrpSpPr>
              <a:grpSpLocks noChangeAspect="1"/>
            </p:cNvGrpSpPr>
            <p:nvPr/>
          </p:nvGrpSpPr>
          <p:grpSpPr>
            <a:xfrm>
              <a:off x="376287" y="3585179"/>
              <a:ext cx="1682424" cy="576858"/>
              <a:chOff x="3079839" y="984636"/>
              <a:chExt cx="2612735" cy="895836"/>
            </a:xfrm>
          </p:grpSpPr>
          <p:pic>
            <p:nvPicPr>
              <p:cNvPr id="37" name="Graphic 36" descr="Footprints outline">
                <a:extLst>
                  <a:ext uri="{FF2B5EF4-FFF2-40B4-BE49-F238E27FC236}">
                    <a16:creationId xmlns:a16="http://schemas.microsoft.com/office/drawing/2014/main" id="{7B38FE61-246B-DE58-29C1-456476D53A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868344" y="1023380"/>
                <a:ext cx="824230" cy="824230"/>
              </a:xfrm>
              <a:prstGeom prst="rect">
                <a:avLst/>
              </a:prstGeom>
            </p:spPr>
          </p:pic>
          <p:pic>
            <p:nvPicPr>
              <p:cNvPr id="38" name="Graphic 37" descr="Car outline">
                <a:extLst>
                  <a:ext uri="{FF2B5EF4-FFF2-40B4-BE49-F238E27FC236}">
                    <a16:creationId xmlns:a16="http://schemas.microsoft.com/office/drawing/2014/main" id="{B4ADD1E4-00E6-1297-7606-835ECA241C5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9839" y="984636"/>
                <a:ext cx="895836" cy="895836"/>
              </a:xfrm>
              <a:prstGeom prst="rect">
                <a:avLst/>
              </a:prstGeom>
            </p:spPr>
          </p:pic>
          <p:sp>
            <p:nvSpPr>
              <p:cNvPr id="39" name="Arrow: Right 38">
                <a:extLst>
                  <a:ext uri="{FF2B5EF4-FFF2-40B4-BE49-F238E27FC236}">
                    <a16:creationId xmlns:a16="http://schemas.microsoft.com/office/drawing/2014/main" id="{1D5FB859-3DB8-D2EE-645E-D5051961BE82}"/>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 name="TextBox 3">
            <a:extLst>
              <a:ext uri="{FF2B5EF4-FFF2-40B4-BE49-F238E27FC236}">
                <a16:creationId xmlns:a16="http://schemas.microsoft.com/office/drawing/2014/main" id="{519267E8-2A0D-50A3-5478-B484644918FF}"/>
              </a:ext>
            </a:extLst>
          </p:cNvPr>
          <p:cNvSpPr txBox="1"/>
          <p:nvPr/>
        </p:nvSpPr>
        <p:spPr>
          <a:xfrm>
            <a:off x="2464210" y="1751209"/>
            <a:ext cx="701021"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n=1,335</a:t>
            </a:r>
          </a:p>
        </p:txBody>
      </p:sp>
      <p:sp>
        <p:nvSpPr>
          <p:cNvPr id="6" name="TextBox 5">
            <a:extLst>
              <a:ext uri="{FF2B5EF4-FFF2-40B4-BE49-F238E27FC236}">
                <a16:creationId xmlns:a16="http://schemas.microsoft.com/office/drawing/2014/main" id="{914A826C-2D92-8617-7C16-8033C3846321}"/>
              </a:ext>
            </a:extLst>
          </p:cNvPr>
          <p:cNvSpPr txBox="1"/>
          <p:nvPr/>
        </p:nvSpPr>
        <p:spPr>
          <a:xfrm>
            <a:off x="3296549" y="1080211"/>
            <a:ext cx="679209"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n=3,282</a:t>
            </a:r>
          </a:p>
        </p:txBody>
      </p:sp>
      <p:sp>
        <p:nvSpPr>
          <p:cNvPr id="7" name="TextBox 6">
            <a:extLst>
              <a:ext uri="{FF2B5EF4-FFF2-40B4-BE49-F238E27FC236}">
                <a16:creationId xmlns:a16="http://schemas.microsoft.com/office/drawing/2014/main" id="{D9E56958-D8AA-D8B4-E33A-244191AD44E8}"/>
              </a:ext>
            </a:extLst>
          </p:cNvPr>
          <p:cNvSpPr txBox="1"/>
          <p:nvPr/>
        </p:nvSpPr>
        <p:spPr>
          <a:xfrm>
            <a:off x="5420264" y="3300338"/>
            <a:ext cx="74607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 =2,283</a:t>
            </a:r>
          </a:p>
        </p:txBody>
      </p:sp>
      <p:sp>
        <p:nvSpPr>
          <p:cNvPr id="8" name="TextBox 7">
            <a:extLst>
              <a:ext uri="{FF2B5EF4-FFF2-40B4-BE49-F238E27FC236}">
                <a16:creationId xmlns:a16="http://schemas.microsoft.com/office/drawing/2014/main" id="{0FB95DBB-6D06-2118-71E1-14E760B92332}"/>
              </a:ext>
            </a:extLst>
          </p:cNvPr>
          <p:cNvSpPr txBox="1"/>
          <p:nvPr/>
        </p:nvSpPr>
        <p:spPr>
          <a:xfrm>
            <a:off x="6322553" y="3071304"/>
            <a:ext cx="688043"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n=3,705</a:t>
            </a:r>
          </a:p>
        </p:txBody>
      </p:sp>
    </p:spTree>
    <p:extLst>
      <p:ext uri="{BB962C8B-B14F-4D97-AF65-F5344CB8AC3E}">
        <p14:creationId xmlns:p14="http://schemas.microsoft.com/office/powerpoint/2010/main" val="1241246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17</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462333" y="4904049"/>
            <a:ext cx="2468698" cy="246221"/>
          </a:xfrm>
          <a:prstGeom prst="rect">
            <a:avLst/>
          </a:prstGeom>
          <a:noFill/>
        </p:spPr>
        <p:txBody>
          <a:bodyPr wrap="square">
            <a:spAutoFit/>
          </a:bodyPr>
          <a:lstStyle/>
          <a:p>
            <a:pPr algn="r"/>
            <a:r>
              <a:rPr lang="en-GB" sz="1000" dirty="0"/>
              <a:t>Source: ONS Longitudinal Study</a:t>
            </a:r>
          </a:p>
        </p:txBody>
      </p:sp>
      <p:graphicFrame>
        <p:nvGraphicFramePr>
          <p:cNvPr id="25" name="Chart 24">
            <a:extLst>
              <a:ext uri="{FF2B5EF4-FFF2-40B4-BE49-F238E27FC236}">
                <a16:creationId xmlns:a16="http://schemas.microsoft.com/office/drawing/2014/main" id="{2982D0A1-0856-0003-3452-9ADFD451FE4D}"/>
              </a:ext>
            </a:extLst>
          </p:cNvPr>
          <p:cNvGraphicFramePr>
            <a:graphicFrameLocks/>
          </p:cNvGraphicFramePr>
          <p:nvPr>
            <p:extLst>
              <p:ext uri="{D42A27DB-BD31-4B8C-83A1-F6EECF244321}">
                <p14:modId xmlns:p14="http://schemas.microsoft.com/office/powerpoint/2010/main" val="3194092081"/>
              </p:ext>
            </p:extLst>
          </p:nvPr>
        </p:nvGraphicFramePr>
        <p:xfrm>
          <a:off x="771525" y="909942"/>
          <a:ext cx="7600949" cy="3833418"/>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18626693-6DD9-404C-25C1-A72714CA118F}"/>
              </a:ext>
            </a:extLst>
          </p:cNvPr>
          <p:cNvSpPr txBox="1"/>
          <p:nvPr/>
        </p:nvSpPr>
        <p:spPr>
          <a:xfrm>
            <a:off x="1798508" y="2820182"/>
            <a:ext cx="61321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n=665</a:t>
            </a:r>
          </a:p>
        </p:txBody>
      </p:sp>
      <p:sp>
        <p:nvSpPr>
          <p:cNvPr id="4" name="TextBox 3">
            <a:extLst>
              <a:ext uri="{FF2B5EF4-FFF2-40B4-BE49-F238E27FC236}">
                <a16:creationId xmlns:a16="http://schemas.microsoft.com/office/drawing/2014/main" id="{1EE8515D-7DD8-D052-08EE-F72E0E349E12}"/>
              </a:ext>
            </a:extLst>
          </p:cNvPr>
          <p:cNvSpPr txBox="1"/>
          <p:nvPr/>
        </p:nvSpPr>
        <p:spPr>
          <a:xfrm>
            <a:off x="2302642" y="2308487"/>
            <a:ext cx="61321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n=939</a:t>
            </a:r>
          </a:p>
        </p:txBody>
      </p:sp>
      <p:sp>
        <p:nvSpPr>
          <p:cNvPr id="6" name="TextBox 5">
            <a:extLst>
              <a:ext uri="{FF2B5EF4-FFF2-40B4-BE49-F238E27FC236}">
                <a16:creationId xmlns:a16="http://schemas.microsoft.com/office/drawing/2014/main" id="{E386735B-1799-C433-25A7-23DB67BE6A6E}"/>
              </a:ext>
            </a:extLst>
          </p:cNvPr>
          <p:cNvSpPr txBox="1"/>
          <p:nvPr/>
        </p:nvSpPr>
        <p:spPr>
          <a:xfrm>
            <a:off x="2800868" y="1673681"/>
            <a:ext cx="74597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n=1,609</a:t>
            </a:r>
          </a:p>
        </p:txBody>
      </p:sp>
      <p:sp>
        <p:nvSpPr>
          <p:cNvPr id="7" name="TextBox 6">
            <a:extLst>
              <a:ext uri="{FF2B5EF4-FFF2-40B4-BE49-F238E27FC236}">
                <a16:creationId xmlns:a16="http://schemas.microsoft.com/office/drawing/2014/main" id="{E8DE1D47-3931-05EF-6364-ACE86BA9A5A7}"/>
              </a:ext>
            </a:extLst>
          </p:cNvPr>
          <p:cNvSpPr txBox="1"/>
          <p:nvPr/>
        </p:nvSpPr>
        <p:spPr>
          <a:xfrm>
            <a:off x="3357101" y="1273571"/>
            <a:ext cx="745975"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n=1,202</a:t>
            </a:r>
          </a:p>
        </p:txBody>
      </p:sp>
      <p:sp>
        <p:nvSpPr>
          <p:cNvPr id="8" name="TextBox 7">
            <a:extLst>
              <a:ext uri="{FF2B5EF4-FFF2-40B4-BE49-F238E27FC236}">
                <a16:creationId xmlns:a16="http://schemas.microsoft.com/office/drawing/2014/main" id="{5A9C1D13-A1EF-C588-C1C7-6A4AEA90352C}"/>
              </a:ext>
            </a:extLst>
          </p:cNvPr>
          <p:cNvSpPr txBox="1"/>
          <p:nvPr/>
        </p:nvSpPr>
        <p:spPr>
          <a:xfrm>
            <a:off x="3953114" y="1279580"/>
            <a:ext cx="618885"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n=202</a:t>
            </a:r>
          </a:p>
        </p:txBody>
      </p:sp>
      <p:sp>
        <p:nvSpPr>
          <p:cNvPr id="9" name="TextBox 8">
            <a:extLst>
              <a:ext uri="{FF2B5EF4-FFF2-40B4-BE49-F238E27FC236}">
                <a16:creationId xmlns:a16="http://schemas.microsoft.com/office/drawing/2014/main" id="{0B584B1D-71C0-8B23-CA6C-2C1C6FA3C65A}"/>
              </a:ext>
            </a:extLst>
          </p:cNvPr>
          <p:cNvSpPr txBox="1"/>
          <p:nvPr/>
        </p:nvSpPr>
        <p:spPr>
          <a:xfrm>
            <a:off x="5083902" y="3374753"/>
            <a:ext cx="721068"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n=1,289</a:t>
            </a:r>
          </a:p>
        </p:txBody>
      </p:sp>
      <p:sp>
        <p:nvSpPr>
          <p:cNvPr id="11" name="TextBox 10">
            <a:extLst>
              <a:ext uri="{FF2B5EF4-FFF2-40B4-BE49-F238E27FC236}">
                <a16:creationId xmlns:a16="http://schemas.microsoft.com/office/drawing/2014/main" id="{91003A35-DFE7-D4C2-BC05-F40BD8AC7880}"/>
              </a:ext>
            </a:extLst>
          </p:cNvPr>
          <p:cNvSpPr txBox="1"/>
          <p:nvPr/>
        </p:nvSpPr>
        <p:spPr>
          <a:xfrm>
            <a:off x="5690111" y="3488591"/>
            <a:ext cx="645167"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n=1,742</a:t>
            </a:r>
          </a:p>
        </p:txBody>
      </p:sp>
      <p:sp>
        <p:nvSpPr>
          <p:cNvPr id="12" name="TextBox 11">
            <a:extLst>
              <a:ext uri="{FF2B5EF4-FFF2-40B4-BE49-F238E27FC236}">
                <a16:creationId xmlns:a16="http://schemas.microsoft.com/office/drawing/2014/main" id="{6CF7C0D0-CB66-3D39-42A6-3E3972D4646C}"/>
              </a:ext>
            </a:extLst>
          </p:cNvPr>
          <p:cNvSpPr txBox="1"/>
          <p:nvPr/>
        </p:nvSpPr>
        <p:spPr>
          <a:xfrm>
            <a:off x="6218957" y="3491558"/>
            <a:ext cx="652940"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n=1,754</a:t>
            </a:r>
          </a:p>
        </p:txBody>
      </p:sp>
      <p:sp>
        <p:nvSpPr>
          <p:cNvPr id="13" name="TextBox 12">
            <a:extLst>
              <a:ext uri="{FF2B5EF4-FFF2-40B4-BE49-F238E27FC236}">
                <a16:creationId xmlns:a16="http://schemas.microsoft.com/office/drawing/2014/main" id="{FF22968C-F6BC-6260-1875-714BC9E830CE}"/>
              </a:ext>
            </a:extLst>
          </p:cNvPr>
          <p:cNvSpPr txBox="1"/>
          <p:nvPr/>
        </p:nvSpPr>
        <p:spPr>
          <a:xfrm>
            <a:off x="6749265" y="3495979"/>
            <a:ext cx="652940"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n=1,026</a:t>
            </a:r>
          </a:p>
        </p:txBody>
      </p:sp>
      <p:sp>
        <p:nvSpPr>
          <p:cNvPr id="14" name="TextBox 13">
            <a:extLst>
              <a:ext uri="{FF2B5EF4-FFF2-40B4-BE49-F238E27FC236}">
                <a16:creationId xmlns:a16="http://schemas.microsoft.com/office/drawing/2014/main" id="{2DCA2CF7-E36E-5467-0A83-7AF961E6F0D1}"/>
              </a:ext>
            </a:extLst>
          </p:cNvPr>
          <p:cNvSpPr txBox="1"/>
          <p:nvPr/>
        </p:nvSpPr>
        <p:spPr>
          <a:xfrm>
            <a:off x="7307954" y="3470798"/>
            <a:ext cx="58558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n=177</a:t>
            </a:r>
          </a:p>
        </p:txBody>
      </p:sp>
      <p:grpSp>
        <p:nvGrpSpPr>
          <p:cNvPr id="15" name="Group 14">
            <a:extLst>
              <a:ext uri="{FF2B5EF4-FFF2-40B4-BE49-F238E27FC236}">
                <a16:creationId xmlns:a16="http://schemas.microsoft.com/office/drawing/2014/main" id="{84CD0BFD-4644-758E-BAB7-EBA78FE45303}"/>
              </a:ext>
            </a:extLst>
          </p:cNvPr>
          <p:cNvGrpSpPr/>
          <p:nvPr/>
        </p:nvGrpSpPr>
        <p:grpSpPr>
          <a:xfrm>
            <a:off x="2374732" y="4331674"/>
            <a:ext cx="970856" cy="327181"/>
            <a:chOff x="422080" y="1466925"/>
            <a:chExt cx="1642620" cy="540817"/>
          </a:xfrm>
        </p:grpSpPr>
        <p:sp>
          <p:nvSpPr>
            <p:cNvPr id="16" name="Rectangle 15">
              <a:extLst>
                <a:ext uri="{FF2B5EF4-FFF2-40B4-BE49-F238E27FC236}">
                  <a16:creationId xmlns:a16="http://schemas.microsoft.com/office/drawing/2014/main" id="{517DFA02-DF12-7480-B727-1A64EE94F7EC}"/>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 name="Group 16">
              <a:extLst>
                <a:ext uri="{FF2B5EF4-FFF2-40B4-BE49-F238E27FC236}">
                  <a16:creationId xmlns:a16="http://schemas.microsoft.com/office/drawing/2014/main" id="{BB04DF85-7F8A-D2F8-A8C8-0B374718BD1C}"/>
                </a:ext>
              </a:extLst>
            </p:cNvPr>
            <p:cNvGrpSpPr>
              <a:grpSpLocks noChangeAspect="1"/>
            </p:cNvGrpSpPr>
            <p:nvPr/>
          </p:nvGrpSpPr>
          <p:grpSpPr>
            <a:xfrm>
              <a:off x="422080" y="1466925"/>
              <a:ext cx="1642619" cy="540817"/>
              <a:chOff x="447480" y="1193277"/>
              <a:chExt cx="2550920" cy="839866"/>
            </a:xfrm>
          </p:grpSpPr>
          <p:pic>
            <p:nvPicPr>
              <p:cNvPr id="18" name="Graphic 17" descr="Footprints outline">
                <a:extLst>
                  <a:ext uri="{FF2B5EF4-FFF2-40B4-BE49-F238E27FC236}">
                    <a16:creationId xmlns:a16="http://schemas.microsoft.com/office/drawing/2014/main" id="{0872410E-38CA-37C6-99C6-5F572C83D5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68793" y="1230226"/>
                <a:ext cx="781604" cy="824230"/>
              </a:xfrm>
              <a:prstGeom prst="rect">
                <a:avLst/>
              </a:prstGeom>
            </p:spPr>
          </p:pic>
          <p:pic>
            <p:nvPicPr>
              <p:cNvPr id="19" name="Graphic 18" descr="Footprints outline">
                <a:extLst>
                  <a:ext uri="{FF2B5EF4-FFF2-40B4-BE49-F238E27FC236}">
                    <a16:creationId xmlns:a16="http://schemas.microsoft.com/office/drawing/2014/main" id="{438BEAF0-E16D-5805-881D-792A5E8A07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2174170" y="1193277"/>
                <a:ext cx="824230" cy="824230"/>
              </a:xfrm>
              <a:prstGeom prst="rect">
                <a:avLst/>
              </a:prstGeom>
            </p:spPr>
          </p:pic>
          <p:sp>
            <p:nvSpPr>
              <p:cNvPr id="20" name="Arrow: Right 19">
                <a:extLst>
                  <a:ext uri="{FF2B5EF4-FFF2-40B4-BE49-F238E27FC236}">
                    <a16:creationId xmlns:a16="http://schemas.microsoft.com/office/drawing/2014/main" id="{EF8027A5-CD9A-D1A6-B926-46B78AE6139D}"/>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 name="Group 20">
            <a:extLst>
              <a:ext uri="{FF2B5EF4-FFF2-40B4-BE49-F238E27FC236}">
                <a16:creationId xmlns:a16="http://schemas.microsoft.com/office/drawing/2014/main" id="{2A2E124A-134E-C32E-1167-9EC2D71F984A}"/>
              </a:ext>
            </a:extLst>
          </p:cNvPr>
          <p:cNvGrpSpPr/>
          <p:nvPr/>
        </p:nvGrpSpPr>
        <p:grpSpPr>
          <a:xfrm>
            <a:off x="5655477" y="4300227"/>
            <a:ext cx="994382" cy="348985"/>
            <a:chOff x="376287" y="3585179"/>
            <a:chExt cx="1682424" cy="576858"/>
          </a:xfrm>
        </p:grpSpPr>
        <p:sp>
          <p:nvSpPr>
            <p:cNvPr id="22" name="Rectangle 21">
              <a:extLst>
                <a:ext uri="{FF2B5EF4-FFF2-40B4-BE49-F238E27FC236}">
                  <a16:creationId xmlns:a16="http://schemas.microsoft.com/office/drawing/2014/main" id="{A92BFD0F-1D3E-04EE-407F-BF1E7179193F}"/>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E8F7D284-D765-6B73-2185-0AE371CF4E68}"/>
                </a:ext>
              </a:extLst>
            </p:cNvPr>
            <p:cNvGrpSpPr>
              <a:grpSpLocks noChangeAspect="1"/>
            </p:cNvGrpSpPr>
            <p:nvPr/>
          </p:nvGrpSpPr>
          <p:grpSpPr>
            <a:xfrm>
              <a:off x="376287" y="3585179"/>
              <a:ext cx="1682424" cy="576858"/>
              <a:chOff x="3079839" y="984636"/>
              <a:chExt cx="2612735" cy="895836"/>
            </a:xfrm>
          </p:grpSpPr>
          <p:pic>
            <p:nvPicPr>
              <p:cNvPr id="24" name="Graphic 23" descr="Footprints outline">
                <a:extLst>
                  <a:ext uri="{FF2B5EF4-FFF2-40B4-BE49-F238E27FC236}">
                    <a16:creationId xmlns:a16="http://schemas.microsoft.com/office/drawing/2014/main" id="{EDEB1561-DA41-7D4E-1859-DCB301BACFE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868344" y="1023380"/>
                <a:ext cx="824230" cy="824230"/>
              </a:xfrm>
              <a:prstGeom prst="rect">
                <a:avLst/>
              </a:prstGeom>
            </p:spPr>
          </p:pic>
          <p:pic>
            <p:nvPicPr>
              <p:cNvPr id="26" name="Graphic 25" descr="Car outline">
                <a:extLst>
                  <a:ext uri="{FF2B5EF4-FFF2-40B4-BE49-F238E27FC236}">
                    <a16:creationId xmlns:a16="http://schemas.microsoft.com/office/drawing/2014/main" id="{CA7B3EFE-DB75-A741-ACFE-C93ECE0895A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9839" y="984636"/>
                <a:ext cx="895836" cy="895836"/>
              </a:xfrm>
              <a:prstGeom prst="rect">
                <a:avLst/>
              </a:prstGeom>
            </p:spPr>
          </p:pic>
          <p:sp>
            <p:nvSpPr>
              <p:cNvPr id="27" name="Arrow: Right 26">
                <a:extLst>
                  <a:ext uri="{FF2B5EF4-FFF2-40B4-BE49-F238E27FC236}">
                    <a16:creationId xmlns:a16="http://schemas.microsoft.com/office/drawing/2014/main" id="{934DB4AA-3FD6-FC74-B140-614F11497E64}"/>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406723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18</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graphicFrame>
        <p:nvGraphicFramePr>
          <p:cNvPr id="27" name="Chart 26">
            <a:extLst>
              <a:ext uri="{FF2B5EF4-FFF2-40B4-BE49-F238E27FC236}">
                <a16:creationId xmlns:a16="http://schemas.microsoft.com/office/drawing/2014/main" id="{1655A732-A3E2-7CF1-A0A5-E622D6A9BE11}"/>
              </a:ext>
            </a:extLst>
          </p:cNvPr>
          <p:cNvGraphicFramePr>
            <a:graphicFrameLocks/>
          </p:cNvGraphicFramePr>
          <p:nvPr/>
        </p:nvGraphicFramePr>
        <p:xfrm>
          <a:off x="5304824" y="1587500"/>
          <a:ext cx="5337775" cy="30475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CB569E76-B874-80E5-12B2-2642B6B1F844}"/>
              </a:ext>
            </a:extLst>
          </p:cNvPr>
          <p:cNvGraphicFramePr>
            <a:graphicFrameLocks/>
          </p:cNvGraphicFramePr>
          <p:nvPr>
            <p:extLst>
              <p:ext uri="{D42A27DB-BD31-4B8C-83A1-F6EECF244321}">
                <p14:modId xmlns:p14="http://schemas.microsoft.com/office/powerpoint/2010/main" val="2935760764"/>
              </p:ext>
            </p:extLst>
          </p:nvPr>
        </p:nvGraphicFramePr>
        <p:xfrm>
          <a:off x="3079081" y="876060"/>
          <a:ext cx="4520228" cy="25816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Chart 27">
            <a:extLst>
              <a:ext uri="{FF2B5EF4-FFF2-40B4-BE49-F238E27FC236}">
                <a16:creationId xmlns:a16="http://schemas.microsoft.com/office/drawing/2014/main" id="{39161F46-1335-23F9-5CCC-1626A57DD995}"/>
              </a:ext>
            </a:extLst>
          </p:cNvPr>
          <p:cNvGraphicFramePr>
            <a:graphicFrameLocks/>
          </p:cNvGraphicFramePr>
          <p:nvPr>
            <p:extLst>
              <p:ext uri="{D42A27DB-BD31-4B8C-83A1-F6EECF244321}">
                <p14:modId xmlns:p14="http://schemas.microsoft.com/office/powerpoint/2010/main" val="1883555448"/>
              </p:ext>
            </p:extLst>
          </p:nvPr>
        </p:nvGraphicFramePr>
        <p:xfrm>
          <a:off x="952828" y="894744"/>
          <a:ext cx="6859260" cy="3786536"/>
        </p:xfrm>
        <a:graphic>
          <a:graphicData uri="http://schemas.openxmlformats.org/drawingml/2006/chart">
            <c:chart xmlns:c="http://schemas.openxmlformats.org/drawingml/2006/chart" xmlns:r="http://schemas.openxmlformats.org/officeDocument/2006/relationships" r:id="rId5"/>
          </a:graphicData>
        </a:graphic>
      </p:graphicFrame>
      <p:sp>
        <p:nvSpPr>
          <p:cNvPr id="4" name="TextBox 3">
            <a:extLst>
              <a:ext uri="{FF2B5EF4-FFF2-40B4-BE49-F238E27FC236}">
                <a16:creationId xmlns:a16="http://schemas.microsoft.com/office/drawing/2014/main" id="{328B759E-816A-477D-8E98-E4741748883E}"/>
              </a:ext>
            </a:extLst>
          </p:cNvPr>
          <p:cNvSpPr txBox="1"/>
          <p:nvPr/>
        </p:nvSpPr>
        <p:spPr>
          <a:xfrm>
            <a:off x="2396237" y="1222583"/>
            <a:ext cx="68284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n=1,236</a:t>
            </a:r>
          </a:p>
        </p:txBody>
      </p:sp>
      <p:sp>
        <p:nvSpPr>
          <p:cNvPr id="8" name="TextBox 7">
            <a:extLst>
              <a:ext uri="{FF2B5EF4-FFF2-40B4-BE49-F238E27FC236}">
                <a16:creationId xmlns:a16="http://schemas.microsoft.com/office/drawing/2014/main" id="{83DE8537-F3EA-48C5-3F6E-2404AEADDB73}"/>
              </a:ext>
            </a:extLst>
          </p:cNvPr>
          <p:cNvSpPr txBox="1"/>
          <p:nvPr/>
        </p:nvSpPr>
        <p:spPr>
          <a:xfrm>
            <a:off x="3251932" y="1716306"/>
            <a:ext cx="70118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n=3,331</a:t>
            </a:r>
          </a:p>
        </p:txBody>
      </p:sp>
      <p:sp>
        <p:nvSpPr>
          <p:cNvPr id="11" name="TextBox 10">
            <a:extLst>
              <a:ext uri="{FF2B5EF4-FFF2-40B4-BE49-F238E27FC236}">
                <a16:creationId xmlns:a16="http://schemas.microsoft.com/office/drawing/2014/main" id="{038A635C-1CD0-2F98-DD5C-48ECD4126CBA}"/>
              </a:ext>
            </a:extLst>
          </p:cNvPr>
          <p:cNvSpPr txBox="1"/>
          <p:nvPr/>
        </p:nvSpPr>
        <p:spPr>
          <a:xfrm>
            <a:off x="5456564" y="2448639"/>
            <a:ext cx="587245"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n=798</a:t>
            </a:r>
          </a:p>
        </p:txBody>
      </p:sp>
      <p:sp>
        <p:nvSpPr>
          <p:cNvPr id="13" name="TextBox 12">
            <a:extLst>
              <a:ext uri="{FF2B5EF4-FFF2-40B4-BE49-F238E27FC236}">
                <a16:creationId xmlns:a16="http://schemas.microsoft.com/office/drawing/2014/main" id="{519AA9C5-2104-0AEB-EBAD-B5AF6AAC01D8}"/>
              </a:ext>
            </a:extLst>
          </p:cNvPr>
          <p:cNvSpPr txBox="1"/>
          <p:nvPr/>
        </p:nvSpPr>
        <p:spPr>
          <a:xfrm>
            <a:off x="6286664" y="3372048"/>
            <a:ext cx="67032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n=5,163</a:t>
            </a:r>
          </a:p>
        </p:txBody>
      </p:sp>
      <p:grpSp>
        <p:nvGrpSpPr>
          <p:cNvPr id="14" name="Group 13">
            <a:extLst>
              <a:ext uri="{FF2B5EF4-FFF2-40B4-BE49-F238E27FC236}">
                <a16:creationId xmlns:a16="http://schemas.microsoft.com/office/drawing/2014/main" id="{23448C11-8B93-1A2C-1416-C0C7E43EFBE4}"/>
              </a:ext>
            </a:extLst>
          </p:cNvPr>
          <p:cNvGrpSpPr/>
          <p:nvPr/>
        </p:nvGrpSpPr>
        <p:grpSpPr>
          <a:xfrm>
            <a:off x="2374732" y="4331674"/>
            <a:ext cx="970856" cy="327181"/>
            <a:chOff x="422080" y="1466925"/>
            <a:chExt cx="1642620" cy="540817"/>
          </a:xfrm>
        </p:grpSpPr>
        <p:sp>
          <p:nvSpPr>
            <p:cNvPr id="16" name="Rectangle 15">
              <a:extLst>
                <a:ext uri="{FF2B5EF4-FFF2-40B4-BE49-F238E27FC236}">
                  <a16:creationId xmlns:a16="http://schemas.microsoft.com/office/drawing/2014/main" id="{AD38D9A2-9E9A-FF55-A225-A2CC2630A187}"/>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 name="Group 16">
              <a:extLst>
                <a:ext uri="{FF2B5EF4-FFF2-40B4-BE49-F238E27FC236}">
                  <a16:creationId xmlns:a16="http://schemas.microsoft.com/office/drawing/2014/main" id="{C216A9FB-2CF6-A0D5-AB1F-D76075766580}"/>
                </a:ext>
              </a:extLst>
            </p:cNvPr>
            <p:cNvGrpSpPr>
              <a:grpSpLocks noChangeAspect="1"/>
            </p:cNvGrpSpPr>
            <p:nvPr/>
          </p:nvGrpSpPr>
          <p:grpSpPr>
            <a:xfrm>
              <a:off x="422080" y="1466925"/>
              <a:ext cx="1642619" cy="540817"/>
              <a:chOff x="447480" y="1193277"/>
              <a:chExt cx="2550920" cy="839866"/>
            </a:xfrm>
          </p:grpSpPr>
          <p:pic>
            <p:nvPicPr>
              <p:cNvPr id="20" name="Graphic 19" descr="Footprints outline">
                <a:extLst>
                  <a:ext uri="{FF2B5EF4-FFF2-40B4-BE49-F238E27FC236}">
                    <a16:creationId xmlns:a16="http://schemas.microsoft.com/office/drawing/2014/main" id="{75168544-2071-28A7-D085-C4E0C64883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468793" y="1230226"/>
                <a:ext cx="781604" cy="824230"/>
              </a:xfrm>
              <a:prstGeom prst="rect">
                <a:avLst/>
              </a:prstGeom>
            </p:spPr>
          </p:pic>
          <p:pic>
            <p:nvPicPr>
              <p:cNvPr id="29" name="Graphic 28" descr="Footprints outline">
                <a:extLst>
                  <a:ext uri="{FF2B5EF4-FFF2-40B4-BE49-F238E27FC236}">
                    <a16:creationId xmlns:a16="http://schemas.microsoft.com/office/drawing/2014/main" id="{1BC63FAB-DF8B-347B-1806-99A404AF49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2174170" y="1193277"/>
                <a:ext cx="824230" cy="824230"/>
              </a:xfrm>
              <a:prstGeom prst="rect">
                <a:avLst/>
              </a:prstGeom>
            </p:spPr>
          </p:pic>
          <p:sp>
            <p:nvSpPr>
              <p:cNvPr id="30" name="Arrow: Right 29">
                <a:extLst>
                  <a:ext uri="{FF2B5EF4-FFF2-40B4-BE49-F238E27FC236}">
                    <a16:creationId xmlns:a16="http://schemas.microsoft.com/office/drawing/2014/main" id="{C7B810D4-9799-AF4A-5313-29CA2C5B01EE}"/>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1" name="Group 30">
            <a:extLst>
              <a:ext uri="{FF2B5EF4-FFF2-40B4-BE49-F238E27FC236}">
                <a16:creationId xmlns:a16="http://schemas.microsoft.com/office/drawing/2014/main" id="{534DBF78-F74F-87F7-72B3-47FB3BE15AAF}"/>
              </a:ext>
            </a:extLst>
          </p:cNvPr>
          <p:cNvGrpSpPr/>
          <p:nvPr/>
        </p:nvGrpSpPr>
        <p:grpSpPr>
          <a:xfrm>
            <a:off x="5350720" y="4320771"/>
            <a:ext cx="994382" cy="348985"/>
            <a:chOff x="376287" y="3585179"/>
            <a:chExt cx="1682424" cy="576858"/>
          </a:xfrm>
        </p:grpSpPr>
        <p:sp>
          <p:nvSpPr>
            <p:cNvPr id="32" name="Rectangle 31">
              <a:extLst>
                <a:ext uri="{FF2B5EF4-FFF2-40B4-BE49-F238E27FC236}">
                  <a16:creationId xmlns:a16="http://schemas.microsoft.com/office/drawing/2014/main" id="{60E84070-3516-8071-67BB-C728AF546620}"/>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3" name="Group 32">
              <a:extLst>
                <a:ext uri="{FF2B5EF4-FFF2-40B4-BE49-F238E27FC236}">
                  <a16:creationId xmlns:a16="http://schemas.microsoft.com/office/drawing/2014/main" id="{599F7BEA-C22C-3318-C6E1-0DDAA15C8D94}"/>
                </a:ext>
              </a:extLst>
            </p:cNvPr>
            <p:cNvGrpSpPr>
              <a:grpSpLocks noChangeAspect="1"/>
            </p:cNvGrpSpPr>
            <p:nvPr/>
          </p:nvGrpSpPr>
          <p:grpSpPr>
            <a:xfrm>
              <a:off x="376287" y="3585179"/>
              <a:ext cx="1682424" cy="576858"/>
              <a:chOff x="3079839" y="984636"/>
              <a:chExt cx="2612735" cy="895836"/>
            </a:xfrm>
          </p:grpSpPr>
          <p:pic>
            <p:nvPicPr>
              <p:cNvPr id="34" name="Graphic 33" descr="Footprints outline">
                <a:extLst>
                  <a:ext uri="{FF2B5EF4-FFF2-40B4-BE49-F238E27FC236}">
                    <a16:creationId xmlns:a16="http://schemas.microsoft.com/office/drawing/2014/main" id="{BBC88907-2765-3BE7-5AE9-8479595AF27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4868344" y="1023380"/>
                <a:ext cx="824230" cy="824230"/>
              </a:xfrm>
              <a:prstGeom prst="rect">
                <a:avLst/>
              </a:prstGeom>
            </p:spPr>
          </p:pic>
          <p:pic>
            <p:nvPicPr>
              <p:cNvPr id="35" name="Graphic 34" descr="Car outline">
                <a:extLst>
                  <a:ext uri="{FF2B5EF4-FFF2-40B4-BE49-F238E27FC236}">
                    <a16:creationId xmlns:a16="http://schemas.microsoft.com/office/drawing/2014/main" id="{DD503164-85A1-C7CD-5AF1-6B9530E9E1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79839" y="984636"/>
                <a:ext cx="895836" cy="895836"/>
              </a:xfrm>
              <a:prstGeom prst="rect">
                <a:avLst/>
              </a:prstGeom>
            </p:spPr>
          </p:pic>
          <p:sp>
            <p:nvSpPr>
              <p:cNvPr id="36" name="Arrow: Right 35">
                <a:extLst>
                  <a:ext uri="{FF2B5EF4-FFF2-40B4-BE49-F238E27FC236}">
                    <a16:creationId xmlns:a16="http://schemas.microsoft.com/office/drawing/2014/main" id="{7F957852-BD2E-43FA-B12A-B660CCF65061}"/>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2964640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19</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graphicFrame>
        <p:nvGraphicFramePr>
          <p:cNvPr id="34" name="Chart 33">
            <a:extLst>
              <a:ext uri="{FF2B5EF4-FFF2-40B4-BE49-F238E27FC236}">
                <a16:creationId xmlns:a16="http://schemas.microsoft.com/office/drawing/2014/main" id="{0259D809-76BA-BE87-1DC6-4BAA124B06C5}"/>
              </a:ext>
            </a:extLst>
          </p:cNvPr>
          <p:cNvGraphicFramePr>
            <a:graphicFrameLocks/>
          </p:cNvGraphicFramePr>
          <p:nvPr>
            <p:extLst>
              <p:ext uri="{D42A27DB-BD31-4B8C-83A1-F6EECF244321}">
                <p14:modId xmlns:p14="http://schemas.microsoft.com/office/powerpoint/2010/main" val="2994650026"/>
              </p:ext>
            </p:extLst>
          </p:nvPr>
        </p:nvGraphicFramePr>
        <p:xfrm>
          <a:off x="800100" y="1025524"/>
          <a:ext cx="7467600" cy="354449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DD072B7B-CCA1-71AA-647E-9627C95ABDF9}"/>
              </a:ext>
            </a:extLst>
          </p:cNvPr>
          <p:cNvSpPr txBox="1"/>
          <p:nvPr/>
        </p:nvSpPr>
        <p:spPr>
          <a:xfrm>
            <a:off x="1610939" y="2111931"/>
            <a:ext cx="613216"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n=189</a:t>
            </a:r>
          </a:p>
        </p:txBody>
      </p:sp>
      <p:sp>
        <p:nvSpPr>
          <p:cNvPr id="4" name="TextBox 3">
            <a:extLst>
              <a:ext uri="{FF2B5EF4-FFF2-40B4-BE49-F238E27FC236}">
                <a16:creationId xmlns:a16="http://schemas.microsoft.com/office/drawing/2014/main" id="{C48B4DC2-6A38-A1AC-2D44-02DFEC2005EC}"/>
              </a:ext>
            </a:extLst>
          </p:cNvPr>
          <p:cNvSpPr txBox="1"/>
          <p:nvPr/>
        </p:nvSpPr>
        <p:spPr>
          <a:xfrm>
            <a:off x="2059647" y="1985451"/>
            <a:ext cx="613216"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n=679</a:t>
            </a:r>
          </a:p>
        </p:txBody>
      </p:sp>
      <p:sp>
        <p:nvSpPr>
          <p:cNvPr id="6" name="TextBox 5">
            <a:extLst>
              <a:ext uri="{FF2B5EF4-FFF2-40B4-BE49-F238E27FC236}">
                <a16:creationId xmlns:a16="http://schemas.microsoft.com/office/drawing/2014/main" id="{F4348B4A-1DE7-B4FA-51BE-ABA20623A96C}"/>
              </a:ext>
            </a:extLst>
          </p:cNvPr>
          <p:cNvSpPr txBox="1"/>
          <p:nvPr/>
        </p:nvSpPr>
        <p:spPr>
          <a:xfrm>
            <a:off x="2427881" y="1867459"/>
            <a:ext cx="745974"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n=550</a:t>
            </a:r>
          </a:p>
        </p:txBody>
      </p:sp>
      <p:sp>
        <p:nvSpPr>
          <p:cNvPr id="7" name="TextBox 6">
            <a:extLst>
              <a:ext uri="{FF2B5EF4-FFF2-40B4-BE49-F238E27FC236}">
                <a16:creationId xmlns:a16="http://schemas.microsoft.com/office/drawing/2014/main" id="{A2764C08-693A-5E0C-17D9-0C6D8E5A1C69}"/>
              </a:ext>
            </a:extLst>
          </p:cNvPr>
          <p:cNvSpPr txBox="1"/>
          <p:nvPr/>
        </p:nvSpPr>
        <p:spPr>
          <a:xfrm>
            <a:off x="2796114" y="1707252"/>
            <a:ext cx="745975"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n=136</a:t>
            </a:r>
          </a:p>
        </p:txBody>
      </p:sp>
      <p:sp>
        <p:nvSpPr>
          <p:cNvPr id="8" name="TextBox 7">
            <a:extLst>
              <a:ext uri="{FF2B5EF4-FFF2-40B4-BE49-F238E27FC236}">
                <a16:creationId xmlns:a16="http://schemas.microsoft.com/office/drawing/2014/main" id="{ADD4F23F-8C04-B399-D600-17A0046487F5}"/>
              </a:ext>
            </a:extLst>
          </p:cNvPr>
          <p:cNvSpPr txBox="1"/>
          <p:nvPr/>
        </p:nvSpPr>
        <p:spPr>
          <a:xfrm>
            <a:off x="3256634" y="1756893"/>
            <a:ext cx="618885"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n=431</a:t>
            </a:r>
          </a:p>
        </p:txBody>
      </p:sp>
      <p:sp>
        <p:nvSpPr>
          <p:cNvPr id="9" name="TextBox 8">
            <a:extLst>
              <a:ext uri="{FF2B5EF4-FFF2-40B4-BE49-F238E27FC236}">
                <a16:creationId xmlns:a16="http://schemas.microsoft.com/office/drawing/2014/main" id="{9A717BBD-338D-163D-8BEB-07654C8CC189}"/>
              </a:ext>
            </a:extLst>
          </p:cNvPr>
          <p:cNvSpPr txBox="1"/>
          <p:nvPr/>
        </p:nvSpPr>
        <p:spPr>
          <a:xfrm>
            <a:off x="4991384" y="3389066"/>
            <a:ext cx="636319"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n=476</a:t>
            </a:r>
          </a:p>
        </p:txBody>
      </p:sp>
      <p:sp>
        <p:nvSpPr>
          <p:cNvPr id="11" name="TextBox 10">
            <a:extLst>
              <a:ext uri="{FF2B5EF4-FFF2-40B4-BE49-F238E27FC236}">
                <a16:creationId xmlns:a16="http://schemas.microsoft.com/office/drawing/2014/main" id="{B9187DA5-90FF-CB2B-5B1E-B4613FC791EB}"/>
              </a:ext>
            </a:extLst>
          </p:cNvPr>
          <p:cNvSpPr txBox="1"/>
          <p:nvPr/>
        </p:nvSpPr>
        <p:spPr>
          <a:xfrm>
            <a:off x="5397636" y="3406456"/>
            <a:ext cx="645167"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n=1,380</a:t>
            </a:r>
          </a:p>
        </p:txBody>
      </p:sp>
      <p:sp>
        <p:nvSpPr>
          <p:cNvPr id="14" name="TextBox 13">
            <a:extLst>
              <a:ext uri="{FF2B5EF4-FFF2-40B4-BE49-F238E27FC236}">
                <a16:creationId xmlns:a16="http://schemas.microsoft.com/office/drawing/2014/main" id="{BA9D2726-A7E7-5DFA-35A8-88EFF1BE7612}"/>
              </a:ext>
            </a:extLst>
          </p:cNvPr>
          <p:cNvSpPr txBox="1"/>
          <p:nvPr/>
        </p:nvSpPr>
        <p:spPr>
          <a:xfrm>
            <a:off x="5809024" y="3257863"/>
            <a:ext cx="636319"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n=1,004</a:t>
            </a:r>
          </a:p>
        </p:txBody>
      </p:sp>
      <p:sp>
        <p:nvSpPr>
          <p:cNvPr id="15" name="TextBox 14">
            <a:extLst>
              <a:ext uri="{FF2B5EF4-FFF2-40B4-BE49-F238E27FC236}">
                <a16:creationId xmlns:a16="http://schemas.microsoft.com/office/drawing/2014/main" id="{9CDA7E5F-EA06-F049-1D3E-1AF050465D77}"/>
              </a:ext>
            </a:extLst>
          </p:cNvPr>
          <p:cNvSpPr txBox="1"/>
          <p:nvPr/>
        </p:nvSpPr>
        <p:spPr>
          <a:xfrm>
            <a:off x="6195492" y="3439882"/>
            <a:ext cx="636319"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n=255</a:t>
            </a:r>
          </a:p>
        </p:txBody>
      </p:sp>
      <p:sp>
        <p:nvSpPr>
          <p:cNvPr id="16" name="TextBox 15">
            <a:extLst>
              <a:ext uri="{FF2B5EF4-FFF2-40B4-BE49-F238E27FC236}">
                <a16:creationId xmlns:a16="http://schemas.microsoft.com/office/drawing/2014/main" id="{E1EBEB45-859C-A591-30BF-C953124BE183}"/>
              </a:ext>
            </a:extLst>
          </p:cNvPr>
          <p:cNvSpPr txBox="1"/>
          <p:nvPr/>
        </p:nvSpPr>
        <p:spPr>
          <a:xfrm>
            <a:off x="6626664" y="3397284"/>
            <a:ext cx="585584"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n=551</a:t>
            </a:r>
          </a:p>
        </p:txBody>
      </p:sp>
      <p:sp>
        <p:nvSpPr>
          <p:cNvPr id="17" name="TextBox 16">
            <a:extLst>
              <a:ext uri="{FF2B5EF4-FFF2-40B4-BE49-F238E27FC236}">
                <a16:creationId xmlns:a16="http://schemas.microsoft.com/office/drawing/2014/main" id="{B4541897-1072-260E-97DB-32C229648F71}"/>
              </a:ext>
            </a:extLst>
          </p:cNvPr>
          <p:cNvSpPr txBox="1"/>
          <p:nvPr/>
        </p:nvSpPr>
        <p:spPr>
          <a:xfrm>
            <a:off x="3643496" y="1287901"/>
            <a:ext cx="618885"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n=1,524</a:t>
            </a:r>
          </a:p>
        </p:txBody>
      </p:sp>
      <p:sp>
        <p:nvSpPr>
          <p:cNvPr id="18" name="TextBox 17">
            <a:extLst>
              <a:ext uri="{FF2B5EF4-FFF2-40B4-BE49-F238E27FC236}">
                <a16:creationId xmlns:a16="http://schemas.microsoft.com/office/drawing/2014/main" id="{DDB3AD16-15A2-6A21-28FF-2525E01EE94A}"/>
              </a:ext>
            </a:extLst>
          </p:cNvPr>
          <p:cNvSpPr txBox="1"/>
          <p:nvPr/>
        </p:nvSpPr>
        <p:spPr>
          <a:xfrm>
            <a:off x="4063916" y="1272339"/>
            <a:ext cx="618885"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n=933</a:t>
            </a:r>
          </a:p>
        </p:txBody>
      </p:sp>
      <p:sp>
        <p:nvSpPr>
          <p:cNvPr id="19" name="TextBox 18">
            <a:extLst>
              <a:ext uri="{FF2B5EF4-FFF2-40B4-BE49-F238E27FC236}">
                <a16:creationId xmlns:a16="http://schemas.microsoft.com/office/drawing/2014/main" id="{C41F4D39-A374-922B-C576-9AE1C3D6AE9D}"/>
              </a:ext>
            </a:extLst>
          </p:cNvPr>
          <p:cNvSpPr txBox="1"/>
          <p:nvPr/>
        </p:nvSpPr>
        <p:spPr>
          <a:xfrm>
            <a:off x="7020161" y="3157180"/>
            <a:ext cx="585584"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n=1,244</a:t>
            </a:r>
          </a:p>
        </p:txBody>
      </p:sp>
      <p:sp>
        <p:nvSpPr>
          <p:cNvPr id="20" name="TextBox 19">
            <a:extLst>
              <a:ext uri="{FF2B5EF4-FFF2-40B4-BE49-F238E27FC236}">
                <a16:creationId xmlns:a16="http://schemas.microsoft.com/office/drawing/2014/main" id="{A6C693B6-D4D6-9F1D-98A6-2BB9A8710FBE}"/>
              </a:ext>
            </a:extLst>
          </p:cNvPr>
          <p:cNvSpPr txBox="1"/>
          <p:nvPr/>
        </p:nvSpPr>
        <p:spPr>
          <a:xfrm>
            <a:off x="7395284" y="3253006"/>
            <a:ext cx="585584" cy="215444"/>
          </a:xfrm>
          <a:prstGeom prst="rect">
            <a:avLst/>
          </a:prstGeom>
          <a:noFill/>
        </p:spPr>
        <p:txBody>
          <a:bodyPr wrap="square">
            <a:spAutoFit/>
          </a:bodyPr>
          <a:lstStyle/>
          <a:p>
            <a:pPr algn="l" fontAlgn="t"/>
            <a:r>
              <a:rPr lang="en-GB" sz="800" i="0" u="none" strike="noStrike" dirty="0">
                <a:solidFill>
                  <a:srgbClr val="000000"/>
                </a:solidFill>
                <a:effectLst/>
                <a:latin typeface="Arial" panose="020B0604020202020204" pitchFamily="34" charset="0"/>
              </a:rPr>
              <a:t>n=788</a:t>
            </a:r>
          </a:p>
        </p:txBody>
      </p:sp>
      <p:grpSp>
        <p:nvGrpSpPr>
          <p:cNvPr id="21" name="Group 20">
            <a:extLst>
              <a:ext uri="{FF2B5EF4-FFF2-40B4-BE49-F238E27FC236}">
                <a16:creationId xmlns:a16="http://schemas.microsoft.com/office/drawing/2014/main" id="{9335BD35-D6A1-0EA4-C712-B2BDBFCB2C90}"/>
              </a:ext>
            </a:extLst>
          </p:cNvPr>
          <p:cNvGrpSpPr/>
          <p:nvPr/>
        </p:nvGrpSpPr>
        <p:grpSpPr>
          <a:xfrm>
            <a:off x="2517855" y="4239720"/>
            <a:ext cx="970856" cy="327181"/>
            <a:chOff x="422080" y="1466925"/>
            <a:chExt cx="1642620" cy="540817"/>
          </a:xfrm>
        </p:grpSpPr>
        <p:sp>
          <p:nvSpPr>
            <p:cNvPr id="24" name="Rectangle 23">
              <a:extLst>
                <a:ext uri="{FF2B5EF4-FFF2-40B4-BE49-F238E27FC236}">
                  <a16:creationId xmlns:a16="http://schemas.microsoft.com/office/drawing/2014/main" id="{F5246FCE-40E8-6482-5D06-57B377897A86}"/>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 name="Group 25">
              <a:extLst>
                <a:ext uri="{FF2B5EF4-FFF2-40B4-BE49-F238E27FC236}">
                  <a16:creationId xmlns:a16="http://schemas.microsoft.com/office/drawing/2014/main" id="{FC19DD2B-1F3B-9385-EB5F-A6F7A3C2413E}"/>
                </a:ext>
              </a:extLst>
            </p:cNvPr>
            <p:cNvGrpSpPr>
              <a:grpSpLocks noChangeAspect="1"/>
            </p:cNvGrpSpPr>
            <p:nvPr/>
          </p:nvGrpSpPr>
          <p:grpSpPr>
            <a:xfrm>
              <a:off x="422080" y="1466925"/>
              <a:ext cx="1642619" cy="540817"/>
              <a:chOff x="447480" y="1193277"/>
              <a:chExt cx="2550920" cy="839866"/>
            </a:xfrm>
          </p:grpSpPr>
          <p:pic>
            <p:nvPicPr>
              <p:cNvPr id="35" name="Graphic 34" descr="Footprints outline">
                <a:extLst>
                  <a:ext uri="{FF2B5EF4-FFF2-40B4-BE49-F238E27FC236}">
                    <a16:creationId xmlns:a16="http://schemas.microsoft.com/office/drawing/2014/main" id="{49D5679E-06E4-7A9E-7957-7C2E0C8315A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68793" y="1230226"/>
                <a:ext cx="781604" cy="824230"/>
              </a:xfrm>
              <a:prstGeom prst="rect">
                <a:avLst/>
              </a:prstGeom>
            </p:spPr>
          </p:pic>
          <p:pic>
            <p:nvPicPr>
              <p:cNvPr id="36" name="Graphic 35" descr="Footprints outline">
                <a:extLst>
                  <a:ext uri="{FF2B5EF4-FFF2-40B4-BE49-F238E27FC236}">
                    <a16:creationId xmlns:a16="http://schemas.microsoft.com/office/drawing/2014/main" id="{3B100B2F-A81E-99EB-1E39-565CDDD189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2174170" y="1193277"/>
                <a:ext cx="824230" cy="824230"/>
              </a:xfrm>
              <a:prstGeom prst="rect">
                <a:avLst/>
              </a:prstGeom>
            </p:spPr>
          </p:pic>
          <p:sp>
            <p:nvSpPr>
              <p:cNvPr id="37" name="Arrow: Right 36">
                <a:extLst>
                  <a:ext uri="{FF2B5EF4-FFF2-40B4-BE49-F238E27FC236}">
                    <a16:creationId xmlns:a16="http://schemas.microsoft.com/office/drawing/2014/main" id="{82DF8176-4F83-BDFE-1F1D-33A56419F6E5}"/>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8" name="Group 37">
            <a:extLst>
              <a:ext uri="{FF2B5EF4-FFF2-40B4-BE49-F238E27FC236}">
                <a16:creationId xmlns:a16="http://schemas.microsoft.com/office/drawing/2014/main" id="{492DA97E-C216-569F-46B6-8FE2533BCF09}"/>
              </a:ext>
            </a:extLst>
          </p:cNvPr>
          <p:cNvGrpSpPr/>
          <p:nvPr/>
        </p:nvGrpSpPr>
        <p:grpSpPr>
          <a:xfrm>
            <a:off x="5493843" y="4228817"/>
            <a:ext cx="994382" cy="348985"/>
            <a:chOff x="376287" y="3585179"/>
            <a:chExt cx="1682424" cy="576858"/>
          </a:xfrm>
        </p:grpSpPr>
        <p:sp>
          <p:nvSpPr>
            <p:cNvPr id="39" name="Rectangle 38">
              <a:extLst>
                <a:ext uri="{FF2B5EF4-FFF2-40B4-BE49-F238E27FC236}">
                  <a16:creationId xmlns:a16="http://schemas.microsoft.com/office/drawing/2014/main" id="{A39AE26A-738A-080C-305B-E1A263476196}"/>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96E0DFE1-E9CD-E776-C19C-DFC4E7B63CB1}"/>
                </a:ext>
              </a:extLst>
            </p:cNvPr>
            <p:cNvGrpSpPr>
              <a:grpSpLocks noChangeAspect="1"/>
            </p:cNvGrpSpPr>
            <p:nvPr/>
          </p:nvGrpSpPr>
          <p:grpSpPr>
            <a:xfrm>
              <a:off x="376287" y="3585179"/>
              <a:ext cx="1682424" cy="576858"/>
              <a:chOff x="3079839" y="984636"/>
              <a:chExt cx="2612735" cy="895836"/>
            </a:xfrm>
          </p:grpSpPr>
          <p:pic>
            <p:nvPicPr>
              <p:cNvPr id="41" name="Graphic 40" descr="Footprints outline">
                <a:extLst>
                  <a:ext uri="{FF2B5EF4-FFF2-40B4-BE49-F238E27FC236}">
                    <a16:creationId xmlns:a16="http://schemas.microsoft.com/office/drawing/2014/main" id="{FB250E07-3B16-588E-707F-CE89300F9F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868344" y="1023380"/>
                <a:ext cx="824230" cy="824230"/>
              </a:xfrm>
              <a:prstGeom prst="rect">
                <a:avLst/>
              </a:prstGeom>
            </p:spPr>
          </p:pic>
          <p:pic>
            <p:nvPicPr>
              <p:cNvPr id="42" name="Graphic 41" descr="Car outline">
                <a:extLst>
                  <a:ext uri="{FF2B5EF4-FFF2-40B4-BE49-F238E27FC236}">
                    <a16:creationId xmlns:a16="http://schemas.microsoft.com/office/drawing/2014/main" id="{F81FBD24-9B63-7223-8CE4-4D4F4E12A7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9839" y="984636"/>
                <a:ext cx="895836" cy="895836"/>
              </a:xfrm>
              <a:prstGeom prst="rect">
                <a:avLst/>
              </a:prstGeom>
            </p:spPr>
          </p:pic>
          <p:sp>
            <p:nvSpPr>
              <p:cNvPr id="43" name="Arrow: Right 42">
                <a:extLst>
                  <a:ext uri="{FF2B5EF4-FFF2-40B4-BE49-F238E27FC236}">
                    <a16:creationId xmlns:a16="http://schemas.microsoft.com/office/drawing/2014/main" id="{8EE6637C-1F7F-E1BD-4029-C83273AC99DD}"/>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227095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20</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596188"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graphicFrame>
        <p:nvGraphicFramePr>
          <p:cNvPr id="4" name="Chart 3">
            <a:extLst>
              <a:ext uri="{FF2B5EF4-FFF2-40B4-BE49-F238E27FC236}">
                <a16:creationId xmlns:a16="http://schemas.microsoft.com/office/drawing/2014/main" id="{1D1EC40D-58B9-0E24-9369-59FB088532AA}"/>
              </a:ext>
            </a:extLst>
          </p:cNvPr>
          <p:cNvGraphicFramePr>
            <a:graphicFrameLocks/>
          </p:cNvGraphicFramePr>
          <p:nvPr>
            <p:extLst>
              <p:ext uri="{D42A27DB-BD31-4B8C-83A1-F6EECF244321}">
                <p14:modId xmlns:p14="http://schemas.microsoft.com/office/powerpoint/2010/main" val="2204037491"/>
              </p:ext>
            </p:extLst>
          </p:nvPr>
        </p:nvGraphicFramePr>
        <p:xfrm>
          <a:off x="850900" y="845880"/>
          <a:ext cx="7315200" cy="3835399"/>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D9C9B075-4D02-ED15-5740-E29346DCF509}"/>
              </a:ext>
            </a:extLst>
          </p:cNvPr>
          <p:cNvSpPr txBox="1"/>
          <p:nvPr/>
        </p:nvSpPr>
        <p:spPr>
          <a:xfrm>
            <a:off x="2396237" y="2678808"/>
            <a:ext cx="68284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n=1,277</a:t>
            </a:r>
          </a:p>
        </p:txBody>
      </p:sp>
      <p:sp>
        <p:nvSpPr>
          <p:cNvPr id="12" name="TextBox 11">
            <a:extLst>
              <a:ext uri="{FF2B5EF4-FFF2-40B4-BE49-F238E27FC236}">
                <a16:creationId xmlns:a16="http://schemas.microsoft.com/office/drawing/2014/main" id="{A57D4793-7615-6705-3B41-FCC98FFAE2AC}"/>
              </a:ext>
            </a:extLst>
          </p:cNvPr>
          <p:cNvSpPr txBox="1"/>
          <p:nvPr/>
        </p:nvSpPr>
        <p:spPr>
          <a:xfrm>
            <a:off x="3312810" y="1228327"/>
            <a:ext cx="70118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n=3,339</a:t>
            </a:r>
          </a:p>
        </p:txBody>
      </p:sp>
      <p:sp>
        <p:nvSpPr>
          <p:cNvPr id="16" name="TextBox 15">
            <a:extLst>
              <a:ext uri="{FF2B5EF4-FFF2-40B4-BE49-F238E27FC236}">
                <a16:creationId xmlns:a16="http://schemas.microsoft.com/office/drawing/2014/main" id="{CDC45FAD-D691-DE21-18EC-54403642E01A}"/>
              </a:ext>
            </a:extLst>
          </p:cNvPr>
          <p:cNvSpPr txBox="1"/>
          <p:nvPr/>
        </p:nvSpPr>
        <p:spPr>
          <a:xfrm>
            <a:off x="5666232" y="3254861"/>
            <a:ext cx="65555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n=3,239</a:t>
            </a:r>
          </a:p>
        </p:txBody>
      </p:sp>
      <p:sp>
        <p:nvSpPr>
          <p:cNvPr id="17" name="TextBox 16">
            <a:extLst>
              <a:ext uri="{FF2B5EF4-FFF2-40B4-BE49-F238E27FC236}">
                <a16:creationId xmlns:a16="http://schemas.microsoft.com/office/drawing/2014/main" id="{946A0A64-3145-2A0B-9EFA-D8D1316169E0}"/>
              </a:ext>
            </a:extLst>
          </p:cNvPr>
          <p:cNvSpPr txBox="1"/>
          <p:nvPr/>
        </p:nvSpPr>
        <p:spPr>
          <a:xfrm>
            <a:off x="6542974" y="3356541"/>
            <a:ext cx="67032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n=2,746</a:t>
            </a:r>
          </a:p>
        </p:txBody>
      </p:sp>
      <p:grpSp>
        <p:nvGrpSpPr>
          <p:cNvPr id="2" name="Group 1">
            <a:extLst>
              <a:ext uri="{FF2B5EF4-FFF2-40B4-BE49-F238E27FC236}">
                <a16:creationId xmlns:a16="http://schemas.microsoft.com/office/drawing/2014/main" id="{D24FED4D-51E8-E178-C860-3B50ACCD8E3B}"/>
              </a:ext>
            </a:extLst>
          </p:cNvPr>
          <p:cNvGrpSpPr/>
          <p:nvPr/>
        </p:nvGrpSpPr>
        <p:grpSpPr>
          <a:xfrm>
            <a:off x="2517855" y="4321610"/>
            <a:ext cx="970856" cy="327181"/>
            <a:chOff x="422080" y="1466925"/>
            <a:chExt cx="1642620" cy="540817"/>
          </a:xfrm>
        </p:grpSpPr>
        <p:sp>
          <p:nvSpPr>
            <p:cNvPr id="6" name="Rectangle 5">
              <a:extLst>
                <a:ext uri="{FF2B5EF4-FFF2-40B4-BE49-F238E27FC236}">
                  <a16:creationId xmlns:a16="http://schemas.microsoft.com/office/drawing/2014/main" id="{96503FE9-F266-526C-48FF-FB317BEF9388}"/>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4708A980-D961-6FF9-E6E9-4E888D44DD85}"/>
                </a:ext>
              </a:extLst>
            </p:cNvPr>
            <p:cNvGrpSpPr>
              <a:grpSpLocks noChangeAspect="1"/>
            </p:cNvGrpSpPr>
            <p:nvPr/>
          </p:nvGrpSpPr>
          <p:grpSpPr>
            <a:xfrm>
              <a:off x="422080" y="1466925"/>
              <a:ext cx="1642619" cy="540817"/>
              <a:chOff x="447480" y="1193277"/>
              <a:chExt cx="2550920" cy="839866"/>
            </a:xfrm>
          </p:grpSpPr>
          <p:pic>
            <p:nvPicPr>
              <p:cNvPr id="8" name="Graphic 7" descr="Footprints outline">
                <a:extLst>
                  <a:ext uri="{FF2B5EF4-FFF2-40B4-BE49-F238E27FC236}">
                    <a16:creationId xmlns:a16="http://schemas.microsoft.com/office/drawing/2014/main" id="{8CD5CA11-ACE5-27D6-06A0-B5E0BFAED5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68793" y="1230226"/>
                <a:ext cx="781604" cy="824230"/>
              </a:xfrm>
              <a:prstGeom prst="rect">
                <a:avLst/>
              </a:prstGeom>
            </p:spPr>
          </p:pic>
          <p:pic>
            <p:nvPicPr>
              <p:cNvPr id="24" name="Graphic 23" descr="Footprints outline">
                <a:extLst>
                  <a:ext uri="{FF2B5EF4-FFF2-40B4-BE49-F238E27FC236}">
                    <a16:creationId xmlns:a16="http://schemas.microsoft.com/office/drawing/2014/main" id="{10E1EA5F-437F-19F2-B593-2009AC3924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2174170" y="1193277"/>
                <a:ext cx="824230" cy="824230"/>
              </a:xfrm>
              <a:prstGeom prst="rect">
                <a:avLst/>
              </a:prstGeom>
            </p:spPr>
          </p:pic>
          <p:sp>
            <p:nvSpPr>
              <p:cNvPr id="26" name="Arrow: Right 25">
                <a:extLst>
                  <a:ext uri="{FF2B5EF4-FFF2-40B4-BE49-F238E27FC236}">
                    <a16:creationId xmlns:a16="http://schemas.microsoft.com/office/drawing/2014/main" id="{F666CCF9-2818-8A18-C2FC-3B4EF898F868}"/>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9" name="Group 28">
            <a:extLst>
              <a:ext uri="{FF2B5EF4-FFF2-40B4-BE49-F238E27FC236}">
                <a16:creationId xmlns:a16="http://schemas.microsoft.com/office/drawing/2014/main" id="{B481706F-4511-26C8-AA7D-DAC328C2B38A}"/>
              </a:ext>
            </a:extLst>
          </p:cNvPr>
          <p:cNvGrpSpPr/>
          <p:nvPr/>
        </p:nvGrpSpPr>
        <p:grpSpPr>
          <a:xfrm>
            <a:off x="5493843" y="4310707"/>
            <a:ext cx="994382" cy="348985"/>
            <a:chOff x="376287" y="3585179"/>
            <a:chExt cx="1682424" cy="576858"/>
          </a:xfrm>
        </p:grpSpPr>
        <p:sp>
          <p:nvSpPr>
            <p:cNvPr id="30" name="Rectangle 29">
              <a:extLst>
                <a:ext uri="{FF2B5EF4-FFF2-40B4-BE49-F238E27FC236}">
                  <a16:creationId xmlns:a16="http://schemas.microsoft.com/office/drawing/2014/main" id="{7655EDA9-7B3C-7927-5BB4-AB244D80314A}"/>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oup 30">
              <a:extLst>
                <a:ext uri="{FF2B5EF4-FFF2-40B4-BE49-F238E27FC236}">
                  <a16:creationId xmlns:a16="http://schemas.microsoft.com/office/drawing/2014/main" id="{BDCABD87-3F6D-3D25-3BFC-9FD6399F5E4F}"/>
                </a:ext>
              </a:extLst>
            </p:cNvPr>
            <p:cNvGrpSpPr>
              <a:grpSpLocks noChangeAspect="1"/>
            </p:cNvGrpSpPr>
            <p:nvPr/>
          </p:nvGrpSpPr>
          <p:grpSpPr>
            <a:xfrm>
              <a:off x="376287" y="3585179"/>
              <a:ext cx="1682424" cy="576858"/>
              <a:chOff x="3079839" y="984636"/>
              <a:chExt cx="2612735" cy="895836"/>
            </a:xfrm>
          </p:grpSpPr>
          <p:pic>
            <p:nvPicPr>
              <p:cNvPr id="32" name="Graphic 31" descr="Footprints outline">
                <a:extLst>
                  <a:ext uri="{FF2B5EF4-FFF2-40B4-BE49-F238E27FC236}">
                    <a16:creationId xmlns:a16="http://schemas.microsoft.com/office/drawing/2014/main" id="{6A89D118-C856-DE17-89B8-EAF913D5B6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868344" y="1023380"/>
                <a:ext cx="824230" cy="824230"/>
              </a:xfrm>
              <a:prstGeom prst="rect">
                <a:avLst/>
              </a:prstGeom>
            </p:spPr>
          </p:pic>
          <p:pic>
            <p:nvPicPr>
              <p:cNvPr id="33" name="Graphic 32" descr="Car outline">
                <a:extLst>
                  <a:ext uri="{FF2B5EF4-FFF2-40B4-BE49-F238E27FC236}">
                    <a16:creationId xmlns:a16="http://schemas.microsoft.com/office/drawing/2014/main" id="{34FFADB9-38AA-8406-7BF1-160388F10A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9839" y="984636"/>
                <a:ext cx="895836" cy="895836"/>
              </a:xfrm>
              <a:prstGeom prst="rect">
                <a:avLst/>
              </a:prstGeom>
            </p:spPr>
          </p:pic>
          <p:sp>
            <p:nvSpPr>
              <p:cNvPr id="34" name="Arrow: Right 33">
                <a:extLst>
                  <a:ext uri="{FF2B5EF4-FFF2-40B4-BE49-F238E27FC236}">
                    <a16:creationId xmlns:a16="http://schemas.microsoft.com/office/drawing/2014/main" id="{94B489D4-4726-D26D-41D5-4951028CACE5}"/>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178152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21</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graphicFrame>
        <p:nvGraphicFramePr>
          <p:cNvPr id="9" name="Chart 8">
            <a:extLst>
              <a:ext uri="{FF2B5EF4-FFF2-40B4-BE49-F238E27FC236}">
                <a16:creationId xmlns:a16="http://schemas.microsoft.com/office/drawing/2014/main" id="{403134AE-7542-27F3-B6EA-046B97D0A189}"/>
              </a:ext>
            </a:extLst>
          </p:cNvPr>
          <p:cNvGraphicFramePr>
            <a:graphicFrameLocks/>
          </p:cNvGraphicFramePr>
          <p:nvPr>
            <p:extLst>
              <p:ext uri="{D42A27DB-BD31-4B8C-83A1-F6EECF244321}">
                <p14:modId xmlns:p14="http://schemas.microsoft.com/office/powerpoint/2010/main" val="3478313962"/>
              </p:ext>
            </p:extLst>
          </p:nvPr>
        </p:nvGraphicFramePr>
        <p:xfrm>
          <a:off x="901700" y="885424"/>
          <a:ext cx="7454900" cy="376277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E1CAF71-E79C-B9DC-7EC5-59EAC8095ABC}"/>
              </a:ext>
            </a:extLst>
          </p:cNvPr>
          <p:cNvSpPr txBox="1"/>
          <p:nvPr/>
        </p:nvSpPr>
        <p:spPr>
          <a:xfrm>
            <a:off x="2460929" y="2580721"/>
            <a:ext cx="68284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n=2,771</a:t>
            </a:r>
          </a:p>
        </p:txBody>
      </p:sp>
      <p:sp>
        <p:nvSpPr>
          <p:cNvPr id="4" name="TextBox 3">
            <a:extLst>
              <a:ext uri="{FF2B5EF4-FFF2-40B4-BE49-F238E27FC236}">
                <a16:creationId xmlns:a16="http://schemas.microsoft.com/office/drawing/2014/main" id="{EFA4655A-778A-0652-D2B5-3BF689B41699}"/>
              </a:ext>
            </a:extLst>
          </p:cNvPr>
          <p:cNvSpPr txBox="1"/>
          <p:nvPr/>
        </p:nvSpPr>
        <p:spPr>
          <a:xfrm>
            <a:off x="3414336" y="1323274"/>
            <a:ext cx="70118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n=1,738</a:t>
            </a:r>
          </a:p>
        </p:txBody>
      </p:sp>
      <p:sp>
        <p:nvSpPr>
          <p:cNvPr id="6" name="TextBox 5">
            <a:extLst>
              <a:ext uri="{FF2B5EF4-FFF2-40B4-BE49-F238E27FC236}">
                <a16:creationId xmlns:a16="http://schemas.microsoft.com/office/drawing/2014/main" id="{A750469A-14AE-DA7E-AC9F-51C4AC7B2EA6}"/>
              </a:ext>
            </a:extLst>
          </p:cNvPr>
          <p:cNvSpPr txBox="1"/>
          <p:nvPr/>
        </p:nvSpPr>
        <p:spPr>
          <a:xfrm>
            <a:off x="5795676" y="3310822"/>
            <a:ext cx="67032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n=4,901</a:t>
            </a:r>
          </a:p>
        </p:txBody>
      </p:sp>
      <p:sp>
        <p:nvSpPr>
          <p:cNvPr id="7" name="TextBox 6">
            <a:extLst>
              <a:ext uri="{FF2B5EF4-FFF2-40B4-BE49-F238E27FC236}">
                <a16:creationId xmlns:a16="http://schemas.microsoft.com/office/drawing/2014/main" id="{D47430FC-FFC7-5316-E799-B42123A3B512}"/>
              </a:ext>
            </a:extLst>
          </p:cNvPr>
          <p:cNvSpPr txBox="1"/>
          <p:nvPr/>
        </p:nvSpPr>
        <p:spPr>
          <a:xfrm>
            <a:off x="6705834" y="3372048"/>
            <a:ext cx="67032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n=786</a:t>
            </a:r>
          </a:p>
        </p:txBody>
      </p:sp>
      <p:grpSp>
        <p:nvGrpSpPr>
          <p:cNvPr id="8" name="Group 7">
            <a:extLst>
              <a:ext uri="{FF2B5EF4-FFF2-40B4-BE49-F238E27FC236}">
                <a16:creationId xmlns:a16="http://schemas.microsoft.com/office/drawing/2014/main" id="{841A1419-9DDE-0872-34C9-C66D78077173}"/>
              </a:ext>
            </a:extLst>
          </p:cNvPr>
          <p:cNvGrpSpPr/>
          <p:nvPr/>
        </p:nvGrpSpPr>
        <p:grpSpPr>
          <a:xfrm>
            <a:off x="2641839" y="4258076"/>
            <a:ext cx="970856" cy="327181"/>
            <a:chOff x="422080" y="1466925"/>
            <a:chExt cx="1642620" cy="540817"/>
          </a:xfrm>
        </p:grpSpPr>
        <p:sp>
          <p:nvSpPr>
            <p:cNvPr id="11" name="Rectangle 10">
              <a:extLst>
                <a:ext uri="{FF2B5EF4-FFF2-40B4-BE49-F238E27FC236}">
                  <a16:creationId xmlns:a16="http://schemas.microsoft.com/office/drawing/2014/main" id="{576C56E2-0261-885C-CDE4-E6753655DA29}"/>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1F6D20D8-FB61-2F88-B55E-9551000AB494}"/>
                </a:ext>
              </a:extLst>
            </p:cNvPr>
            <p:cNvGrpSpPr>
              <a:grpSpLocks noChangeAspect="1"/>
            </p:cNvGrpSpPr>
            <p:nvPr/>
          </p:nvGrpSpPr>
          <p:grpSpPr>
            <a:xfrm>
              <a:off x="422080" y="1466925"/>
              <a:ext cx="1642619" cy="540817"/>
              <a:chOff x="447480" y="1193277"/>
              <a:chExt cx="2550920" cy="839866"/>
            </a:xfrm>
          </p:grpSpPr>
          <p:pic>
            <p:nvPicPr>
              <p:cNvPr id="13" name="Graphic 12" descr="Footprints outline">
                <a:extLst>
                  <a:ext uri="{FF2B5EF4-FFF2-40B4-BE49-F238E27FC236}">
                    <a16:creationId xmlns:a16="http://schemas.microsoft.com/office/drawing/2014/main" id="{217BF8A1-8108-1752-AFB6-6D98E132A7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68793" y="1230226"/>
                <a:ext cx="781604" cy="824230"/>
              </a:xfrm>
              <a:prstGeom prst="rect">
                <a:avLst/>
              </a:prstGeom>
            </p:spPr>
          </p:pic>
          <p:pic>
            <p:nvPicPr>
              <p:cNvPr id="16" name="Graphic 15" descr="Footprints outline">
                <a:extLst>
                  <a:ext uri="{FF2B5EF4-FFF2-40B4-BE49-F238E27FC236}">
                    <a16:creationId xmlns:a16="http://schemas.microsoft.com/office/drawing/2014/main" id="{58E03E67-4504-3EAF-5607-6C2344FDBB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2174170" y="1193277"/>
                <a:ext cx="824230" cy="824230"/>
              </a:xfrm>
              <a:prstGeom prst="rect">
                <a:avLst/>
              </a:prstGeom>
            </p:spPr>
          </p:pic>
          <p:sp>
            <p:nvSpPr>
              <p:cNvPr id="17" name="Arrow: Right 16">
                <a:extLst>
                  <a:ext uri="{FF2B5EF4-FFF2-40B4-BE49-F238E27FC236}">
                    <a16:creationId xmlns:a16="http://schemas.microsoft.com/office/drawing/2014/main" id="{B8A4372D-8042-EB62-956F-AF0B26E1F4EC}"/>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4" name="Group 23">
            <a:extLst>
              <a:ext uri="{FF2B5EF4-FFF2-40B4-BE49-F238E27FC236}">
                <a16:creationId xmlns:a16="http://schemas.microsoft.com/office/drawing/2014/main" id="{7489BC7B-F402-EC2B-9B96-630D811C75EC}"/>
              </a:ext>
            </a:extLst>
          </p:cNvPr>
          <p:cNvGrpSpPr/>
          <p:nvPr/>
        </p:nvGrpSpPr>
        <p:grpSpPr>
          <a:xfrm>
            <a:off x="5617827" y="4247173"/>
            <a:ext cx="994382" cy="348985"/>
            <a:chOff x="376287" y="3585179"/>
            <a:chExt cx="1682424" cy="576858"/>
          </a:xfrm>
        </p:grpSpPr>
        <p:sp>
          <p:nvSpPr>
            <p:cNvPr id="26" name="Rectangle 25">
              <a:extLst>
                <a:ext uri="{FF2B5EF4-FFF2-40B4-BE49-F238E27FC236}">
                  <a16:creationId xmlns:a16="http://schemas.microsoft.com/office/drawing/2014/main" id="{F2D1DC1E-337E-4DE8-1B16-8B020B7EC506}"/>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oup 29">
              <a:extLst>
                <a:ext uri="{FF2B5EF4-FFF2-40B4-BE49-F238E27FC236}">
                  <a16:creationId xmlns:a16="http://schemas.microsoft.com/office/drawing/2014/main" id="{A93F8C3A-281D-E903-8B5F-1E494FDA1F73}"/>
                </a:ext>
              </a:extLst>
            </p:cNvPr>
            <p:cNvGrpSpPr>
              <a:grpSpLocks noChangeAspect="1"/>
            </p:cNvGrpSpPr>
            <p:nvPr/>
          </p:nvGrpSpPr>
          <p:grpSpPr>
            <a:xfrm>
              <a:off x="376287" y="3585179"/>
              <a:ext cx="1682424" cy="576858"/>
              <a:chOff x="3079839" y="984636"/>
              <a:chExt cx="2612735" cy="895836"/>
            </a:xfrm>
          </p:grpSpPr>
          <p:pic>
            <p:nvPicPr>
              <p:cNvPr id="31" name="Graphic 30" descr="Footprints outline">
                <a:extLst>
                  <a:ext uri="{FF2B5EF4-FFF2-40B4-BE49-F238E27FC236}">
                    <a16:creationId xmlns:a16="http://schemas.microsoft.com/office/drawing/2014/main" id="{F0D7303C-AAD7-5011-DA78-ED600EFA80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868344" y="1023380"/>
                <a:ext cx="824230" cy="824230"/>
              </a:xfrm>
              <a:prstGeom prst="rect">
                <a:avLst/>
              </a:prstGeom>
            </p:spPr>
          </p:pic>
          <p:pic>
            <p:nvPicPr>
              <p:cNvPr id="32" name="Graphic 31" descr="Car outline">
                <a:extLst>
                  <a:ext uri="{FF2B5EF4-FFF2-40B4-BE49-F238E27FC236}">
                    <a16:creationId xmlns:a16="http://schemas.microsoft.com/office/drawing/2014/main" id="{F7ECEFF9-26CF-8291-1101-ADE5D689BA2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9839" y="984636"/>
                <a:ext cx="895836" cy="895836"/>
              </a:xfrm>
              <a:prstGeom prst="rect">
                <a:avLst/>
              </a:prstGeom>
            </p:spPr>
          </p:pic>
          <p:sp>
            <p:nvSpPr>
              <p:cNvPr id="33" name="Arrow: Right 32">
                <a:extLst>
                  <a:ext uri="{FF2B5EF4-FFF2-40B4-BE49-F238E27FC236}">
                    <a16:creationId xmlns:a16="http://schemas.microsoft.com/office/drawing/2014/main" id="{C9AD7AB9-86A2-CFC0-84AF-351F8A8A527A}"/>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1637488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22</a:t>
            </a:fld>
            <a:endParaRPr lang="en-US" altLang="en-US"/>
          </a:p>
        </p:txBody>
      </p:sp>
      <p:sp>
        <p:nvSpPr>
          <p:cNvPr id="3" name="Text Placeholder 10">
            <a:extLst>
              <a:ext uri="{FF2B5EF4-FFF2-40B4-BE49-F238E27FC236}">
                <a16:creationId xmlns:a16="http://schemas.microsoft.com/office/drawing/2014/main" id="{45185028-A93E-71CB-B840-707C421699D8}"/>
              </a:ext>
            </a:extLst>
          </p:cNvPr>
          <p:cNvSpPr>
            <a:spLocks noGrp="1"/>
          </p:cNvSpPr>
          <p:nvPr>
            <p:ph type="body" sz="quarter" idx="12"/>
          </p:nvPr>
        </p:nvSpPr>
        <p:spPr>
          <a:xfrm>
            <a:off x="215900" y="215899"/>
            <a:ext cx="7160260" cy="422275"/>
          </a:xfrm>
        </p:spPr>
        <p:txBody>
          <a:bodyPr/>
          <a:lstStyle/>
          <a:p>
            <a:r>
              <a:rPr lang="en-GB" sz="3000" b="0" dirty="0">
                <a:latin typeface="Arial" panose="020B0604020202020204" pitchFamily="34" charset="0"/>
                <a:cs typeface="Arial" panose="020B0604020202020204" pitchFamily="34" charset="0"/>
              </a:rPr>
              <a:t>Mode transitions 2001 to 2011</a:t>
            </a:r>
            <a:endParaRPr lang="en-US" sz="2400" b="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2B0876-1636-DB03-DF81-73AA7372C868}"/>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graphicFrame>
        <p:nvGraphicFramePr>
          <p:cNvPr id="2" name="Chart 1">
            <a:extLst>
              <a:ext uri="{FF2B5EF4-FFF2-40B4-BE49-F238E27FC236}">
                <a16:creationId xmlns:a16="http://schemas.microsoft.com/office/drawing/2014/main" id="{73C511EB-763A-6009-4A92-AB52FE2A357E}"/>
              </a:ext>
            </a:extLst>
          </p:cNvPr>
          <p:cNvGraphicFramePr>
            <a:graphicFrameLocks/>
          </p:cNvGraphicFramePr>
          <p:nvPr/>
        </p:nvGraphicFramePr>
        <p:xfrm>
          <a:off x="2945149" y="1887422"/>
          <a:ext cx="4395788" cy="25195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40E3B2B0-B6AF-0CA2-0F39-DB8045033217}"/>
              </a:ext>
            </a:extLst>
          </p:cNvPr>
          <p:cNvGraphicFramePr>
            <a:graphicFrameLocks/>
          </p:cNvGraphicFramePr>
          <p:nvPr/>
        </p:nvGraphicFramePr>
        <p:xfrm>
          <a:off x="6171002" y="1887422"/>
          <a:ext cx="3741756" cy="24743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E1B608A7-C90A-59F8-CB6E-54EC9F026C84}"/>
              </a:ext>
            </a:extLst>
          </p:cNvPr>
          <p:cNvGraphicFramePr>
            <a:graphicFrameLocks/>
          </p:cNvGraphicFramePr>
          <p:nvPr>
            <p:extLst>
              <p:ext uri="{D42A27DB-BD31-4B8C-83A1-F6EECF244321}">
                <p14:modId xmlns:p14="http://schemas.microsoft.com/office/powerpoint/2010/main" val="1772708143"/>
              </p:ext>
            </p:extLst>
          </p:nvPr>
        </p:nvGraphicFramePr>
        <p:xfrm>
          <a:off x="775790" y="695953"/>
          <a:ext cx="7454900" cy="4145878"/>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extLst>
              <a:ext uri="{FF2B5EF4-FFF2-40B4-BE49-F238E27FC236}">
                <a16:creationId xmlns:a16="http://schemas.microsoft.com/office/drawing/2014/main" id="{206A35AB-07C3-0869-247A-2B8BC8860BC1}"/>
              </a:ext>
            </a:extLst>
          </p:cNvPr>
          <p:cNvSpPr txBox="1"/>
          <p:nvPr/>
        </p:nvSpPr>
        <p:spPr>
          <a:xfrm>
            <a:off x="2335202" y="2740986"/>
            <a:ext cx="68284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n=3,008</a:t>
            </a:r>
          </a:p>
        </p:txBody>
      </p:sp>
      <p:sp>
        <p:nvSpPr>
          <p:cNvPr id="7" name="TextBox 6">
            <a:extLst>
              <a:ext uri="{FF2B5EF4-FFF2-40B4-BE49-F238E27FC236}">
                <a16:creationId xmlns:a16="http://schemas.microsoft.com/office/drawing/2014/main" id="{93EE9B5B-066B-61ED-9F68-6C63CAE27E95}"/>
              </a:ext>
            </a:extLst>
          </p:cNvPr>
          <p:cNvSpPr txBox="1"/>
          <p:nvPr/>
        </p:nvSpPr>
        <p:spPr>
          <a:xfrm>
            <a:off x="3272903" y="968198"/>
            <a:ext cx="701184"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n=1,500</a:t>
            </a:r>
          </a:p>
        </p:txBody>
      </p:sp>
      <p:sp>
        <p:nvSpPr>
          <p:cNvPr id="8" name="TextBox 7">
            <a:extLst>
              <a:ext uri="{FF2B5EF4-FFF2-40B4-BE49-F238E27FC236}">
                <a16:creationId xmlns:a16="http://schemas.microsoft.com/office/drawing/2014/main" id="{AABD5878-9B98-D4A0-0DE0-E6E19E55B265}"/>
              </a:ext>
            </a:extLst>
          </p:cNvPr>
          <p:cNvSpPr txBox="1"/>
          <p:nvPr/>
        </p:nvSpPr>
        <p:spPr>
          <a:xfrm>
            <a:off x="5671242" y="3494944"/>
            <a:ext cx="587245" cy="400110"/>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n=5,272</a:t>
            </a:r>
          </a:p>
        </p:txBody>
      </p:sp>
      <p:sp>
        <p:nvSpPr>
          <p:cNvPr id="9" name="TextBox 8">
            <a:extLst>
              <a:ext uri="{FF2B5EF4-FFF2-40B4-BE49-F238E27FC236}">
                <a16:creationId xmlns:a16="http://schemas.microsoft.com/office/drawing/2014/main" id="{E2F7E2AB-A2A6-9914-F34D-C4393590CFFA}"/>
              </a:ext>
            </a:extLst>
          </p:cNvPr>
          <p:cNvSpPr txBox="1"/>
          <p:nvPr/>
        </p:nvSpPr>
        <p:spPr>
          <a:xfrm>
            <a:off x="6533271" y="3631280"/>
            <a:ext cx="670326" cy="246221"/>
          </a:xfrm>
          <a:prstGeom prst="rect">
            <a:avLst/>
          </a:prstGeom>
          <a:noFill/>
        </p:spPr>
        <p:txBody>
          <a:bodyPr wrap="square">
            <a:spAutoFit/>
          </a:bodyPr>
          <a:lstStyle/>
          <a:p>
            <a:pPr algn="l" fontAlgn="t"/>
            <a:r>
              <a:rPr lang="en-GB" sz="1000" i="0" u="none" strike="noStrike" dirty="0">
                <a:solidFill>
                  <a:srgbClr val="000000"/>
                </a:solidFill>
                <a:effectLst/>
                <a:latin typeface="Arial" panose="020B0604020202020204" pitchFamily="34" charset="0"/>
              </a:rPr>
              <a:t>n=412</a:t>
            </a:r>
          </a:p>
        </p:txBody>
      </p:sp>
      <p:grpSp>
        <p:nvGrpSpPr>
          <p:cNvPr id="11" name="Group 10">
            <a:extLst>
              <a:ext uri="{FF2B5EF4-FFF2-40B4-BE49-F238E27FC236}">
                <a16:creationId xmlns:a16="http://schemas.microsoft.com/office/drawing/2014/main" id="{2F9B145B-2D6F-421A-7389-4F38F52FD796}"/>
              </a:ext>
            </a:extLst>
          </p:cNvPr>
          <p:cNvGrpSpPr/>
          <p:nvPr/>
        </p:nvGrpSpPr>
        <p:grpSpPr>
          <a:xfrm>
            <a:off x="2517855" y="4381313"/>
            <a:ext cx="970856" cy="327181"/>
            <a:chOff x="422080" y="1466925"/>
            <a:chExt cx="1642620" cy="540817"/>
          </a:xfrm>
        </p:grpSpPr>
        <p:sp>
          <p:nvSpPr>
            <p:cNvPr id="12" name="Rectangle 11">
              <a:extLst>
                <a:ext uri="{FF2B5EF4-FFF2-40B4-BE49-F238E27FC236}">
                  <a16:creationId xmlns:a16="http://schemas.microsoft.com/office/drawing/2014/main" id="{70A61231-6D76-F270-6A65-123D3621D164}"/>
                </a:ext>
              </a:extLst>
            </p:cNvPr>
            <p:cNvSpPr/>
            <p:nvPr/>
          </p:nvSpPr>
          <p:spPr>
            <a:xfrm>
              <a:off x="422080" y="1466925"/>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AA2D7012-F023-E402-67DF-D6897EDB0279}"/>
                </a:ext>
              </a:extLst>
            </p:cNvPr>
            <p:cNvGrpSpPr>
              <a:grpSpLocks noChangeAspect="1"/>
            </p:cNvGrpSpPr>
            <p:nvPr/>
          </p:nvGrpSpPr>
          <p:grpSpPr>
            <a:xfrm>
              <a:off x="422080" y="1466925"/>
              <a:ext cx="1642619" cy="540817"/>
              <a:chOff x="447480" y="1193277"/>
              <a:chExt cx="2550920" cy="839866"/>
            </a:xfrm>
          </p:grpSpPr>
          <p:pic>
            <p:nvPicPr>
              <p:cNvPr id="17" name="Graphic 16" descr="Footprints outline">
                <a:extLst>
                  <a:ext uri="{FF2B5EF4-FFF2-40B4-BE49-F238E27FC236}">
                    <a16:creationId xmlns:a16="http://schemas.microsoft.com/office/drawing/2014/main" id="{96A005B5-0A43-55AB-052D-9EA8A4F28A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468793" y="1230226"/>
                <a:ext cx="781604" cy="824230"/>
              </a:xfrm>
              <a:prstGeom prst="rect">
                <a:avLst/>
              </a:prstGeom>
            </p:spPr>
          </p:pic>
          <p:pic>
            <p:nvPicPr>
              <p:cNvPr id="24" name="Graphic 23" descr="Footprints outline">
                <a:extLst>
                  <a:ext uri="{FF2B5EF4-FFF2-40B4-BE49-F238E27FC236}">
                    <a16:creationId xmlns:a16="http://schemas.microsoft.com/office/drawing/2014/main" id="{3366EC52-77CF-FCC9-B42B-7475550327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2174170" y="1193277"/>
                <a:ext cx="824230" cy="824230"/>
              </a:xfrm>
              <a:prstGeom prst="rect">
                <a:avLst/>
              </a:prstGeom>
            </p:spPr>
          </p:pic>
          <p:sp>
            <p:nvSpPr>
              <p:cNvPr id="26" name="Arrow: Right 25">
                <a:extLst>
                  <a:ext uri="{FF2B5EF4-FFF2-40B4-BE49-F238E27FC236}">
                    <a16:creationId xmlns:a16="http://schemas.microsoft.com/office/drawing/2014/main" id="{E5879B0B-4FE5-7297-195D-7928C37FBCE9}"/>
                  </a:ext>
                </a:extLst>
              </p:cNvPr>
              <p:cNvSpPr/>
              <p:nvPr/>
            </p:nvSpPr>
            <p:spPr>
              <a:xfrm>
                <a:off x="1387582" y="1591718"/>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0" name="Group 29">
            <a:extLst>
              <a:ext uri="{FF2B5EF4-FFF2-40B4-BE49-F238E27FC236}">
                <a16:creationId xmlns:a16="http://schemas.microsoft.com/office/drawing/2014/main" id="{4BFDC68D-DE8E-EFBC-073F-5360D17D5DFD}"/>
              </a:ext>
            </a:extLst>
          </p:cNvPr>
          <p:cNvGrpSpPr/>
          <p:nvPr/>
        </p:nvGrpSpPr>
        <p:grpSpPr>
          <a:xfrm>
            <a:off x="5493843" y="4370410"/>
            <a:ext cx="994382" cy="348985"/>
            <a:chOff x="376287" y="3585179"/>
            <a:chExt cx="1682424" cy="576858"/>
          </a:xfrm>
        </p:grpSpPr>
        <p:sp>
          <p:nvSpPr>
            <p:cNvPr id="31" name="Rectangle 30">
              <a:extLst>
                <a:ext uri="{FF2B5EF4-FFF2-40B4-BE49-F238E27FC236}">
                  <a16:creationId xmlns:a16="http://schemas.microsoft.com/office/drawing/2014/main" id="{6AB19B66-9984-D36C-5FA2-82EDDE51B2D7}"/>
                </a:ext>
              </a:extLst>
            </p:cNvPr>
            <p:cNvSpPr/>
            <p:nvPr/>
          </p:nvSpPr>
          <p:spPr>
            <a:xfrm>
              <a:off x="399030" y="3611269"/>
              <a:ext cx="1642620" cy="5408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2" name="Group 31">
              <a:extLst>
                <a:ext uri="{FF2B5EF4-FFF2-40B4-BE49-F238E27FC236}">
                  <a16:creationId xmlns:a16="http://schemas.microsoft.com/office/drawing/2014/main" id="{8E31955A-C7AE-B9B4-253F-0C03CB627B07}"/>
                </a:ext>
              </a:extLst>
            </p:cNvPr>
            <p:cNvGrpSpPr>
              <a:grpSpLocks noChangeAspect="1"/>
            </p:cNvGrpSpPr>
            <p:nvPr/>
          </p:nvGrpSpPr>
          <p:grpSpPr>
            <a:xfrm>
              <a:off x="376287" y="3585179"/>
              <a:ext cx="1682424" cy="576858"/>
              <a:chOff x="3079839" y="984636"/>
              <a:chExt cx="2612735" cy="895836"/>
            </a:xfrm>
          </p:grpSpPr>
          <p:pic>
            <p:nvPicPr>
              <p:cNvPr id="33" name="Graphic 32" descr="Footprints outline">
                <a:extLst>
                  <a:ext uri="{FF2B5EF4-FFF2-40B4-BE49-F238E27FC236}">
                    <a16:creationId xmlns:a16="http://schemas.microsoft.com/office/drawing/2014/main" id="{6E8CCBD2-9B0A-7444-D9D6-6F49EEAE1A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4868344" y="1023380"/>
                <a:ext cx="824230" cy="824230"/>
              </a:xfrm>
              <a:prstGeom prst="rect">
                <a:avLst/>
              </a:prstGeom>
            </p:spPr>
          </p:pic>
          <p:pic>
            <p:nvPicPr>
              <p:cNvPr id="34" name="Graphic 33" descr="Car outline">
                <a:extLst>
                  <a:ext uri="{FF2B5EF4-FFF2-40B4-BE49-F238E27FC236}">
                    <a16:creationId xmlns:a16="http://schemas.microsoft.com/office/drawing/2014/main" id="{8724F3B6-EA3F-5DD6-08B6-3F80D965F3C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79839" y="984636"/>
                <a:ext cx="895836" cy="895836"/>
              </a:xfrm>
              <a:prstGeom prst="rect">
                <a:avLst/>
              </a:prstGeom>
            </p:spPr>
          </p:pic>
          <p:sp>
            <p:nvSpPr>
              <p:cNvPr id="35" name="Arrow: Right 34">
                <a:extLst>
                  <a:ext uri="{FF2B5EF4-FFF2-40B4-BE49-F238E27FC236}">
                    <a16:creationId xmlns:a16="http://schemas.microsoft.com/office/drawing/2014/main" id="{1F642F30-02FB-FA53-7522-FA737E663462}"/>
                  </a:ext>
                </a:extLst>
              </p:cNvPr>
              <p:cNvSpPr/>
              <p:nvPr/>
            </p:nvSpPr>
            <p:spPr>
              <a:xfrm>
                <a:off x="4081756" y="1409121"/>
                <a:ext cx="680507" cy="201218"/>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2704281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23</a:t>
            </a:fld>
            <a:endParaRPr lang="en-US" altLang="en-US"/>
          </a:p>
        </p:txBody>
      </p:sp>
      <p:sp>
        <p:nvSpPr>
          <p:cNvPr id="2" name="Text Placeholder 10">
            <a:extLst>
              <a:ext uri="{FF2B5EF4-FFF2-40B4-BE49-F238E27FC236}">
                <a16:creationId xmlns:a16="http://schemas.microsoft.com/office/drawing/2014/main" id="{9CFF1347-FBE7-480D-5B75-C80C0E34F173}"/>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Why switch?</a:t>
            </a:r>
            <a:endParaRPr lang="en-US" sz="3000" b="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E53703B-20FA-A0D3-D1BF-6E732D21C41C}"/>
              </a:ext>
            </a:extLst>
          </p:cNvPr>
          <p:cNvSpPr txBox="1"/>
          <p:nvPr/>
        </p:nvSpPr>
        <p:spPr>
          <a:xfrm>
            <a:off x="245724" y="1130490"/>
            <a:ext cx="8604250" cy="3728393"/>
          </a:xfrm>
          <a:prstGeom prst="rect">
            <a:avLst/>
          </a:prstGeom>
          <a:noFill/>
        </p:spPr>
        <p:txBody>
          <a:bodyPr wrap="square">
            <a:spAutoFit/>
          </a:bodyPr>
          <a:lstStyle/>
          <a:p>
            <a:pPr algn="l"/>
            <a:r>
              <a:rPr lang="en-GB" sz="2400" dirty="0">
                <a:latin typeface="Arial" panose="020B0604020202020204" pitchFamily="34" charset="0"/>
                <a:cs typeface="Arial" panose="020B0604020202020204" pitchFamily="34" charset="0"/>
              </a:rPr>
              <a:t>Habit discontinuity hypothesis</a:t>
            </a:r>
            <a:r>
              <a:rPr lang="en-GB" sz="2400" baseline="30000" dirty="0">
                <a:latin typeface="Arial" panose="020B0604020202020204" pitchFamily="34" charset="0"/>
                <a:cs typeface="Arial" panose="020B0604020202020204" pitchFamily="34" charset="0"/>
              </a:rPr>
              <a:t>1</a:t>
            </a:r>
            <a:r>
              <a:rPr lang="en-GB" sz="2400" dirty="0">
                <a:latin typeface="Arial" panose="020B0604020202020204" pitchFamily="34" charset="0"/>
                <a:cs typeface="Arial" panose="020B0604020202020204" pitchFamily="34" charset="0"/>
              </a:rPr>
              <a:t>: </a:t>
            </a:r>
          </a:p>
          <a:p>
            <a:pPr lvl="1"/>
            <a:r>
              <a:rPr lang="en-GB" sz="2400" i="1" dirty="0">
                <a:latin typeface="Arial" panose="020B0604020202020204" pitchFamily="34" charset="0"/>
                <a:cs typeface="Arial" panose="020B0604020202020204" pitchFamily="34" charset="0"/>
              </a:rPr>
              <a:t>habitual behaviour become weakened when interrupted by contextual change</a:t>
            </a:r>
            <a:r>
              <a:rPr lang="en-GB" sz="2400" dirty="0">
                <a:latin typeface="Arial" panose="020B0604020202020204" pitchFamily="34" charset="0"/>
                <a:cs typeface="Arial" panose="020B0604020202020204" pitchFamily="34" charset="0"/>
              </a:rPr>
              <a:t> </a:t>
            </a:r>
          </a:p>
          <a:p>
            <a:pPr lvl="1"/>
            <a:endParaRPr lang="en-GB" sz="2400" dirty="0">
              <a:latin typeface="Arial" panose="020B0604020202020204" pitchFamily="34" charset="0"/>
              <a:cs typeface="Arial" panose="020B0604020202020204" pitchFamily="34" charset="0"/>
            </a:endParaRPr>
          </a:p>
          <a:p>
            <a:pPr algn="l"/>
            <a:r>
              <a:rPr lang="en-GB" sz="2400" dirty="0">
                <a:solidFill>
                  <a:srgbClr val="3C4245"/>
                </a:solidFill>
                <a:latin typeface="Arial" panose="020B0604020202020204" pitchFamily="34" charset="0"/>
                <a:cs typeface="Arial" panose="020B0604020202020204" pitchFamily="34" charset="0"/>
              </a:rPr>
              <a:t>Travel mode switch occurs when commute distance changes due to change in job/ residential location</a:t>
            </a:r>
            <a:r>
              <a:rPr lang="en-GB" sz="2400" baseline="30000" dirty="0">
                <a:solidFill>
                  <a:srgbClr val="3C4245"/>
                </a:solidFill>
                <a:latin typeface="Arial" panose="020B0604020202020204" pitchFamily="34" charset="0"/>
                <a:cs typeface="Arial" panose="020B0604020202020204" pitchFamily="34" charset="0"/>
              </a:rPr>
              <a:t>2</a:t>
            </a:r>
          </a:p>
          <a:p>
            <a:pPr algn="l">
              <a:lnSpc>
                <a:spcPct val="200000"/>
              </a:lnSpc>
            </a:pPr>
            <a:endParaRPr lang="en-GB" sz="1200" b="1" dirty="0">
              <a:solidFill>
                <a:srgbClr val="3C4245"/>
              </a:solidFill>
              <a:latin typeface="Arial" panose="020B0604020202020204" pitchFamily="34" charset="0"/>
              <a:cs typeface="Arial" panose="020B0604020202020204" pitchFamily="34" charset="0"/>
            </a:endParaRPr>
          </a:p>
          <a:p>
            <a:pPr algn="l">
              <a:lnSpc>
                <a:spcPct val="200000"/>
              </a:lnSpc>
            </a:pPr>
            <a:endParaRPr lang="en-GB" sz="1200" b="1" dirty="0">
              <a:solidFill>
                <a:srgbClr val="3C4245"/>
              </a:solidFill>
              <a:latin typeface="Arial" panose="020B0604020202020204" pitchFamily="34" charset="0"/>
            </a:endParaRPr>
          </a:p>
          <a:p>
            <a:pPr algn="l">
              <a:lnSpc>
                <a:spcPct val="200000"/>
              </a:lnSpc>
            </a:pPr>
            <a:r>
              <a:rPr lang="en-GB" sz="1200" dirty="0">
                <a:solidFill>
                  <a:srgbClr val="3C4245"/>
                </a:solidFill>
                <a:latin typeface="Arial" panose="020B0604020202020204" pitchFamily="34" charset="0"/>
              </a:rPr>
              <a:t>1. </a:t>
            </a:r>
            <a:r>
              <a:rPr lang="en-GB" sz="1200" dirty="0" err="1">
                <a:solidFill>
                  <a:srgbClr val="3C4245"/>
                </a:solidFill>
                <a:latin typeface="Arial" panose="020B0604020202020204" pitchFamily="34" charset="0"/>
              </a:rPr>
              <a:t>Verplanken</a:t>
            </a:r>
            <a:r>
              <a:rPr lang="en-GB" sz="1200" dirty="0">
                <a:solidFill>
                  <a:srgbClr val="3C4245"/>
                </a:solidFill>
                <a:latin typeface="Arial" panose="020B0604020202020204" pitchFamily="34" charset="0"/>
              </a:rPr>
              <a:t> et al, 2008 </a:t>
            </a:r>
            <a:r>
              <a:rPr lang="en-GB" sz="1200" dirty="0">
                <a:solidFill>
                  <a:srgbClr val="3C4245"/>
                </a:solidFill>
                <a:latin typeface="Arial" panose="020B0604020202020204" pitchFamily="34" charset="0"/>
                <a:hlinkClick r:id="rId3"/>
              </a:rPr>
              <a:t>https://www.sciencedirect.com/science/article/abs/pii/S0272494407000898</a:t>
            </a:r>
            <a:r>
              <a:rPr lang="en-GB" sz="1200" dirty="0">
                <a:solidFill>
                  <a:srgbClr val="3C4245"/>
                </a:solidFill>
                <a:latin typeface="Arial" panose="020B0604020202020204" pitchFamily="34" charset="0"/>
              </a:rPr>
              <a:t>  </a:t>
            </a:r>
          </a:p>
          <a:p>
            <a:pPr>
              <a:lnSpc>
                <a:spcPct val="200000"/>
              </a:lnSpc>
            </a:pPr>
            <a:r>
              <a:rPr lang="en-GB" sz="1200" dirty="0">
                <a:solidFill>
                  <a:srgbClr val="3C4245"/>
                </a:solidFill>
                <a:latin typeface="Arial" panose="020B0604020202020204" pitchFamily="34" charset="0"/>
              </a:rPr>
              <a:t>2. Clark et al, 2016 </a:t>
            </a:r>
            <a:r>
              <a:rPr lang="en-GB" sz="1200" dirty="0">
                <a:solidFill>
                  <a:srgbClr val="3C4245"/>
                </a:solidFill>
                <a:latin typeface="Arial" panose="020B0604020202020204" pitchFamily="34" charset="0"/>
                <a:hlinkClick r:id="rId4"/>
              </a:rPr>
              <a:t>https://www.sciencedirect.com/science/article/pii/S0965856416303871</a:t>
            </a:r>
            <a:r>
              <a:rPr lang="en-GB" sz="1200" dirty="0">
                <a:solidFill>
                  <a:srgbClr val="3C4245"/>
                </a:solidFill>
                <a:latin typeface="Arial" panose="020B0604020202020204" pitchFamily="34" charset="0"/>
              </a:rPr>
              <a:t> </a:t>
            </a:r>
          </a:p>
        </p:txBody>
      </p:sp>
    </p:spTree>
    <p:extLst>
      <p:ext uri="{BB962C8B-B14F-4D97-AF65-F5344CB8AC3E}">
        <p14:creationId xmlns:p14="http://schemas.microsoft.com/office/powerpoint/2010/main" val="700899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24</a:t>
            </a:fld>
            <a:endParaRPr lang="en-US" altLang="en-US"/>
          </a:p>
        </p:txBody>
      </p:sp>
      <p:sp>
        <p:nvSpPr>
          <p:cNvPr id="2" name="Text Placeholder 10">
            <a:extLst>
              <a:ext uri="{FF2B5EF4-FFF2-40B4-BE49-F238E27FC236}">
                <a16:creationId xmlns:a16="http://schemas.microsoft.com/office/drawing/2014/main" id="{9CFF1347-FBE7-480D-5B75-C80C0E34F173}"/>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Walkability vs commute mode stability</a:t>
            </a:r>
            <a:endParaRPr lang="en-US" sz="3000" b="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E53703B-20FA-A0D3-D1BF-6E732D21C41C}"/>
              </a:ext>
            </a:extLst>
          </p:cNvPr>
          <p:cNvSpPr txBox="1"/>
          <p:nvPr/>
        </p:nvSpPr>
        <p:spPr>
          <a:xfrm>
            <a:off x="269875" y="811992"/>
            <a:ext cx="8604250" cy="4317336"/>
          </a:xfrm>
          <a:prstGeom prst="rect">
            <a:avLst/>
          </a:prstGeom>
          <a:noFill/>
        </p:spPr>
        <p:txBody>
          <a:bodyPr wrap="square">
            <a:spAutoFit/>
          </a:bodyPr>
          <a:lstStyle/>
          <a:p>
            <a:pPr>
              <a:lnSpc>
                <a:spcPct val="150000"/>
              </a:lnSpc>
              <a:buSzPct val="200000"/>
              <a:buBlip>
                <a:blip r:embed="rId3"/>
              </a:buBlip>
              <a:defRPr/>
            </a:pPr>
            <a:r>
              <a:rPr lang="en-GB" sz="2400" kern="0" dirty="0">
                <a:latin typeface="Arial" panose="020B0604020202020204" pitchFamily="34" charset="0"/>
                <a:cs typeface="Arial" panose="020B0604020202020204" pitchFamily="34" charset="0"/>
              </a:rPr>
              <a:t>Extent to which a place supports walking (&amp; cycling)</a:t>
            </a:r>
          </a:p>
          <a:p>
            <a:pPr>
              <a:lnSpc>
                <a:spcPct val="150000"/>
              </a:lnSpc>
              <a:buSzPct val="200000"/>
              <a:buBlip>
                <a:blip r:embed="rId3"/>
              </a:buBlip>
              <a:defRPr/>
            </a:pPr>
            <a:endParaRPr lang="en-GB" sz="2400" kern="0" dirty="0">
              <a:latin typeface="Arial" panose="020B0604020202020204" pitchFamily="34" charset="0"/>
              <a:cs typeface="Arial" panose="020B0604020202020204" pitchFamily="34" charset="0"/>
            </a:endParaRPr>
          </a:p>
          <a:p>
            <a:pPr lvl="2">
              <a:lnSpc>
                <a:spcPct val="150000"/>
              </a:lnSpc>
              <a:buSzPct val="200000"/>
              <a:buBlip>
                <a:blip r:embed="rId3"/>
              </a:buBlip>
              <a:defRPr/>
            </a:pPr>
            <a:r>
              <a:rPr lang="en-GB" kern="0" dirty="0">
                <a:latin typeface="Arial" panose="020B0604020202020204" pitchFamily="34" charset="0"/>
                <a:cs typeface="Arial" panose="020B0604020202020204" pitchFamily="34" charset="0"/>
              </a:rPr>
              <a:t>3 main components: </a:t>
            </a:r>
          </a:p>
          <a:p>
            <a:pPr lvl="5">
              <a:lnSpc>
                <a:spcPct val="150000"/>
              </a:lnSpc>
              <a:buSzPct val="200000"/>
              <a:buBlip>
                <a:blip r:embed="rId3"/>
              </a:buBlip>
              <a:defRPr/>
            </a:pPr>
            <a:r>
              <a:rPr lang="en-GB" kern="0" dirty="0">
                <a:latin typeface="Arial" panose="020B0604020202020204" pitchFamily="34" charset="0"/>
                <a:cs typeface="Arial" panose="020B0604020202020204" pitchFamily="34" charset="0"/>
              </a:rPr>
              <a:t>residential density</a:t>
            </a:r>
          </a:p>
          <a:p>
            <a:pPr lvl="5">
              <a:lnSpc>
                <a:spcPct val="150000"/>
              </a:lnSpc>
              <a:buSzPct val="200000"/>
              <a:buBlip>
                <a:blip r:embed="rId3"/>
              </a:buBlip>
              <a:defRPr/>
            </a:pPr>
            <a:r>
              <a:rPr lang="en-GB" kern="0" dirty="0">
                <a:latin typeface="Arial" panose="020B0604020202020204" pitchFamily="34" charset="0"/>
                <a:cs typeface="Arial" panose="020B0604020202020204" pitchFamily="34" charset="0"/>
              </a:rPr>
              <a:t>street connectivity</a:t>
            </a:r>
          </a:p>
          <a:p>
            <a:pPr lvl="5">
              <a:lnSpc>
                <a:spcPct val="150000"/>
              </a:lnSpc>
              <a:buSzPct val="200000"/>
              <a:buBlip>
                <a:blip r:embed="rId3"/>
              </a:buBlip>
              <a:defRPr/>
            </a:pPr>
            <a:r>
              <a:rPr lang="en-GB" kern="0" dirty="0">
                <a:latin typeface="Arial" panose="020B0604020202020204" pitchFamily="34" charset="0"/>
                <a:cs typeface="Arial" panose="020B0604020202020204" pitchFamily="34" charset="0"/>
              </a:rPr>
              <a:t>land use mix</a:t>
            </a:r>
          </a:p>
          <a:p>
            <a:pPr lvl="5">
              <a:lnSpc>
                <a:spcPct val="150000"/>
              </a:lnSpc>
              <a:buSzPct val="200000"/>
              <a:defRPr/>
            </a:pPr>
            <a:endParaRPr lang="en-GB" kern="0" dirty="0">
              <a:latin typeface="Arial" panose="020B0604020202020204" pitchFamily="34" charset="0"/>
              <a:cs typeface="Arial" panose="020B0604020202020204" pitchFamily="34" charset="0"/>
            </a:endParaRPr>
          </a:p>
          <a:p>
            <a:pPr>
              <a:lnSpc>
                <a:spcPct val="150000"/>
              </a:lnSpc>
              <a:buSzPct val="200000"/>
              <a:buBlip>
                <a:blip r:embed="rId3"/>
              </a:buBlip>
              <a:defRPr/>
            </a:pPr>
            <a:r>
              <a:rPr lang="en-GB" sz="2400" kern="0" dirty="0">
                <a:latin typeface="Arial" panose="020B0604020202020204" pitchFamily="34" charset="0"/>
                <a:cs typeface="Arial" panose="020B0604020202020204" pitchFamily="34" charset="0"/>
              </a:rPr>
              <a:t>More walkable neighbourhood → More likely to continue or switch to active travel???</a:t>
            </a:r>
          </a:p>
        </p:txBody>
      </p:sp>
      <p:pic>
        <p:nvPicPr>
          <p:cNvPr id="3" name="Picture 2">
            <a:extLst>
              <a:ext uri="{FF2B5EF4-FFF2-40B4-BE49-F238E27FC236}">
                <a16:creationId xmlns:a16="http://schemas.microsoft.com/office/drawing/2014/main" id="{E6C4ECA5-AE94-E837-2A07-256C7BC8F35E}"/>
              </a:ext>
            </a:extLst>
          </p:cNvPr>
          <p:cNvPicPr>
            <a:picLocks noChangeAspect="1"/>
          </p:cNvPicPr>
          <p:nvPr/>
        </p:nvPicPr>
        <p:blipFill>
          <a:blip r:embed="rId4"/>
          <a:stretch>
            <a:fillRect/>
          </a:stretch>
        </p:blipFill>
        <p:spPr>
          <a:xfrm>
            <a:off x="5071982" y="1684317"/>
            <a:ext cx="2304178" cy="2229398"/>
          </a:xfrm>
          <a:prstGeom prst="rect">
            <a:avLst/>
          </a:prstGeom>
        </p:spPr>
      </p:pic>
    </p:spTree>
    <p:extLst>
      <p:ext uri="{BB962C8B-B14F-4D97-AF65-F5344CB8AC3E}">
        <p14:creationId xmlns:p14="http://schemas.microsoft.com/office/powerpoint/2010/main" val="2950262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867FDF-C6C4-B6E0-1791-E6FFC65F9536}"/>
              </a:ext>
            </a:extLst>
          </p:cNvPr>
          <p:cNvPicPr>
            <a:picLocks noChangeAspect="1"/>
          </p:cNvPicPr>
          <p:nvPr/>
        </p:nvPicPr>
        <p:blipFill rotWithShape="1">
          <a:blip r:embed="rId3">
            <a:extLst>
              <a:ext uri="{28A0092B-C50C-407E-A947-70E740481C1C}">
                <a14:useLocalDpi xmlns:a14="http://schemas.microsoft.com/office/drawing/2010/main" val="0"/>
              </a:ext>
            </a:extLst>
          </a:blip>
          <a:srcRect l="10015" t="6123" r="9749" b="4336"/>
          <a:stretch/>
        </p:blipFill>
        <p:spPr>
          <a:xfrm>
            <a:off x="3368179" y="781647"/>
            <a:ext cx="5557724" cy="4379728"/>
          </a:xfrm>
          <a:prstGeom prst="rect">
            <a:avLst/>
          </a:prstGeom>
        </p:spPr>
      </p:pic>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25</a:t>
            </a:fld>
            <a:endParaRPr lang="en-US" altLang="en-US"/>
          </a:p>
        </p:txBody>
      </p:sp>
      <p:sp>
        <p:nvSpPr>
          <p:cNvPr id="2" name="Text Placeholder 10">
            <a:extLst>
              <a:ext uri="{FF2B5EF4-FFF2-40B4-BE49-F238E27FC236}">
                <a16:creationId xmlns:a16="http://schemas.microsoft.com/office/drawing/2014/main" id="{9CFF1347-FBE7-480D-5B75-C80C0E34F173}"/>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Walkability Index for London</a:t>
            </a:r>
            <a:r>
              <a:rPr lang="en-GB" sz="3000" b="0" baseline="30000" dirty="0">
                <a:latin typeface="Arial" panose="020B0604020202020204" pitchFamily="34" charset="0"/>
                <a:cs typeface="Arial" panose="020B0604020202020204" pitchFamily="34" charset="0"/>
              </a:rPr>
              <a:t>1</a:t>
            </a:r>
            <a:endParaRPr lang="en-US" sz="3000" b="0" baseline="30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76E4857-DA31-B93D-17E2-3EC56494C3FD}"/>
              </a:ext>
            </a:extLst>
          </p:cNvPr>
          <p:cNvSpPr txBox="1"/>
          <p:nvPr/>
        </p:nvSpPr>
        <p:spPr>
          <a:xfrm>
            <a:off x="215900" y="4633725"/>
            <a:ext cx="8013700" cy="773738"/>
          </a:xfrm>
          <a:prstGeom prst="rect">
            <a:avLst/>
          </a:prstGeom>
          <a:noFill/>
        </p:spPr>
        <p:txBody>
          <a:bodyPr wrap="square">
            <a:spAutoFit/>
          </a:bodyPr>
          <a:lstStyle/>
          <a:p>
            <a:pPr marL="228600" indent="-228600" algn="l">
              <a:lnSpc>
                <a:spcPct val="200000"/>
              </a:lnSpc>
              <a:buAutoNum type="arabicPeriod"/>
            </a:pPr>
            <a:r>
              <a:rPr lang="en-GB" sz="1200" dirty="0">
                <a:solidFill>
                  <a:srgbClr val="3C4245"/>
                </a:solidFill>
                <a:latin typeface="Arial" panose="020B0604020202020204" pitchFamily="34" charset="0"/>
              </a:rPr>
              <a:t>Stockton et al, 2016 </a:t>
            </a:r>
            <a:r>
              <a:rPr lang="en-GB" sz="1200" dirty="0">
                <a:solidFill>
                  <a:srgbClr val="3C4245"/>
                </a:solidFill>
                <a:latin typeface="Arial" panose="020B0604020202020204" pitchFamily="34" charset="0"/>
                <a:hlinkClick r:id="rId4"/>
              </a:rPr>
              <a:t>https://bmcpublichealth.biomedcentral.com/articles/10.1186/s12889-016-3012-2</a:t>
            </a:r>
            <a:endParaRPr lang="en-GB" sz="1200" dirty="0">
              <a:solidFill>
                <a:srgbClr val="3C4245"/>
              </a:solidFill>
              <a:latin typeface="Arial" panose="020B0604020202020204" pitchFamily="34" charset="0"/>
            </a:endParaRPr>
          </a:p>
          <a:p>
            <a:pPr marL="228600" indent="-228600" algn="l">
              <a:lnSpc>
                <a:spcPct val="200000"/>
              </a:lnSpc>
              <a:buAutoNum type="arabicPeriod"/>
            </a:pPr>
            <a:endParaRPr lang="en-GB" sz="1200" dirty="0">
              <a:solidFill>
                <a:srgbClr val="3C4245"/>
              </a:solidFill>
              <a:latin typeface="Arial" panose="020B0604020202020204" pitchFamily="34" charset="0"/>
            </a:endParaRPr>
          </a:p>
        </p:txBody>
      </p:sp>
      <p:sp>
        <p:nvSpPr>
          <p:cNvPr id="12" name="Rectangle 11">
            <a:extLst>
              <a:ext uri="{FF2B5EF4-FFF2-40B4-BE49-F238E27FC236}">
                <a16:creationId xmlns:a16="http://schemas.microsoft.com/office/drawing/2014/main" id="{6A8978F1-DE33-3363-5025-E57AA917664A}"/>
              </a:ext>
            </a:extLst>
          </p:cNvPr>
          <p:cNvSpPr/>
          <p:nvPr/>
        </p:nvSpPr>
        <p:spPr>
          <a:xfrm>
            <a:off x="218097" y="1054142"/>
            <a:ext cx="3605642" cy="3323987"/>
          </a:xfrm>
          <a:prstGeom prst="rect">
            <a:avLst/>
          </a:prstGeom>
        </p:spPr>
        <p:txBody>
          <a:bodyPr wrap="square">
            <a:spAutoFit/>
          </a:bodyPr>
          <a:lstStyle/>
          <a:p>
            <a:r>
              <a:rPr lang="en-GB" b="1" dirty="0">
                <a:latin typeface="Arial Rounded MT Bold" pitchFamily="34" charset="0"/>
                <a:cs typeface="ＭＳ Ｐゴシック" charset="0"/>
              </a:rPr>
              <a:t>Neighbourhood</a:t>
            </a:r>
            <a:r>
              <a:rPr lang="en-GB" sz="2400" b="1" dirty="0">
                <a:latin typeface="Arial Rounded MT Bold" pitchFamily="34" charset="0"/>
                <a:cs typeface="ＭＳ Ｐゴシック" charset="0"/>
              </a:rPr>
              <a:t> </a:t>
            </a:r>
          </a:p>
          <a:p>
            <a:pPr marL="257175" indent="-257175">
              <a:buBlip>
                <a:blip r:embed="rId5"/>
              </a:buBlip>
            </a:pPr>
            <a:r>
              <a:rPr lang="en-GB" sz="1350" dirty="0">
                <a:latin typeface="Arial Rounded MT Bold" pitchFamily="34" charset="0"/>
                <a:cs typeface="ＭＳ Ｐゴシック" charset="0"/>
              </a:rPr>
              <a:t>Census Area Statistics ward</a:t>
            </a:r>
          </a:p>
          <a:p>
            <a:pPr marL="257175" indent="-257175">
              <a:buBlip>
                <a:blip r:embed="rId5"/>
              </a:buBlip>
            </a:pPr>
            <a:r>
              <a:rPr lang="en-GB" sz="1350" dirty="0">
                <a:latin typeface="Arial Rounded MT Bold" pitchFamily="34" charset="0"/>
                <a:cs typeface="ＭＳ Ｐゴシック" charset="0"/>
              </a:rPr>
              <a:t>633 in London</a:t>
            </a:r>
          </a:p>
          <a:p>
            <a:endParaRPr lang="en-GB" dirty="0">
              <a:latin typeface="Arial Rounded MT Bold" pitchFamily="34" charset="0"/>
              <a:cs typeface="ＭＳ Ｐゴシック" charset="0"/>
            </a:endParaRPr>
          </a:p>
          <a:p>
            <a:endParaRPr lang="en-GB" dirty="0">
              <a:latin typeface="Arial Rounded MT Bold" pitchFamily="34" charset="0"/>
              <a:cs typeface="ＭＳ Ｐゴシック" charset="0"/>
            </a:endParaRPr>
          </a:p>
          <a:p>
            <a:endParaRPr lang="en-GB" dirty="0">
              <a:latin typeface="Arial Rounded MT Bold" pitchFamily="34" charset="0"/>
              <a:cs typeface="ＭＳ Ｐゴシック" charset="0"/>
            </a:endParaRPr>
          </a:p>
          <a:p>
            <a:r>
              <a:rPr lang="en-GB" b="1" dirty="0">
                <a:latin typeface="Arial Rounded MT Bold" pitchFamily="34" charset="0"/>
                <a:cs typeface="ＭＳ Ｐゴシック" charset="0"/>
              </a:rPr>
              <a:t>Walkability</a:t>
            </a:r>
            <a:r>
              <a:rPr lang="en-GB" sz="2400" b="1" dirty="0">
                <a:latin typeface="Arial Rounded MT Bold" pitchFamily="34" charset="0"/>
                <a:cs typeface="ＭＳ Ｐゴシック" charset="0"/>
              </a:rPr>
              <a:t>:</a:t>
            </a:r>
            <a:endParaRPr lang="en-GB" sz="1350" i="1" dirty="0">
              <a:latin typeface="Arial Rounded MT Bold" pitchFamily="34" charset="0"/>
              <a:cs typeface="ＭＳ Ｐゴシック" charset="0"/>
            </a:endParaRPr>
          </a:p>
          <a:p>
            <a:pPr algn="ctr"/>
            <a:r>
              <a:rPr lang="en-GB" sz="1350" i="1" dirty="0">
                <a:latin typeface="Arial Rounded MT Bold" pitchFamily="34" charset="0"/>
                <a:cs typeface="ＭＳ Ｐゴシック" charset="0"/>
              </a:rPr>
              <a:t>Residential density </a:t>
            </a:r>
          </a:p>
          <a:p>
            <a:pPr algn="ctr"/>
            <a:r>
              <a:rPr lang="en-GB" sz="1350" i="1" dirty="0">
                <a:latin typeface="Arial Rounded MT Bold" pitchFamily="34" charset="0"/>
                <a:cs typeface="ＭＳ Ｐゴシック" charset="0"/>
              </a:rPr>
              <a:t>+ </a:t>
            </a:r>
          </a:p>
          <a:p>
            <a:pPr algn="ctr"/>
            <a:r>
              <a:rPr lang="en-GB" sz="1350" i="1" dirty="0">
                <a:latin typeface="Arial Rounded MT Bold" pitchFamily="34" charset="0"/>
                <a:cs typeface="ＭＳ Ｐゴシック" charset="0"/>
              </a:rPr>
              <a:t>Junction density </a:t>
            </a:r>
          </a:p>
          <a:p>
            <a:pPr algn="ctr"/>
            <a:r>
              <a:rPr lang="en-GB" sz="1350" i="1" dirty="0">
                <a:latin typeface="Arial Rounded MT Bold" pitchFamily="34" charset="0"/>
                <a:cs typeface="ＭＳ Ｐゴシック" charset="0"/>
              </a:rPr>
              <a:t>+ </a:t>
            </a:r>
          </a:p>
          <a:p>
            <a:pPr algn="ctr"/>
            <a:r>
              <a:rPr lang="en-GB" sz="1350" i="1" dirty="0">
                <a:latin typeface="Arial Rounded MT Bold" pitchFamily="34" charset="0"/>
                <a:cs typeface="ＭＳ Ｐゴシック" charset="0"/>
              </a:rPr>
              <a:t>Land use mix</a:t>
            </a:r>
          </a:p>
          <a:p>
            <a:endParaRPr lang="en-GB" sz="1350" i="1" dirty="0">
              <a:latin typeface="Arial Rounded MT Bold" pitchFamily="34" charset="0"/>
              <a:cs typeface="ＭＳ Ｐゴシック" charset="0"/>
            </a:endParaRPr>
          </a:p>
        </p:txBody>
      </p:sp>
      <p:grpSp>
        <p:nvGrpSpPr>
          <p:cNvPr id="17" name="Group 16">
            <a:extLst>
              <a:ext uri="{FF2B5EF4-FFF2-40B4-BE49-F238E27FC236}">
                <a16:creationId xmlns:a16="http://schemas.microsoft.com/office/drawing/2014/main" id="{6E247DF1-6F9C-6BE9-556F-613D69E14860}"/>
              </a:ext>
            </a:extLst>
          </p:cNvPr>
          <p:cNvGrpSpPr/>
          <p:nvPr/>
        </p:nvGrpSpPr>
        <p:grpSpPr>
          <a:xfrm>
            <a:off x="2470186" y="4289042"/>
            <a:ext cx="6462067" cy="369337"/>
            <a:chOff x="53700" y="5832325"/>
            <a:chExt cx="10461951" cy="492449"/>
          </a:xfrm>
          <a:solidFill>
            <a:schemeClr val="bg1"/>
          </a:solidFill>
        </p:grpSpPr>
        <p:sp>
          <p:nvSpPr>
            <p:cNvPr id="18" name="Rectangle 17">
              <a:extLst>
                <a:ext uri="{FF2B5EF4-FFF2-40B4-BE49-F238E27FC236}">
                  <a16:creationId xmlns:a16="http://schemas.microsoft.com/office/drawing/2014/main" id="{355FA022-06D7-6545-70BB-7158B3771E45}"/>
                </a:ext>
              </a:extLst>
            </p:cNvPr>
            <p:cNvSpPr/>
            <p:nvPr/>
          </p:nvSpPr>
          <p:spPr>
            <a:xfrm>
              <a:off x="53700" y="5832332"/>
              <a:ext cx="4428796" cy="492442"/>
            </a:xfrm>
            <a:prstGeom prst="rect">
              <a:avLst/>
            </a:prstGeom>
            <a:grpFill/>
          </p:spPr>
          <p:txBody>
            <a:bodyPr wrap="square">
              <a:spAutoFit/>
            </a:bodyPr>
            <a:lstStyle/>
            <a:p>
              <a:r>
                <a:rPr lang="en-GB" dirty="0">
                  <a:latin typeface="Arial Rounded MT Bold" pitchFamily="34" charset="0"/>
                  <a:cs typeface="ＭＳ Ｐゴシック" charset="0"/>
                </a:rPr>
                <a:t>1=  lowest walkability</a:t>
              </a:r>
            </a:p>
          </p:txBody>
        </p:sp>
        <p:cxnSp>
          <p:nvCxnSpPr>
            <p:cNvPr id="19" name="Straight Arrow Connector 18">
              <a:extLst>
                <a:ext uri="{FF2B5EF4-FFF2-40B4-BE49-F238E27FC236}">
                  <a16:creationId xmlns:a16="http://schemas.microsoft.com/office/drawing/2014/main" id="{60926763-FE8B-958E-EFF3-B024267B2B65}"/>
                </a:ext>
              </a:extLst>
            </p:cNvPr>
            <p:cNvCxnSpPr/>
            <p:nvPr/>
          </p:nvCxnSpPr>
          <p:spPr>
            <a:xfrm>
              <a:off x="4482496" y="6063157"/>
              <a:ext cx="1229631" cy="0"/>
            </a:xfrm>
            <a:prstGeom prst="straightConnector1">
              <a:avLst/>
            </a:prstGeom>
            <a:grpFill/>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E6BAD83-9D0C-1E07-3553-8699F699479B}"/>
                </a:ext>
              </a:extLst>
            </p:cNvPr>
            <p:cNvSpPr/>
            <p:nvPr/>
          </p:nvSpPr>
          <p:spPr>
            <a:xfrm>
              <a:off x="5794052" y="5832325"/>
              <a:ext cx="4721599" cy="492442"/>
            </a:xfrm>
            <a:prstGeom prst="rect">
              <a:avLst/>
            </a:prstGeom>
            <a:grpFill/>
          </p:spPr>
          <p:txBody>
            <a:bodyPr wrap="square">
              <a:spAutoFit/>
            </a:bodyPr>
            <a:lstStyle/>
            <a:p>
              <a:r>
                <a:rPr lang="en-GB" dirty="0">
                  <a:latin typeface="Arial Rounded MT Bold" pitchFamily="34" charset="0"/>
                  <a:cs typeface="ＭＳ Ｐゴシック" charset="0"/>
                </a:rPr>
                <a:t>4= highest walkability</a:t>
              </a:r>
            </a:p>
          </p:txBody>
        </p:sp>
      </p:grpSp>
    </p:spTree>
    <p:extLst>
      <p:ext uri="{BB962C8B-B14F-4D97-AF65-F5344CB8AC3E}">
        <p14:creationId xmlns:p14="http://schemas.microsoft.com/office/powerpoint/2010/main" val="1550288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26</a:t>
            </a:fld>
            <a:endParaRPr lang="en-US" altLang="en-US"/>
          </a:p>
        </p:txBody>
      </p:sp>
      <p:sp>
        <p:nvSpPr>
          <p:cNvPr id="3" name="Text Placeholder 10">
            <a:extLst>
              <a:ext uri="{FF2B5EF4-FFF2-40B4-BE49-F238E27FC236}">
                <a16:creationId xmlns:a16="http://schemas.microsoft.com/office/drawing/2014/main" id="{B0259744-8422-E780-1CFF-BFB4C1935360}"/>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Walkability vs commute mode stability</a:t>
            </a:r>
            <a:endParaRPr lang="en-US" sz="3000" b="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B016337-AC06-4502-9BBA-46FA7AE3BC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7918" y="2287383"/>
            <a:ext cx="4015319" cy="2835395"/>
          </a:xfrm>
          <a:prstGeom prst="rect">
            <a:avLst/>
          </a:prstGeom>
          <a:ln w="12700">
            <a:solidFill>
              <a:schemeClr val="tx1"/>
            </a:solidFill>
          </a:ln>
          <a:scene3d>
            <a:camera prst="isometricOffAxis2Top"/>
            <a:lightRig rig="threePt" dir="t"/>
          </a:scene3d>
        </p:spPr>
      </p:pic>
      <p:pic>
        <p:nvPicPr>
          <p:cNvPr id="5" name="Picture 4">
            <a:extLst>
              <a:ext uri="{FF2B5EF4-FFF2-40B4-BE49-F238E27FC236}">
                <a16:creationId xmlns:a16="http://schemas.microsoft.com/office/drawing/2014/main" id="{8D29EBB1-4F32-74A5-D046-82F62E4212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1937" y="1085061"/>
            <a:ext cx="3844162" cy="2714534"/>
          </a:xfrm>
          <a:prstGeom prst="rect">
            <a:avLst/>
          </a:prstGeom>
          <a:ln w="12700">
            <a:solidFill>
              <a:schemeClr val="tx1"/>
            </a:solidFill>
          </a:ln>
          <a:scene3d>
            <a:camera prst="isometricOffAxis2Top"/>
            <a:lightRig rig="threePt" dir="t"/>
          </a:scene3d>
        </p:spPr>
      </p:pic>
      <p:pic>
        <p:nvPicPr>
          <p:cNvPr id="7" name="Picture 6">
            <a:extLst>
              <a:ext uri="{FF2B5EF4-FFF2-40B4-BE49-F238E27FC236}">
                <a16:creationId xmlns:a16="http://schemas.microsoft.com/office/drawing/2014/main" id="{C37F38E1-666B-A5E6-03CC-6FC1457847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62263" y="869032"/>
            <a:ext cx="1377798" cy="2057856"/>
          </a:xfrm>
          <a:prstGeom prst="rect">
            <a:avLst/>
          </a:prstGeom>
        </p:spPr>
      </p:pic>
      <p:sp>
        <p:nvSpPr>
          <p:cNvPr id="8" name="Rectangle 7">
            <a:extLst>
              <a:ext uri="{FF2B5EF4-FFF2-40B4-BE49-F238E27FC236}">
                <a16:creationId xmlns:a16="http://schemas.microsoft.com/office/drawing/2014/main" id="{F5E6867E-7A85-7C2B-8E69-6E7C6CB0105F}"/>
              </a:ext>
            </a:extLst>
          </p:cNvPr>
          <p:cNvSpPr/>
          <p:nvPr/>
        </p:nvSpPr>
        <p:spPr>
          <a:xfrm>
            <a:off x="4472692" y="987904"/>
            <a:ext cx="2210991" cy="507831"/>
          </a:xfrm>
          <a:prstGeom prst="rect">
            <a:avLst/>
          </a:prstGeom>
          <a:solidFill>
            <a:schemeClr val="bg1"/>
          </a:solidFill>
          <a:ln>
            <a:solidFill>
              <a:schemeClr val="tx1"/>
            </a:solidFill>
          </a:ln>
        </p:spPr>
        <p:txBody>
          <a:bodyPr wrap="none">
            <a:spAutoFit/>
          </a:bodyPr>
          <a:lstStyle/>
          <a:p>
            <a:pPr algn="ctr">
              <a:buSzPct val="200000"/>
            </a:pPr>
            <a:r>
              <a:rPr lang="en-GB" sz="1350" dirty="0">
                <a:latin typeface="Arial Rounded MT Bold" pitchFamily="34" charset="0"/>
                <a:cs typeface="ＭＳ Ｐゴシック" charset="0"/>
              </a:rPr>
              <a:t>Commute mode change,</a:t>
            </a:r>
          </a:p>
          <a:p>
            <a:pPr algn="ctr">
              <a:buSzPct val="200000"/>
            </a:pPr>
            <a:r>
              <a:rPr lang="en-GB" sz="1350" dirty="0">
                <a:latin typeface="Arial Rounded MT Bold" pitchFamily="34" charset="0"/>
                <a:cs typeface="ＭＳ Ｐゴシック" charset="0"/>
              </a:rPr>
              <a:t>2001 -2011</a:t>
            </a:r>
          </a:p>
        </p:txBody>
      </p:sp>
      <p:sp>
        <p:nvSpPr>
          <p:cNvPr id="11" name="Rectangle 10">
            <a:extLst>
              <a:ext uri="{FF2B5EF4-FFF2-40B4-BE49-F238E27FC236}">
                <a16:creationId xmlns:a16="http://schemas.microsoft.com/office/drawing/2014/main" id="{3003B1F1-82AF-2750-197E-F19F9D8DBF5E}"/>
              </a:ext>
            </a:extLst>
          </p:cNvPr>
          <p:cNvSpPr/>
          <p:nvPr/>
        </p:nvSpPr>
        <p:spPr>
          <a:xfrm>
            <a:off x="5792951" y="1883290"/>
            <a:ext cx="1585820" cy="300082"/>
          </a:xfrm>
          <a:prstGeom prst="rect">
            <a:avLst/>
          </a:prstGeom>
          <a:solidFill>
            <a:schemeClr val="bg1"/>
          </a:solidFill>
        </p:spPr>
        <p:txBody>
          <a:bodyPr wrap="none">
            <a:spAutoFit/>
          </a:bodyPr>
          <a:lstStyle/>
          <a:p>
            <a:pPr algn="ctr">
              <a:buSzPct val="200000"/>
            </a:pPr>
            <a:r>
              <a:rPr lang="en-GB" sz="1350" i="1" dirty="0">
                <a:solidFill>
                  <a:schemeClr val="bg1">
                    <a:lumMod val="65000"/>
                  </a:schemeClr>
                </a:solidFill>
                <a:latin typeface="Arial Rounded MT Bold" pitchFamily="34" charset="0"/>
                <a:cs typeface="ＭＳ Ｐゴシック" charset="0"/>
              </a:rPr>
              <a:t>Residential ward</a:t>
            </a:r>
          </a:p>
        </p:txBody>
      </p:sp>
      <p:sp>
        <p:nvSpPr>
          <p:cNvPr id="12" name="Rectangle 11">
            <a:extLst>
              <a:ext uri="{FF2B5EF4-FFF2-40B4-BE49-F238E27FC236}">
                <a16:creationId xmlns:a16="http://schemas.microsoft.com/office/drawing/2014/main" id="{B4A275E5-DDD8-3343-498B-748282C9EC87}"/>
              </a:ext>
            </a:extLst>
          </p:cNvPr>
          <p:cNvSpPr/>
          <p:nvPr/>
        </p:nvSpPr>
        <p:spPr>
          <a:xfrm>
            <a:off x="5706158" y="3044149"/>
            <a:ext cx="1728240" cy="507831"/>
          </a:xfrm>
          <a:prstGeom prst="rect">
            <a:avLst/>
          </a:prstGeom>
          <a:solidFill>
            <a:schemeClr val="bg1"/>
          </a:solidFill>
          <a:ln>
            <a:solidFill>
              <a:schemeClr val="tx1"/>
            </a:solidFill>
          </a:ln>
        </p:spPr>
        <p:txBody>
          <a:bodyPr wrap="square">
            <a:spAutoFit/>
          </a:bodyPr>
          <a:lstStyle/>
          <a:p>
            <a:pPr algn="ctr">
              <a:buSzPct val="200000"/>
            </a:pPr>
            <a:r>
              <a:rPr lang="en-GB" sz="1350" dirty="0">
                <a:latin typeface="Arial Rounded MT Bold" pitchFamily="34" charset="0"/>
                <a:cs typeface="ＭＳ Ｐゴシック" charset="0"/>
              </a:rPr>
              <a:t>Neighbourhood walkability score</a:t>
            </a:r>
          </a:p>
        </p:txBody>
      </p:sp>
      <p:cxnSp>
        <p:nvCxnSpPr>
          <p:cNvPr id="13" name="Straight Arrow Connector 12">
            <a:extLst>
              <a:ext uri="{FF2B5EF4-FFF2-40B4-BE49-F238E27FC236}">
                <a16:creationId xmlns:a16="http://schemas.microsoft.com/office/drawing/2014/main" id="{BEDB5215-638E-32E9-34AD-E5BFABEEEC77}"/>
              </a:ext>
            </a:extLst>
          </p:cNvPr>
          <p:cNvCxnSpPr/>
          <p:nvPr/>
        </p:nvCxnSpPr>
        <p:spPr>
          <a:xfrm>
            <a:off x="5490128" y="2800456"/>
            <a:ext cx="0" cy="728441"/>
          </a:xfrm>
          <a:prstGeom prst="straightConnector1">
            <a:avLst/>
          </a:prstGeom>
          <a:ln w="381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09DDFED-4E45-273F-01C7-CA0A8BE6DBFF}"/>
              </a:ext>
            </a:extLst>
          </p:cNvPr>
          <p:cNvCxnSpPr/>
          <p:nvPr/>
        </p:nvCxnSpPr>
        <p:spPr>
          <a:xfrm>
            <a:off x="5475419" y="1347053"/>
            <a:ext cx="0" cy="808793"/>
          </a:xfrm>
          <a:prstGeom prst="straightConnector1">
            <a:avLst/>
          </a:prstGeom>
          <a:ln w="381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34FFBB9-77FB-409F-C245-C1B2CB58185D}"/>
              </a:ext>
            </a:extLst>
          </p:cNvPr>
          <p:cNvCxnSpPr/>
          <p:nvPr/>
        </p:nvCxnSpPr>
        <p:spPr>
          <a:xfrm>
            <a:off x="5490128" y="4217497"/>
            <a:ext cx="0" cy="728441"/>
          </a:xfrm>
          <a:prstGeom prst="straightConnector1">
            <a:avLst/>
          </a:prstGeom>
          <a:ln w="381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4D6EE81-DE0F-2F60-408F-87566FE8820C}"/>
              </a:ext>
            </a:extLst>
          </p:cNvPr>
          <p:cNvSpPr/>
          <p:nvPr/>
        </p:nvSpPr>
        <p:spPr>
          <a:xfrm>
            <a:off x="4573103" y="4472534"/>
            <a:ext cx="1834050" cy="738664"/>
          </a:xfrm>
          <a:prstGeom prst="rect">
            <a:avLst/>
          </a:prstGeom>
          <a:solidFill>
            <a:schemeClr val="bg1"/>
          </a:solidFill>
        </p:spPr>
        <p:txBody>
          <a:bodyPr wrap="square">
            <a:spAutoFit/>
          </a:bodyPr>
          <a:lstStyle/>
          <a:p>
            <a:pPr algn="ctr">
              <a:buSzPct val="200000"/>
            </a:pPr>
            <a:r>
              <a:rPr lang="en-GB" sz="2100" dirty="0">
                <a:latin typeface="Arial Rounded MT Bold" pitchFamily="34" charset="0"/>
                <a:cs typeface="ＭＳ Ｐゴシック" charset="0"/>
              </a:rPr>
              <a:t>Association?</a:t>
            </a:r>
          </a:p>
        </p:txBody>
      </p:sp>
      <p:sp>
        <p:nvSpPr>
          <p:cNvPr id="17" name="Rectangle 16">
            <a:extLst>
              <a:ext uri="{FF2B5EF4-FFF2-40B4-BE49-F238E27FC236}">
                <a16:creationId xmlns:a16="http://schemas.microsoft.com/office/drawing/2014/main" id="{47C6F455-43F1-A7CC-A560-EAE6345EC620}"/>
              </a:ext>
            </a:extLst>
          </p:cNvPr>
          <p:cNvSpPr/>
          <p:nvPr/>
        </p:nvSpPr>
        <p:spPr>
          <a:xfrm>
            <a:off x="34420" y="1077285"/>
            <a:ext cx="4103616" cy="923330"/>
          </a:xfrm>
          <a:prstGeom prst="rect">
            <a:avLst/>
          </a:prstGeom>
          <a:noFill/>
        </p:spPr>
        <p:txBody>
          <a:bodyPr wrap="square">
            <a:spAutoFit/>
          </a:bodyPr>
          <a:lstStyle/>
          <a:p>
            <a:pPr>
              <a:buSzPct val="200000"/>
            </a:pPr>
            <a:r>
              <a:rPr lang="en-GB" dirty="0">
                <a:latin typeface="Arial" panose="020B0604020202020204" pitchFamily="34" charset="0"/>
                <a:cs typeface="Arial" panose="020B0604020202020204" pitchFamily="34" charset="0"/>
              </a:rPr>
              <a:t>Logistic regression with adjustment for covariates among LS members who did not move between 2001 and 2011.</a:t>
            </a:r>
          </a:p>
        </p:txBody>
      </p:sp>
    </p:spTree>
    <p:extLst>
      <p:ext uri="{BB962C8B-B14F-4D97-AF65-F5344CB8AC3E}">
        <p14:creationId xmlns:p14="http://schemas.microsoft.com/office/powerpoint/2010/main" val="226755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27</a:t>
            </a:fld>
            <a:endParaRPr lang="en-US" altLang="en-US"/>
          </a:p>
        </p:txBody>
      </p:sp>
      <p:sp>
        <p:nvSpPr>
          <p:cNvPr id="3" name="Text Placeholder 10">
            <a:extLst>
              <a:ext uri="{FF2B5EF4-FFF2-40B4-BE49-F238E27FC236}">
                <a16:creationId xmlns:a16="http://schemas.microsoft.com/office/drawing/2014/main" id="{B0259744-8422-E780-1CFF-BFB4C1935360}"/>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Walkability vs walking</a:t>
            </a:r>
            <a:endParaRPr lang="en-US" sz="3000" b="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4B154E46-AC7F-22BE-68EF-10ECDC463D61}"/>
              </a:ext>
            </a:extLst>
          </p:cNvPr>
          <p:cNvGraphicFramePr>
            <a:graphicFrameLocks noGrp="1"/>
          </p:cNvGraphicFramePr>
          <p:nvPr>
            <p:extLst>
              <p:ext uri="{D42A27DB-BD31-4B8C-83A1-F6EECF244321}">
                <p14:modId xmlns:p14="http://schemas.microsoft.com/office/powerpoint/2010/main" val="4284629692"/>
              </p:ext>
            </p:extLst>
          </p:nvPr>
        </p:nvGraphicFramePr>
        <p:xfrm>
          <a:off x="215901" y="1896384"/>
          <a:ext cx="8521701" cy="2893702"/>
        </p:xfrm>
        <a:graphic>
          <a:graphicData uri="http://schemas.openxmlformats.org/drawingml/2006/table">
            <a:tbl>
              <a:tblPr/>
              <a:tblGrid>
                <a:gridCol w="1884225">
                  <a:extLst>
                    <a:ext uri="{9D8B030D-6E8A-4147-A177-3AD203B41FA5}">
                      <a16:colId xmlns:a16="http://schemas.microsoft.com/office/drawing/2014/main" val="3037464052"/>
                    </a:ext>
                  </a:extLst>
                </a:gridCol>
                <a:gridCol w="1696019">
                  <a:extLst>
                    <a:ext uri="{9D8B030D-6E8A-4147-A177-3AD203B41FA5}">
                      <a16:colId xmlns:a16="http://schemas.microsoft.com/office/drawing/2014/main" val="589922843"/>
                    </a:ext>
                  </a:extLst>
                </a:gridCol>
                <a:gridCol w="2069243">
                  <a:extLst>
                    <a:ext uri="{9D8B030D-6E8A-4147-A177-3AD203B41FA5}">
                      <a16:colId xmlns:a16="http://schemas.microsoft.com/office/drawing/2014/main" val="3201285801"/>
                    </a:ext>
                  </a:extLst>
                </a:gridCol>
                <a:gridCol w="2872214">
                  <a:extLst>
                    <a:ext uri="{9D8B030D-6E8A-4147-A177-3AD203B41FA5}">
                      <a16:colId xmlns:a16="http://schemas.microsoft.com/office/drawing/2014/main" val="447179045"/>
                    </a:ext>
                  </a:extLst>
                </a:gridCol>
              </a:tblGrid>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N</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27,112</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99235647"/>
                  </a:ext>
                </a:extLst>
              </a:tr>
              <a:tr h="773822">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Walkability score</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Odds Ratio</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Confidence interval</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p value</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853885"/>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1</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1.00</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REF</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 </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0802816"/>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2</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1.35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1.18-1.55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&lt;0.001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7316788"/>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3</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1.57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1.38-1.80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&lt;0.001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4970592"/>
                  </a:ext>
                </a:extLst>
              </a:tr>
              <a:tr h="423976">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4</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2.75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2.41-3.14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&lt;0.001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8866226"/>
                  </a:ext>
                </a:extLst>
              </a:tr>
            </a:tbl>
          </a:graphicData>
        </a:graphic>
      </p:graphicFrame>
      <p:sp>
        <p:nvSpPr>
          <p:cNvPr id="19" name="TextBox 18">
            <a:extLst>
              <a:ext uri="{FF2B5EF4-FFF2-40B4-BE49-F238E27FC236}">
                <a16:creationId xmlns:a16="http://schemas.microsoft.com/office/drawing/2014/main" id="{AD45095C-34C9-8C43-B754-B9E3AD5F6E9A}"/>
              </a:ext>
            </a:extLst>
          </p:cNvPr>
          <p:cNvSpPr txBox="1"/>
          <p:nvPr/>
        </p:nvSpPr>
        <p:spPr>
          <a:xfrm>
            <a:off x="110835" y="971807"/>
            <a:ext cx="8741066" cy="646331"/>
          </a:xfrm>
          <a:prstGeom prst="rect">
            <a:avLst/>
          </a:prstGeom>
          <a:noFill/>
        </p:spPr>
        <p:txBody>
          <a:bodyPr wrap="square">
            <a:spAutoFit/>
          </a:bodyPr>
          <a:lstStyle/>
          <a:p>
            <a:r>
              <a:rPr lang="en-GB" sz="1800" dirty="0"/>
              <a:t>Odds ratios to show association between </a:t>
            </a:r>
            <a:r>
              <a:rPr lang="en-GB" b="1" u="sng" dirty="0"/>
              <a:t>WALKING</a:t>
            </a:r>
            <a:r>
              <a:rPr lang="en-GB" sz="1800" dirty="0"/>
              <a:t> to work </a:t>
            </a:r>
            <a:r>
              <a:rPr lang="en-GB" sz="1800" dirty="0">
                <a:solidFill>
                  <a:schemeClr val="tx1"/>
                </a:solidFill>
                <a:effectLst/>
                <a:latin typeface="+mn-lt"/>
                <a:ea typeface="+mn-ea"/>
                <a:cs typeface="+mn-cs"/>
              </a:rPr>
              <a:t>(2001) </a:t>
            </a:r>
            <a:r>
              <a:rPr lang="en-GB" sz="1800" dirty="0"/>
              <a:t>and neighbourhood ward-level walkability, adjusting for sex, age, car availability &amp; socio-economic classification</a:t>
            </a:r>
          </a:p>
        </p:txBody>
      </p:sp>
      <p:sp>
        <p:nvSpPr>
          <p:cNvPr id="20" name="TextBox 19">
            <a:extLst>
              <a:ext uri="{FF2B5EF4-FFF2-40B4-BE49-F238E27FC236}">
                <a16:creationId xmlns:a16="http://schemas.microsoft.com/office/drawing/2014/main" id="{A2308F20-DC6A-B71C-E2B3-6A3E8BBFF17C}"/>
              </a:ext>
            </a:extLst>
          </p:cNvPr>
          <p:cNvSpPr txBox="1"/>
          <p:nvPr/>
        </p:nvSpPr>
        <p:spPr>
          <a:xfrm>
            <a:off x="6345102" y="4841831"/>
            <a:ext cx="2468698" cy="246221"/>
          </a:xfrm>
          <a:prstGeom prst="rect">
            <a:avLst/>
          </a:prstGeom>
          <a:noFill/>
        </p:spPr>
        <p:txBody>
          <a:bodyPr wrap="square">
            <a:spAutoFit/>
          </a:bodyPr>
          <a:lstStyle/>
          <a:p>
            <a:pPr algn="r"/>
            <a:r>
              <a:rPr lang="en-GB" sz="1000" dirty="0"/>
              <a:t>Source: ONS Longitudinal Study</a:t>
            </a:r>
          </a:p>
        </p:txBody>
      </p:sp>
      <p:sp>
        <p:nvSpPr>
          <p:cNvPr id="4" name="Oval 3">
            <a:extLst>
              <a:ext uri="{FF2B5EF4-FFF2-40B4-BE49-F238E27FC236}">
                <a16:creationId xmlns:a16="http://schemas.microsoft.com/office/drawing/2014/main" id="{BDC8772B-3C55-CC67-48CB-6C56B848E1B5}"/>
              </a:ext>
            </a:extLst>
          </p:cNvPr>
          <p:cNvSpPr/>
          <p:nvPr/>
        </p:nvSpPr>
        <p:spPr>
          <a:xfrm>
            <a:off x="2446111" y="4343637"/>
            <a:ext cx="990600" cy="533400"/>
          </a:xfrm>
          <a:prstGeom prst="ellipse">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2249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28</a:t>
            </a:fld>
            <a:endParaRPr lang="en-US" altLang="en-US"/>
          </a:p>
        </p:txBody>
      </p:sp>
      <p:sp>
        <p:nvSpPr>
          <p:cNvPr id="3" name="Text Placeholder 10">
            <a:extLst>
              <a:ext uri="{FF2B5EF4-FFF2-40B4-BE49-F238E27FC236}">
                <a16:creationId xmlns:a16="http://schemas.microsoft.com/office/drawing/2014/main" id="{B0259744-8422-E780-1CFF-BFB4C1935360}"/>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Walkability vs retaining walking</a:t>
            </a:r>
            <a:endParaRPr lang="en-US" sz="3000" b="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4B154E46-AC7F-22BE-68EF-10ECDC463D61}"/>
              </a:ext>
            </a:extLst>
          </p:cNvPr>
          <p:cNvGraphicFramePr>
            <a:graphicFrameLocks noGrp="1"/>
          </p:cNvGraphicFramePr>
          <p:nvPr>
            <p:extLst>
              <p:ext uri="{D42A27DB-BD31-4B8C-83A1-F6EECF244321}">
                <p14:modId xmlns:p14="http://schemas.microsoft.com/office/powerpoint/2010/main" val="3018917735"/>
              </p:ext>
            </p:extLst>
          </p:nvPr>
        </p:nvGraphicFramePr>
        <p:xfrm>
          <a:off x="215901" y="2074184"/>
          <a:ext cx="8521701" cy="2893702"/>
        </p:xfrm>
        <a:graphic>
          <a:graphicData uri="http://schemas.openxmlformats.org/drawingml/2006/table">
            <a:tbl>
              <a:tblPr/>
              <a:tblGrid>
                <a:gridCol w="1884225">
                  <a:extLst>
                    <a:ext uri="{9D8B030D-6E8A-4147-A177-3AD203B41FA5}">
                      <a16:colId xmlns:a16="http://schemas.microsoft.com/office/drawing/2014/main" val="3037464052"/>
                    </a:ext>
                  </a:extLst>
                </a:gridCol>
                <a:gridCol w="1696019">
                  <a:extLst>
                    <a:ext uri="{9D8B030D-6E8A-4147-A177-3AD203B41FA5}">
                      <a16:colId xmlns:a16="http://schemas.microsoft.com/office/drawing/2014/main" val="589922843"/>
                    </a:ext>
                  </a:extLst>
                </a:gridCol>
                <a:gridCol w="2069243">
                  <a:extLst>
                    <a:ext uri="{9D8B030D-6E8A-4147-A177-3AD203B41FA5}">
                      <a16:colId xmlns:a16="http://schemas.microsoft.com/office/drawing/2014/main" val="3201285801"/>
                    </a:ext>
                  </a:extLst>
                </a:gridCol>
                <a:gridCol w="2872214">
                  <a:extLst>
                    <a:ext uri="{9D8B030D-6E8A-4147-A177-3AD203B41FA5}">
                      <a16:colId xmlns:a16="http://schemas.microsoft.com/office/drawing/2014/main" val="447179045"/>
                    </a:ext>
                  </a:extLst>
                </a:gridCol>
              </a:tblGrid>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N</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596</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99235647"/>
                  </a:ext>
                </a:extLst>
              </a:tr>
              <a:tr h="773822">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Walkability score</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Odds Ratio</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Confidence interval</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p value</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853885"/>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1</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REF</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a:solidFill>
                            <a:srgbClr val="000000"/>
                          </a:solidFill>
                          <a:effectLst/>
                          <a:latin typeface="Arial" panose="020B0604020202020204" pitchFamily="34" charset="0"/>
                          <a:ea typeface="+mn-ea"/>
                          <a:cs typeface="Arial" panose="020B0604020202020204" pitchFamily="34" charset="0"/>
                        </a:rPr>
                        <a:t> </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0802816"/>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2</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0.91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0.53-1.56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0.724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7316788"/>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3</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1.62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0.92-2.87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0.095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4970592"/>
                  </a:ext>
                </a:extLst>
              </a:tr>
              <a:tr h="423976">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4</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2.13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a:solidFill>
                            <a:srgbClr val="000000"/>
                          </a:solidFill>
                          <a:effectLst/>
                          <a:latin typeface="Arial" panose="020B0604020202020204" pitchFamily="34" charset="0"/>
                          <a:ea typeface="+mn-ea"/>
                          <a:cs typeface="Arial" panose="020B0604020202020204" pitchFamily="34" charset="0"/>
                        </a:rPr>
                        <a:t>1.22-3.73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0.008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8866226"/>
                  </a:ext>
                </a:extLst>
              </a:tr>
            </a:tbl>
          </a:graphicData>
        </a:graphic>
      </p:graphicFrame>
      <p:sp>
        <p:nvSpPr>
          <p:cNvPr id="19" name="TextBox 18">
            <a:extLst>
              <a:ext uri="{FF2B5EF4-FFF2-40B4-BE49-F238E27FC236}">
                <a16:creationId xmlns:a16="http://schemas.microsoft.com/office/drawing/2014/main" id="{AD45095C-34C9-8C43-B754-B9E3AD5F6E9A}"/>
              </a:ext>
            </a:extLst>
          </p:cNvPr>
          <p:cNvSpPr txBox="1"/>
          <p:nvPr/>
        </p:nvSpPr>
        <p:spPr>
          <a:xfrm>
            <a:off x="110834" y="971807"/>
            <a:ext cx="9033165" cy="923330"/>
          </a:xfrm>
          <a:prstGeom prst="rect">
            <a:avLst/>
          </a:prstGeom>
          <a:noFill/>
        </p:spPr>
        <p:txBody>
          <a:bodyPr wrap="square">
            <a:spAutoFit/>
          </a:bodyPr>
          <a:lstStyle/>
          <a:p>
            <a:r>
              <a:rPr lang="en-GB" sz="1800" dirty="0"/>
              <a:t>Odds ratios to show association between </a:t>
            </a:r>
            <a:r>
              <a:rPr lang="en-GB" sz="1800" b="1" u="sng" dirty="0"/>
              <a:t>RETAINING WALKING</a:t>
            </a:r>
            <a:r>
              <a:rPr lang="en-GB" sz="1800" dirty="0"/>
              <a:t> to work </a:t>
            </a:r>
            <a:r>
              <a:rPr lang="en-GB" sz="1800" dirty="0">
                <a:solidFill>
                  <a:schemeClr val="tx1"/>
                </a:solidFill>
                <a:effectLst/>
                <a:latin typeface="+mn-lt"/>
                <a:ea typeface="+mn-ea"/>
                <a:cs typeface="+mn-cs"/>
              </a:rPr>
              <a:t>(2001-2011) </a:t>
            </a:r>
            <a:r>
              <a:rPr lang="en-GB" sz="1800" dirty="0"/>
              <a:t>and neighbourhood ward-level walkability, adjusting for sex, age, car availability, socio-economic classification &amp; workplace location among those who hav</a:t>
            </a:r>
            <a:r>
              <a:rPr lang="en-GB" dirty="0"/>
              <a:t>e not moved residential location</a:t>
            </a:r>
            <a:endParaRPr lang="en-GB" sz="1800" dirty="0"/>
          </a:p>
        </p:txBody>
      </p:sp>
      <p:sp>
        <p:nvSpPr>
          <p:cNvPr id="5" name="TextBox 4">
            <a:extLst>
              <a:ext uri="{FF2B5EF4-FFF2-40B4-BE49-F238E27FC236}">
                <a16:creationId xmlns:a16="http://schemas.microsoft.com/office/drawing/2014/main" id="{CA94DE35-A3FB-28A3-73DB-C9B9C2F1907C}"/>
              </a:ext>
            </a:extLst>
          </p:cNvPr>
          <p:cNvSpPr txBox="1"/>
          <p:nvPr/>
        </p:nvSpPr>
        <p:spPr>
          <a:xfrm>
            <a:off x="6345102" y="4943431"/>
            <a:ext cx="2468698" cy="246221"/>
          </a:xfrm>
          <a:prstGeom prst="rect">
            <a:avLst/>
          </a:prstGeom>
          <a:noFill/>
        </p:spPr>
        <p:txBody>
          <a:bodyPr wrap="square">
            <a:spAutoFit/>
          </a:bodyPr>
          <a:lstStyle/>
          <a:p>
            <a:pPr algn="r"/>
            <a:r>
              <a:rPr lang="en-GB" sz="1000" dirty="0"/>
              <a:t>Source: ONS Longitudinal Study</a:t>
            </a:r>
          </a:p>
        </p:txBody>
      </p:sp>
      <p:sp>
        <p:nvSpPr>
          <p:cNvPr id="6" name="Oval 5">
            <a:extLst>
              <a:ext uri="{FF2B5EF4-FFF2-40B4-BE49-F238E27FC236}">
                <a16:creationId xmlns:a16="http://schemas.microsoft.com/office/drawing/2014/main" id="{E7A6500D-A15B-8A09-6373-BE94B3755107}"/>
              </a:ext>
            </a:extLst>
          </p:cNvPr>
          <p:cNvSpPr/>
          <p:nvPr/>
        </p:nvSpPr>
        <p:spPr>
          <a:xfrm>
            <a:off x="2446111" y="4455043"/>
            <a:ext cx="990600" cy="533400"/>
          </a:xfrm>
          <a:prstGeom prst="ellipse">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22877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2E9BEE85-945D-4334-9765-A9DF474157C9}"/>
              </a:ext>
            </a:extLst>
          </p:cNvPr>
          <p:cNvSpPr txBox="1">
            <a:spLocks/>
          </p:cNvSpPr>
          <p:nvPr/>
        </p:nvSpPr>
        <p:spPr>
          <a:xfrm>
            <a:off x="330200" y="1351438"/>
            <a:ext cx="8489950" cy="3576062"/>
          </a:xfrm>
          <a:prstGeom prst="rect">
            <a:avLst/>
          </a:prstGeom>
        </p:spPr>
        <p:txBody>
          <a:bodyPr vert="horz" lIns="91440" tIns="45720" rIns="91440" bIns="45720" rtlCol="0" anchor="t">
            <a:noAutofit/>
          </a:bodyPr>
          <a:lstStyle>
            <a:lvl1pPr marL="0" indent="0" algn="l" defTabSz="685800" rtl="0" eaLnBrk="1" latinLnBrk="0" hangingPunct="1">
              <a:lnSpc>
                <a:spcPct val="90000"/>
              </a:lnSpc>
              <a:spcBef>
                <a:spcPts val="750"/>
              </a:spcBef>
              <a:buFont typeface="Arial" panose="020B0604020202020204" pitchFamily="34" charset="0"/>
              <a:buNone/>
              <a:defRPr sz="1200" b="1" kern="1200">
                <a:solidFill>
                  <a:schemeClr val="tx1"/>
                </a:solidFill>
                <a:latin typeface="Arial" charset="0"/>
                <a:ea typeface="Arial" charset="0"/>
                <a:cs typeface="Arial" charset="0"/>
              </a:defRPr>
            </a:lvl1pPr>
            <a:lvl2pPr marL="342900" indent="0" algn="l" defTabSz="685800" rtl="0" eaLnBrk="1" latinLnBrk="0" hangingPunct="1">
              <a:lnSpc>
                <a:spcPct val="90000"/>
              </a:lnSpc>
              <a:spcBef>
                <a:spcPts val="375"/>
              </a:spcBef>
              <a:buFont typeface="Arial" panose="020B0604020202020204" pitchFamily="34" charset="0"/>
              <a:buNone/>
              <a:defRPr sz="2100" kern="1200">
                <a:solidFill>
                  <a:schemeClr val="tx1"/>
                </a:solidFill>
                <a:latin typeface="Arial" charset="0"/>
                <a:ea typeface="Arial" charset="0"/>
                <a:cs typeface="Arial" charset="0"/>
              </a:defRPr>
            </a:lvl2pPr>
            <a:lvl3pPr marL="685800" indent="0" algn="l" defTabSz="685800" rtl="0" eaLnBrk="1" latinLnBrk="0" hangingPunct="1">
              <a:lnSpc>
                <a:spcPct val="90000"/>
              </a:lnSpc>
              <a:spcBef>
                <a:spcPts val="375"/>
              </a:spcBef>
              <a:buFont typeface="Arial" panose="020B0604020202020204" pitchFamily="34" charset="0"/>
              <a:buNone/>
              <a:defRPr sz="1800" b="1" kern="1200">
                <a:solidFill>
                  <a:schemeClr val="tx1"/>
                </a:solidFill>
                <a:latin typeface="Arial" charset="0"/>
                <a:ea typeface="Arial" charset="0"/>
                <a:cs typeface="Arial" charset="0"/>
              </a:defRPr>
            </a:lvl3pPr>
            <a:lvl4pPr marL="10287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Arial" charset="0"/>
                <a:ea typeface="Arial" charset="0"/>
                <a:cs typeface="Arial" charset="0"/>
              </a:defRPr>
            </a:lvl4pPr>
            <a:lvl5pPr marL="13716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Arial" charset="0"/>
                <a:ea typeface="Arial" charset="0"/>
                <a:cs typeface="Arial" charset="0"/>
              </a:defRPr>
            </a:lvl5pPr>
            <a:lvl6pPr marL="17145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9pPr>
          </a:lstStyle>
          <a:p>
            <a:pPr marL="457200" indent="-457200">
              <a:lnSpc>
                <a:spcPct val="150000"/>
              </a:lnSpc>
              <a:buFont typeface="Arial" panose="020B0604020202020204" pitchFamily="34" charset="0"/>
              <a:buChar char="•"/>
            </a:pPr>
            <a:endParaRPr lang="en-GB" sz="1800" b="0" dirty="0">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034FA215-5C07-4EE9-8F58-B4AD89657F8C}"/>
              </a:ext>
            </a:extLst>
          </p:cNvPr>
          <p:cNvSpPr txBox="1">
            <a:spLocks/>
          </p:cNvSpPr>
          <p:nvPr/>
        </p:nvSpPr>
        <p:spPr>
          <a:xfrm>
            <a:off x="7812088" y="6337300"/>
            <a:ext cx="1008062"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D36D4F6-2BF3-48A1-9ED7-CA697C8E279A}" type="slidenum">
              <a:rPr lang="en-US" altLang="en-US" smtClean="0"/>
              <a:pPr>
                <a:defRPr/>
              </a:pPr>
              <a:t>29</a:t>
            </a:fld>
            <a:endParaRPr lang="en-US" altLang="en-US"/>
          </a:p>
        </p:txBody>
      </p:sp>
      <p:sp>
        <p:nvSpPr>
          <p:cNvPr id="3" name="Text Placeholder 10">
            <a:extLst>
              <a:ext uri="{FF2B5EF4-FFF2-40B4-BE49-F238E27FC236}">
                <a16:creationId xmlns:a16="http://schemas.microsoft.com/office/drawing/2014/main" id="{B0259744-8422-E780-1CFF-BFB4C1935360}"/>
              </a:ext>
            </a:extLst>
          </p:cNvPr>
          <p:cNvSpPr txBox="1">
            <a:spLocks/>
          </p:cNvSpPr>
          <p:nvPr/>
        </p:nvSpPr>
        <p:spPr>
          <a:xfrm>
            <a:off x="215900" y="215899"/>
            <a:ext cx="716026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3000" b="0" dirty="0">
                <a:latin typeface="Arial" panose="020B0604020202020204" pitchFamily="34" charset="0"/>
                <a:cs typeface="Arial" panose="020B0604020202020204" pitchFamily="34" charset="0"/>
              </a:rPr>
              <a:t>Walkability vs switching to walking</a:t>
            </a:r>
            <a:endParaRPr lang="en-US" sz="3000" b="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4B154E46-AC7F-22BE-68EF-10ECDC463D61}"/>
              </a:ext>
            </a:extLst>
          </p:cNvPr>
          <p:cNvGraphicFramePr>
            <a:graphicFrameLocks noGrp="1"/>
          </p:cNvGraphicFramePr>
          <p:nvPr>
            <p:extLst>
              <p:ext uri="{D42A27DB-BD31-4B8C-83A1-F6EECF244321}">
                <p14:modId xmlns:p14="http://schemas.microsoft.com/office/powerpoint/2010/main" val="2158872853"/>
              </p:ext>
            </p:extLst>
          </p:nvPr>
        </p:nvGraphicFramePr>
        <p:xfrm>
          <a:off x="215901" y="2036084"/>
          <a:ext cx="8521701" cy="2893702"/>
        </p:xfrm>
        <a:graphic>
          <a:graphicData uri="http://schemas.openxmlformats.org/drawingml/2006/table">
            <a:tbl>
              <a:tblPr/>
              <a:tblGrid>
                <a:gridCol w="1884225">
                  <a:extLst>
                    <a:ext uri="{9D8B030D-6E8A-4147-A177-3AD203B41FA5}">
                      <a16:colId xmlns:a16="http://schemas.microsoft.com/office/drawing/2014/main" val="3037464052"/>
                    </a:ext>
                  </a:extLst>
                </a:gridCol>
                <a:gridCol w="1696019">
                  <a:extLst>
                    <a:ext uri="{9D8B030D-6E8A-4147-A177-3AD203B41FA5}">
                      <a16:colId xmlns:a16="http://schemas.microsoft.com/office/drawing/2014/main" val="589922843"/>
                    </a:ext>
                  </a:extLst>
                </a:gridCol>
                <a:gridCol w="2069243">
                  <a:extLst>
                    <a:ext uri="{9D8B030D-6E8A-4147-A177-3AD203B41FA5}">
                      <a16:colId xmlns:a16="http://schemas.microsoft.com/office/drawing/2014/main" val="3201285801"/>
                    </a:ext>
                  </a:extLst>
                </a:gridCol>
                <a:gridCol w="2872214">
                  <a:extLst>
                    <a:ext uri="{9D8B030D-6E8A-4147-A177-3AD203B41FA5}">
                      <a16:colId xmlns:a16="http://schemas.microsoft.com/office/drawing/2014/main" val="447179045"/>
                    </a:ext>
                  </a:extLst>
                </a:gridCol>
              </a:tblGrid>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N</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3,093</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99235647"/>
                  </a:ext>
                </a:extLst>
              </a:tr>
              <a:tr h="773822">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Walkability score</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Odds Ratio</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Confidence interval</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p value</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853885"/>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1</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REF</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a:solidFill>
                            <a:srgbClr val="000000"/>
                          </a:solidFill>
                          <a:effectLst/>
                          <a:latin typeface="Arial" panose="020B0604020202020204" pitchFamily="34" charset="0"/>
                          <a:ea typeface="+mn-ea"/>
                          <a:cs typeface="Arial" panose="020B0604020202020204" pitchFamily="34" charset="0"/>
                        </a:rPr>
                        <a:t> </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0802816"/>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2</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1.15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0.81-1.64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a:solidFill>
                            <a:srgbClr val="000000"/>
                          </a:solidFill>
                          <a:effectLst/>
                          <a:latin typeface="Arial" panose="020B0604020202020204" pitchFamily="34" charset="0"/>
                          <a:ea typeface="+mn-ea"/>
                          <a:cs typeface="Arial" panose="020B0604020202020204" pitchFamily="34" charset="0"/>
                        </a:rPr>
                        <a:t>0.426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7316788"/>
                  </a:ext>
                </a:extLst>
              </a:tr>
              <a:tr h="423976">
                <a:tc>
                  <a:txBody>
                    <a:bodyPr/>
                    <a:lstStyle/>
                    <a:p>
                      <a:pPr algn="ctr" fontAlgn="ctr"/>
                      <a:r>
                        <a:rPr lang="en-GB" sz="1800" b="0" i="0" u="none" strike="noStrike">
                          <a:solidFill>
                            <a:srgbClr val="000000"/>
                          </a:solidFill>
                          <a:effectLst/>
                          <a:latin typeface="Arial" panose="020B0604020202020204" pitchFamily="34" charset="0"/>
                          <a:cs typeface="Arial" panose="020B0604020202020204" pitchFamily="34" charset="0"/>
                        </a:rPr>
                        <a:t>3</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a:solidFill>
                            <a:srgbClr val="000000"/>
                          </a:solidFill>
                          <a:effectLst/>
                          <a:latin typeface="Arial" panose="020B0604020202020204" pitchFamily="34" charset="0"/>
                          <a:ea typeface="+mn-ea"/>
                          <a:cs typeface="Arial" panose="020B0604020202020204" pitchFamily="34" charset="0"/>
                        </a:rPr>
                        <a:t>1.91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1.35-2.73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&lt;0.001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4970592"/>
                  </a:ext>
                </a:extLst>
              </a:tr>
              <a:tr h="423976">
                <a:tc>
                  <a:txBody>
                    <a:bodyPr/>
                    <a:lstStyle/>
                    <a:p>
                      <a:pPr algn="ctr" fontAlgn="ctr"/>
                      <a:r>
                        <a:rPr lang="en-GB" sz="1800" b="0" i="0" u="none" strike="noStrike" dirty="0">
                          <a:solidFill>
                            <a:srgbClr val="000000"/>
                          </a:solidFill>
                          <a:effectLst/>
                          <a:latin typeface="Arial" panose="020B0604020202020204" pitchFamily="34" charset="0"/>
                          <a:cs typeface="Arial" panose="020B0604020202020204" pitchFamily="34" charset="0"/>
                        </a:rPr>
                        <a:t>4</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a:solidFill>
                            <a:srgbClr val="000000"/>
                          </a:solidFill>
                          <a:effectLst/>
                          <a:latin typeface="Arial" panose="020B0604020202020204" pitchFamily="34" charset="0"/>
                          <a:ea typeface="+mn-ea"/>
                          <a:cs typeface="Arial" panose="020B0604020202020204" pitchFamily="34" charset="0"/>
                        </a:rPr>
                        <a:t>3.01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1.99-4.53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&lt;0.001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8866226"/>
                  </a:ext>
                </a:extLst>
              </a:tr>
            </a:tbl>
          </a:graphicData>
        </a:graphic>
      </p:graphicFrame>
      <p:sp>
        <p:nvSpPr>
          <p:cNvPr id="19" name="TextBox 18">
            <a:extLst>
              <a:ext uri="{FF2B5EF4-FFF2-40B4-BE49-F238E27FC236}">
                <a16:creationId xmlns:a16="http://schemas.microsoft.com/office/drawing/2014/main" id="{AD45095C-34C9-8C43-B754-B9E3AD5F6E9A}"/>
              </a:ext>
            </a:extLst>
          </p:cNvPr>
          <p:cNvSpPr txBox="1"/>
          <p:nvPr/>
        </p:nvSpPr>
        <p:spPr>
          <a:xfrm>
            <a:off x="110834" y="971807"/>
            <a:ext cx="9033166" cy="923330"/>
          </a:xfrm>
          <a:prstGeom prst="rect">
            <a:avLst/>
          </a:prstGeom>
          <a:noFill/>
        </p:spPr>
        <p:txBody>
          <a:bodyPr wrap="square">
            <a:spAutoFit/>
          </a:bodyPr>
          <a:lstStyle/>
          <a:p>
            <a:r>
              <a:rPr lang="en-GB" sz="1800" dirty="0"/>
              <a:t>Odds ratios to show association between </a:t>
            </a:r>
            <a:r>
              <a:rPr lang="en-GB" sz="1800" b="1" u="sng" dirty="0"/>
              <a:t>SWITCHING TO WALKING</a:t>
            </a:r>
            <a:r>
              <a:rPr lang="en-GB" sz="1800" dirty="0"/>
              <a:t> to work </a:t>
            </a:r>
            <a:r>
              <a:rPr lang="en-GB" sz="1800" dirty="0">
                <a:solidFill>
                  <a:schemeClr val="tx1"/>
                </a:solidFill>
                <a:effectLst/>
                <a:latin typeface="+mn-lt"/>
                <a:ea typeface="+mn-ea"/>
                <a:cs typeface="+mn-cs"/>
              </a:rPr>
              <a:t>(2001-2011) </a:t>
            </a:r>
            <a:r>
              <a:rPr lang="en-GB" sz="1800" dirty="0"/>
              <a:t>and neighbourhood ward-level walkability, adjusting for sex, age, car availability, socio-economic classification &amp; workplace location, among those who hav</a:t>
            </a:r>
            <a:r>
              <a:rPr lang="en-GB" dirty="0"/>
              <a:t>e not moved residential location</a:t>
            </a:r>
            <a:endParaRPr lang="en-GB" sz="1800" dirty="0"/>
          </a:p>
        </p:txBody>
      </p:sp>
      <p:sp>
        <p:nvSpPr>
          <p:cNvPr id="5" name="TextBox 4">
            <a:extLst>
              <a:ext uri="{FF2B5EF4-FFF2-40B4-BE49-F238E27FC236}">
                <a16:creationId xmlns:a16="http://schemas.microsoft.com/office/drawing/2014/main" id="{CA94DE35-A3FB-28A3-73DB-C9B9C2F1907C}"/>
              </a:ext>
            </a:extLst>
          </p:cNvPr>
          <p:cNvSpPr txBox="1"/>
          <p:nvPr/>
        </p:nvSpPr>
        <p:spPr>
          <a:xfrm>
            <a:off x="6345102" y="4918031"/>
            <a:ext cx="2468698" cy="246221"/>
          </a:xfrm>
          <a:prstGeom prst="rect">
            <a:avLst/>
          </a:prstGeom>
          <a:noFill/>
        </p:spPr>
        <p:txBody>
          <a:bodyPr wrap="square">
            <a:spAutoFit/>
          </a:bodyPr>
          <a:lstStyle/>
          <a:p>
            <a:pPr algn="r"/>
            <a:r>
              <a:rPr lang="en-GB" sz="1000" dirty="0"/>
              <a:t>Source: ONS Longitudinal Study</a:t>
            </a:r>
          </a:p>
        </p:txBody>
      </p:sp>
      <p:sp>
        <p:nvSpPr>
          <p:cNvPr id="4" name="Oval 3">
            <a:extLst>
              <a:ext uri="{FF2B5EF4-FFF2-40B4-BE49-F238E27FC236}">
                <a16:creationId xmlns:a16="http://schemas.microsoft.com/office/drawing/2014/main" id="{078AFE00-99DB-D434-2991-456E018F7730}"/>
              </a:ext>
            </a:extLst>
          </p:cNvPr>
          <p:cNvSpPr/>
          <p:nvPr/>
        </p:nvSpPr>
        <p:spPr>
          <a:xfrm>
            <a:off x="2446111" y="4455043"/>
            <a:ext cx="990600" cy="533400"/>
          </a:xfrm>
          <a:prstGeom prst="ellipse">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2787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0">
            <a:extLst>
              <a:ext uri="{FF2B5EF4-FFF2-40B4-BE49-F238E27FC236}">
                <a16:creationId xmlns:a16="http://schemas.microsoft.com/office/drawing/2014/main" id="{4DA6AF8D-6342-98CB-4522-0E1B73A0DEF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Conclusions</a:t>
            </a:r>
          </a:p>
        </p:txBody>
      </p:sp>
      <p:sp>
        <p:nvSpPr>
          <p:cNvPr id="2" name="TextBox 1">
            <a:extLst>
              <a:ext uri="{FF2B5EF4-FFF2-40B4-BE49-F238E27FC236}">
                <a16:creationId xmlns:a16="http://schemas.microsoft.com/office/drawing/2014/main" id="{0DAAF6D8-88C6-C723-1EBE-7FBCE4B42BF7}"/>
              </a:ext>
            </a:extLst>
          </p:cNvPr>
          <p:cNvSpPr txBox="1"/>
          <p:nvPr/>
        </p:nvSpPr>
        <p:spPr>
          <a:xfrm>
            <a:off x="215900" y="1069887"/>
            <a:ext cx="8564394" cy="2862322"/>
          </a:xfrm>
          <a:prstGeom prst="rect">
            <a:avLst/>
          </a:prstGeom>
          <a:noFill/>
        </p:spPr>
        <p:txBody>
          <a:bodyPr wrap="square">
            <a:spAutoFit/>
          </a:bodyPr>
          <a:lstStyle/>
          <a:p>
            <a:pPr marL="285750" indent="-285750" algn="l">
              <a:buFont typeface="Arial" panose="020B0604020202020204" pitchFamily="34" charset="0"/>
              <a:buChar char="•"/>
            </a:pPr>
            <a:r>
              <a:rPr lang="en-GB" b="0" dirty="0">
                <a:solidFill>
                  <a:srgbClr val="3C4245"/>
                </a:solidFill>
                <a:effectLst/>
                <a:latin typeface="Arial" panose="020B0604020202020204" pitchFamily="34" charset="0"/>
              </a:rPr>
              <a:t>Important factors in commute mode/ stability:</a:t>
            </a:r>
          </a:p>
          <a:p>
            <a:pPr marL="742950" lvl="1" indent="-285750">
              <a:buFont typeface="Arial" panose="020B0604020202020204" pitchFamily="34" charset="0"/>
              <a:buChar char="•"/>
            </a:pPr>
            <a:r>
              <a:rPr lang="en-GB" dirty="0">
                <a:solidFill>
                  <a:srgbClr val="3C4245"/>
                </a:solidFill>
                <a:latin typeface="Arial" panose="020B0604020202020204" pitchFamily="34" charset="0"/>
              </a:rPr>
              <a:t>Age</a:t>
            </a:r>
          </a:p>
          <a:p>
            <a:pPr marL="742950" lvl="1" indent="-285750">
              <a:buFont typeface="Arial" panose="020B0604020202020204" pitchFamily="34" charset="0"/>
              <a:buChar char="•"/>
            </a:pPr>
            <a:r>
              <a:rPr lang="en-GB" b="0" dirty="0">
                <a:solidFill>
                  <a:srgbClr val="3C4245"/>
                </a:solidFill>
                <a:effectLst/>
                <a:latin typeface="Arial" panose="020B0604020202020204" pitchFamily="34" charset="0"/>
              </a:rPr>
              <a:t>Sex</a:t>
            </a:r>
          </a:p>
          <a:p>
            <a:pPr marL="742950" lvl="1" indent="-285750">
              <a:buFont typeface="Arial" panose="020B0604020202020204" pitchFamily="34" charset="0"/>
              <a:buChar char="•"/>
            </a:pPr>
            <a:r>
              <a:rPr lang="en-GB" dirty="0">
                <a:solidFill>
                  <a:srgbClr val="3C4245"/>
                </a:solidFill>
                <a:latin typeface="Arial" panose="020B0604020202020204" pitchFamily="34" charset="0"/>
              </a:rPr>
              <a:t>Car availability</a:t>
            </a:r>
          </a:p>
          <a:p>
            <a:pPr marL="742950" lvl="1" indent="-285750">
              <a:buFont typeface="Arial" panose="020B0604020202020204" pitchFamily="34" charset="0"/>
              <a:buChar char="•"/>
            </a:pPr>
            <a:r>
              <a:rPr lang="en-GB" b="0" dirty="0">
                <a:solidFill>
                  <a:srgbClr val="3C4245"/>
                </a:solidFill>
                <a:effectLst/>
                <a:latin typeface="Arial" panose="020B0604020202020204" pitchFamily="34" charset="0"/>
              </a:rPr>
              <a:t>Socioeconomic class</a:t>
            </a:r>
          </a:p>
          <a:p>
            <a:pPr marL="742950" lvl="1" indent="-285750">
              <a:buFont typeface="Arial" panose="020B0604020202020204" pitchFamily="34" charset="0"/>
              <a:buChar char="•"/>
            </a:pPr>
            <a:r>
              <a:rPr lang="en-GB" dirty="0">
                <a:solidFill>
                  <a:srgbClr val="3C4245"/>
                </a:solidFill>
                <a:latin typeface="Arial" panose="020B0604020202020204" pitchFamily="34" charset="0"/>
              </a:rPr>
              <a:t>Residential stability</a:t>
            </a:r>
          </a:p>
          <a:p>
            <a:pPr marL="742950" lvl="1" indent="-285750">
              <a:buFont typeface="Arial" panose="020B0604020202020204" pitchFamily="34" charset="0"/>
              <a:buChar char="•"/>
            </a:pPr>
            <a:r>
              <a:rPr lang="en-GB" dirty="0">
                <a:solidFill>
                  <a:srgbClr val="3C4245"/>
                </a:solidFill>
                <a:latin typeface="Arial" panose="020B0604020202020204" pitchFamily="34" charset="0"/>
              </a:rPr>
              <a:t>Workplace stability</a:t>
            </a:r>
          </a:p>
          <a:p>
            <a:pPr marL="285750" indent="-285750">
              <a:buFont typeface="Arial" panose="020B0604020202020204" pitchFamily="34" charset="0"/>
              <a:buChar char="•"/>
            </a:pPr>
            <a:r>
              <a:rPr lang="en-GB" dirty="0">
                <a:solidFill>
                  <a:srgbClr val="3C4245"/>
                </a:solidFill>
                <a:latin typeface="Arial" panose="020B0604020202020204" pitchFamily="34" charset="0"/>
              </a:rPr>
              <a:t>Walkability of residential neighbourhood may promote walking to work, including retention and uptake</a:t>
            </a:r>
            <a:endParaRPr lang="en-GB" b="0" dirty="0">
              <a:solidFill>
                <a:srgbClr val="3C4245"/>
              </a:solidFill>
              <a:effectLst/>
              <a:latin typeface="Arial" panose="020B0604020202020204" pitchFamily="34" charset="0"/>
            </a:endParaRPr>
          </a:p>
          <a:p>
            <a:pPr marL="285750" indent="-285750" algn="l">
              <a:buFont typeface="Arial" panose="020B0604020202020204" pitchFamily="34" charset="0"/>
              <a:buChar char="•"/>
            </a:pPr>
            <a:endParaRPr lang="en-GB" b="0" dirty="0">
              <a:solidFill>
                <a:srgbClr val="3C4245"/>
              </a:solidFill>
              <a:effectLst/>
              <a:latin typeface="Arial" panose="020B0604020202020204" pitchFamily="34" charset="0"/>
            </a:endParaRPr>
          </a:p>
        </p:txBody>
      </p:sp>
    </p:spTree>
    <p:extLst>
      <p:ext uri="{BB962C8B-B14F-4D97-AF65-F5344CB8AC3E}">
        <p14:creationId xmlns:p14="http://schemas.microsoft.com/office/powerpoint/2010/main" val="3432915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09442491-3AB0-884A-92D7-717DB2185C1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Alternatives to the census</a:t>
            </a:r>
          </a:p>
        </p:txBody>
      </p:sp>
      <p:sp>
        <p:nvSpPr>
          <p:cNvPr id="8" name="TextBox 7">
            <a:extLst>
              <a:ext uri="{FF2B5EF4-FFF2-40B4-BE49-F238E27FC236}">
                <a16:creationId xmlns:a16="http://schemas.microsoft.com/office/drawing/2014/main" id="{AD32E874-3D83-11F7-CDF9-7BAF2F264E70}"/>
              </a:ext>
            </a:extLst>
          </p:cNvPr>
          <p:cNvSpPr txBox="1"/>
          <p:nvPr/>
        </p:nvSpPr>
        <p:spPr>
          <a:xfrm>
            <a:off x="36093" y="638174"/>
            <a:ext cx="9107907" cy="6654386"/>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GB" b="0" i="0" dirty="0">
                <a:solidFill>
                  <a:srgbClr val="242424"/>
                </a:solidFill>
                <a:effectLst/>
                <a:latin typeface="Arial" panose="020B0604020202020204" pitchFamily="34" charset="0"/>
              </a:rPr>
              <a:t>LS data can be used to track travel behaviours over time</a:t>
            </a:r>
          </a:p>
          <a:p>
            <a:pPr marL="742950" lvl="1" indent="-285750">
              <a:lnSpc>
                <a:spcPct val="200000"/>
              </a:lnSpc>
              <a:buFont typeface="Arial" panose="020B0604020202020204" pitchFamily="34" charset="0"/>
              <a:buChar char="•"/>
            </a:pPr>
            <a:r>
              <a:rPr lang="en-GB" dirty="0">
                <a:solidFill>
                  <a:srgbClr val="242424"/>
                </a:solidFill>
                <a:latin typeface="Arial" panose="020B0604020202020204" pitchFamily="34" charset="0"/>
              </a:rPr>
              <a:t>Pros: large sample; high response rate</a:t>
            </a:r>
          </a:p>
          <a:p>
            <a:pPr marL="742950" lvl="1" indent="-285750">
              <a:lnSpc>
                <a:spcPct val="200000"/>
              </a:lnSpc>
              <a:buFont typeface="Arial" panose="020B0604020202020204" pitchFamily="34" charset="0"/>
              <a:buChar char="•"/>
            </a:pPr>
            <a:r>
              <a:rPr lang="en-GB" dirty="0">
                <a:solidFill>
                  <a:srgbClr val="242424"/>
                </a:solidFill>
                <a:latin typeface="Arial" panose="020B0604020202020204" pitchFamily="34" charset="0"/>
              </a:rPr>
              <a:t>Cons: only every 10 years; questions change</a:t>
            </a:r>
          </a:p>
          <a:p>
            <a:pPr marL="285750" indent="-285750">
              <a:lnSpc>
                <a:spcPct val="200000"/>
              </a:lnSpc>
              <a:buFont typeface="Arial" panose="020B0604020202020204" pitchFamily="34" charset="0"/>
              <a:buChar char="•"/>
            </a:pPr>
            <a:r>
              <a:rPr lang="en-GB" dirty="0">
                <a:solidFill>
                  <a:srgbClr val="242424"/>
                </a:solidFill>
                <a:latin typeface="Arial" panose="020B0604020202020204" pitchFamily="34" charset="0"/>
              </a:rPr>
              <a:t>Alternatives: “</a:t>
            </a:r>
            <a:r>
              <a:rPr lang="en-GB" i="1" dirty="0">
                <a:latin typeface="Arial" panose="020B0604020202020204" pitchFamily="34" charset="0"/>
                <a:ea typeface="Calibri" panose="020F0502020204030204" pitchFamily="34" charset="0"/>
                <a:cs typeface="Arial" panose="020B0604020202020204" pitchFamily="34" charset="0"/>
              </a:rPr>
              <a:t>an untested patchwork of administrative data and surveys”?</a:t>
            </a:r>
          </a:p>
          <a:p>
            <a:pPr marL="742950" lvl="1" indent="-285750">
              <a:lnSpc>
                <a:spcPct val="200000"/>
              </a:lnSpc>
              <a:buFont typeface="Arial" panose="020B0604020202020204" pitchFamily="34" charset="0"/>
              <a:buChar char="•"/>
            </a:pPr>
            <a:r>
              <a:rPr lang="en-GB" dirty="0" err="1">
                <a:solidFill>
                  <a:srgbClr val="242424"/>
                </a:solidFill>
                <a:latin typeface="Arial" panose="020B0604020202020204" pitchFamily="34" charset="0"/>
                <a:cs typeface="Arial" panose="020B0604020202020204" pitchFamily="34" charset="0"/>
              </a:rPr>
              <a:t>eg.</a:t>
            </a:r>
            <a:r>
              <a:rPr lang="en-GB" dirty="0">
                <a:solidFill>
                  <a:srgbClr val="242424"/>
                </a:solidFill>
                <a:latin typeface="Arial" panose="020B0604020202020204" pitchFamily="34" charset="0"/>
                <a:cs typeface="Arial" panose="020B0604020202020204" pitchFamily="34" charset="0"/>
              </a:rPr>
              <a:t> Mobile phone operator GPS-tracked customers</a:t>
            </a:r>
          </a:p>
          <a:p>
            <a:pPr marL="1200150" lvl="2" indent="-285750">
              <a:lnSpc>
                <a:spcPct val="200000"/>
              </a:lnSpc>
              <a:buFont typeface="Arial" panose="020B0604020202020204" pitchFamily="34" charset="0"/>
              <a:buChar char="•"/>
            </a:pPr>
            <a:r>
              <a:rPr lang="en-GB" dirty="0">
                <a:solidFill>
                  <a:srgbClr val="242424"/>
                </a:solidFill>
                <a:latin typeface="Arial" panose="020B0604020202020204" pitchFamily="34" charset="0"/>
              </a:rPr>
              <a:t>Pros: lower data acquisition costs than surveys; higher accuracy</a:t>
            </a:r>
          </a:p>
          <a:p>
            <a:pPr marL="1200150" lvl="2" indent="-285750">
              <a:lnSpc>
                <a:spcPct val="200000"/>
              </a:lnSpc>
              <a:buFont typeface="Arial" panose="020B0604020202020204" pitchFamily="34" charset="0"/>
              <a:buChar char="•"/>
            </a:pPr>
            <a:r>
              <a:rPr lang="en-GB" dirty="0">
                <a:solidFill>
                  <a:srgbClr val="242424"/>
                </a:solidFill>
                <a:latin typeface="Arial" panose="020B0604020202020204" pitchFamily="34" charset="0"/>
              </a:rPr>
              <a:t>Cons: not representative; high-noise data requires much processing; personal characteristics removed; not longitudinal</a:t>
            </a:r>
          </a:p>
          <a:p>
            <a:pPr marL="742950" lvl="1" indent="-285750">
              <a:lnSpc>
                <a:spcPct val="200000"/>
              </a:lnSpc>
              <a:buFont typeface="Arial" panose="020B0604020202020204" pitchFamily="34" charset="0"/>
              <a:buChar char="•"/>
            </a:pPr>
            <a:endParaRPr lang="en-GB" dirty="0">
              <a:solidFill>
                <a:srgbClr val="242424"/>
              </a:solidFill>
              <a:latin typeface="Arial" panose="020B0604020202020204" pitchFamily="34" charset="0"/>
              <a:cs typeface="Arial" panose="020B0604020202020204" pitchFamily="34" charset="0"/>
            </a:endParaRPr>
          </a:p>
          <a:p>
            <a:pPr marL="742950" lvl="1" indent="-285750">
              <a:lnSpc>
                <a:spcPct val="200000"/>
              </a:lnSpc>
              <a:buFont typeface="Arial" panose="020B0604020202020204" pitchFamily="34" charset="0"/>
              <a:buChar char="•"/>
            </a:pPr>
            <a:endParaRPr lang="en-GB" dirty="0">
              <a:solidFill>
                <a:srgbClr val="242424"/>
              </a:solidFill>
              <a:latin typeface="Arial" panose="020B0604020202020204" pitchFamily="34" charset="0"/>
            </a:endParaRPr>
          </a:p>
          <a:p>
            <a:pPr marL="285750" indent="-285750">
              <a:lnSpc>
                <a:spcPct val="200000"/>
              </a:lnSpc>
              <a:buFont typeface="Arial" panose="020B0604020202020204" pitchFamily="34" charset="0"/>
              <a:buChar char="•"/>
            </a:pPr>
            <a:endParaRPr lang="en-GB" dirty="0">
              <a:solidFill>
                <a:srgbClr val="242424"/>
              </a:solidFill>
              <a:latin typeface="Arial" panose="020B0604020202020204" pitchFamily="34" charset="0"/>
            </a:endParaRPr>
          </a:p>
          <a:p>
            <a:pPr marL="285750" indent="-285750">
              <a:lnSpc>
                <a:spcPct val="200000"/>
              </a:lnSpc>
              <a:buFont typeface="Arial" panose="020B0604020202020204" pitchFamily="34" charset="0"/>
              <a:buChar char="•"/>
            </a:pPr>
            <a:endParaRPr lang="en-GB" dirty="0">
              <a:solidFill>
                <a:srgbClr val="3C4245"/>
              </a:solidFill>
              <a:latin typeface="Arial" panose="020B0604020202020204" pitchFamily="34" charset="0"/>
            </a:endParaRPr>
          </a:p>
        </p:txBody>
      </p:sp>
    </p:spTree>
    <p:extLst>
      <p:ext uri="{BB962C8B-B14F-4D97-AF65-F5344CB8AC3E}">
        <p14:creationId xmlns:p14="http://schemas.microsoft.com/office/powerpoint/2010/main" val="2392428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0">
            <a:extLst>
              <a:ext uri="{FF2B5EF4-FFF2-40B4-BE49-F238E27FC236}">
                <a16:creationId xmlns:a16="http://schemas.microsoft.com/office/drawing/2014/main" id="{4DA6AF8D-6342-98CB-4522-0E1B73A0DEFC}"/>
              </a:ext>
            </a:extLst>
          </p:cNvPr>
          <p:cNvSpPr txBox="1">
            <a:spLocks/>
          </p:cNvSpPr>
          <p:nvPr/>
        </p:nvSpPr>
        <p:spPr>
          <a:xfrm>
            <a:off x="215900" y="215899"/>
            <a:ext cx="6642100" cy="422275"/>
          </a:xfrm>
          <a:prstGeom prst="rect">
            <a:avLst/>
          </a:prstGeom>
        </p:spPr>
        <p:txBody>
          <a:bodyPr vert="horz" lIns="0" tIns="0" rIns="0" bIns="0" rtlCol="0">
            <a:noAutofit/>
          </a:bodyPr>
          <a:lstStyle>
            <a:lvl1pPr marL="0" indent="0" algn="l" defTabSz="685800" rtl="0" eaLnBrk="1" latinLnBrk="0" hangingPunct="1">
              <a:lnSpc>
                <a:spcPct val="80000"/>
              </a:lnSpc>
              <a:spcBef>
                <a:spcPts val="750"/>
              </a:spcBef>
              <a:buFont typeface="Arial" panose="020B0604020202020204" pitchFamily="34" charset="0"/>
              <a:buNone/>
              <a:defRPr sz="1100" b="1" kern="1200" baseline="0">
                <a:solidFill>
                  <a:schemeClr val="bg1"/>
                </a:solidFill>
                <a:latin typeface="Arial" charset="0"/>
                <a:ea typeface="Arial" charset="0"/>
                <a:cs typeface="Arial" charset="0"/>
              </a:defRPr>
            </a:lvl1pPr>
            <a:lvl2pPr marL="0" indent="0" algn="l" defTabSz="685800" rtl="0" eaLnBrk="1" latinLnBrk="0" hangingPunct="1">
              <a:lnSpc>
                <a:spcPct val="80000"/>
              </a:lnSpc>
              <a:spcBef>
                <a:spcPts val="375"/>
              </a:spcBef>
              <a:buFont typeface="Arial" panose="020B0604020202020204" pitchFamily="34" charset="0"/>
              <a:buNone/>
              <a:defRPr sz="1100" kern="1200">
                <a:solidFill>
                  <a:schemeClr val="bg1"/>
                </a:solidFill>
                <a:latin typeface="Arial" charset="0"/>
                <a:ea typeface="Arial" charset="0"/>
                <a:cs typeface="Arial" charset="0"/>
              </a:defRPr>
            </a:lvl2pPr>
            <a:lvl3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3pPr>
            <a:lvl4pPr marL="0" indent="0" algn="l" defTabSz="685800" rtl="0" eaLnBrk="1" latinLnBrk="0" hangingPunct="1">
              <a:lnSpc>
                <a:spcPct val="90000"/>
              </a:lnSpc>
              <a:spcBef>
                <a:spcPts val="375"/>
              </a:spcBef>
              <a:buFont typeface="Arial" panose="020B0604020202020204" pitchFamily="34" charset="0"/>
              <a:buNone/>
              <a:defRPr sz="1100" kern="1200">
                <a:solidFill>
                  <a:schemeClr val="tx1"/>
                </a:solidFill>
                <a:latin typeface="Arial" charset="0"/>
                <a:ea typeface="Arial" charset="0"/>
                <a:cs typeface="Arial" charset="0"/>
              </a:defRPr>
            </a:lvl4pPr>
            <a:lvl5pPr marL="0" indent="0" algn="l" defTabSz="685800" rtl="0" eaLnBrk="1" latinLnBrk="0" hangingPunct="1">
              <a:lnSpc>
                <a:spcPct val="90000"/>
              </a:lnSpc>
              <a:spcBef>
                <a:spcPts val="375"/>
              </a:spcBef>
              <a:buFont typeface="Arial" panose="020B0604020202020204" pitchFamily="34" charset="0"/>
              <a:buNone/>
              <a:defRPr sz="1100" b="1" kern="1200">
                <a:solidFill>
                  <a:schemeClr val="tx1"/>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3000" b="0" dirty="0">
                <a:latin typeface="Arial" panose="020B0604020202020204" pitchFamily="34" charset="0"/>
                <a:cs typeface="Arial" panose="020B0604020202020204" pitchFamily="34" charset="0"/>
              </a:rPr>
              <a:t>Acknowledgements</a:t>
            </a:r>
          </a:p>
        </p:txBody>
      </p:sp>
      <p:sp>
        <p:nvSpPr>
          <p:cNvPr id="2" name="Rectangle 1">
            <a:extLst>
              <a:ext uri="{FF2B5EF4-FFF2-40B4-BE49-F238E27FC236}">
                <a16:creationId xmlns:a16="http://schemas.microsoft.com/office/drawing/2014/main" id="{C378A836-6AFA-9C3F-AD21-458FA5406CF1}"/>
              </a:ext>
            </a:extLst>
          </p:cNvPr>
          <p:cNvSpPr>
            <a:spLocks noChangeArrowheads="1"/>
          </p:cNvSpPr>
          <p:nvPr/>
        </p:nvSpPr>
        <p:spPr bwMode="auto">
          <a:xfrm flipH="1">
            <a:off x="525493" y="1346697"/>
            <a:ext cx="784213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GB" altLang="en-US" sz="2000" dirty="0">
                <a:latin typeface="Arial" panose="020B0604020202020204" pitchFamily="34" charset="0"/>
                <a:cs typeface="Arial" panose="020B0604020202020204" pitchFamily="34" charset="0"/>
              </a:rPr>
              <a:t>The permission of the Office for National Statistics to use the Longitudinal Study is gratefully acknowledged, as is the help provided by staff of the Centre for Longitudinal Study Information &amp; User Support (</a:t>
            </a:r>
            <a:r>
              <a:rPr lang="en-GB" altLang="en-US" sz="2000" dirty="0" err="1">
                <a:latin typeface="Arial" panose="020B0604020202020204" pitchFamily="34" charset="0"/>
                <a:cs typeface="Arial" panose="020B0604020202020204" pitchFamily="34" charset="0"/>
              </a:rPr>
              <a:t>CeLSIUS</a:t>
            </a:r>
            <a:r>
              <a:rPr lang="en-GB" altLang="en-US" sz="2000" dirty="0">
                <a:latin typeface="Arial" panose="020B0604020202020204" pitchFamily="34" charset="0"/>
                <a:cs typeface="Arial" panose="020B0604020202020204" pitchFamily="34" charset="0"/>
              </a:rPr>
              <a:t>). </a:t>
            </a:r>
            <a:r>
              <a:rPr lang="en-GB" altLang="en-US" sz="2000" dirty="0" err="1">
                <a:latin typeface="Arial" panose="020B0604020202020204" pitchFamily="34" charset="0"/>
                <a:cs typeface="Arial" panose="020B0604020202020204" pitchFamily="34" charset="0"/>
              </a:rPr>
              <a:t>CeLSIUS</a:t>
            </a:r>
            <a:r>
              <a:rPr lang="en-GB" altLang="en-US" sz="2000" dirty="0">
                <a:latin typeface="Arial" panose="020B0604020202020204" pitchFamily="34" charset="0"/>
                <a:cs typeface="Arial" panose="020B0604020202020204" pitchFamily="34" charset="0"/>
              </a:rPr>
              <a:t> is funded by the ESRC under project ES/V003488/1. The authors alone are responsible for the interpretation of the data. This work contains statistical data from ONS which is Crown Copyright. The use of the ONS statistical data in this work does not imply the endorsement of the ONS in relation to the interpretation or analysis of the statistical data. This work uses research datasets which may not exactly reproduce National Statistics aggregates.</a:t>
            </a:r>
          </a:p>
        </p:txBody>
      </p:sp>
    </p:spTree>
    <p:extLst>
      <p:ext uri="{BB962C8B-B14F-4D97-AF65-F5344CB8AC3E}">
        <p14:creationId xmlns:p14="http://schemas.microsoft.com/office/powerpoint/2010/main" val="3485175250"/>
      </p:ext>
    </p:extLst>
  </p:cSld>
  <p:clrMapOvr>
    <a:masterClrMapping/>
  </p:clrMapOvr>
</p:sld>
</file>

<file path=ppt/theme/theme1.xml><?xml version="1.0" encoding="utf-8"?>
<a:theme xmlns:a="http://schemas.openxmlformats.org/drawingml/2006/main" name="4_Custom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11A8C4ED5C6B479AB1A0520863ABFB" ma:contentTypeVersion="15" ma:contentTypeDescription="Create a new document." ma:contentTypeScope="" ma:versionID="c0b49b3a3ba153adb6d2e37a362ce735">
  <xsd:schema xmlns:xsd="http://www.w3.org/2001/XMLSchema" xmlns:xs="http://www.w3.org/2001/XMLSchema" xmlns:p="http://schemas.microsoft.com/office/2006/metadata/properties" xmlns:ns2="931f3b0e-5f27-496e-8503-62de587f4ce1" xmlns:ns3="6dab36e7-c487-4780-8e35-3b48fa83d7a8" targetNamespace="http://schemas.microsoft.com/office/2006/metadata/properties" ma:root="true" ma:fieldsID="75effa07b844da50183e7a3ab288ac51" ns2:_="" ns3:_="">
    <xsd:import namespace="931f3b0e-5f27-496e-8503-62de587f4ce1"/>
    <xsd:import namespace="6dab36e7-c487-4780-8e35-3b48fa83d7a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1f3b0e-5f27-496e-8503-62de587f4c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1c754ed-6b8d-47f3-b51f-af8d6409c1bd"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description="" ma:hidden="true" ma:indexed="true" ma:internalName="MediaServiceDateTaken" ma:readOnly="true">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ab36e7-c487-4780-8e35-3b48fa83d7a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490438d-070b-4028-884c-21520bb5af0a}" ma:internalName="TaxCatchAll" ma:showField="CatchAllData" ma:web="6dab36e7-c487-4780-8e35-3b48fa83d7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dab36e7-c487-4780-8e35-3b48fa83d7a8" xsi:nil="true"/>
    <lcf76f155ced4ddcb4097134ff3c332f xmlns="931f3b0e-5f27-496e-8503-62de587f4ce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6573C5-ABEF-4402-B1CA-C4D99FCD83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1f3b0e-5f27-496e-8503-62de587f4ce1"/>
    <ds:schemaRef ds:uri="6dab36e7-c487-4780-8e35-3b48fa83d7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493B09-C307-4984-9004-BB4A4A63558C}">
  <ds:schemaRefs>
    <ds:schemaRef ds:uri="http://schemas.microsoft.com/office/2006/metadata/properties"/>
    <ds:schemaRef ds:uri="http://schemas.microsoft.com/office/infopath/2007/PartnerControls"/>
    <ds:schemaRef ds:uri="6dab36e7-c487-4780-8e35-3b48fa83d7a8"/>
    <ds:schemaRef ds:uri="931f3b0e-5f27-496e-8503-62de587f4ce1"/>
  </ds:schemaRefs>
</ds:datastoreItem>
</file>

<file path=customXml/itemProps3.xml><?xml version="1.0" encoding="utf-8"?>
<ds:datastoreItem xmlns:ds="http://schemas.openxmlformats.org/officeDocument/2006/customXml" ds:itemID="{9DFFBD5F-B125-4595-B4FC-0F9CC1C951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21418</TotalTime>
  <Words>4342</Words>
  <Application>Microsoft Office PowerPoint</Application>
  <PresentationFormat>On-screen Show (16:9)</PresentationFormat>
  <Paragraphs>545</Paragraphs>
  <Slides>32</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 Rounded MT Bold</vt:lpstr>
      <vt:lpstr>Calibri</vt:lpstr>
      <vt:lpstr>ipccsans</vt:lpstr>
      <vt:lpstr>Wingdings</vt:lpstr>
      <vt:lpstr>4_Custom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UCL 16:9 PP Plain - MID BLUE</dc:title>
  <dc:subject/>
  <dc:creator>Clayton, Janine</dc:creator>
  <cp:keywords/>
  <dc:description/>
  <cp:lastModifiedBy>Stockton, Jemima</cp:lastModifiedBy>
  <cp:revision>262</cp:revision>
  <dcterms:created xsi:type="dcterms:W3CDTF">2016-12-07T10:36:45Z</dcterms:created>
  <dcterms:modified xsi:type="dcterms:W3CDTF">2024-05-29T00:35:44Z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0x0101000611A8C4ED5C6B479AB1A0520863ABFB</vt:lpwstr>
  </property>
</Properties>
</file>