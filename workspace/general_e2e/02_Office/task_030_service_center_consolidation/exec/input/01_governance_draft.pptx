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5114562504fab" /><Relationship Type="http://schemas.openxmlformats.org/officeDocument/2006/relationships/extended-properties" Target="/docProps/app.xml" Id="Rc159947ee26c47e3" /><Relationship Type="http://schemas.openxmlformats.org/officeDocument/2006/relationships/officeDocument" Target="/ppt/presentation.xml" Id="R5d837b676acd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28c96670d4687"/>
  </p:sldMasterIdLst>
  <p:notesMasterIdLst>
    <p:notesMasterId xmlns:r="http://schemas.openxmlformats.org/officeDocument/2006/relationships" r:id="Rda378eb794594b69"/>
  </p:notesMasterIdLst>
  <p:sldIdLst>
    <p:sldId xmlns:r="http://schemas.openxmlformats.org/officeDocument/2006/relationships" id="256" r:id="R05a5693f085543c9"/>
    <p:sldId xmlns:r="http://schemas.openxmlformats.org/officeDocument/2006/relationships" id="257" r:id="R8653684497b94d59"/>
    <p:sldId xmlns:r="http://schemas.openxmlformats.org/officeDocument/2006/relationships" id="258" r:id="Rdfbca3ab303640fe"/>
    <p:sldId xmlns:r="http://schemas.openxmlformats.org/officeDocument/2006/relationships" id="259" r:id="R12bed0b1fbeb4078"/>
    <p:sldId xmlns:r="http://schemas.openxmlformats.org/officeDocument/2006/relationships" id="260" r:id="R0e038d6d29c14a5a"/>
    <p:sldId xmlns:r="http://schemas.openxmlformats.org/officeDocument/2006/relationships" id="261" r:id="Rddbcb1b16cc5490e"/>
    <p:sldId xmlns:r="http://schemas.openxmlformats.org/officeDocument/2006/relationships" id="262" r:id="R53ae8dcad2cf4650"/>
    <p:sldId xmlns:r="http://schemas.openxmlformats.org/officeDocument/2006/relationships" id="263" r:id="Rd5ca80d6a5c1489f"/>
    <p:sldId xmlns:r="http://schemas.openxmlformats.org/officeDocument/2006/relationships" id="264" r:id="Rc7fb65aded6746ea"/>
    <p:sldId xmlns:r="http://schemas.openxmlformats.org/officeDocument/2006/relationships" id="265" r:id="Rffdf6a82ede6407e"/>
    <p:sldId xmlns:r="http://schemas.openxmlformats.org/officeDocument/2006/relationships" id="266" r:id="Re72cc9009d9d4e47"/>
    <p:sldId xmlns:r="http://schemas.openxmlformats.org/officeDocument/2006/relationships" id="267" r:id="R8c52de346e3e4a8f"/>
    <p:sldId xmlns:r="http://schemas.openxmlformats.org/officeDocument/2006/relationships" id="268" r:id="R9ddbcc3592434d65"/>
    <p:sldId xmlns:r="http://schemas.openxmlformats.org/officeDocument/2006/relationships" id="269" r:id="R3fddf35c186b47fb"/>
    <p:sldId xmlns:r="http://schemas.openxmlformats.org/officeDocument/2006/relationships" id="270" r:id="R949b7e1a4b234835"/>
    <p:sldId xmlns:r="http://schemas.openxmlformats.org/officeDocument/2006/relationships" id="271" r:id="R5014839c3b364f2d"/>
    <p:sldId xmlns:r="http://schemas.openxmlformats.org/officeDocument/2006/relationships" id="272" r:id="R67114381442a43bb"/>
    <p:sldId xmlns:r="http://schemas.openxmlformats.org/officeDocument/2006/relationships" id="273" r:id="R3b47baf93aa54d82"/>
    <p:sldId xmlns:r="http://schemas.openxmlformats.org/officeDocument/2006/relationships" id="274" r:id="R6d97d92079dd476a"/>
    <p:sldId xmlns:r="http://schemas.openxmlformats.org/officeDocument/2006/relationships" id="275" r:id="Rcd5a462033654259"/>
    <p:sldId xmlns:r="http://schemas.openxmlformats.org/officeDocument/2006/relationships" id="276" r:id="R96278fcf195745bf"/>
    <p:sldId xmlns:r="http://schemas.openxmlformats.org/officeDocument/2006/relationships" id="277" r:id="R196258101ff54924"/>
    <p:sldId xmlns:r="http://schemas.openxmlformats.org/officeDocument/2006/relationships" id="278" r:id="R8c91552002b84cd8"/>
    <p:sldId xmlns:r="http://schemas.openxmlformats.org/officeDocument/2006/relationships" id="279" r:id="Rbb8b72cf66fd4f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d5c390d6654248" /><Relationship Type="http://schemas.openxmlformats.org/officeDocument/2006/relationships/slideMaster" Target="/ppt/slideMasters/slideMaster1.xml" Id="R65628c96670d4687" /><Relationship Type="http://schemas.openxmlformats.org/officeDocument/2006/relationships/notesMaster" Target="/ppt/notesMasters/notesMaster1.xml" Id="Rda378eb794594b69" /><Relationship Type="http://schemas.openxmlformats.org/officeDocument/2006/relationships/presProps" Target="/ppt/presProps.xml" Id="R989eeba8bdf0401a" /><Relationship Type="http://schemas.openxmlformats.org/officeDocument/2006/relationships/tableStyles" Target="/ppt/tableStyles.xml" Id="R6ce24e5886c64cf9" /><Relationship Type="http://schemas.openxmlformats.org/officeDocument/2006/relationships/slide" Target="/ppt/slides/slide1.xml" Id="R05a5693f085543c9" /><Relationship Type="http://schemas.openxmlformats.org/officeDocument/2006/relationships/slide" Target="/ppt/slides/slide2.xml" Id="R8653684497b94d59" /><Relationship Type="http://schemas.openxmlformats.org/officeDocument/2006/relationships/slide" Target="/ppt/slides/slide3.xml" Id="Rdfbca3ab303640fe" /><Relationship Type="http://schemas.openxmlformats.org/officeDocument/2006/relationships/slide" Target="/ppt/slides/slide4.xml" Id="R12bed0b1fbeb4078" /><Relationship Type="http://schemas.openxmlformats.org/officeDocument/2006/relationships/slide" Target="/ppt/slides/slide5.xml" Id="R0e038d6d29c14a5a" /><Relationship Type="http://schemas.openxmlformats.org/officeDocument/2006/relationships/slide" Target="/ppt/slides/slide6.xml" Id="Rddbcb1b16cc5490e" /><Relationship Type="http://schemas.openxmlformats.org/officeDocument/2006/relationships/slide" Target="/ppt/slides/slide7.xml" Id="R53ae8dcad2cf4650" /><Relationship Type="http://schemas.openxmlformats.org/officeDocument/2006/relationships/slide" Target="/ppt/slides/slide8.xml" Id="Rd5ca80d6a5c1489f" /><Relationship Type="http://schemas.openxmlformats.org/officeDocument/2006/relationships/slide" Target="/ppt/slides/slide9.xml" Id="Rc7fb65aded6746ea" /><Relationship Type="http://schemas.openxmlformats.org/officeDocument/2006/relationships/slide" Target="/ppt/slides/slide10.xml" Id="Rffdf6a82ede6407e" /><Relationship Type="http://schemas.openxmlformats.org/officeDocument/2006/relationships/slide" Target="/ppt/slides/slide11.xml" Id="Re72cc9009d9d4e47" /><Relationship Type="http://schemas.openxmlformats.org/officeDocument/2006/relationships/slide" Target="/ppt/slides/slide12.xml" Id="R8c52de346e3e4a8f" /><Relationship Type="http://schemas.openxmlformats.org/officeDocument/2006/relationships/slide" Target="/ppt/slides/slide13.xml" Id="R9ddbcc3592434d65" /><Relationship Type="http://schemas.openxmlformats.org/officeDocument/2006/relationships/slide" Target="/ppt/slides/slide14.xml" Id="R3fddf35c186b47fb" /><Relationship Type="http://schemas.openxmlformats.org/officeDocument/2006/relationships/slide" Target="/ppt/slides/slide15.xml" Id="R949b7e1a4b234835" /><Relationship Type="http://schemas.openxmlformats.org/officeDocument/2006/relationships/slide" Target="/ppt/slides/slide16.xml" Id="R5014839c3b364f2d" /><Relationship Type="http://schemas.openxmlformats.org/officeDocument/2006/relationships/slide" Target="/ppt/slides/slide17.xml" Id="R67114381442a43bb" /><Relationship Type="http://schemas.openxmlformats.org/officeDocument/2006/relationships/slide" Target="/ppt/slides/slide18.xml" Id="R3b47baf93aa54d82" /><Relationship Type="http://schemas.openxmlformats.org/officeDocument/2006/relationships/slide" Target="/ppt/slides/slide19.xml" Id="R6d97d92079dd476a" /><Relationship Type="http://schemas.openxmlformats.org/officeDocument/2006/relationships/slide" Target="/ppt/slides/slide20.xml" Id="Rcd5a462033654259" /><Relationship Type="http://schemas.openxmlformats.org/officeDocument/2006/relationships/slide" Target="/ppt/slides/slide21.xml" Id="R96278fcf195745bf" /><Relationship Type="http://schemas.openxmlformats.org/officeDocument/2006/relationships/slide" Target="/ppt/slides/slide22.xml" Id="R196258101ff54924" /><Relationship Type="http://schemas.openxmlformats.org/officeDocument/2006/relationships/slide" Target="/ppt/slides/slide23.xml" Id="R8c91552002b84cd8" /><Relationship Type="http://schemas.openxmlformats.org/officeDocument/2006/relationships/slide" Target="/ppt/slides/slide24.xml" Id="Rbb8b72cf66fd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720b15fd1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d3a94619374b1e" /><Relationship Type="http://schemas.openxmlformats.org/officeDocument/2006/relationships/notesMaster" Target="/ppt/notesMasters/notesMaster1.xml" Id="Re01ad559d2f9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bb3ed5866f4127" /><Relationship Type="http://schemas.openxmlformats.org/officeDocument/2006/relationships/notesMaster" Target="/ppt/notesMasters/notesMaster1.xml" Id="Rfae66239f7c14d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6af36705af4094" /><Relationship Type="http://schemas.openxmlformats.org/officeDocument/2006/relationships/notesMaster" Target="/ppt/notesMasters/notesMaster1.xml" Id="R2018c4a54d62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99d025c1cd4253" /><Relationship Type="http://schemas.openxmlformats.org/officeDocument/2006/relationships/notesMaster" Target="/ppt/notesMasters/notesMaster1.xml" Id="R149d48807c2340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1db45377d49a3" /><Relationship Type="http://schemas.openxmlformats.org/officeDocument/2006/relationships/notesMaster" Target="/ppt/notesMasters/notesMaster1.xml" Id="R910bc9defe12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d4358707224bcc" /><Relationship Type="http://schemas.openxmlformats.org/officeDocument/2006/relationships/notesMaster" Target="/ppt/notesMasters/notesMaster1.xml" Id="R4baf5993203c4f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dac0d119194310" /><Relationship Type="http://schemas.openxmlformats.org/officeDocument/2006/relationships/notesMaster" Target="/ppt/notesMasters/notesMaster1.xml" Id="Rd72f804e5046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7b54455184dea" /><Relationship Type="http://schemas.openxmlformats.org/officeDocument/2006/relationships/notesMaster" Target="/ppt/notesMasters/notesMaster1.xml" Id="R5938b3f96c98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bb4e4b08df4b34" /><Relationship Type="http://schemas.openxmlformats.org/officeDocument/2006/relationships/notesMaster" Target="/ppt/notesMasters/notesMaster1.xml" Id="R4fa5763c54124b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e53aa510042bf" /><Relationship Type="http://schemas.openxmlformats.org/officeDocument/2006/relationships/notesMaster" Target="/ppt/notesMasters/notesMaster1.xml" Id="R94c06a7d19da4b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a35bd81bb14d15" /><Relationship Type="http://schemas.openxmlformats.org/officeDocument/2006/relationships/notesMaster" Target="/ppt/notesMasters/notesMaster1.xml" Id="R9a9a6f2fc03b41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87e12ce8c848a0" /><Relationship Type="http://schemas.openxmlformats.org/officeDocument/2006/relationships/notesMaster" Target="/ppt/notesMasters/notesMaster1.xml" Id="R94336bea290f4d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075e9d0a4045af" /><Relationship Type="http://schemas.openxmlformats.org/officeDocument/2006/relationships/notesMaster" Target="/ppt/notesMasters/notesMaster1.xml" Id="R96ef0b72050141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9e2af65b424f52" /><Relationship Type="http://schemas.openxmlformats.org/officeDocument/2006/relationships/notesMaster" Target="/ppt/notesMasters/notesMaster1.xml" Id="Rb2889e2a64f142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f3428d63dd44d8" /><Relationship Type="http://schemas.openxmlformats.org/officeDocument/2006/relationships/notesMaster" Target="/ppt/notesMasters/notesMaster1.xml" Id="Ree6cdbe5165c48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50b32f25734c51" /><Relationship Type="http://schemas.openxmlformats.org/officeDocument/2006/relationships/notesMaster" Target="/ppt/notesMasters/notesMaster1.xml" Id="R9b3e0555025446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71ce7686ea433b" /><Relationship Type="http://schemas.openxmlformats.org/officeDocument/2006/relationships/notesMaster" Target="/ppt/notesMasters/notesMaster1.xml" Id="R2bd2844788c144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4fa24812eb4a92" /><Relationship Type="http://schemas.openxmlformats.org/officeDocument/2006/relationships/notesMaster" Target="/ppt/notesMasters/notesMaster1.xml" Id="R1046f916d89849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299ce5979c4079" /><Relationship Type="http://schemas.openxmlformats.org/officeDocument/2006/relationships/notesMaster" Target="/ppt/notesMasters/notesMaster1.xml" Id="R7b3a4c6165ca4b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ccbd6c48a44d6f" /><Relationship Type="http://schemas.openxmlformats.org/officeDocument/2006/relationships/notesMaster" Target="/ppt/notesMasters/notesMaster1.xml" Id="Rfed008b6e0f848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591fd80e8848dd" /><Relationship Type="http://schemas.openxmlformats.org/officeDocument/2006/relationships/notesMaster" Target="/ppt/notesMasters/notesMaster1.xml" Id="R37edf73f754044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a7d58eaa5f43e7" /><Relationship Type="http://schemas.openxmlformats.org/officeDocument/2006/relationships/notesMaster" Target="/ppt/notesMasters/notesMaster1.xml" Id="R748619d263e943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9805d673ed4e4d" /><Relationship Type="http://schemas.openxmlformats.org/officeDocument/2006/relationships/notesMaster" Target="/ppt/notesMasters/notesMaster1.xml" Id="R50a0d9fc362649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437601c81f4533" /><Relationship Type="http://schemas.openxmlformats.org/officeDocument/2006/relationships/notesMaster" Target="/ppt/notesMasters/notesMaster1.xml" Id="Rd04596c2a105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澄川设备 项目 CC-SVC-26</a:t>
            </a:r>
          </a:p>
          <a:p xmlns:a="http://schemas.openxmlformats.org/drawingml/2006/main">
            <a:r>
              <a:t>项目组提交管理会讨论稿 V0.6 2026年10月27日</a:t>
            </a:r>
          </a:p>
          <a:p xmlns:a="http://schemas.openxmlformats.org/drawingml/2006/main">
            <a:r>
              <a:t>本方案组织江北中心和南城中心向滨湖中心集中，拟于11月9日晚统一完成搬运和业务切换。请管理会批准实施日期、支出安排及部门资源，由专业负责人落实现场准备。</a:t>
            </a:r>
          </a:p>
          <a:p xmlns:a="http://schemas.openxmlformats.org/drawingml/2006/main">
            <a:r>
              <a:t>服务范围覆盖安装咨询、报修受理、远程诊断、故障升级、关键客户与保障专线。夜间外包值守继续按既有安排运行。</a:t>
            </a:r>
          </a:p>
          <a:p xmlns:a="http://schemas.openxmlformats.org/drawingml/2006/main">
            <a:r>
              <a:t>本文件为模拟企业业务资料。</a:t>
            </a:r>
          </a:p>
          <a:p xmlns:a="http://schemas.openxmlformats.org/drawingml/2006/main">
            <a:r>
              <a:t>关联 02_execution_draft.docx 双城售后中心并址执行方案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现场以签发后的执行版为准。项目办公室汇总专业意见，形成统一版本。讨论稿保留修改记录，部门工作记录作为附件存档。</a:t>
            </a:r>
          </a:p>
          <a:p xmlns:a="http://schemas.openxmlformats.org/drawingml/2006/main">
            <a:r>
              <a:t>本轮沿用集中并址方案，更新保险和物品打包要求。会议尚未作出的决定在批准栏保持空白，不得代他人签名。</a:t>
            </a:r>
          </a:p>
          <a:p xmlns:a="http://schemas.openxmlformats.org/drawingml/2006/main">
            <a:r>
              <a:t>关联 02_execution_draft.docx 文件使用与修订记录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滨湖中心承担两个旧址的日间业务。并址后队列名称、客户入口及服务承诺保持不变，部门组织关系随人事通知调整。</a:t>
            </a:r>
          </a:p>
          <a:p xmlns:a="http://schemas.openxmlformats.org/drawingml/2006/main">
            <a:r>
              <a:t>项目交付包括生产工位、终端、电话与录音、客户权限、班组培训、资产搬运及旧址归还。薪酬变更、新增产品和常态运营支出不进入本次实施。</a:t>
            </a:r>
          </a:p>
          <a:p xmlns:a="http://schemas.openxmlformats.org/drawingml/2006/main">
            <a:r>
              <a:t>关联 02_execution_draft.docx 项目范围与预期结果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王澜负责班组和客户服务，顾闻负责系统及通信切换，赵衡负责场地、设备标识和现场秩序。行政与财务按批准记录落实供应商和款项。</a:t>
            </a:r>
          </a:p>
          <a:p xmlns:a="http://schemas.openxmlformats.org/drawingml/2006/main">
            <a:r>
              <a:t>各部门明确当班联系人，非当班员工由主管安排交接，不依赖私人联系方式代替正式工作记录。</a:t>
            </a:r>
          </a:p>
          <a:p xmlns:a="http://schemas.openxmlformats.org/drawingml/2006/main">
            <a:r>
              <a:t>关联 02_execution_draft.docx 组织分工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项目组按11月9日统一切换编排工作。11月6日前完成工位网络准备，11月9日上午培训，当晚20:00后搬运终端。日间业务结束后由夜间服务接续。</a:t>
            </a:r>
          </a:p>
          <a:p xmlns:a="http://schemas.openxmlformats.org/drawingml/2006/main">
            <a:r>
              <a:t>完成情况在每日协调会更新，未完成项由专业负责人说明完成时间，项目办公室处理资源冲突。</a:t>
            </a:r>
          </a:p>
          <a:p xmlns:a="http://schemas.openxmlformats.org/drawingml/2006/main">
            <a:r>
              <a:t>关联 02_execution_draft.docx 集中切换里程碑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三个业务组各32人，共96人。每组上午和下午各16人，每班两旧址各8人。迁移名单按员工编号识别，日常请假仍由主管受理。</a:t>
            </a:r>
          </a:p>
          <a:p xmlns:a="http://schemas.openxmlformats.org/drawingml/2006/main">
            <a:r>
              <a:t>培训和搬运围绕既有两班组织。总人数充足，项目组沿用集中培训安排，各组带教员统一收集课程问题。</a:t>
            </a:r>
          </a:p>
          <a:p xmlns:a="http://schemas.openxmlformats.org/drawingml/2006/main">
            <a:r>
              <a:t>关联 02_execution_draft.docx 人员与班组安排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两个旧址沿用共池受理，客户优先级和队列归属不变。主管每半小时导出接入量、未接量和异常记录，班末完成交接。投诉由值班主管处理并保留沟通记录。</a:t>
            </a:r>
          </a:p>
          <a:p xmlns:a="http://schemas.openxmlformats.org/drawingml/2006/main">
            <a:r>
              <a:t>迁移前后采用相同口径展示日间业务。历史归档用于回顾，预测用于下周安排，不能把不同队列平均时长直接相加当作综合时长。</a:t>
            </a:r>
          </a:p>
          <a:p xmlns:a="http://schemas.openxmlformats.org/drawingml/2006/main">
            <a:r>
              <a:t>关联 02_execution_draft.docx 服务监测与日常记录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普通区供两组共用，重点业务使用隔离区域。现场组统一发放终端、耳麦、跳线和标签，未登记设备不得接入生产网络。</a:t>
            </a:r>
          </a:p>
          <a:p xmlns:a="http://schemas.openxmlformats.org/drawingml/2006/main">
            <a:r>
              <a:t>工位按座位编号签收。赵衡巡检照明、供电、通道、门禁和暂存区，已交付办公物品不得挪作施工使用。</a:t>
            </a:r>
          </a:p>
          <a:p xmlns:a="http://schemas.openxmlformats.org/drawingml/2006/main">
            <a:r>
              <a:t>关联 02_execution_draft.docx 新址工位与物资准备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顾闻核对线路、设备配置和业务号码，所有变更保存操作记录。终端接入前核对网段端口，访客网络不能接入生产设备。</a:t>
            </a:r>
          </a:p>
          <a:p xmlns:a="http://schemas.openxmlformats.org/drawingml/2006/main">
            <a:r>
              <a:t>新址切换完成后拟关闭旧址生产线路，避免两个地点继续产生费用。设备人员收回闲置标签，财务按关闭日期停止后续记账。</a:t>
            </a:r>
          </a:p>
          <a:p xmlns:a="http://schemas.openxmlformats.org/drawingml/2006/main">
            <a:r>
              <a:t>关联 02_execution_draft.docx 网络与电话准备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10月23日演练报告显示检查全部通过，项目组据此将系统状态调整为可切换，并安排11月9日统一上线。应用负责人按现有发布清单准备。</a:t>
            </a:r>
          </a:p>
          <a:p xmlns:a="http://schemas.openxmlformats.org/drawingml/2006/main">
            <a:r>
              <a:t>日常报表、打印和快捷方式由支持组整理。员工报告问题时提供工位号、时间和业务编号，便于复查。</a:t>
            </a:r>
          </a:p>
          <a:p xmlns:a="http://schemas.openxmlformats.org/drawingml/2006/main">
            <a:r>
              <a:t>关联 02_execution_draft.docx 系统演练与应用确认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计划11月9日09:00至11:00为上午班授课，下午班15:00至17:00参加。上午学员各组01至04，带教05和06，下午学员17至20，带教21和22。</a:t>
            </a:r>
          </a:p>
          <a:p xmlns:a="http://schemas.openxmlformats.org/drawingml/2006/main">
            <a:r>
              <a:t>每组四名学员使用完整实操套件，按固定小组练习登录、电话、工单和异常。带教检查成果，遗漏内容当日补做。</a:t>
            </a:r>
          </a:p>
          <a:p xmlns:a="http://schemas.openxmlformats.org/drawingml/2006/main">
            <a:r>
              <a:t>关联 02_execution_draft.docx 新址操作培训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搬迁前核对终端、耳麦和辅助设备编码，个人物品与公司资产分开装箱。每箱标注起点、目标工位与负责人，箱内放纸质清单。找不到的资产单列，不用相似型号代替。</a:t>
            </a:r>
          </a:p>
          <a:p xmlns:a="http://schemas.openxmlformats.org/drawingml/2006/main">
            <a:r>
              <a:t>数据介质由IT封装，客户资料放封闭箱，交接双方现场签字。数量变化在交接单记录原因。</a:t>
            </a:r>
          </a:p>
          <a:p xmlns:a="http://schemas.openxmlformats.org/drawingml/2006/main">
            <a:r>
              <a:t>关联 02_execution_draft.docx 资产盘点方法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全部业务组拟11月9日晚搬入滨湖。20:00日间结束后整理，承运人按路线运送。先安装终端耳麦，再处理办公物资，通道保持畅通。</a:t>
            </a:r>
          </a:p>
          <a:p xmlns:a="http://schemas.openxmlformats.org/drawingml/2006/main">
            <a:r>
              <a:t>林芮负责车辆和入场手续，搬运人员不得接触业务账号。损坏拍照并由双方确认后提交项目办公室。</a:t>
            </a:r>
          </a:p>
          <a:p xmlns:a="http://schemas.openxmlformats.org/drawingml/2006/main">
            <a:r>
              <a:t>关联 02_execution_draft.docx 搬运与入场安排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窗口开始前技术组确认账号及配置备份。王澜宣布日间结束后，顾闻执行切换，现场组接通设备并标记可用工位。每项完成后在记录中签名。</a:t>
            </a:r>
          </a:p>
          <a:p xmlns:a="http://schemas.openxmlformats.org/drawingml/2006/main">
            <a:r>
              <a:t>异常记录时间与现象，报告技术负责人后处理，不连续执行未经确认的配置修改。窗口结束前运营和IT汇总次日开班说明。</a:t>
            </a:r>
          </a:p>
          <a:p xmlns:a="http://schemas.openxmlformats.org/drawingml/2006/main">
            <a:r>
              <a:t>关联 02_execution_draft.docx 切换当晚操作顺序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运营值班记录异常队列、时间和业务编号，由顾闻判断系统处理。赵衡接手现场问题，林芮协调供应商。</a:t>
            </a:r>
          </a:p>
          <a:p xmlns:a="http://schemas.openxmlformats.org/drawingml/2006/main">
            <a:r>
              <a:t>恢复时可采用项目开始前保存的历史数据快照核对业务，必要时重新部署终端。确认正常后继续新址运行，异常说明附在当日记录。</a:t>
            </a:r>
          </a:p>
          <a:p xmlns:a="http://schemas.openxmlformats.org/drawingml/2006/main">
            <a:r>
              <a:t>关联 02_execution_draft.docx 异常处理与恢复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主管开班前核对出勤、设备和未结订单。员工按原班次登录，受理顺序沿用现行规则。客户不需要重新报送已经提交的业务资料，跨班事项通过清单承接。</a:t>
            </a:r>
          </a:p>
          <a:p xmlns:a="http://schemas.openxmlformats.org/drawingml/2006/main">
            <a:r>
              <a:t>首日加强抽测，公共屏幕不展示客户信息。班末汇总问题，一般咨询由主管处理，技术问题附可复查信息。</a:t>
            </a:r>
          </a:p>
          <a:p xmlns:a="http://schemas.openxmlformats.org/drawingml/2006/main">
            <a:r>
              <a:t>关联 02_execution_draft.docx 次日开班与服务确认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按设备折扣方案编制项目总成本78.8万元，另设2万元储备，预算控制额90万元。新增采购经财务复核后申请。</a:t>
            </a:r>
          </a:p>
          <a:p xmlns:a="http://schemas.openxmlformats.org/drawingml/2006/main">
            <a:r>
              <a:t>已付费用仍计全项目成本。新址押金在资金计划单列，旧押金回收用于后续支出。</a:t>
            </a:r>
          </a:p>
          <a:p xmlns:a="http://schemas.openxmlformats.org/drawingml/2006/main">
            <a:r>
              <a:t>关联 02_execution_draft.docx 费用预算摘要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采用供应商折扣方案，11月6日支付18万元结清剩余设备款。配置保持已批准范围，不用节省额采购额外设备。付款申请附合同及验收记录。</a:t>
            </a:r>
          </a:p>
          <a:p xmlns:a="http://schemas.openxmlformats.org/drawingml/2006/main">
            <a:r>
              <a:t>采购核对发票、税率和抬头，财务使用登记账户。性能或交期变化由采购与使用部门确认，并记录影响。</a:t>
            </a:r>
          </a:p>
          <a:p xmlns:a="http://schemas.openxmlformats.org/drawingml/2006/main">
            <a:r>
              <a:t>关联 02_execution_draft.docx 设备结算与采购控制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10月30日可用现金按74万元，11月13日拨入30万元。旧址押金8万元预计11月9日回收。财务据此安排租金、押金、设备和软件款，最低保有5万元。</a:t>
            </a:r>
          </a:p>
          <a:p xmlns:a="http://schemas.openxmlformats.org/drawingml/2006/main">
            <a:r>
              <a:t>专业部门提前两个工作日提交凭据，未完整暂不支付。申请人说明对里程碑影响，重复发票以供应商及合同号检查。</a:t>
            </a:r>
          </a:p>
          <a:p xmlns:a="http://schemas.openxmlformats.org/drawingml/2006/main">
            <a:r>
              <a:t>关联 02_execution_draft.docx 项目资金安排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新址投运后集中处理旧址清理。行政与物业交接钥匙、门禁、水电表和遗留物品，资产管理员确认去向，遗失物品单独登记。</a:t>
            </a:r>
          </a:p>
          <a:p xmlns:a="http://schemas.openxmlformats.org/drawingml/2006/main">
            <a:r>
              <a:t>旧址线路随切换关闭，仅保留必要行政联络。林芮整理租赁与押金手续交财务登记。</a:t>
            </a:r>
          </a:p>
          <a:p xmlns:a="http://schemas.openxmlformats.org/drawingml/2006/main">
            <a:r>
              <a:t>关联 02_execution_draft.docx 旧址退出与物品归还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对外说明保持服务入口与时间不变，员工不转发内部搬迁表或供应商文件。办公地址通知由运营审核统一文字。</a:t>
            </a:r>
          </a:p>
          <a:p xmlns:a="http://schemas.openxmlformats.org/drawingml/2006/main">
            <a:r>
              <a:t>原责任人续接客户订单，不能即时回答的事项明确负责人和回复时间，避免部门之间反复转交。</a:t>
            </a:r>
          </a:p>
          <a:p xmlns:a="http://schemas.openxmlformats.org/drawingml/2006/main">
            <a:r>
              <a:t>关联 02_execution_draft.docx 客户告知与服务说明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行政发放新址出入说明，提醒员工携证登记。主管收集通勤或身体状况需求，依人事流程单独处理，不公开个人信息。</a:t>
            </a:r>
          </a:p>
          <a:p xmlns:a="http://schemas.openxmlformats.org/drawingml/2006/main">
            <a:r>
              <a:t>设备箱及时移至暂存区，生产区和施工区分开。供应商进入生产区须有人陪同，不拍摄客户界面。</a:t>
            </a:r>
          </a:p>
          <a:p xmlns:a="http://schemas.openxmlformats.org/drawingml/2006/main">
            <a:r>
              <a:t>关联 02_execution_draft.docx 员工通勤与现场秩序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生产账号使用实名机制，搬迁不共享密码。客户资料箱保留交接签名，废纸按既有保密流程处理。现场照片仅用于资产和设备记录。</a:t>
            </a:r>
          </a:p>
          <a:p xmlns:a="http://schemas.openxmlformats.org/drawingml/2006/main">
            <a:r>
              <a:t>日志录音及订单导出按权限保管，排查优先使用业务编号，完整客户信息仅向授权人员展示。</a:t>
            </a:r>
          </a:p>
          <a:p xmlns:a="http://schemas.openxmlformats.org/drawingml/2006/main">
            <a:r>
              <a:t>关联 02_execution_draft.docx 保密与数据处理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项目组工作记录。</a:t>
            </a:r>
          </a:p>
          <a:p xmlns:a="http://schemas.openxmlformats.org/drawingml/2006/main">
            <a:r>
              <a:t>项目办公室每日协调会记录实际进度与计划差异。问题连续编号，明确责任人、预计完成日及处理结果。参会人确认纪要后归档。</a:t>
            </a:r>
          </a:p>
          <a:p xmlns:a="http://schemas.openxmlformats.org/drawingml/2006/main">
            <a:r>
              <a:t>待定问题不能无说明删除。关闭必须记录依据，重复出现沿用编号并补充现象。</a:t>
            </a:r>
          </a:p>
          <a:p xmlns:a="http://schemas.openxmlformats.org/drawingml/2006/main">
            <a:r>
              <a:t>关联 02_execution_draft.docx 项目例会与问题管理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4c329066a47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3ad6454004f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353399cc84f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48188dc664d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d25d1142d4d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349eb9a4c4d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63050F-A56A-4B05-8348-D2D5799F7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57F2F8-F5ED-4F29-A0EE-7449F9436D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0F58CE-545D-4865-99FF-839D94F1E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D6D767-177E-443E-ABE9-768019D9E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1399DA-6459-4D4D-A3D5-5624E5DA6D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2AE9D5-CD7F-4B72-AF07-919008EB0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0ED013-F33C-4BDB-90BA-16E3E7B7D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8139FC-6BF7-46E5-93C9-4A6CF841A7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135D67-62B9-4DD6-973A-BC562E592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9DAB59-D004-4D34-B274-93CAB6F3B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29fd2d7dfa418f" /><Relationship Type="http://schemas.openxmlformats.org/officeDocument/2006/relationships/slideLayout" Target="/ppt/slideLayouts/slideLayout1.xml" Id="R4cb2a9a1695441d0" /><Relationship Type="http://schemas.openxmlformats.org/officeDocument/2006/relationships/slideLayout" Target="/ppt/slideLayouts/slideLayout2.xml" Id="R205cc44cb24f4f41" /><Relationship Type="http://schemas.openxmlformats.org/officeDocument/2006/relationships/slideLayout" Target="/ppt/slideLayouts/slideLayout3.xml" Id="R962852aba3424c4c" /><Relationship Type="http://schemas.openxmlformats.org/officeDocument/2006/relationships/slideLayout" Target="/ppt/slideLayouts/slideLayout4.xml" Id="Rec82f04ad4904e62" /><Relationship Type="http://schemas.openxmlformats.org/officeDocument/2006/relationships/slideLayout" Target="/ppt/slideLayouts/slideLayout5.xml" Id="R35c258f6b1c74b62" /><Relationship Type="http://schemas.openxmlformats.org/officeDocument/2006/relationships/slideLayout" Target="/ppt/slideLayouts/slideLayout6.xml" Id="Rb74ce70c12f54a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2a9a1695441d0"/>
    <p:sldLayoutId xmlns:r="http://schemas.openxmlformats.org/officeDocument/2006/relationships" id="2147483650" r:id="R205cc44cb24f4f41"/>
    <p:sldLayoutId xmlns:r="http://schemas.openxmlformats.org/officeDocument/2006/relationships" id="2147483651" r:id="R962852aba3424c4c"/>
    <p:sldLayoutId xmlns:r="http://schemas.openxmlformats.org/officeDocument/2006/relationships" id="2147483652" r:id="Rec82f04ad4904e62"/>
    <p:sldLayoutId xmlns:r="http://schemas.openxmlformats.org/officeDocument/2006/relationships" id="2147483653" r:id="R35c258f6b1c74b62"/>
    <p:sldLayoutId xmlns:r="http://schemas.openxmlformats.org/officeDocument/2006/relationships" id="2147483654" r:id="Rb74ce70c12f54a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aee3ef589470e" /><Relationship Type="http://schemas.openxmlformats.org/officeDocument/2006/relationships/notesSlide" Target="/ppt/notesSlides/notesSlide1.xml" Id="R4e56fbbe26134d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0dcb3bc3548ee" /><Relationship Type="http://schemas.openxmlformats.org/officeDocument/2006/relationships/notesSlide" Target="/ppt/notesSlides/notesSlide2.xml" Id="R41115de4068c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e61299c674ffc" /><Relationship Type="http://schemas.openxmlformats.org/officeDocument/2006/relationships/notesSlide" Target="/ppt/notesSlides/notesSlide3.xml" Id="Rfaa739680ac9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20323e0b94c27" /><Relationship Type="http://schemas.openxmlformats.org/officeDocument/2006/relationships/notesSlide" Target="/ppt/notesSlides/notesSlide4.xml" Id="Rdb00b19e780d42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55ff659184a09" /><Relationship Type="http://schemas.openxmlformats.org/officeDocument/2006/relationships/notesSlide" Target="/ppt/notesSlides/notesSlide5.xml" Id="R338fbd79431a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54e385ac944cf" /><Relationship Type="http://schemas.openxmlformats.org/officeDocument/2006/relationships/notesSlide" Target="/ppt/notesSlides/notesSlide6.xml" Id="R7b7f856b3ed44a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69ea2af6b4f06" /><Relationship Type="http://schemas.openxmlformats.org/officeDocument/2006/relationships/notesSlide" Target="/ppt/notesSlides/notesSlide7.xml" Id="R4b89e74eda5940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786dc5d77455f" /><Relationship Type="http://schemas.openxmlformats.org/officeDocument/2006/relationships/notesSlide" Target="/ppt/notesSlides/notesSlide8.xml" Id="R9e2c09e711ba41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a773150c44cc8" /><Relationship Type="http://schemas.openxmlformats.org/officeDocument/2006/relationships/notesSlide" Target="/ppt/notesSlides/notesSlide9.xml" Id="R0306dec0d9114a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d59a8ab2a4b8f" /><Relationship Type="http://schemas.openxmlformats.org/officeDocument/2006/relationships/notesSlide" Target="/ppt/notesSlides/notesSlide10.xml" Id="Rea6b7d3e8d5342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45bff996540c7" /><Relationship Type="http://schemas.openxmlformats.org/officeDocument/2006/relationships/notesSlide" Target="/ppt/notesSlides/notesSlide11.xml" Id="R25feda19f6804a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a4ebd63654eac" /><Relationship Type="http://schemas.openxmlformats.org/officeDocument/2006/relationships/notesSlide" Target="/ppt/notesSlides/notesSlide12.xml" Id="Ra3fb9097078040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12be8d44a4f33" /><Relationship Type="http://schemas.openxmlformats.org/officeDocument/2006/relationships/notesSlide" Target="/ppt/notesSlides/notesSlide13.xml" Id="R7fa71d9923fb41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f0ea2e2bc48d6" /><Relationship Type="http://schemas.openxmlformats.org/officeDocument/2006/relationships/notesSlide" Target="/ppt/notesSlides/notesSlide14.xml" Id="R458b54a5380142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a31f036d244e4" /><Relationship Type="http://schemas.openxmlformats.org/officeDocument/2006/relationships/notesSlide" Target="/ppt/notesSlides/notesSlide15.xml" Id="R29c0335642b844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824fe40434b34" /><Relationship Type="http://schemas.openxmlformats.org/officeDocument/2006/relationships/notesSlide" Target="/ppt/notesSlides/notesSlide16.xml" Id="Rc416910cb55e40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2e92f88a34d96" /><Relationship Type="http://schemas.openxmlformats.org/officeDocument/2006/relationships/chart" Target="/ppt/slides/charts/chart1.xml" Id="R974b74e39cd044d3" /><Relationship Type="http://schemas.openxmlformats.org/officeDocument/2006/relationships/notesSlide" Target="/ppt/notesSlides/notesSlide17.xml" Id="R5eb66759eb854e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4ea61104448fc" /><Relationship Type="http://schemas.openxmlformats.org/officeDocument/2006/relationships/notesSlide" Target="/ppt/notesSlides/notesSlide18.xml" Id="R2cfb7f8fbff249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83d3ec91f416c" /><Relationship Type="http://schemas.openxmlformats.org/officeDocument/2006/relationships/notesSlide" Target="/ppt/notesSlides/notesSlide19.xml" Id="R77fcc2abba994d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10f17fbca4aba" /><Relationship Type="http://schemas.openxmlformats.org/officeDocument/2006/relationships/notesSlide" Target="/ppt/notesSlides/notesSlide20.xml" Id="Rb8d270aa701240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0e48484484a32" /><Relationship Type="http://schemas.openxmlformats.org/officeDocument/2006/relationships/notesSlide" Target="/ppt/notesSlides/notesSlide21.xml" Id="Rae309dbda30e4e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36bd51e384851" /><Relationship Type="http://schemas.openxmlformats.org/officeDocument/2006/relationships/notesSlide" Target="/ppt/notesSlides/notesSlide22.xml" Id="R981c18be64e349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9f3f6123a45f4" /><Relationship Type="http://schemas.openxmlformats.org/officeDocument/2006/relationships/notesSlide" Target="/ppt/notesSlides/notesSlide23.xml" Id="R7a14e4aebf2543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0b8db6eb5482c" /><Relationship Type="http://schemas.openxmlformats.org/officeDocument/2006/relationships/notesSlide" Target="/ppt/notesSlides/notesSlide24.xml" Id="R760c1ec6a89e4d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3769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项目成本</c:v>
                </c:pt>
                <c:pt idx="1">
                  <c:v>含储备申请</c:v>
                </c:pt>
                <c:pt idx="2">
                  <c:v>预算控制额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78.8</c:v>
                </c:pt>
                <c:pt idx="1">
                  <c:v>80.8</c:v>
                </c:pt>
                <c:pt idx="2">
                  <c:v>90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万元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8C607-70C1-4263-A563-46356D1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双城售后中心并址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22B60-86DB-4A5B-8E01-7C66343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管理会讨论材料 V0.6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1C84F-C11C-426F-933C-53B8A09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建议11月9日集中迁移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D5B5-90F9-41DD-87DC-37AE1F2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澄川设备项目组  2026年10月27日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1E4AE-F1C3-44C4-B1AD-3346A70E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项目 CC-SVC-26  模拟业务资料</a:t>
            </a:r>
          </a:p>
        </p:txBody>
      </p:sp>
    </p:spTree>
    <p:extLst>
      <p:ext uri="{BB962C8B-B14F-4D97-AF65-F5344CB8AC3E}">
        <p14:creationId xmlns:p14="http://schemas.microsoft.com/office/powerpoint/2010/main" val="2014314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98B7C-28B1-48C1-9F08-E01ADA9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文件使用与修订记录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55FC-E3AB-4EA3-998B-2175B6EF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本轮沿用集中并址方案，更新保险和物品交接。签发版以管理会批准记录为准。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DCE95-9B64-44CB-91EC-A042226F44B9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V0.3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10月19日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范围及角色分工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10月23日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演练结论与系统步骤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V0.5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10月25日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设备折扣结算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V0.6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10月27日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物品交接和现场管理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待管理会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批准人及生效日期待填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993AD-5571-4477-90E7-384F785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02</a:t>
            </a:r>
          </a:p>
        </p:txBody>
      </p:sp>
    </p:spTree>
    <p:extLst>
      <p:ext uri="{BB962C8B-B14F-4D97-AF65-F5344CB8AC3E}">
        <p14:creationId xmlns:p14="http://schemas.microsoft.com/office/powerpoint/2010/main" val="1208225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FB15-FFE7-47FC-9F13-D2F0B75E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项目范围与预期结果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C944E-0C6C-4BB9-AAE7-63E7DE0D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客户入口和服务承诺保持不变。日间两中心业务并入滨湖，夜间外包按原安排执行。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78DC-B5A3-4417-9E87-E90555371569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A江北 B南城 C滨湖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客户入口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沿用原电话和线上入口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日间服务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08:00至20:00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夜间服务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既有外包独立承担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计划周期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11月2日至11月27日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08E9D-E7BB-407F-A483-487FAA1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03</a:t>
            </a:r>
          </a:p>
        </p:txBody>
      </p:sp>
    </p:spTree>
    <p:extLst>
      <p:ext uri="{BB962C8B-B14F-4D97-AF65-F5344CB8AC3E}">
        <p14:creationId xmlns:p14="http://schemas.microsoft.com/office/powerpoint/2010/main" val="763579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225EB-2B86-4481-8EEE-1B786D92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组织分工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F8EE9-70C5-480F-8BB5-D66F6D2D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专业负责人承担执行责任，项目办公室统一维护计划及文件版本。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F0875-6970-49E7-A428-6E29D1A1F27E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班组安排及确认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变更与验证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工位设备交接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场地及供应商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付款台账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统一计划和文件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F988A-54D5-4F72-B8D2-18348EC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04</a:t>
            </a:r>
          </a:p>
        </p:txBody>
      </p:sp>
    </p:spTree>
    <p:extLst>
      <p:ext uri="{BB962C8B-B14F-4D97-AF65-F5344CB8AC3E}">
        <p14:creationId xmlns:p14="http://schemas.microsoft.com/office/powerpoint/2010/main" val="1880288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E2B20-8C10-4E75-BC1F-DFFC55A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集中切换里程碑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D0BF-1A3D-4917-ABDD-3D5C48B7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11月9日统一搬迁和业务切换，次日08:00开始新址日间服务。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5E283-2F93-44C6-97D1-F9C2C980CEF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启动和场地交接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钥匙权限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11月3日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新网络开通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线路单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11月6日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新址准备完成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签收单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11月9日09:00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集中培训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11月9日20:00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全量搬迁切换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11月10日08:00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开班单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11FF8-E01C-4D97-A6F6-2E31D8D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05</a:t>
            </a:r>
          </a:p>
        </p:txBody>
      </p:sp>
    </p:spTree>
    <p:extLst>
      <p:ext uri="{BB962C8B-B14F-4D97-AF65-F5344CB8AC3E}">
        <p14:creationId xmlns:p14="http://schemas.microsoft.com/office/powerpoint/2010/main" val="986677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FFEDE-C52C-4030-BF4D-68721BC4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人员与班组安排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47BDA-3057-4E45-A0A2-C91344A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三个业务组各32人，共96人。上午与下午各16人，人员总量能够支持集中培训。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98806-BAAD-411B-93F6-E63BF7B855FF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G01至G32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01至16上午 17至32下午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远诊R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R01至R32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01至16上午 17至32下午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K01至K32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01至16上午 17至32下午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08:00至14:00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每组16人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14:00至20:00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每组16人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13F63-E8F2-469C-8CBC-BA98698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06</a:t>
            </a:r>
          </a:p>
        </p:txBody>
      </p:sp>
    </p:spTree>
    <p:extLst>
      <p:ext uri="{BB962C8B-B14F-4D97-AF65-F5344CB8AC3E}">
        <p14:creationId xmlns:p14="http://schemas.microsoft.com/office/powerpoint/2010/main" val="1872456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C98B3-BF26-4E1A-A62C-61DF003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服务监测与日常记录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ED85-8D1C-412A-A6D2-B00A95A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迁移前后采用一致口径，班组每半小时记录接入、未接及异常情况。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BE5F5-1FA0-40A4-B738-1779AA802764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接入接通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每30分钟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录音检索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每日抽样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客户权限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按异常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未结订单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交接双方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9B195-F678-4D30-8952-5BED96B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07</a:t>
            </a:r>
          </a:p>
        </p:txBody>
      </p:sp>
    </p:spTree>
    <p:extLst>
      <p:ext uri="{BB962C8B-B14F-4D97-AF65-F5344CB8AC3E}">
        <p14:creationId xmlns:p14="http://schemas.microsoft.com/office/powerpoint/2010/main" val="257894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5950-F96B-4240-8F09-9C1F7781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新址工位与物资准备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39BE3-674C-48A3-8DFC-D58919A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普通区承担两组共用，重点业务进入隔离区。资产按工位编号签收。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86EFA-03F3-48AF-9F5D-FDEEBA725FC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32生产席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座位资产号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16生产席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门禁权限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旧址A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资产盘点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旧址B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资产盘点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暂存区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领取签名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92212-3B8E-44DA-8302-C01E439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08</a:t>
            </a:r>
          </a:p>
        </p:txBody>
      </p:sp>
    </p:spTree>
    <p:extLst>
      <p:ext uri="{BB962C8B-B14F-4D97-AF65-F5344CB8AC3E}">
        <p14:creationId xmlns:p14="http://schemas.microsoft.com/office/powerpoint/2010/main" val="1845196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4EB72-08C0-4035-BB77-A3BC853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网络与电话准备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245EE-0AC3-4D53-BA78-750F5CD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新址切换后关闭旧址生产线路，停止两地重复通信费用。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DA971-F603-46F7-A654-EF69F33054CE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备份配置和编号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呼入转接外呼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新址路由生效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关闭旧线整理设备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变更单和端口单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CEEB5-3DC7-44EA-A307-739C763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09</a:t>
            </a:r>
          </a:p>
        </p:txBody>
      </p:sp>
    </p:spTree>
    <p:extLst>
      <p:ext uri="{BB962C8B-B14F-4D97-AF65-F5344CB8AC3E}">
        <p14:creationId xmlns:p14="http://schemas.microsoft.com/office/powerpoint/2010/main" val="1983412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281D-4D2A-40A3-813B-BB941AE5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系统演练与应用确认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7242-00F5-4443-8A8E-5F8B11F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10月23日演练报告全部通过。项目组沿用该结论安排11月9日统一上线。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07055-9291-4669-A90F-966B582BD935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项目组记录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客户检索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工单创建查询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客户权限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10月23日演练报告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D2C28-AF49-4090-B4D3-EEC6712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10</a:t>
            </a:r>
          </a:p>
        </p:txBody>
      </p:sp>
    </p:spTree>
    <p:extLst>
      <p:ext uri="{BB962C8B-B14F-4D97-AF65-F5344CB8AC3E}">
        <p14:creationId xmlns:p14="http://schemas.microsoft.com/office/powerpoint/2010/main" val="1112932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F889-6A7D-4180-B3EC-1BF05E70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新址操作培训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1F0E6-482D-47D9-8E85-6B49CA81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11月9日组织固定四人学员组课程，每组由两名带教员指导。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9DCAD-1C94-4126-A2EB-0F661C61CE88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各组01至04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05和06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09:00至11:00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各组17至20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21和22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15:00至17:00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带教审核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开课前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实操记录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主管保存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85FEA-8CB7-419B-B051-AF0B498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11</a:t>
            </a:r>
          </a:p>
        </p:txBody>
      </p:sp>
    </p:spTree>
    <p:extLst>
      <p:ext uri="{BB962C8B-B14F-4D97-AF65-F5344CB8AC3E}">
        <p14:creationId xmlns:p14="http://schemas.microsoft.com/office/powerpoint/2010/main" val="2446352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C2D36-886C-4A31-A187-45E4EB6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资产盘点方法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3B02B-4A54-4647-B0E0-11C3FE7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资产编码、箱号、封签贯穿交接。客户资料与个人物品分开处理。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DD90B-A817-40AA-97C4-0AC237F70F3E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编码数量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箱号内容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IT或保管员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旧址交接人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新址接收人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97B37-BABF-469C-A58F-BC277C4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12</a:t>
            </a:r>
          </a:p>
        </p:txBody>
      </p:sp>
    </p:spTree>
    <p:extLst>
      <p:ext uri="{BB962C8B-B14F-4D97-AF65-F5344CB8AC3E}">
        <p14:creationId xmlns:p14="http://schemas.microsoft.com/office/powerpoint/2010/main" val="600677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A3CD9-3088-460C-839D-17C15480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搬运与入场安排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B0B9-D7BD-45C8-A6C4-D75DE55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20:00日间结束后，全业务组集中搬运，先恢复生产终端再处理办公物品。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48B2B-56D3-4FF2-8A9D-B820543F0A5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车辆箱号核对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日间交接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集中装车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卸货安装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21:45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F37E8-5E55-4D03-9532-ED7135F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13</a:t>
            </a:r>
          </a:p>
        </p:txBody>
      </p:sp>
    </p:spTree>
    <p:extLst>
      <p:ext uri="{BB962C8B-B14F-4D97-AF65-F5344CB8AC3E}">
        <p14:creationId xmlns:p14="http://schemas.microsoft.com/office/powerpoint/2010/main" val="687241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350A0-9773-4241-BE5D-D552EA9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切换当晚操作顺序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D8E99-7EAF-4674-94CF-6AFB3FCA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技术操作逐项签名，保留配置备份、抽测编号和次日开班说明。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60D3-AA73-4E37-89AA-FD3940108A3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备份旧路由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启用新路由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登录电话抽测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录音权限核对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抽测编号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通知次日值班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开班说明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08147-C535-419C-B1CE-13802AB3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14</a:t>
            </a:r>
          </a:p>
        </p:txBody>
      </p:sp>
    </p:spTree>
    <p:extLst>
      <p:ext uri="{BB962C8B-B14F-4D97-AF65-F5344CB8AC3E}">
        <p14:creationId xmlns:p14="http://schemas.microsoft.com/office/powerpoint/2010/main" val="19518630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138BC-51CD-454A-BF93-CA0BAEA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异常处理与恢复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2E786-55DE-413E-9138-AEF9362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按影响队列和业务编号处理异常，恢复时用项目开始前历史快照核对业务。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367FD-644A-4AF9-9455-679F430C23FD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先行处理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登录失败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账号网络核对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电话不可用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工位路由检查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订单查不到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核对业务号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应用支持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设备损坏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隔离登记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迟到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记录实际到场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417A3-F8B9-4011-9205-2CD29B6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15</a:t>
            </a:r>
          </a:p>
        </p:txBody>
      </p:sp>
    </p:spTree>
    <p:extLst>
      <p:ext uri="{BB962C8B-B14F-4D97-AF65-F5344CB8AC3E}">
        <p14:creationId xmlns:p14="http://schemas.microsoft.com/office/powerpoint/2010/main" val="1427921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17C77-E217-446B-8709-A981119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次日开班与服务确认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4936-5438-456F-A61A-AF1712DA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按原班次登录并承接未结订单，客户无需重新提供已有业务资料。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E4D3F-3D39-4E2B-B92C-84B822D082AF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开班前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终端电话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开班前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工位单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未结订单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客户反馈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70F32-D545-4F5F-949C-BECF7A69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16</a:t>
            </a:r>
          </a:p>
        </p:txBody>
      </p:sp>
    </p:spTree>
    <p:extLst>
      <p:ext uri="{BB962C8B-B14F-4D97-AF65-F5344CB8AC3E}">
        <p14:creationId xmlns:p14="http://schemas.microsoft.com/office/powerpoint/2010/main" val="14402439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D1480-5B28-41E9-A24C-30CF03EA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费用预算摘要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C9E44-104D-48D7-96B6-A698405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设备折扣方案下项目成本78.8万元，加储备后申请80.8万元。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EF25AD0-8DA6-46BD-9061-7D3A3B44418F}"/>
              </a:ext>
            </a:extLst>
          </p:cNvPr>
          <p:cNvGraphicFramePr/>
          <p:nvPr/>
        </p:nvGraphicFramePr>
        <p:xfrm>
          <a:off xmlns:a="http://schemas.openxmlformats.org/drawingml/2006/main" x="666750" y="276225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4b74e39cd044d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D652D-FBAD-465E-A96C-383A6DA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设备折扣</a:t>
            </a:r>
          </a:p>
          <a:p xmlns:a="http://schemas.openxmlformats.org/drawingml/2006/main">
            <a: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节省2万元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储备2万元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65D40-695B-43D8-AD17-3752D3C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17</a:t>
            </a:r>
          </a:p>
        </p:txBody>
      </p:sp>
    </p:spTree>
    <p:extLst>
      <p:ext uri="{BB962C8B-B14F-4D97-AF65-F5344CB8AC3E}">
        <p14:creationId xmlns:p14="http://schemas.microsoft.com/office/powerpoint/2010/main" val="14881240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B66B2-80BB-4589-8BA5-8DC35E4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设备结算与采购控制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1A2BF-3D30-4E30-8FEF-EC5D1B6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11月6日支付18万元结清设备剩余款，比原价节省2万元。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6FCC-9D7E-44CB-ACA5-B69044266653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剩余结清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11月6日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额外采购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另行审批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658CA-C232-472A-A0E6-4577F15D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18</a:t>
            </a:r>
          </a:p>
        </p:txBody>
      </p:sp>
    </p:spTree>
    <p:extLst>
      <p:ext uri="{BB962C8B-B14F-4D97-AF65-F5344CB8AC3E}">
        <p14:creationId xmlns:p14="http://schemas.microsoft.com/office/powerpoint/2010/main" val="13060517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1F745-EA4C-4386-8EF7-B855614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项目资金安排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D513-D19D-4F13-A44A-38152C64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10月30日可用74万元，11月9日拟回收旧押金8万元，11月13日拨入30万元。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BA09E-265A-46AE-98CE-097E1B053030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租金新押金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11月6日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折扣结清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11月9日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旧押金回收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11月10日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11月13日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拨款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71BC0-1EB7-4CC0-B045-599EFBA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19</a:t>
            </a:r>
          </a:p>
        </p:txBody>
      </p:sp>
    </p:spTree>
    <p:extLst>
      <p:ext uri="{BB962C8B-B14F-4D97-AF65-F5344CB8AC3E}">
        <p14:creationId xmlns:p14="http://schemas.microsoft.com/office/powerpoint/2010/main" val="11442674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04C66-86AF-4127-96FA-FBBE4A2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旧址退出与物品归还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CA9A3-A641-4617-B0F8-9E7C530A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新址投运后办理旧址物品及场地归还，旧线路随切换关闭。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1C79D-94D9-4989-B237-855B90A6FB3F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去向清单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保管员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门禁钥匙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物业行政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押金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收款记录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4EFD6-EF02-4450-BC76-2B8711D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20</a:t>
            </a:r>
          </a:p>
        </p:txBody>
      </p:sp>
    </p:spTree>
    <p:extLst>
      <p:ext uri="{BB962C8B-B14F-4D97-AF65-F5344CB8AC3E}">
        <p14:creationId xmlns:p14="http://schemas.microsoft.com/office/powerpoint/2010/main" val="20148454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BB5F-A3EF-4A28-A06E-AB2E32C1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客户告知与服务说明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BBA5D-20E6-4715-AC83-64A65CF7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统一对外口径保持服务入口和时间，原责任人继续承接客户订单。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34D5A-C500-4DA3-AF71-EF255D38D2C7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服务入口时间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地址接待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入场收货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班次工位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A429E-FD1F-4BFA-98EC-760384D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21</a:t>
            </a:r>
          </a:p>
        </p:txBody>
      </p:sp>
    </p:spTree>
    <p:extLst>
      <p:ext uri="{BB962C8B-B14F-4D97-AF65-F5344CB8AC3E}">
        <p14:creationId xmlns:p14="http://schemas.microsoft.com/office/powerpoint/2010/main" val="856890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455AA-8336-45CB-AE20-4E956B9D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员工通勤与现场秩序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7EBC-879F-4DC0-9E5A-91F54A31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员工凭证入场，供应商由现场陪同，生产区域与施工区域分开。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58290-345B-4132-BD15-2F421205D366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员工入场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员工证登记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行政接待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箱体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指定暂存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个别需求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主管人事单独处理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消防通道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每日巡查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C541B-B14E-4AC6-91D0-43216E8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22</a:t>
            </a:r>
          </a:p>
        </p:txBody>
      </p:sp>
    </p:spTree>
    <p:extLst>
      <p:ext uri="{BB962C8B-B14F-4D97-AF65-F5344CB8AC3E}">
        <p14:creationId xmlns:p14="http://schemas.microsoft.com/office/powerpoint/2010/main" val="16218512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F4144-F0CA-4E28-AD1D-51B36A7C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保密与数据处理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E8BC3-2668-4631-9720-B31B028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账号实名使用，资料交接留签名，业务日志和导出文件按权限保管。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6BB98-B47B-4DDF-B7DA-0F87669BA51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纸质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封闭箱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保管员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受控目录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权限系统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项目归档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废纸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保密处理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2D891-324B-44C2-B3D7-069A9FEA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23</a:t>
            </a:r>
          </a:p>
        </p:txBody>
      </p:sp>
    </p:spTree>
    <p:extLst>
      <p:ext uri="{BB962C8B-B14F-4D97-AF65-F5344CB8AC3E}">
        <p14:creationId xmlns:p14="http://schemas.microsoft.com/office/powerpoint/2010/main" val="1281369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F65FD-4600-42C8-A3C1-0850BD28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项目例会与问题管理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0B7C-3A28-4DE4-9C93-4A1ECB35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每日例会记录计划差异，问题关闭保留依据，重复问题沿用编号。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3BB78-5667-4FF9-9231-4175168D00E2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连续编号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日期时分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明确到人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动作依据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人和时间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9CF43-BCA3-49C8-A358-64EF5AA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管理会讨论稿 V0.6  24</a:t>
            </a:r>
          </a:p>
        </p:txBody>
      </p:sp>
    </p:spTree>
    <p:extLst>
      <p:ext uri="{BB962C8B-B14F-4D97-AF65-F5344CB8AC3E}">
        <p14:creationId xmlns:p14="http://schemas.microsoft.com/office/powerpoint/2010/main" val="1363852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2026-10-22T09:29:31.6600000Z</dcterms:created>
  <dcterms:modified xsi:type="dcterms:W3CDTF">2026-10-22T09:29:31.6600000Z</dcterms:modified>
</coreProperties>
</file>