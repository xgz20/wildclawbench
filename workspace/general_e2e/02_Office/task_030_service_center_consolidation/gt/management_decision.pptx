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54e58d58ec4b0c" /><Relationship Type="http://schemas.openxmlformats.org/officeDocument/2006/relationships/extended-properties" Target="/docProps/app.xml" Id="Rf877c01315674e9a" /><Relationship Type="http://schemas.openxmlformats.org/officeDocument/2006/relationships/officeDocument" Target="/ppt/presentation.xml" Id="Rd1c8deb91ae148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dd5285dfcf4201"/>
  </p:sldMasterIdLst>
  <p:notesMasterIdLst>
    <p:notesMasterId xmlns:r="http://schemas.openxmlformats.org/officeDocument/2006/relationships" r:id="R7e3727a42fa54ed5"/>
  </p:notesMasterIdLst>
  <p:sldIdLst>
    <p:sldId xmlns:r="http://schemas.openxmlformats.org/officeDocument/2006/relationships" id="256" r:id="Recfabe6ec97a4f8d"/>
    <p:sldId xmlns:r="http://schemas.openxmlformats.org/officeDocument/2006/relationships" id="257" r:id="R91a7ae31dde44919"/>
    <p:sldId xmlns:r="http://schemas.openxmlformats.org/officeDocument/2006/relationships" id="258" r:id="R67ee05863a174bcf"/>
    <p:sldId xmlns:r="http://schemas.openxmlformats.org/officeDocument/2006/relationships" id="259" r:id="Rb67940872563426e"/>
    <p:sldId xmlns:r="http://schemas.openxmlformats.org/officeDocument/2006/relationships" id="260" r:id="R5109179b32cb4d45"/>
    <p:sldId xmlns:r="http://schemas.openxmlformats.org/officeDocument/2006/relationships" id="261" r:id="R39abdcf20c474bc9"/>
    <p:sldId xmlns:r="http://schemas.openxmlformats.org/officeDocument/2006/relationships" id="262" r:id="Ref73df8d1acd44b7"/>
    <p:sldId xmlns:r="http://schemas.openxmlformats.org/officeDocument/2006/relationships" id="263" r:id="R038c218117844ea4"/>
    <p:sldId xmlns:r="http://schemas.openxmlformats.org/officeDocument/2006/relationships" id="264" r:id="R8ec38496b1214d3e"/>
    <p:sldId xmlns:r="http://schemas.openxmlformats.org/officeDocument/2006/relationships" id="265" r:id="R2cef0f6e0e48433d"/>
    <p:sldId xmlns:r="http://schemas.openxmlformats.org/officeDocument/2006/relationships" id="266" r:id="R02db1dca810b4b0c"/>
    <p:sldId xmlns:r="http://schemas.openxmlformats.org/officeDocument/2006/relationships" id="267" r:id="R9040c1d3bdc24202"/>
    <p:sldId xmlns:r="http://schemas.openxmlformats.org/officeDocument/2006/relationships" id="268" r:id="R5e52d2467d1a423f"/>
    <p:sldId xmlns:r="http://schemas.openxmlformats.org/officeDocument/2006/relationships" id="269" r:id="R38e034bf9cb446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15feaa1ed54e62" /><Relationship Type="http://schemas.openxmlformats.org/officeDocument/2006/relationships/slideMaster" Target="/ppt/slideMasters/slideMaster1.xml" Id="Rfbdd5285dfcf4201" /><Relationship Type="http://schemas.openxmlformats.org/officeDocument/2006/relationships/notesMaster" Target="/ppt/notesMasters/notesMaster1.xml" Id="R7e3727a42fa54ed5" /><Relationship Type="http://schemas.openxmlformats.org/officeDocument/2006/relationships/presProps" Target="/ppt/presProps.xml" Id="R193d34a5db5e464b" /><Relationship Type="http://schemas.openxmlformats.org/officeDocument/2006/relationships/tableStyles" Target="/ppt/tableStyles.xml" Id="Re56625c538b14562" /><Relationship Type="http://schemas.openxmlformats.org/officeDocument/2006/relationships/slide" Target="/ppt/slides/slide1.xml" Id="Recfabe6ec97a4f8d" /><Relationship Type="http://schemas.openxmlformats.org/officeDocument/2006/relationships/slide" Target="/ppt/slides/slide2.xml" Id="R91a7ae31dde44919" /><Relationship Type="http://schemas.openxmlformats.org/officeDocument/2006/relationships/slide" Target="/ppt/slides/slide3.xml" Id="R67ee05863a174bcf" /><Relationship Type="http://schemas.openxmlformats.org/officeDocument/2006/relationships/slide" Target="/ppt/slides/slide4.xml" Id="Rb67940872563426e" /><Relationship Type="http://schemas.openxmlformats.org/officeDocument/2006/relationships/slide" Target="/ppt/slides/slide5.xml" Id="R5109179b32cb4d45" /><Relationship Type="http://schemas.openxmlformats.org/officeDocument/2006/relationships/slide" Target="/ppt/slides/slide6.xml" Id="R39abdcf20c474bc9" /><Relationship Type="http://schemas.openxmlformats.org/officeDocument/2006/relationships/slide" Target="/ppt/slides/slide7.xml" Id="Ref73df8d1acd44b7" /><Relationship Type="http://schemas.openxmlformats.org/officeDocument/2006/relationships/slide" Target="/ppt/slides/slide8.xml" Id="R038c218117844ea4" /><Relationship Type="http://schemas.openxmlformats.org/officeDocument/2006/relationships/slide" Target="/ppt/slides/slide9.xml" Id="R8ec38496b1214d3e" /><Relationship Type="http://schemas.openxmlformats.org/officeDocument/2006/relationships/slide" Target="/ppt/slides/slide10.xml" Id="R2cef0f6e0e48433d" /><Relationship Type="http://schemas.openxmlformats.org/officeDocument/2006/relationships/slide" Target="/ppt/slides/slide11.xml" Id="R02db1dca810b4b0c" /><Relationship Type="http://schemas.openxmlformats.org/officeDocument/2006/relationships/slide" Target="/ppt/slides/slide12.xml" Id="R9040c1d3bdc24202" /><Relationship Type="http://schemas.openxmlformats.org/officeDocument/2006/relationships/slide" Target="/ppt/slides/slide13.xml" Id="R5e52d2467d1a423f" /><Relationship Type="http://schemas.openxmlformats.org/officeDocument/2006/relationships/slide" Target="/ppt/slides/slide14.xml" Id="R38e034bf9cb446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42781400a048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cc069bd6ef4b40" /><Relationship Type="http://schemas.openxmlformats.org/officeDocument/2006/relationships/notesMaster" Target="/ppt/notesMasters/notesMaster1.xml" Id="Reb8cfde30cdd41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4b5c0efa6a4623" /><Relationship Type="http://schemas.openxmlformats.org/officeDocument/2006/relationships/notesMaster" Target="/ppt/notesMasters/notesMaster1.xml" Id="R0b199f52e3cd42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e493054234ced" /><Relationship Type="http://schemas.openxmlformats.org/officeDocument/2006/relationships/notesMaster" Target="/ppt/notesMasters/notesMaster1.xml" Id="R5143e7beda0d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e42840104b444d" /><Relationship Type="http://schemas.openxmlformats.org/officeDocument/2006/relationships/notesMaster" Target="/ppt/notesMasters/notesMaster1.xml" Id="R1330e9678fcf4c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8d3d954c134ff7" /><Relationship Type="http://schemas.openxmlformats.org/officeDocument/2006/relationships/notesMaster" Target="/ppt/notesMasters/notesMaster1.xml" Id="R01d5ddcccabb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a56299ae5847d0" /><Relationship Type="http://schemas.openxmlformats.org/officeDocument/2006/relationships/notesMaster" Target="/ppt/notesMasters/notesMaster1.xml" Id="R808e9537797c41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1d4033e3d48e9" /><Relationship Type="http://schemas.openxmlformats.org/officeDocument/2006/relationships/notesMaster" Target="/ppt/notesMasters/notesMaster1.xml" Id="R6aaa082326544d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3b7e24af0f49e5" /><Relationship Type="http://schemas.openxmlformats.org/officeDocument/2006/relationships/notesMaster" Target="/ppt/notesMasters/notesMaster1.xml" Id="R89bf5d54ac1742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f6b641065640c9" /><Relationship Type="http://schemas.openxmlformats.org/officeDocument/2006/relationships/notesMaster" Target="/ppt/notesMasters/notesMaster1.xml" Id="Rdb07af15a7b14c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9d87a3ff704723" /><Relationship Type="http://schemas.openxmlformats.org/officeDocument/2006/relationships/notesMaster" Target="/ppt/notesMasters/notesMaster1.xml" Id="R3cba5e7c372140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07de85e5304e2e" /><Relationship Type="http://schemas.openxmlformats.org/officeDocument/2006/relationships/notesMaster" Target="/ppt/notesMasters/notesMaster1.xml" Id="Rff3f8829ccc548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3f3489a93849a2" /><Relationship Type="http://schemas.openxmlformats.org/officeDocument/2006/relationships/notesMaster" Target="/ppt/notesMasters/notesMaster1.xml" Id="R8533814be7f246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01c61fc206437c" /><Relationship Type="http://schemas.openxmlformats.org/officeDocument/2006/relationships/notesMaster" Target="/ppt/notesMasters/notesMaster1.xml" Id="R0307716bbcd74c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086689832c429c" /><Relationship Type="http://schemas.openxmlformats.org/officeDocument/2006/relationships/notesMaster" Target="/ppt/notesMasters/notesMaster1.xml" Id="R85bf13b2204a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澄川设备 项目 CC-SVC-26 管理会审议版 V1.0 2026年11月2日</a:t>
            </a:r>
          </a:p>
          <a:p xmlns:a="http://schemas.openxmlformats.org/drawingml/2006/main">
            <a:r>
              <a:t>建议G通用、R远诊、K重点分别于11月9日、12日、16日20:00至22:00迁移，次日08:00开始新址服务。每波只在当前版本验收和运营、IT双签后放行。资料截至2026年10月30日18:00。</a:t>
            </a:r>
          </a:p>
          <a:p xmlns:a="http://schemas.openxmlformats.org/drawingml/2006/main">
            <a:r>
              <a:t>非退还成本808000元，加20000元储备后预算占用828000元。设备采用已签分期，最低现金172000元。未来复测及场地验收尚未完成，批准路线不等于批准无条件上线。</a:t>
            </a:r>
          </a:p>
          <a:p xmlns:a="http://schemas.openxmlformats.org/drawingml/2006/main">
            <a:r>
              <a:t>本文件为模拟企业业务资料。</a:t>
            </a:r>
          </a:p>
          <a:p xmlns:a="http://schemas.openxmlformats.org/drawingml/2006/main">
            <a:r>
              <a:t>依据 03_service_agreements.pdf SVC-A2；04_site_vendor_contracts.pdf EQUIP-S1 SITE-A2；decision_model.xlsx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覆盖08:00至20:00六队列及人员、场地、系统、资金与退址。20:00至08:00由既有外包独立承接，不计日间人数，其常态费用不计本次增量项目预算。</a:t>
            </a:r>
          </a:p>
          <a:p xmlns:a="http://schemas.openxmlformats.org/drawingml/2006/main">
            <a:r>
              <a:t>切换统一release R2.4、routing schema R7、CRM snapshot C1030。版本改变时由顾闻判断验收覆盖并补测，R2.3演练不能替代当前证据。SVC-A2已替代A1同步迁移限制，允许按组迁移。</a:t>
            </a:r>
          </a:p>
          <a:p xmlns:a="http://schemas.openxmlformats.org/drawingml/2006/main">
            <a:r>
              <a:t>依据 03_service_agreements.pdf S2 S3 S5 SVC-A2；09_rehearsal_records.pdf REC-417 REC-422 REC-431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每半小时预测件数乘各队列AHT，按同技能组汇总工作分钟，再除24向上取整。G、R、K峰时均需14人、常态12人、低峰10人。每组每班16人，R08长期请假使R上午基线15人，取消请假不再扣减。</a:t>
            </a:r>
          </a:p>
          <a:p xmlns:a="http://schemas.openxmlformats.org/drawingml/2006/main">
            <a:r>
              <a:t>每次课占4学员与2带教，固定四人组不能拆。G/K低峰余10人，R上午余9人，使用SP-R1在11月5日12:00至14:00补1名远诊，8000元已计成本。</a:t>
            </a:r>
          </a:p>
          <a:p xmlns:a="http://schemas.openxmlformats.org/drawingml/2006/main">
            <a:r>
              <a:t>依据 05_service_demand.xlsx；06_people_roster.xlsx；03_service_agreements.pdf S2 TRN-26；11_supplier_quotes.xlsx SP-R1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上午学员各组01至04、带教05与06，下午学员17至20、带教21与22。主管把这六人在课程窗口从生产中移除，课后再返岗。R08仍保留在32人迁移名册，11月2日至20日按请假扣生产，21日起每班基线恢复16人。</a:t>
            </a:r>
          </a:p>
          <a:p xmlns:a="http://schemas.openxmlformats.org/drawingml/2006/main">
            <a:r>
              <a:t>培训使用11月4日已可用的独立实验室，与11月6日生产区验收范围不同。王澜11月4日前核实SP-R1接入权限与到岗接口。若支援缺席，R上午不能按该窗口开课，先维持生产并升级重排。通用支援不能替代远诊技能，也不能借用下午班补上午人数。</a:t>
            </a:r>
          </a:p>
          <a:p xmlns:a="http://schemas.openxmlformats.org/drawingml/2006/main">
            <a:r>
              <a:t>依据 06_people_roster.xlsx；11_supplier_quotes.xlsx SP-R1；03_service_agreements.pdf TRN-26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现有搬运包每晚一组，每波20000元，迁移完整业务组32人对应名册和资产。G/R两组迁入后每班各16席，普通区同时32席。11月6日普通区32席为预约验收，成功后才能使用。</a:t>
            </a:r>
          </a:p>
          <a:p xmlns:a="http://schemas.openxmlformats.org/drawingml/2006/main">
            <a:r>
              <a:t>K隔离区11月6日仅8席，须等11月13日16席验收及11月15日链路回退演练通过。现场和演练预约均不能预填为通过。</a:t>
            </a:r>
          </a:p>
          <a:p xmlns:a="http://schemas.openxmlformats.org/drawingml/2006/main">
            <a:r>
              <a:t>依据 07_site_resources.xlsx；12_site_conditions.pdf FAC-1030；04_site_vendor_contracts.pdf 搬运范围；03_service_agreements.pdf OPS-CUT-4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截至10月30日，当前G有10月29日记录及REC-431补证。R的REC-417录音索引失败，K的REC-422未执行。11月10日修复、11日复测、13日场地验收和15日演练是预约，均待真实证据。10月31日未来邮件草稿不构成截止日已发生事实。</a:t>
            </a:r>
          </a:p>
          <a:p xmlns:a="http://schemas.openxmlformats.org/drawingml/2006/main">
            <a:r>
              <a:t>顾闻核对功能、录音、权限、回退及版本范围，王澜核对服务人员，双方逐波签放。缺任一必要条件，该组继续旧址并重排搬运和资金。REC-409报表列宽可11月23日前收尾，不阻断生产。</a:t>
            </a:r>
          </a:p>
          <a:p xmlns:a="http://schemas.openxmlformats.org/drawingml/2006/main">
            <a:r>
              <a:t>依据 09_rehearsal_records.pdf REC-417 REC-422 REC-431 REC-409；10_acceptance_register.xlsx；12_site_conditions.pdf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三波采用相同操作顺序。窗口前运营确认服务与未结订单，IT确认版本变更，现场确认新旧两端工位。未签放不装车、不改生产路由。</a:t>
            </a:r>
          </a:p>
          <a:p xmlns:a="http://schemas.openxmlformats.org/drawingml/2006/main">
            <a:r>
              <a:t>20:00后仅搬当晚业务组，保存配置前后值、时间戳、检验订单和资产封签。次日开班前再次验证关键路径，失败按回退流程处理。</a:t>
            </a:r>
          </a:p>
          <a:p xmlns:a="http://schemas.openxmlformats.org/drawingml/2006/main">
            <a:r>
              <a:t>依据 03_service_agreements.pdf OPS-CUT-4 S3；04_site_vendor_contracts.pdf 搬运包；decision_model.xlsx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任一关键队列连续两个15分钟窗口无法接通，或出现一项严重录音索引、客户权限错误，值班运营王澜启动回退。顾闻30分钟内恢复旧址路由，45分钟内恢复业务。</a:t>
            </a:r>
          </a:p>
          <a:p xmlns:a="http://schemas.openxmlformats.org/drawingml/2006/main">
            <a:r>
              <a:t>赵衡保留两旧址镜像工位和独立备用链路，IT在每波前验证备用配置与镜像可达。旧址FA01和FB01值守工程师维护镜像及VPN，费用含于12000元旧线款，均不计96名生产员工。滨湖的同一批业务员工经备用链路远程接入旧址镜像，不在新旧两端重复计生产人数。增量订单每15分钟同步，回切后逐单核对。只读历史快照不能恢复最新订单。此流程覆盖路由、录音和权限故障，全楼断电等灾害另行升级。</a:t>
            </a:r>
          </a:p>
          <a:p xmlns:a="http://schemas.openxmlformats.org/drawingml/2006/main">
            <a:r>
              <a:t>依据 03_service_agreements.pdf OPS-CUT-4 S3；04_site_vendor_contracts.pdf NET-R2；09_rehearsal_records.pdf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最后一组成功启用新址后连续三个完整服务日观察。参考计划为11月17、18、19日，搬迁当晚不计一天。重大事件影响连续稳定认定，旧资源须继续保留。</a:t>
            </a:r>
          </a:p>
          <a:p xmlns:a="http://schemas.openxmlformats.org/drawingml/2006/main">
            <a:r>
              <a:t>满足观察要求后，林芮按预约11月20日20:00交接两旧址。交接前保留工位、线路和值班回退能力。旧押金实际退址后5个工作日返还，参考计划11月27日收80000元。</a:t>
            </a:r>
          </a:p>
          <a:p xmlns:a="http://schemas.openxmlformats.org/drawingml/2006/main">
            <a:r>
              <a:t>依据 04_site_vendor_contracts.pdf SITE-A2 NET-R2；03_service_agreements.pdf SVC-A2 OPS-CUT-4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11月17日12:00仍未实现K稳定启动时，林芮须当天16:00前启用已确认的11月21至27日旧址及网络延长选项，11月17日付24000元。不得等到20日再询价，期限内业务继续旧址。</a:t>
            </a:r>
          </a:p>
          <a:p xmlns:a="http://schemas.openxmlformats.org/drawingml/2006/main">
            <a:r>
              <a:t>延期增加成本24000元，预算占用852000元，仍低于900000元。按参考资金流仅增该款，低点仍172000元。实际搬运、退址和押金日期重算，不能继续承诺11月27日押金到账。若实际退址11月27日，27日期末现金为268000元，押金80000元于12月4日返还，此为费用敏感性而非已批准重排日期。27日之后无资源承诺，须提前升级决策。</a:t>
            </a:r>
          </a:p>
          <a:p xmlns:a="http://schemas.openxmlformats.org/drawingml/2006/main">
            <a:r>
              <a:t>依据 04_site_vendor_contracts.pdf SITE-A2 NET-R2；08_finance_ledger.xlsx；decision_model.xlsx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全部含税人民币。不可退成本808000元，包括已付160000元和未来648000元。加20000元储备后828000元，较900000元预算余72000元。新押金100000元占现金不计成本。不同供应商净价按各自税率换算。</a:t>
            </a:r>
          </a:p>
          <a:p xmlns:a="http://schemas.openxmlformats.org/drawingml/2006/main">
            <a:r>
              <a:t>推荐三波采用EQUIP-S1，11月6日付40000元、16日付160000元。EQUIP-D1合法可省20000元，但在三波排期下提前140000元使最低现金32000元，低于50000元底线18000元。提前拨款已遭财务拒绝，不能假定到账；集中迁移与早付的可行组合见备选方案。</a:t>
            </a:r>
          </a:p>
          <a:p xmlns:a="http://schemas.openxmlformats.org/drawingml/2006/main">
            <a:r>
              <a:t>依据 04_site_vendor_contracts.pdf EQUIP-S1 EQUIP-D1 SYS-S2 NET-R2；08_finance_ledger.xlsx；11_supplier_quotes.xlsx；mail 财务回复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起点为10月30日可动用740000元，已付160000元不再次扣现金。11月13日09:00拨入已批准300000元。未来支出748000元包含新押金100000元。参考11月27日收旧押金80000元，期末余额372000元。</a:t>
            </a:r>
          </a:p>
          <a:p xmlns:a="http://schemas.openxmlformats.org/drawingml/2006/main">
            <a:r>
              <a:t>最低172000元出现在11月12日，高于最低保有122000元。沈蓉每次付款前核对实际到账和申请，金额或日期改变同步更新模型。储备为预算预留，未发生时不作为确定现金支出。</a:t>
            </a:r>
          </a:p>
          <a:p xmlns:a="http://schemas.openxmlformats.org/drawingml/2006/main">
            <a:r>
              <a:t>依据 08_finance_ledger.xlsx；04_site_vendor_contracts.pdf 付款条款 SITE-A2；decision_model.xlsx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可选择11月16日集中迁移全部三组，但必须购买MOVE-X每晚三组专包，不能沿用现有每晚一组包。所有组验收和双签仍需完成，培训安排不变。管理会若选择此路线，林芮须在11月2日12:00前锁定MOVE-X报价。</a:t>
            </a:r>
          </a:p>
          <a:p xmlns:a="http://schemas.openxmlformats.org/drawingml/2006/main">
            <a:r>
              <a:t>MOVE-X为75000元，比三波搬运多15000元。集中迁移加EQUIP-S1分期时，非退还成本823000元，加储备843000元；最低现金212000元，11月16日277000元，期末357000元。此组合可行，但G/R更晚迁入且比推荐更贵。</a:t>
            </a:r>
          </a:p>
          <a:p xmlns:a="http://schemas.openxmlformats.org/drawingml/2006/main">
            <a:r>
              <a:t>集中迁移加EQUIP-D1早付同样可行：非退还成本803000元，加储备823000元，最低现金72000元在11月10日，期末377000元。除11月2日12:00前锁定MOVE-X，还须11月4日17:00前行权D1；同样等待实际场地、当前版本复测及双签。该组合较推荐省5000元，但G/R新址启用分别延后7日和4日。管理会按服务优先、再比较时间与费用，仍推荐三波分期；若改选集中早付，须同时批准路线和付款安排。</a:t>
            </a:r>
          </a:p>
          <a:p xmlns:a="http://schemas.openxmlformats.org/drawingml/2006/main">
            <a:r>
              <a:t>依据 11_supplier_quotes.xlsx MOVE-X EQUIP-D1；04_site_vendor_contracts.pdf EQUIP-S1 EQUIP-D1 SITE-A2；decision_model.xlsx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资料截止2026年10月30日18:00。</a:t>
            </a:r>
          </a:p>
          <a:p xmlns:a="http://schemas.openxmlformats.org/drawingml/2006/main">
            <a:r>
              <a:t>项目办公室维护唯一执行版，按日期业务组保存培训、到岗、验收、双签、同步、回退和稳定记录。实际变更先记录原因及批准，再更新日期、成本、资源和依赖。</a:t>
            </a:r>
          </a:p>
          <a:p xmlns:a="http://schemas.openxmlformats.org/drawingml/2006/main">
            <a:r>
              <a:t>PPT、Word和Excel使用同一组关键值，三波日期、828000元预算、172000元最低现金及未来验收未完成状态一致。输入以文件名及条款或记录ID定位，计算回查decision_model.xlsx的输入和公式。</a:t>
            </a:r>
          </a:p>
          <a:p xmlns:a="http://schemas.openxmlformats.org/drawingml/2006/main">
            <a:r>
              <a:t>依据 03_service_agreements.pdf OPS-CUT-4；management_decision.pptx；decision_model.xlsx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c63c4b5454c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5eb09c07649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9ff95a04444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47fd1575044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3257c79c340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4ef5524a8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813C6-7F22-46F2-8D19-C696FED55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D29ADC-D2A9-44D5-A8C2-943474871B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55DE64-9508-4E7B-A6F8-E9F0ED9D9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420CD6-D799-4130-8F61-C1A15EEDB9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81DB41-5AB9-46AF-B8D6-1A31404815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195DB6-DA40-422B-98AE-256B6417DB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7077B0-928D-4E3F-9CF4-D8165BB5D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5E5AED-841A-455F-9F29-EC159DB26C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5D52E0-6BBE-4C99-AEC9-8A5065435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132C53-6E06-4E10-8ABB-DD234A486B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db618d5984db3" /><Relationship Type="http://schemas.openxmlformats.org/officeDocument/2006/relationships/slideLayout" Target="/ppt/slideLayouts/slideLayout1.xml" Id="Ra8e380d1b28147f8" /><Relationship Type="http://schemas.openxmlformats.org/officeDocument/2006/relationships/slideLayout" Target="/ppt/slideLayouts/slideLayout2.xml" Id="Rce71e6a951ed41e0" /><Relationship Type="http://schemas.openxmlformats.org/officeDocument/2006/relationships/slideLayout" Target="/ppt/slideLayouts/slideLayout3.xml" Id="R3ec8e7079eeb4ace" /><Relationship Type="http://schemas.openxmlformats.org/officeDocument/2006/relationships/slideLayout" Target="/ppt/slideLayouts/slideLayout4.xml" Id="R54b97d811bc9415f" /><Relationship Type="http://schemas.openxmlformats.org/officeDocument/2006/relationships/slideLayout" Target="/ppt/slideLayouts/slideLayout5.xml" Id="R40d3ef3aad49444a" /><Relationship Type="http://schemas.openxmlformats.org/officeDocument/2006/relationships/slideLayout" Target="/ppt/slideLayouts/slideLayout6.xml" Id="R965926cadb1a49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380d1b28147f8"/>
    <p:sldLayoutId xmlns:r="http://schemas.openxmlformats.org/officeDocument/2006/relationships" id="2147483650" r:id="Rce71e6a951ed41e0"/>
    <p:sldLayoutId xmlns:r="http://schemas.openxmlformats.org/officeDocument/2006/relationships" id="2147483651" r:id="R3ec8e7079eeb4ace"/>
    <p:sldLayoutId xmlns:r="http://schemas.openxmlformats.org/officeDocument/2006/relationships" id="2147483652" r:id="R54b97d811bc9415f"/>
    <p:sldLayoutId xmlns:r="http://schemas.openxmlformats.org/officeDocument/2006/relationships" id="2147483653" r:id="R40d3ef3aad49444a"/>
    <p:sldLayoutId xmlns:r="http://schemas.openxmlformats.org/officeDocument/2006/relationships" id="2147483654" r:id="R965926cadb1a49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657ce2be24c5f" /><Relationship Type="http://schemas.openxmlformats.org/officeDocument/2006/relationships/notesSlide" Target="/ppt/notesSlides/notesSlide1.xml" Id="R1d21a6874a7540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aa5b34d6b45d8" /><Relationship Type="http://schemas.openxmlformats.org/officeDocument/2006/relationships/notesSlide" Target="/ppt/notesSlides/notesSlide2.xml" Id="R81eafe745b364d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cd2a1da7b4cc8" /><Relationship Type="http://schemas.openxmlformats.org/officeDocument/2006/relationships/notesSlide" Target="/ppt/notesSlides/notesSlide3.xml" Id="R7eb3f11178da4c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03c8f3d0242de" /><Relationship Type="http://schemas.openxmlformats.org/officeDocument/2006/relationships/notesSlide" Target="/ppt/notesSlides/notesSlide4.xml" Id="R67b97b35e86e43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2b0bf54c14f8a" /><Relationship Type="http://schemas.openxmlformats.org/officeDocument/2006/relationships/notesSlide" Target="/ppt/notesSlides/notesSlide5.xml" Id="Re3382b9a7bb844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af09c78664c71" /><Relationship Type="http://schemas.openxmlformats.org/officeDocument/2006/relationships/notesSlide" Target="/ppt/notesSlides/notesSlide6.xml" Id="R3ebd2cb5cda5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6a0d0cff44e9a" /><Relationship Type="http://schemas.openxmlformats.org/officeDocument/2006/relationships/notesSlide" Target="/ppt/notesSlides/notesSlide7.xml" Id="Rb7732cddb6c74b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897d517974ab6" /><Relationship Type="http://schemas.openxmlformats.org/officeDocument/2006/relationships/notesSlide" Target="/ppt/notesSlides/notesSlide8.xml" Id="R3597b48cf3bc4a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d7bfcf3054bac" /><Relationship Type="http://schemas.openxmlformats.org/officeDocument/2006/relationships/notesSlide" Target="/ppt/notesSlides/notesSlide9.xml" Id="Rfdbfb7ae7267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f593b3b644854" /><Relationship Type="http://schemas.openxmlformats.org/officeDocument/2006/relationships/notesSlide" Target="/ppt/notesSlides/notesSlide10.xml" Id="R11d2f7d110a646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24aae052b4321" /><Relationship Type="http://schemas.openxmlformats.org/officeDocument/2006/relationships/notesSlide" Target="/ppt/notesSlides/notesSlide11.xml" Id="Rc983ca331e5b40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8334267ee74a46" /><Relationship Type="http://schemas.openxmlformats.org/officeDocument/2006/relationships/chart" Target="/ppt/slides/charts/chart1.xml" Id="R718fe80a1b7047dd" /><Relationship Type="http://schemas.openxmlformats.org/officeDocument/2006/relationships/notesSlide" Target="/ppt/notesSlides/notesSlide12.xml" Id="Rd036d36fe10549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db23d5a51472f" /><Relationship Type="http://schemas.openxmlformats.org/officeDocument/2006/relationships/notesSlide" Target="/ppt/notesSlides/notesSlide13.xml" Id="Rc774b24706aa44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57bbb67e94398" /><Relationship Type="http://schemas.openxmlformats.org/officeDocument/2006/relationships/notesSlide" Target="/ppt/notesSlides/notesSlide14.xml" Id="R1dd110c7e56c43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现金余额</c:v>
          </c:tx>
          <c:spPr>
            <a:ln xmlns:a="http://schemas.openxmlformats.org/drawingml/2006/main" w="28575">
              <a:solidFill>
                <a:srgbClr val="37698C"/>
              </a:solidFill>
            </a:ln>
          </c:spPr>
          <c:marker>
            <c:symbol val="circle"/>
            <c:size val="7"/>
          </c:marker>
          <c:cat>
            <c:strRef>
              <c:f>'Chart Data'!$A$2:$A$12</c:f>
              <c:strCache>
                <c:ptCount val="11"/>
                <c:pt idx="0">
                  <c:v>10/30</c:v>
                </c:pt>
                <c:pt idx="1">
                  <c:v>11/02</c:v>
                </c:pt>
                <c:pt idx="2">
                  <c:v>11/03</c:v>
                </c:pt>
                <c:pt idx="3">
                  <c:v>11/05</c:v>
                </c:pt>
                <c:pt idx="4">
                  <c:v>11/06</c:v>
                </c:pt>
                <c:pt idx="5">
                  <c:v>11/09</c:v>
                </c:pt>
                <c:pt idx="6">
                  <c:v>11/10</c:v>
                </c:pt>
                <c:pt idx="7">
                  <c:v>11/12</c:v>
                </c:pt>
                <c:pt idx="8">
                  <c:v>11/13</c:v>
                </c:pt>
                <c:pt idx="9">
                  <c:v>11/16</c:v>
                </c:pt>
                <c:pt idx="10">
                  <c:v>11/27</c:v>
                </c:pt>
              </c:strCache>
            </c:strRef>
          </c:cat>
          <c:val>
            <c:numRef>
              <c:f>'Chart Data'!$B$2:$B$12</c:f>
              <c:numCache>
                <c:formatCode>0</c:formatCode>
                <c:ptCount val="11"/>
                <c:pt idx="0">
                  <c:v>74</c:v>
                </c:pt>
                <c:pt idx="1">
                  <c:v>52</c:v>
                </c:pt>
                <c:pt idx="2">
                  <c:v>49</c:v>
                </c:pt>
                <c:pt idx="3">
                  <c:v>45.8</c:v>
                </c:pt>
                <c:pt idx="4">
                  <c:v>29.8</c:v>
                </c:pt>
                <c:pt idx="5">
                  <c:v>27.2</c:v>
                </c:pt>
                <c:pt idx="6">
                  <c:v>19.2</c:v>
                </c:pt>
                <c:pt idx="7">
                  <c:v>17.2</c:v>
                </c:pt>
                <c:pt idx="8">
                  <c:v>47.2</c:v>
                </c:pt>
                <c:pt idx="9">
                  <c:v>29.2</c:v>
                </c:pt>
                <c:pt idx="10">
                  <c:v>37.2</c:v>
                </c:pt>
              </c:numCache>
            </c:numRef>
          </c:val>
          <c:smooth val="0"/>
        </c:ser>
        <c:ser>
          <c:idx val="1"/>
          <c:order val="1"/>
          <c:tx>
            <c:v>最低保有</c:v>
          </c:tx>
          <c:spPr>
            <a:ln xmlns:a="http://schemas.openxmlformats.org/drawingml/2006/main" w="19050">
              <a:solidFill>
                <a:srgbClr val="B35F40"/>
              </a:solidFill>
            </a:ln>
          </c:spPr>
          <c:marker>
            <c:symbol val="none"/>
          </c:marker>
          <c:cat>
            <c:strRef>
              <c:f>'Chart Data'!$C$2:$C$12</c:f>
              <c:strCache>
                <c:ptCount val="11"/>
                <c:pt idx="0">
                  <c:v>10/30</c:v>
                </c:pt>
                <c:pt idx="1">
                  <c:v>11/02</c:v>
                </c:pt>
                <c:pt idx="2">
                  <c:v>11/03</c:v>
                </c:pt>
                <c:pt idx="3">
                  <c:v>11/05</c:v>
                </c:pt>
                <c:pt idx="4">
                  <c:v>11/06</c:v>
                </c:pt>
                <c:pt idx="5">
                  <c:v>11/09</c:v>
                </c:pt>
                <c:pt idx="6">
                  <c:v>11/10</c:v>
                </c:pt>
                <c:pt idx="7">
                  <c:v>11/12</c:v>
                </c:pt>
                <c:pt idx="8">
                  <c:v>11/13</c:v>
                </c:pt>
                <c:pt idx="9">
                  <c:v>11/16</c:v>
                </c:pt>
                <c:pt idx="10">
                  <c:v>11/27</c:v>
                </c:pt>
              </c:strCache>
            </c:strRef>
          </c:cat>
          <c:val>
            <c:numRef>
              <c:f>'Chart Data'!$D$2:$D$12</c:f>
              <c:numCache>
                <c:formatCode>0</c:formatCode>
                <c:ptCount val="1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万元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BC9CA-3CB9-49FD-9F4A-8E92C9A3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双城售后中心并址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8AAFF-C2C0-40E3-B17F-216105FE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管理会决策材料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CAA85-9A48-485A-8211-E72C6111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建议11月9日、12日、16日三波迁移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7163-B23A-42ED-9AB5-9B0A8469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澄川设备项目组  2026年11月2日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7F83B-EBDF-43EE-B49D-61605224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B"/>
                </a:solidFill>
                <a:latin typeface="Microsoft YaHei"/>
                <a:ea typeface="Microsoft YaHei"/>
                <a:cs typeface="Microsoft YaHei"/>
              </a:rPr>
              <a:t>项目 CC-SVC-26  模拟业务资料</a:t>
            </a:r>
          </a:p>
        </p:txBody>
      </p:sp>
    </p:spTree>
    <p:extLst>
      <p:ext uri="{BB962C8B-B14F-4D97-AF65-F5344CB8AC3E}">
        <p14:creationId xmlns:p14="http://schemas.microsoft.com/office/powerpoint/2010/main" val="1895090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E8386-5CBB-4DF4-BC0D-B80BFCCF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执行范围与系统基线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BA85E-A23C-4B02-ADB3-7E21C788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适用日间六队列。两旧址同技能组共池，班次及技能不可混计。当前系统统一R2.4 / R7 / C1030。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D6D75-A22E-429F-8EAD-5F4A39F1CA51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Q1安装咨询 Q2报修受理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Q3远程诊断 Q4故障升级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Q5关键客户 Q6保障专线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两旧址同组共池 不跨技能组互补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AM08至14 PM14至20 不跨班混计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0DE7E-04FF-41A0-8DA4-07D9DB6E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02</a:t>
            </a:r>
          </a:p>
        </p:txBody>
      </p:sp>
    </p:spTree>
    <p:extLst>
      <p:ext uri="{BB962C8B-B14F-4D97-AF65-F5344CB8AC3E}">
        <p14:creationId xmlns:p14="http://schemas.microsoft.com/office/powerpoint/2010/main" val="112657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3A7C6-BE27-4C75-BA31-17835CD3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服务能力与培训安排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0EAD4-CEC7-4777-96E0-52EC50C5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每半小时需人数为工作分钟除24向上取整。三组峰时14人，常态12人，低峰10人。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7EA59-D422-4AE5-A8F3-C55A60D488AB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2667000"/>
                <a:gridCol w="2667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可用生产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 K上午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11月4日12至14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16减6等于10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 K下午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11月4日18至20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16减6等于10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R上午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11月5日12至14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15减6加1等于10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R下午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11月5日18至20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16减6等于10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其余峰时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09至11及15至17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G/K16 R上午15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220E3-FE80-4557-9B72-0B999225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03</a:t>
            </a:r>
          </a:p>
        </p:txBody>
      </p:sp>
    </p:spTree>
    <p:extLst>
      <p:ext uri="{BB962C8B-B14F-4D97-AF65-F5344CB8AC3E}">
        <p14:creationId xmlns:p14="http://schemas.microsoft.com/office/powerpoint/2010/main" val="1544991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97F5F-9C28-4294-9150-8C8147C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培训组织与人员占用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EE1E9-BDE9-4997-AAD4-9C3543A4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课程占4学员和2带教。R上午培训必须有SP-R1远诊支援，缺席则维持生产并重排课程。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EC815-09F4-478C-8820-51D1AB9FF4C7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各组主管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学员带教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支援接入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 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SP-R1权限到岗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 电话 工单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课程结束与生产登录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占用复核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项目办公室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逐窗排班能力核对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901B7-4B9D-4F01-A0C7-2DEE2C4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04</a:t>
            </a:r>
          </a:p>
        </p:txBody>
      </p:sp>
    </p:spTree>
    <p:extLst>
      <p:ext uri="{BB962C8B-B14F-4D97-AF65-F5344CB8AC3E}">
        <p14:creationId xmlns:p14="http://schemas.microsoft.com/office/powerpoint/2010/main" val="162652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B710-60DE-4513-AF5F-0F8EC863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迁移波次与席位使用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A0760-9207-478B-80D1-7AE356B4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三波使用每晚一组搬运包。G/R普通区同时32席，K须16隔离席正式验收后才迁入。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13EEB-3D15-483D-B428-8A42E9D8F36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2667000"/>
                <a:gridCol w="2667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晚间窗口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新址服务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11月9日20至22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11月10日08:00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普通区验收 G证据 双签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11月12日20至22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11月13日08:00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普通区与G共32席 R复测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11月16日20至22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11月17日08:00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16隔离席 K全路径 双签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保持镜像工位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整体稳定前保留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不得分组提前撤线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1C6A9-3300-4526-805C-7966F1C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05</a:t>
            </a:r>
          </a:p>
        </p:txBody>
      </p:sp>
    </p:spTree>
    <p:extLst>
      <p:ext uri="{BB962C8B-B14F-4D97-AF65-F5344CB8AC3E}">
        <p14:creationId xmlns:p14="http://schemas.microsoft.com/office/powerpoint/2010/main" val="861984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45F4C-733D-4C11-A4E6-411D795F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验收条件与放行记录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65053-47D5-47C1-93A4-C3D1A759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R录音索引仍失败，K路径尚未执行。复测和场地验收预约均待真实结果，逐波双签后执行。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FFF2C-70BA-4B2C-A4C4-F922284B3C8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2667000"/>
                <a:gridCol w="2667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待办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现场验收及最终签放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 王澜 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11月6至9日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修复REC-417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11月10日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同版本全路径复测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 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11月11日18:00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16隔离席验收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11月13日17:00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链路录音权限回退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 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11月15日18:00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CA1C3-6EC7-44BA-816B-98B44748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06</a:t>
            </a:r>
          </a:p>
        </p:txBody>
      </p:sp>
    </p:spTree>
    <p:extLst>
      <p:ext uri="{BB962C8B-B14F-4D97-AF65-F5344CB8AC3E}">
        <p14:creationId xmlns:p14="http://schemas.microsoft.com/office/powerpoint/2010/main" val="802326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72D9A-5B8F-49C9-BEEE-29242B92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每波切换执行单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DAC64-FA2D-4FDC-B585-F1AD2700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先确认放行与新旧两端资源，再改路由。次日07:30核验，08:00开始新址日间服务。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E42A3-C22E-4906-B57F-AA6CB3D4D4B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43457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18:30前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双签 资源及订单同步核对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 顾闻 赵衡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箱号车辆与可搬资产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 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日间交接与夜间承接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20至21:30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搬运安装和路由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 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21:30至22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功能录音权限回退入口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 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次日07:30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出勤 工位 订单检查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次日08:00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新址日间服务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96254-969A-4F56-8D75-DA5E3D8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07</a:t>
            </a:r>
          </a:p>
        </p:txBody>
      </p:sp>
    </p:spTree>
    <p:extLst>
      <p:ext uri="{BB962C8B-B14F-4D97-AF65-F5344CB8AC3E}">
        <p14:creationId xmlns:p14="http://schemas.microsoft.com/office/powerpoint/2010/main" val="1802257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4C5C1-7285-40C6-A2CA-6E14EBFE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回退触发与业务恢复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39D04-019D-4DDA-8D70-9697A839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关键队列两个15分钟窗不可接通，或严重录音/权限错误，王澜启动回退。30分钟回路由，45分钟恢复业务。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F5DB1-48BE-4E55-8A5C-ECB95E2EB81A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4966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记录队列窗口及严重错误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监测日志事件单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王澜发出回退指令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启动时刻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30分钟内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顾闻恢复旧路由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配置及通话验证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45分钟内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旧址恢复业务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接通和订单记录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对账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逐单处理增量差异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差异责任和处理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恢复新址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补证双签后执行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新业务确认正常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13EA6-4E3E-4A9E-8688-7959DE9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08</a:t>
            </a:r>
          </a:p>
        </p:txBody>
      </p:sp>
    </p:spTree>
    <p:extLst>
      <p:ext uri="{BB962C8B-B14F-4D97-AF65-F5344CB8AC3E}">
        <p14:creationId xmlns:p14="http://schemas.microsoft.com/office/powerpoint/2010/main" val="1742708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6F20C-ECAE-4BEE-90B0-4C99940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稳定观察与旧址退出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24ECD-C258-4573-AB8B-B6EC68A6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最后一组启用后观察三个完整服务日。参考为11月17、18、19日，按预约11月20日20:00交接退址。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2A410-8D11-43DA-8BE0-D2155E19FF64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11月17至19日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完整服务日与事件核验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 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11月20日白天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资产及稳定确认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赵衡 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11月20日20:00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条件满足后交接退址释放线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 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11月27日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核对押金回款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重大事件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继续保留并重算日期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项目办公室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9D427-BB92-4B09-B93D-F4437858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09</a:t>
            </a:r>
          </a:p>
        </p:txBody>
      </p:sp>
    </p:spTree>
    <p:extLst>
      <p:ext uri="{BB962C8B-B14F-4D97-AF65-F5344CB8AC3E}">
        <p14:creationId xmlns:p14="http://schemas.microsoft.com/office/powerpoint/2010/main" val="2122945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F6A54-CB9B-4BDB-961D-5720C68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延期条件与处置边界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0595D-3036-4E72-9A54-51A5582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11月17日12:00 K仍未稳定启动，须当日16:00前启用延长，支付24000元保留至27日。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4BB65-494B-4933-A81A-4CDA9BDC5C9D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17日12:00 K未稳定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触发延期执行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 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17日16:00前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通知并支付24000元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 沈蓉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新日期形成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重排验收 稳定及资金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项目办公室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超27日风险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到期前另行决策资源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延期期间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继续旧址生产及回退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AC6E-21E2-4C2A-849E-995676FF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10</a:t>
            </a:r>
          </a:p>
        </p:txBody>
      </p:sp>
    </p:spTree>
    <p:extLst>
      <p:ext uri="{BB962C8B-B14F-4D97-AF65-F5344CB8AC3E}">
        <p14:creationId xmlns:p14="http://schemas.microsoft.com/office/powerpoint/2010/main" val="191498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E3F40-1E0D-4666-A55A-00DBA4BC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项目成本与设备付款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9F763-5C44-4DCC-A906-5BBFDBF6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三波含储备预算828000元，余72000元。此排期的设备早付使最低现金32000元，缺18000元，因此采用分期。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C7EEC-151C-40D3-9DDD-BEAB8960D178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2667000"/>
                <a:gridCol w="2667000"/>
              </a:tblGrid>
              <a:tr h="43457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新租金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新网络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三波搬运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SP-R1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旧租金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回退旧线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808000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预算占用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828000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399C3-28B5-41B3-AD18-17EDFF9D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11</a:t>
            </a:r>
          </a:p>
        </p:txBody>
      </p:sp>
    </p:spTree>
    <p:extLst>
      <p:ext uri="{BB962C8B-B14F-4D97-AF65-F5344CB8AC3E}">
        <p14:creationId xmlns:p14="http://schemas.microsoft.com/office/powerpoint/2010/main" val="1639598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4894C-625F-4DC4-9919-8A933FEB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资金执行与逐期核对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17431-5CE4-4164-9E98-2D2C54B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参考资金低点11月12日172000元，高于最低保有122000元。11月27日期末372000元。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24CF65A-F3BD-4B59-B126-D8EA1EBA9834}"/>
              </a:ext>
            </a:extLst>
          </p:cNvPr>
          <p:cNvGraphicFramePr/>
          <p:nvPr/>
        </p:nvGraphicFramePr>
        <p:xfrm>
          <a:off xmlns:a="http://schemas.openxmlformats.org/drawingml/2006/main" x="666750" y="2762250"/>
          <a:ext xmlns:a="http://schemas.openxmlformats.org/drawingml/2006/main" cx="9048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8fe80a1b7047d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6C209-0E67-4D03-A82B-AD142C74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43250"/>
            <a:ext cx="1714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期末现金</a:t>
            </a:r>
          </a:p>
          <a:p xmlns:a="http://schemas.openxmlformats.org/drawingml/2006/main">
            <a: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37.2万元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最低余量</a:t>
            </a:r>
          </a:p>
          <a:p xmlns:a="http://schemas.openxmlformats.org/drawingml/2006/main">
            <a: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12.2万元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98513-17CC-4A87-A2A4-BA0D5CD2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12</a:t>
            </a:r>
          </a:p>
        </p:txBody>
      </p:sp>
    </p:spTree>
    <p:extLst>
      <p:ext uri="{BB962C8B-B14F-4D97-AF65-F5344CB8AC3E}">
        <p14:creationId xmlns:p14="http://schemas.microsoft.com/office/powerpoint/2010/main" val="19098368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D8705-4A2A-45C8-A5C3-7322D403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集中迁移备选与审批事项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2522A-DE05-49AC-BFA7-07E2C1D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集中加早付可行，预算823000元，省5000元但G/R较三波晚7/4日启用。MOVE-X须11月2日12:00锁定，D1须11月4日17:00行权。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3A73-A96D-44BA-9B4E-587ED5974FA7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2667000"/>
                <a:gridCol w="2667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非退成本 / 含储备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最低现金 / 期末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新址服务首日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三波分期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808000 / 828000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172000 / 372000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 G10 R13 K17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集中分期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823000 / 843000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212000 / 357000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11月17日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集中早付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803000 / 823000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72000 / 377000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11月17日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68455-7291-473F-B9C8-7315BCD3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金额单位：元。集中方案沿用相同验收及双签条件，服务优先仍推荐三波。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F37F-5EB4-4D85-AAAE-F2D7E219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13</a:t>
            </a:r>
          </a:p>
        </p:txBody>
      </p:sp>
    </p:spTree>
    <p:extLst>
      <p:ext uri="{BB962C8B-B14F-4D97-AF65-F5344CB8AC3E}">
        <p14:creationId xmlns:p14="http://schemas.microsoft.com/office/powerpoint/2010/main" val="1078135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9926F-5817-4522-8D6D-802FE25C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D"/>
                </a:solidFill>
                <a:latin typeface="Microsoft YaHei"/>
                <a:ea typeface="Microsoft YaHei"/>
                <a:cs typeface="Microsoft YaHei"/>
              </a:rPr>
              <a:t>记录归档与文件核对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FF1E6-4240-4838-AB2A-B6969CF4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维护唯一执行版和变更记录，三文件同步日期、金额、放行状态与资源依赖。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39F73-ED13-42AB-B125-0B9EB4BD1761}"/>
              </a:ext>
            </a:extLst>
          </p:cNvPr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524250"/>
              </a:tblGrid>
              <a:tr h="49666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1733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版本 证据ID 双签 时间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时点 配置 操作人 订单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对账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同步时点 差异处理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稳定日报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完整日 严重事件 恢复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 释放 交接 押金日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 决策 资源 金额 文件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项目办公室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5359C-5C8C-4EF0-A980-11D8B1C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A747C"/>
                </a:solidFill>
                <a:latin typeface="Microsoft YaHei"/>
                <a:ea typeface="Microsoft YaHei"/>
                <a:cs typeface="Microsoft YaHei"/>
              </a:rPr>
              <a:t>管理会审议版 V1.0  14</a:t>
            </a:r>
          </a:p>
        </p:txBody>
      </p:sp>
    </p:spTree>
    <p:extLst>
      <p:ext uri="{BB962C8B-B14F-4D97-AF65-F5344CB8AC3E}">
        <p14:creationId xmlns:p14="http://schemas.microsoft.com/office/powerpoint/2010/main" val="2002115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2026-10-22T09:40:46.2510000Z</dcterms:created>
  <dcterms:modified xsi:type="dcterms:W3CDTF">2026-10-22T09:40:46.2510000Z</dcterms:modified>
</coreProperties>
</file>