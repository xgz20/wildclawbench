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259b806aa4b01" /><Relationship Type="http://schemas.openxmlformats.org/officeDocument/2006/relationships/extended-properties" Target="/docProps/app.xml" Id="Re25dabee8fe34d07" /><Relationship Type="http://schemas.openxmlformats.org/officeDocument/2006/relationships/officeDocument" Target="/ppt/presentation.xml" Id="Rbeb2bce8be58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c494bfdc964e9e"/>
  </p:sldMasterIdLst>
  <p:notesMasterIdLst>
    <p:notesMasterId xmlns:r="http://schemas.openxmlformats.org/officeDocument/2006/relationships" r:id="Ra97027bd4ff64604"/>
  </p:notesMasterIdLst>
  <p:sldIdLst>
    <p:sldId xmlns:r="http://schemas.openxmlformats.org/officeDocument/2006/relationships" id="256" r:id="Rca44ddf74c1f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fef2b6bd374f0f" /><Relationship Type="http://schemas.openxmlformats.org/officeDocument/2006/relationships/slideMaster" Target="/ppt/slideMasters/slideMaster1.xml" Id="R0bc494bfdc964e9e" /><Relationship Type="http://schemas.openxmlformats.org/officeDocument/2006/relationships/notesMaster" Target="/ppt/notesMasters/notesMaster1.xml" Id="Ra97027bd4ff64604" /><Relationship Type="http://schemas.openxmlformats.org/officeDocument/2006/relationships/presProps" Target="/ppt/presProps.xml" Id="R27dc34ed2c10434d" /><Relationship Type="http://schemas.openxmlformats.org/officeDocument/2006/relationships/tableStyles" Target="/ppt/tableStyles.xml" Id="R884e7f83154e418b" /><Relationship Type="http://schemas.openxmlformats.org/officeDocument/2006/relationships/slide" Target="/ppt/slides/slide1.xml" Id="Rca44ddf74c1f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966a74a974b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ingsui Blank Theme">
  <a:themeElements>
    <a:clrScheme name="Qingsui">
      <a:dk1>
        <a:srgbClr val="263238"/>
      </a:dk1>
      <a:lt1>
        <a:srgbClr val="FFFFFF"/>
      </a:lt1>
      <a:dk2>
        <a:srgbClr val="29496B"/>
      </a:dk2>
      <a:lt2>
        <a:srgbClr val="F7F9FB"/>
      </a:lt2>
      <a:accent1>
        <a:srgbClr val="3B82C4"/>
      </a:accent1>
      <a:accent2>
        <a:srgbClr val="73A857"/>
      </a:accent2>
      <a:accent3>
        <a:srgbClr val="E6A23C"/>
      </a:accent3>
      <a:accent4>
        <a:srgbClr val="C05A78"/>
      </a:accent4>
      <a:accent5>
        <a:srgbClr val="6B7C93"/>
      </a:accent5>
      <a:accent6>
        <a:srgbClr val="90A4AE"/>
      </a:accent6>
      <a:hlink>
        <a:srgbClr val="2F6DAE"/>
      </a:hlink>
      <a:folHlink>
        <a:srgbClr val="6B4EA0"/>
      </a:folHlink>
    </a:clrScheme>
    <a:fontScheme name="QingsuiFonts">
      <a:majorFont>
        <a:latin typeface="Aptos Display"/>
        <a:ea typeface="Microsoft YaHei"/>
        <a:cs typeface="Aptos"/>
      </a:majorFont>
      <a:minorFont>
        <a:latin typeface="Aptos"/>
        <a:ea typeface="Microsoft YaHei"/>
        <a:cs typeface="Aptos"/>
      </a:minorFont>
    </a:fontScheme>
    <a:fmtScheme name="Qingsui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96c437ad7411b" /><Relationship Type="http://schemas.openxmlformats.org/officeDocument/2006/relationships/notesMaster" Target="/ppt/notesMasters/notesMaster1.xml" Id="R42d115a4c018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Q1_service_reach 服务覆盖与触达</a:t>
            </a:r>
          </a:p>
          <a:p xmlns:a="http://schemas.openxmlformats.org/drawingml/2006/main">
            <a:r>
              <a:t>来源 H-117；图表 CH-01；指标 M_COVER_VISITS_Q2=18420人次、M_COVER_REPEAT_Q2=23.4%。工作簿“服务覆盖”S-01/S-02（Excel第2/3行），2026Q2本季实绩。基准15980人次、18.9%，目标≥17500人次、≥20%。18420-15980=2440；23.4%-18.9%=4.5个百分点。按CN-R1-02替换旧绑定M_COVER_VISITS_Q1。46场微站服务只是支撑背景，不能推断独立服务人数。</a:t>
            </a:r>
          </a:p>
          <a:p xmlns:a="http://schemas.openxmlformats.org/drawingml/2006/main">
            <a:r>
              <a:t>Q2_flow_backlog 办理效率与积压</a:t>
            </a:r>
          </a:p>
          <a:p xmlns:a="http://schemas.openxmlformats.org/drawingml/2006/main">
            <a:r>
              <a:t>来源 H-205；图表 CH-03；M_FLOW_MEDIAN_DAYS_Q2=5.8天、M_FLOW_BACKLOG_Q2=312件、M_FLOW_COMPLEX_SPLIT_Q2=27.6%。工作簿“办理效率_积压”F-01/F-02/F-04。时长基准7.1天、警戒线≤6.0天，积压基准428件、警戒线≤350件。27.6%为支撑说明，不能单独代表总体绩效。CN-R1-03将M_FLOW_AUTO_RATE_Q2=41.2%降为背景，该指标低于上季；H-238人工复核量由812件升至986件，不能据此推断效率下降。</a:t>
            </a:r>
          </a:p>
          <a:p xmlns:a="http://schemas.openxmlformats.org/drawingml/2006/main">
            <a:r>
              <a:t>Q3_budget_pacing 资源投入与预算节奏</a:t>
            </a:r>
          </a:p>
          <a:p xmlns:a="http://schemas.openxmlformats.org/drawingml/2006/main">
            <a:r>
              <a:t>来源 H-304；图表 CH-02；M_BUDGET_SPEND_Q2=62%、M_BUDGET_COMMIT_Q2=74%，工作簿“预算资源节奏”B-01/B-02。已支付执行率目标50%-65%，已承诺比例目标60%-75%。HTML“全年口径/已承诺但未支付部分”与工作簿表述不同，按HTML H-101的优先级，以工作簿“已支付金额/本季预算”“已承诺金额/本季预算”为准，不把74%另加到62%。M_BUDGET_FORECAST_Q3=89%为2026Q3预测（B-03），接近90%复核线，只作下季风险注记；M_BUDGET_RESERVE_Q2=26%为支撑项。依据CN-R2-01与CN-R2-05。</a:t>
            </a:r>
          </a:p>
          <a:p xmlns:a="http://schemas.openxmlformats.org/drawingml/2006/main">
            <a:r>
              <a:t>Q4_risk_actions 风险纠偏与下季动作</a:t>
            </a:r>
          </a:p>
          <a:p xmlns:a="http://schemas.openxmlformats.org/drawingml/2006/main">
            <a:r>
              <a:t>来源 H-402、H-402-a、H-402-b；动作表 CH-04。M_RISK_STAFF_SOUTH_Q2=南梧等效排班缺口1.5个班次、M_RISK_STAFF_NORTH_Q2=北澜缺2名轮值协同员，均为本季风险（H-402-a；绑定B-12/B-13）。M_RISK_BUDGET_REVIEW_Q3=7月第一周预算复核，尚未完成（工作簿“预算资源节奏”B-05；H-402-b；绑定B-14）。H-402风险表支持首周复核临时班次、重排夜间班、预算口径确认。CN-R2-02替换旧稿“全部稳定扩围”，该旧句不成立。M_RISK_SUPPORT_QUEUE_Q2=64件待补齐材料，属于背景队列，不是已关闭事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fd2bb16704d02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5bf7b4ea07405b" /><Relationship Type="http://schemas.openxmlformats.org/officeDocument/2006/relationships/slideLayout" Target="/ppt/slideLayouts/slideLayout1.xml" Id="R6004ca1e9170431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4ca1e91704313"/>
  </p:sldLayoutIdLst>
</p:sldMaster>
</file>

<file path=ppt/slideMasters/theme/theme2.xml><?xml version="1.0" encoding="utf-8"?>
<a:theme xmlns:a="http://schemas.openxmlformats.org/drawingml/2006/main" name="Qingsui Blank Theme">
  <a:themeElements>
    <a:clrScheme name="Qingsui">
      <a:dk1>
        <a:srgbClr val="263238"/>
      </a:dk1>
      <a:lt1>
        <a:srgbClr val="FFFFFF"/>
      </a:lt1>
      <a:dk2>
        <a:srgbClr val="29496B"/>
      </a:dk2>
      <a:lt2>
        <a:srgbClr val="F7F9FB"/>
      </a:lt2>
      <a:accent1>
        <a:srgbClr val="3B82C4"/>
      </a:accent1>
      <a:accent2>
        <a:srgbClr val="73A857"/>
      </a:accent2>
      <a:accent3>
        <a:srgbClr val="E6A23C"/>
      </a:accent3>
      <a:accent4>
        <a:srgbClr val="C05A78"/>
      </a:accent4>
      <a:accent5>
        <a:srgbClr val="6B7C93"/>
      </a:accent5>
      <a:accent6>
        <a:srgbClr val="90A4AE"/>
      </a:accent6>
      <a:hlink>
        <a:srgbClr val="2F6DAE"/>
      </a:hlink>
      <a:folHlink>
        <a:srgbClr val="6B4EA0"/>
      </a:folHlink>
    </a:clrScheme>
    <a:fontScheme name="QingsuiFonts">
      <a:majorFont>
        <a:latin typeface="Aptos Display"/>
        <a:ea typeface="Microsoft YaHei"/>
        <a:cs typeface="Aptos"/>
      </a:majorFont>
      <a:minorFont>
        <a:latin typeface="Aptos"/>
        <a:ea typeface="Microsoft YaHei"/>
        <a:cs typeface="Aptos"/>
      </a:minorFont>
    </a:fontScheme>
    <a:fmtScheme name="Qingsui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bcfc6477e43ff" /><Relationship Type="http://schemas.openxmlformats.org/officeDocument/2006/relationships/notesSlide" Target="/ppt/notesSlides/notesSlide1.xml" Id="R90c0ba37c81344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_placeholder">
            <a:extLst xmlns:a="http://schemas.openxmlformats.org/drawingml/2006/main">
              <a:ext uri="{FF2B5EF4-FFF2-40B4-BE49-F238E27FC236}">
                <a16:creationId xmlns:a16="http://schemas.microsoft.com/office/drawing/2014/main" id="{EFCC15CF-49AA-4057-A01F-C032033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FA3B8"/>
            </a:solidFill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青穗街区协同项目 2026年第二季度运营看板</a:t>
            </a:r>
          </a:p>
        </p:txBody>
      </p:sp>
      <p:sp>
        <p:nvSpPr>
          <p:cNvPr id="3" name="Q1_service_reach_placeholder">
            <a:extLst xmlns:a="http://schemas.openxmlformats.org/drawingml/2006/main">
              <a:ext uri="{FF2B5EF4-FFF2-40B4-BE49-F238E27FC236}">
                <a16:creationId xmlns:a16="http://schemas.microsoft.com/office/drawing/2014/main" id="{6DAAAF9E-485D-4125-8A1B-AFA2CD9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33400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2700">
            <a:solidFill>
              <a:srgbClr val="8FA3B8"/>
            </a:solidFill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服务覆盖与触达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触达18,420人次；回访人群占比23.4%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较上季增加2,440人次、提升4.5个百分点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两项均达目标，人次不等同独立服务人数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来源 H-117</a:t>
            </a:r>
          </a:p>
        </p:txBody>
      </p:sp>
      <p:sp>
        <p:nvSpPr>
          <p:cNvPr id="4" name="Q2_flow_backlog_placeholder">
            <a:extLst xmlns:a="http://schemas.openxmlformats.org/drawingml/2006/main">
              <a:ext uri="{FF2B5EF4-FFF2-40B4-BE49-F238E27FC236}">
                <a16:creationId xmlns:a16="http://schemas.microsoft.com/office/drawing/2014/main" id="{53E585E2-1678-42A7-8A30-3B341510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66800"/>
            <a:ext cx="533400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8EA"/>
          </a:solidFill>
          <a:ln xmlns:a="http://schemas.openxmlformats.org/drawingml/2006/main" w="12700">
            <a:solidFill>
              <a:srgbClr val="8FA3B8"/>
            </a:solidFill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办理效率与积压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中位办理时长5.8天；期末积压312件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均优于警戒线，积压压力缓解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复杂件分流占比27.6%（支撑说明）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效率改善不能归为单一自动化成效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来源 H-205</a:t>
            </a:r>
          </a:p>
        </p:txBody>
      </p:sp>
      <p:sp>
        <p:nvSpPr>
          <p:cNvPr id="5" name="Q3_budget_pacing_placeholder">
            <a:extLst xmlns:a="http://schemas.openxmlformats.org/drawingml/2006/main">
              <a:ext uri="{FF2B5EF4-FFF2-40B4-BE49-F238E27FC236}">
                <a16:creationId xmlns:a16="http://schemas.microsoft.com/office/drawing/2014/main" id="{B394D4CC-3604-446C-A61D-FEE0ABC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533400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2700">
            <a:solidFill>
              <a:srgbClr val="8FA3B8"/>
            </a:solidFill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资源投入与预算节奏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预算执行率62%；承诺资金占比74%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均在目标区间，承诺比例接近上沿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Q3预测承诺率89%，接近90%复核线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以本季预算为口径，预测不作本季实绩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来源 H-304</a:t>
            </a:r>
          </a:p>
        </p:txBody>
      </p:sp>
      <p:sp>
        <p:nvSpPr>
          <p:cNvPr id="6" name="Q4_risk_actions_placeholder">
            <a:extLst xmlns:a="http://schemas.openxmlformats.org/drawingml/2006/main">
              <a:ext uri="{FF2B5EF4-FFF2-40B4-BE49-F238E27FC236}">
                <a16:creationId xmlns:a16="http://schemas.microsoft.com/office/drawing/2014/main" id="{954B3D75-D0AA-4447-BBFF-C89595F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5334000" cy="213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AF0"/>
          </a:solidFill>
          <a:ln xmlns:a="http://schemas.openxmlformats.org/drawingml/2006/main" w="12700">
            <a:solidFill>
              <a:srgbClr val="8FA3B8"/>
            </a:solidFill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风险纠偏与下季动作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南梧排班缺口1.5班次，首周复核临时班次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北澜缺2名轮值协同员，重排夜间班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7月第一周开展预算复核（待办）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核对临时服务点、复核班次和材料补齐费用</a:t>
            </a:r>
          </a:p>
          <a:p xmlns:a="http://schemas.openxmlformats.org/drawingml/2006/main">
            <a:pPr>
              <a:def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来源 H-402</a:t>
            </a:r>
          </a:p>
        </p:txBody>
      </p:sp>
      <p:sp>
        <p:nvSpPr>
          <p:cNvPr id="7" name="binding_note_placeholder">
            <a:extLst xmlns:a="http://schemas.openxmlformats.org/drawingml/2006/main">
              <a:ext uri="{FF2B5EF4-FFF2-40B4-BE49-F238E27FC236}">
                <a16:creationId xmlns:a16="http://schemas.microsoft.com/office/drawing/2014/main" id="{654CBCD5-3525-4EC3-A760-9C0A7B29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72200"/>
            <a:ext cx="1127760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8FA3B8"/>
            </a:solidFill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2677D"/>
                </a:solidFill>
                <a:latin typeface="Microsoft YaHei"/>
                <a:ea typeface="Microsoft YaHei"/>
                <a:cs typeface="Microsoft YaHei"/>
              </a:rPr>
              <a:t>报告期：2026年4月1日至6月30日    下季动作待落实    详细来源绑定见本页备注</a:t>
            </a:r>
          </a:p>
        </p:txBody>
      </p:sp>
    </p:spTree>
    <p:extLst>
      <p:ext uri="{BB962C8B-B14F-4D97-AF65-F5344CB8AC3E}">
        <p14:creationId xmlns:p14="http://schemas.microsoft.com/office/powerpoint/2010/main" val="1255318370"/>
      </p:ext>
    </p:extLst>
  </p:cSld>
</p:sld>
</file>

<file path=ppt/theme/theme1.xml><?xml version="1.0" encoding="utf-8"?>
<a:theme xmlns:a="http://schemas.openxmlformats.org/drawingml/2006/main" name="Qingsui Blank Theme">
  <a:themeElements>
    <a:clrScheme name="Qingsui">
      <a:dk1>
        <a:srgbClr val="263238"/>
      </a:dk1>
      <a:lt1>
        <a:srgbClr val="FFFFFF"/>
      </a:lt1>
      <a:dk2>
        <a:srgbClr val="29496B"/>
      </a:dk2>
      <a:lt2>
        <a:srgbClr val="F7F9FB"/>
      </a:lt2>
      <a:accent1>
        <a:srgbClr val="3B82C4"/>
      </a:accent1>
      <a:accent2>
        <a:srgbClr val="73A857"/>
      </a:accent2>
      <a:accent3>
        <a:srgbClr val="E6A23C"/>
      </a:accent3>
      <a:accent4>
        <a:srgbClr val="C05A78"/>
      </a:accent4>
      <a:accent5>
        <a:srgbClr val="6B7C93"/>
      </a:accent5>
      <a:accent6>
        <a:srgbClr val="90A4AE"/>
      </a:accent6>
      <a:hlink>
        <a:srgbClr val="2F6DAE"/>
      </a:hlink>
      <a:folHlink>
        <a:srgbClr val="6B4EA0"/>
      </a:folHlink>
    </a:clrScheme>
    <a:fontScheme name="QingsuiFonts">
      <a:majorFont>
        <a:latin typeface="Aptos Display"/>
        <a:ea typeface="Microsoft YaHei"/>
        <a:cs typeface="Aptos"/>
      </a:majorFont>
      <a:minorFont>
        <a:latin typeface="Aptos"/>
        <a:ea typeface="Microsoft YaHei"/>
        <a:cs typeface="Aptos"/>
      </a:minorFont>
    </a:fontScheme>
    <a:fmtScheme name="Qingsui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2026-09-24T03:34:00.4130000Z</dcterms:created>
  <dcterms:modified xsi:type="dcterms:W3CDTF">2026-09-24T03:34:00.4130000Z</dcterms:modified>
</coreProperties>
</file>