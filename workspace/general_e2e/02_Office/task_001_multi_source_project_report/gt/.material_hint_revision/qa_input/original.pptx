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slides/charts/chart1.xml" ContentType="application/vnd.openxmlformats-officedocument.drawingml.chart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2.xml" ContentType="application/vnd.openxmlformats-officedocument.drawingml.chart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slides/charts/chart3.xml" ContentType="application/vnd.openxmlformats-officedocument.drawingml.chart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slides/charts/chart4.xml" ContentType="application/vnd.openxmlformats-officedocument.drawingml.chart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charts/chart5.xml" ContentType="application/vnd.openxmlformats-officedocument.drawingml.chart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slides/charts/chart6.xml" ContentType="application/vnd.openxmlformats-officedocument.drawingml.chart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slides/charts/chart7.xml" ContentType="application/vnd.openxmlformats-officedocument.drawingml.chart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slides/charts/chart8.xml" ContentType="application/vnd.openxmlformats-officedocument.drawingml.chart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slides/charts/chart9.xml" ContentType="application/vnd.openxmlformats-officedocument.drawingml.chart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slides/charts/chart10.xml" ContentType="application/vnd.openxmlformats-officedocument.drawingml.chart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slides/charts/chart11.xml" ContentType="application/vnd.openxmlformats-officedocument.drawingml.chart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slides/charts/chart12.xml" ContentType="application/vnd.openxmlformats-officedocument.drawingml.chart+xml"/>
  <Override PartName="/ppt/notesSlides/notesSlide24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5d9c52c0a2d4e90" /><Relationship Type="http://schemas.openxmlformats.org/officeDocument/2006/relationships/extended-properties" Target="/docProps/app.xml" Id="R0c1e011985f04927" /><Relationship Type="http://schemas.openxmlformats.org/officeDocument/2006/relationships/officeDocument" Target="/ppt/presentation.xml" Id="Rad1b941552e545a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acc54be18d34882"/>
  </p:sldMasterIdLst>
  <p:notesMasterIdLst>
    <p:notesMasterId xmlns:r="http://schemas.openxmlformats.org/officeDocument/2006/relationships" r:id="R4e78d4cf48e7477b"/>
  </p:notesMasterIdLst>
  <p:sldIdLst>
    <p:sldId xmlns:r="http://schemas.openxmlformats.org/officeDocument/2006/relationships" id="256" r:id="Rc074156ec778404c"/>
    <p:sldId xmlns:r="http://schemas.openxmlformats.org/officeDocument/2006/relationships" id="257" r:id="Ref84eb47cda24953"/>
    <p:sldId xmlns:r="http://schemas.openxmlformats.org/officeDocument/2006/relationships" id="258" r:id="R3b2e155bc0a74948"/>
    <p:sldId xmlns:r="http://schemas.openxmlformats.org/officeDocument/2006/relationships" id="259" r:id="R7a41df4e20724445"/>
    <p:sldId xmlns:r="http://schemas.openxmlformats.org/officeDocument/2006/relationships" id="260" r:id="R0e4dfd5e92614949"/>
    <p:sldId xmlns:r="http://schemas.openxmlformats.org/officeDocument/2006/relationships" id="261" r:id="R40177208bf994d20"/>
    <p:sldId xmlns:r="http://schemas.openxmlformats.org/officeDocument/2006/relationships" id="262" r:id="Re5139634904c4f7f"/>
    <p:sldId xmlns:r="http://schemas.openxmlformats.org/officeDocument/2006/relationships" id="263" r:id="Rd6fe0f1d8e6f43e1"/>
    <p:sldId xmlns:r="http://schemas.openxmlformats.org/officeDocument/2006/relationships" id="264" r:id="R391d35a71379442f"/>
    <p:sldId xmlns:r="http://schemas.openxmlformats.org/officeDocument/2006/relationships" id="265" r:id="R43e8ef051145434f"/>
    <p:sldId xmlns:r="http://schemas.openxmlformats.org/officeDocument/2006/relationships" id="266" r:id="R499d332cb0384a05"/>
    <p:sldId xmlns:r="http://schemas.openxmlformats.org/officeDocument/2006/relationships" id="267" r:id="Rb120fd1e34854dd0"/>
    <p:sldId xmlns:r="http://schemas.openxmlformats.org/officeDocument/2006/relationships" id="268" r:id="Rf47f6ba5af4840ed"/>
    <p:sldId xmlns:r="http://schemas.openxmlformats.org/officeDocument/2006/relationships" id="269" r:id="R0f46bb98dfa64d75"/>
    <p:sldId xmlns:r="http://schemas.openxmlformats.org/officeDocument/2006/relationships" id="270" r:id="R293f770809fc4c6e"/>
    <p:sldId xmlns:r="http://schemas.openxmlformats.org/officeDocument/2006/relationships" id="271" r:id="Re08ba270586b4497"/>
    <p:sldId xmlns:r="http://schemas.openxmlformats.org/officeDocument/2006/relationships" id="272" r:id="R3db966ff69da4e10"/>
    <p:sldId xmlns:r="http://schemas.openxmlformats.org/officeDocument/2006/relationships" id="273" r:id="R76c6149f6cc64ad1"/>
    <p:sldId xmlns:r="http://schemas.openxmlformats.org/officeDocument/2006/relationships" id="274" r:id="R1b7979c83c6d4113"/>
    <p:sldId xmlns:r="http://schemas.openxmlformats.org/officeDocument/2006/relationships" id="275" r:id="Ra98eb135ce094404"/>
    <p:sldId xmlns:r="http://schemas.openxmlformats.org/officeDocument/2006/relationships" id="276" r:id="R818b8ac122a74d89"/>
    <p:sldId xmlns:r="http://schemas.openxmlformats.org/officeDocument/2006/relationships" id="277" r:id="R030023005d4f4bb9"/>
    <p:sldId xmlns:r="http://schemas.openxmlformats.org/officeDocument/2006/relationships" id="278" r:id="R04e90c1f716d4bc5"/>
    <p:sldId xmlns:r="http://schemas.openxmlformats.org/officeDocument/2006/relationships" id="279" r:id="R634b7819d851466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84ddf1365db4994" /><Relationship Type="http://schemas.openxmlformats.org/officeDocument/2006/relationships/slideMaster" Target="/ppt/slideMasters/slideMaster1.xml" Id="Reacc54be18d34882" /><Relationship Type="http://schemas.openxmlformats.org/officeDocument/2006/relationships/notesMaster" Target="/ppt/notesMasters/notesMaster1.xml" Id="R4e78d4cf48e7477b" /><Relationship Type="http://schemas.openxmlformats.org/officeDocument/2006/relationships/presProps" Target="/ppt/presProps.xml" Id="R22e774d5e0544a83" /><Relationship Type="http://schemas.openxmlformats.org/officeDocument/2006/relationships/tableStyles" Target="/ppt/tableStyles.xml" Id="Rc593e9649f17442e" /><Relationship Type="http://schemas.openxmlformats.org/officeDocument/2006/relationships/slide" Target="/ppt/slides/slide1.xml" Id="Rc074156ec778404c" /><Relationship Type="http://schemas.openxmlformats.org/officeDocument/2006/relationships/slide" Target="/ppt/slides/slide2.xml" Id="Ref84eb47cda24953" /><Relationship Type="http://schemas.openxmlformats.org/officeDocument/2006/relationships/slide" Target="/ppt/slides/slide3.xml" Id="R3b2e155bc0a74948" /><Relationship Type="http://schemas.openxmlformats.org/officeDocument/2006/relationships/slide" Target="/ppt/slides/slide4.xml" Id="R7a41df4e20724445" /><Relationship Type="http://schemas.openxmlformats.org/officeDocument/2006/relationships/slide" Target="/ppt/slides/slide5.xml" Id="R0e4dfd5e92614949" /><Relationship Type="http://schemas.openxmlformats.org/officeDocument/2006/relationships/slide" Target="/ppt/slides/slide6.xml" Id="R40177208bf994d20" /><Relationship Type="http://schemas.openxmlformats.org/officeDocument/2006/relationships/slide" Target="/ppt/slides/slide7.xml" Id="Re5139634904c4f7f" /><Relationship Type="http://schemas.openxmlformats.org/officeDocument/2006/relationships/slide" Target="/ppt/slides/slide8.xml" Id="Rd6fe0f1d8e6f43e1" /><Relationship Type="http://schemas.openxmlformats.org/officeDocument/2006/relationships/slide" Target="/ppt/slides/slide9.xml" Id="R391d35a71379442f" /><Relationship Type="http://schemas.openxmlformats.org/officeDocument/2006/relationships/slide" Target="/ppt/slides/slide10.xml" Id="R43e8ef051145434f" /><Relationship Type="http://schemas.openxmlformats.org/officeDocument/2006/relationships/slide" Target="/ppt/slides/slide11.xml" Id="R499d332cb0384a05" /><Relationship Type="http://schemas.openxmlformats.org/officeDocument/2006/relationships/slide" Target="/ppt/slides/slide12.xml" Id="Rb120fd1e34854dd0" /><Relationship Type="http://schemas.openxmlformats.org/officeDocument/2006/relationships/slide" Target="/ppt/slides/slide13.xml" Id="Rf47f6ba5af4840ed" /><Relationship Type="http://schemas.openxmlformats.org/officeDocument/2006/relationships/slide" Target="/ppt/slides/slide14.xml" Id="R0f46bb98dfa64d75" /><Relationship Type="http://schemas.openxmlformats.org/officeDocument/2006/relationships/slide" Target="/ppt/slides/slide15.xml" Id="R293f770809fc4c6e" /><Relationship Type="http://schemas.openxmlformats.org/officeDocument/2006/relationships/slide" Target="/ppt/slides/slide16.xml" Id="Re08ba270586b4497" /><Relationship Type="http://schemas.openxmlformats.org/officeDocument/2006/relationships/slide" Target="/ppt/slides/slide17.xml" Id="R3db966ff69da4e10" /><Relationship Type="http://schemas.openxmlformats.org/officeDocument/2006/relationships/slide" Target="/ppt/slides/slide18.xml" Id="R76c6149f6cc64ad1" /><Relationship Type="http://schemas.openxmlformats.org/officeDocument/2006/relationships/slide" Target="/ppt/slides/slide19.xml" Id="R1b7979c83c6d4113" /><Relationship Type="http://schemas.openxmlformats.org/officeDocument/2006/relationships/slide" Target="/ppt/slides/slide20.xml" Id="Ra98eb135ce094404" /><Relationship Type="http://schemas.openxmlformats.org/officeDocument/2006/relationships/slide" Target="/ppt/slides/slide21.xml" Id="R818b8ac122a74d89" /><Relationship Type="http://schemas.openxmlformats.org/officeDocument/2006/relationships/slide" Target="/ppt/slides/slide22.xml" Id="R030023005d4f4bb9" /><Relationship Type="http://schemas.openxmlformats.org/officeDocument/2006/relationships/slide" Target="/ppt/slides/slide23.xml" Id="R04e90c1f716d4bc5" /><Relationship Type="http://schemas.openxmlformats.org/officeDocument/2006/relationships/slide" Target="/ppt/slides/slide24.xml" Id="R634b7819d851466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caa0a03391f466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aa670350dc140dd" /><Relationship Type="http://schemas.openxmlformats.org/officeDocument/2006/relationships/notesMaster" Target="/ppt/notesMasters/notesMaster1.xml" Id="Ra1a7dc3d464a4ba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12dc91cbf6c436d" /><Relationship Type="http://schemas.openxmlformats.org/officeDocument/2006/relationships/notesMaster" Target="/ppt/notesMasters/notesMaster1.xml" Id="Rac73ec4fb801435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189a3910db2423d" /><Relationship Type="http://schemas.openxmlformats.org/officeDocument/2006/relationships/notesMaster" Target="/ppt/notesMasters/notesMaster1.xml" Id="R2a08265e08084e9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ec84cedcfe64f21" /><Relationship Type="http://schemas.openxmlformats.org/officeDocument/2006/relationships/notesMaster" Target="/ppt/notesMasters/notesMaster1.xml" Id="R320609e6778c47e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7f37c4021074271" /><Relationship Type="http://schemas.openxmlformats.org/officeDocument/2006/relationships/notesMaster" Target="/ppt/notesMasters/notesMaster1.xml" Id="R15a280fcbf0e436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50e2ec90a544c0f" /><Relationship Type="http://schemas.openxmlformats.org/officeDocument/2006/relationships/notesMaster" Target="/ppt/notesMasters/notesMaster1.xml" Id="R5e43c7e9b59f4b4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7928a535d174b03" /><Relationship Type="http://schemas.openxmlformats.org/officeDocument/2006/relationships/notesMaster" Target="/ppt/notesMasters/notesMaster1.xml" Id="R4b9d48d337414f3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d473aa330574c54" /><Relationship Type="http://schemas.openxmlformats.org/officeDocument/2006/relationships/notesMaster" Target="/ppt/notesMasters/notesMaster1.xml" Id="R48938677138746f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e76a19ebe0243d0" /><Relationship Type="http://schemas.openxmlformats.org/officeDocument/2006/relationships/notesMaster" Target="/ppt/notesMasters/notesMaster1.xml" Id="Rfb06fa84dbd84ed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bd315a4026d4644" /><Relationship Type="http://schemas.openxmlformats.org/officeDocument/2006/relationships/notesMaster" Target="/ppt/notesMasters/notesMaster1.xml" Id="R83cf5ba4e59f4ca2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c40f3f826b8c4f2f" /><Relationship Type="http://schemas.openxmlformats.org/officeDocument/2006/relationships/notesMaster" Target="/ppt/notesMasters/notesMaster1.xml" Id="R33d29d691f354b5a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9b17ae4c68e745dd" /><Relationship Type="http://schemas.openxmlformats.org/officeDocument/2006/relationships/notesMaster" Target="/ppt/notesMasters/notesMaster1.xml" Id="R35259a50672c4c1b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215163062fb443d1" /><Relationship Type="http://schemas.openxmlformats.org/officeDocument/2006/relationships/notesMaster" Target="/ppt/notesMasters/notesMaster1.xml" Id="R678f4efa03364e21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f403135b22654b8a" /><Relationship Type="http://schemas.openxmlformats.org/officeDocument/2006/relationships/notesMaster" Target="/ppt/notesMasters/notesMaster1.xml" Id="R9522be7d8f7e4688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84ceadc1088545f6" /><Relationship Type="http://schemas.openxmlformats.org/officeDocument/2006/relationships/notesMaster" Target="/ppt/notesMasters/notesMaster1.xml" Id="R17acdc9d6f7d4ca7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380f53f8790546f2" /><Relationship Type="http://schemas.openxmlformats.org/officeDocument/2006/relationships/notesMaster" Target="/ppt/notesMasters/notesMaster1.xml" Id="R5d678d7b5d36452f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81ac6663388d403a" /><Relationship Type="http://schemas.openxmlformats.org/officeDocument/2006/relationships/notesMaster" Target="/ppt/notesMasters/notesMaster1.xml" Id="R45159a9246124919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fae5a26fb7ff4bef" /><Relationship Type="http://schemas.openxmlformats.org/officeDocument/2006/relationships/notesMaster" Target="/ppt/notesMasters/notesMaster1.xml" Id="Ra465ff9e4a1147a3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2f965e1c93b94e25" /><Relationship Type="http://schemas.openxmlformats.org/officeDocument/2006/relationships/notesMaster" Target="/ppt/notesMasters/notesMaster1.xml" Id="R3358d595146745e5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18ca465e13ad4af7" /><Relationship Type="http://schemas.openxmlformats.org/officeDocument/2006/relationships/notesMaster" Target="/ppt/notesMasters/notesMaster1.xml" Id="R0c7345bd2e3f4ca0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31e9ec93f22e4a34" /><Relationship Type="http://schemas.openxmlformats.org/officeDocument/2006/relationships/notesMaster" Target="/ppt/notesMasters/notesMaster1.xml" Id="R53c9d89eb15c4b9d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a96b93dafc4e4f10" /><Relationship Type="http://schemas.openxmlformats.org/officeDocument/2006/relationships/notesMaster" Target="/ppt/notesMasters/notesMaster1.xml" Id="R58d48284256646af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a9d3dcea81644af8" /><Relationship Type="http://schemas.openxmlformats.org/officeDocument/2006/relationships/notesMaster" Target="/ppt/notesMasters/notesMaster1.xml" Id="R957b096643654179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662207e80a6945db" /><Relationship Type="http://schemas.openxmlformats.org/officeDocument/2006/relationships/notesMaster" Target="/ppt/notesMasters/notesMaster1.xml" Id="R9cea229b682f4f4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必要范围限定 XQ-001：仅覆盖东区试点账号，不含全量用户。此限定应随对应任务进入报告，即使本页视觉标题展示的是另一项工作。版本 v1.0，2026-09-15。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XQ-002 的图中计划量和完成量含独立补录，单位为条；不得由完成比例推断正式任务状态。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必要范围限定 XQ-002：仅覆盖白名单岗位，不代表全岗位授权完成。此限定应随对应任务进入报告，即使本页视觉标题展示的是另一项工作。版本 v1.0，2026-09-15。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XQ-004 的图中计划量和完成量含独立补录，单位为条；不得由完成比例推断正式任务状态。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必要范围限定 XQ-003：检索数据仅来自已审核知识，不包含待审条目。此限定应随对应任务进入报告，即使本页视觉标题展示的是另一项工作。版本 v1.0，2026-09-15。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XQ-006 的图中计划量和完成量含独立补录，单位为条；不得由完成比例推断正式任务状态。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必要范围限定 XQ-004：路由结果为影子运行，不等同生产切换。此限定应随对应任务进入报告，即使本页视觉标题展示的是另一项工作。版本 v1.0，2026-09-15。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XQ-008 的图中计划量和完成量含独立补录，单位为条；不得由完成比例推断正式任务状态。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必要范围限定 XQ-005：留痕抽样已脱敏，不可据此认定全部记录完整。此限定应随对应任务进入报告，即使本页视觉标题展示的是另一项工作。版本 v1.0，2026-09-15。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XQ-010 的图中计划量和完成量含独立补录，单位为条；不得由完成比例推断正式任务状态。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必要范围限定 XQ-006：质检结果不包含人工申诉复核。此限定应随对应任务进入报告，即使本页视觉标题展示的是另一项工作。版本 v1.0，2026-09-15。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XQ-012 的图中计划量和完成量含独立补录，单位为条；不得由完成比例推断正式任务状态。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必要范围限定 XQ-009：迁移验收仅针对抽样批次，不代表全部历史数据迁移完成。此限定应随对应任务进入报告，即使本页视觉标题展示的是另一项工作。版本 v1.0，2026-09-15。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XQ-014 的图中计划量和完成量含独立补录，单位为条；不得由完成比例推断正式任务状态。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必要范围限定 XQ-010：网点接入仅限试点清单，不含备用网点。此限定应随对应任务进入报告，即使本页视觉标题展示的是另一项工作。版本 v1.0，2026-09-15。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XQ-016 的图中计划量和完成量含独立补录，单位为条；不得由完成比例推断正式任务状态。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必要范围限定 XQ-011：坐席部署为测试环境，不等同正式环境上线。此限定应随对应任务进入报告，即使本页视觉标题展示的是另一项工作。版本 v1.0，2026-09-15。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XQ-018 的图中计划量和完成量含独立补录，单位为条；不得由完成比例推断正式任务状态。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必要范围限定 XQ-012：网络联调不包含灾备专线。此限定应随对应任务进入报告，即使本页视觉标题展示的是另一项工作。版本 v1.0，2026-09-15。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XQ-020 的图中计划量和完成量含独立补录，单位为条；不得由完成比例推断正式任务状态。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必要范围限定 XQ-017：培训通过以演练考核为准，不代表岗位资格认证。此限定应随对应任务进入报告，即使本页视觉标题展示的是另一项工作。版本 v1.0，2026-09-15。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XQ-022 的图中计划量和完成量含独立补录，单位为条；不得由完成比例推断正式任务状态。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必要范围限定 XQ-018：话术版本仅适用于试点业务，不作为全渠道发布稿。此限定应随对应任务进入报告，即使本页视觉标题展示的是另一项工作。版本 v1.0，2026-09-15。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XQ-024 的图中计划量和完成量含独立补录，单位为条；不得由完成比例推断正式任务状态。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3461234c5fc4de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f6c5a90af84488b" /><Relationship Type="http://schemas.openxmlformats.org/officeDocument/2006/relationships/slideLayout" Target="/ppt/slideLayouts/slideLayout1.xml" Id="R07d1be04a36b442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7d1be04a36b442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8233cce21a4b0d" /><Relationship Type="http://schemas.openxmlformats.org/officeDocument/2006/relationships/notesSlide" Target="/ppt/notesSlides/notesSlide1.xml" Id="Rf7eabd7137e3469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bf8c9f328a4fe0" /><Relationship Type="http://schemas.openxmlformats.org/officeDocument/2006/relationships/chart" Target="/ppt/slides/charts/chart1.xml" Id="R98046f43e53842ff" /><Relationship Type="http://schemas.openxmlformats.org/officeDocument/2006/relationships/notesSlide" Target="/ppt/notesSlides/notesSlide2.xml" Id="R69f5a87ded61497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01d12a06374b59" /><Relationship Type="http://schemas.openxmlformats.org/officeDocument/2006/relationships/notesSlide" Target="/ppt/notesSlides/notesSlide3.xml" Id="Rce42643d3a07474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92a4ec4c7d4bec" /><Relationship Type="http://schemas.openxmlformats.org/officeDocument/2006/relationships/chart" Target="/ppt/slides/charts/chart2.xml" Id="R853a438c3c8f4edb" /><Relationship Type="http://schemas.openxmlformats.org/officeDocument/2006/relationships/notesSlide" Target="/ppt/notesSlides/notesSlide4.xml" Id="R022501ce764247e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d2b647d5af4c35" /><Relationship Type="http://schemas.openxmlformats.org/officeDocument/2006/relationships/notesSlide" Target="/ppt/notesSlides/notesSlide5.xml" Id="R2eadab68bf4e457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358b7ce1894529" /><Relationship Type="http://schemas.openxmlformats.org/officeDocument/2006/relationships/chart" Target="/ppt/slides/charts/chart3.xml" Id="R0bc0e9ecbb7843b3" /><Relationship Type="http://schemas.openxmlformats.org/officeDocument/2006/relationships/notesSlide" Target="/ppt/notesSlides/notesSlide6.xml" Id="R9dcaff3ed0564be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3612b2e6d348a8" /><Relationship Type="http://schemas.openxmlformats.org/officeDocument/2006/relationships/notesSlide" Target="/ppt/notesSlides/notesSlide7.xml" Id="Red8d38714d50410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296095bedb4ca1" /><Relationship Type="http://schemas.openxmlformats.org/officeDocument/2006/relationships/chart" Target="/ppt/slides/charts/chart4.xml" Id="Rbe6c2daa67fc45bf" /><Relationship Type="http://schemas.openxmlformats.org/officeDocument/2006/relationships/notesSlide" Target="/ppt/notesSlides/notesSlide8.xml" Id="R0bc6f8ad531b47a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1b568647ca4ff0" /><Relationship Type="http://schemas.openxmlformats.org/officeDocument/2006/relationships/notesSlide" Target="/ppt/notesSlides/notesSlide9.xml" Id="R29a561a07ca641d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07a313c81d4990" /><Relationship Type="http://schemas.openxmlformats.org/officeDocument/2006/relationships/chart" Target="/ppt/slides/charts/chart5.xml" Id="Rbe54b8a917a246c3" /><Relationship Type="http://schemas.openxmlformats.org/officeDocument/2006/relationships/notesSlide" Target="/ppt/notesSlides/notesSlide10.xml" Id="R62835486a3be4a83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adf1112fc44ba2" /><Relationship Type="http://schemas.openxmlformats.org/officeDocument/2006/relationships/notesSlide" Target="/ppt/notesSlides/notesSlide11.xml" Id="R249d975e75b94998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89de63476348aa" /><Relationship Type="http://schemas.openxmlformats.org/officeDocument/2006/relationships/chart" Target="/ppt/slides/charts/chart6.xml" Id="Radfa03a54e124c7b" /><Relationship Type="http://schemas.openxmlformats.org/officeDocument/2006/relationships/notesSlide" Target="/ppt/notesSlides/notesSlide12.xml" Id="R6c2070eccda54f3f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fd18067b7f407d" /><Relationship Type="http://schemas.openxmlformats.org/officeDocument/2006/relationships/notesSlide" Target="/ppt/notesSlides/notesSlide13.xml" Id="Re8b5dc511fd64214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ebf6b9aee949e8" /><Relationship Type="http://schemas.openxmlformats.org/officeDocument/2006/relationships/chart" Target="/ppt/slides/charts/chart7.xml" Id="R71401d3b1a7d40e2" /><Relationship Type="http://schemas.openxmlformats.org/officeDocument/2006/relationships/notesSlide" Target="/ppt/notesSlides/notesSlide14.xml" Id="R3d37ce2939c44937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0c2089f0d94284" /><Relationship Type="http://schemas.openxmlformats.org/officeDocument/2006/relationships/notesSlide" Target="/ppt/notesSlides/notesSlide15.xml" Id="Rbfbf8b67b1294e1a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93fa23871a4abb" /><Relationship Type="http://schemas.openxmlformats.org/officeDocument/2006/relationships/chart" Target="/ppt/slides/charts/chart8.xml" Id="Rd65dbad170fc40c9" /><Relationship Type="http://schemas.openxmlformats.org/officeDocument/2006/relationships/notesSlide" Target="/ppt/notesSlides/notesSlide16.xml" Id="Rfa32d0d7f82c42d3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db864e942547e1" /><Relationship Type="http://schemas.openxmlformats.org/officeDocument/2006/relationships/notesSlide" Target="/ppt/notesSlides/notesSlide17.xml" Id="Re5d7abf6f5754fe0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07245edd094118" /><Relationship Type="http://schemas.openxmlformats.org/officeDocument/2006/relationships/chart" Target="/ppt/slides/charts/chart9.xml" Id="R9f1d7bfcbace4fbf" /><Relationship Type="http://schemas.openxmlformats.org/officeDocument/2006/relationships/notesSlide" Target="/ppt/notesSlides/notesSlide18.xml" Id="R73e4166a8319441d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aa60a4742c4b83" /><Relationship Type="http://schemas.openxmlformats.org/officeDocument/2006/relationships/notesSlide" Target="/ppt/notesSlides/notesSlide19.xml" Id="R1cd527fadcbc4920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c0cf0a16024145" /><Relationship Type="http://schemas.openxmlformats.org/officeDocument/2006/relationships/chart" Target="/ppt/slides/charts/chart10.xml" Id="Ra6dbef40d7f94248" /><Relationship Type="http://schemas.openxmlformats.org/officeDocument/2006/relationships/notesSlide" Target="/ppt/notesSlides/notesSlide20.xml" Id="Rc8a59a6f246941c4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c72d49120140c9" /><Relationship Type="http://schemas.openxmlformats.org/officeDocument/2006/relationships/notesSlide" Target="/ppt/notesSlides/notesSlide21.xml" Id="R23c4641631944234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99e050a32b4ff7" /><Relationship Type="http://schemas.openxmlformats.org/officeDocument/2006/relationships/chart" Target="/ppt/slides/charts/chart11.xml" Id="Rdf1062f5291d4fef" /><Relationship Type="http://schemas.openxmlformats.org/officeDocument/2006/relationships/notesSlide" Target="/ppt/notesSlides/notesSlide22.xml" Id="Rcf31a42ff43e4d9e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91e7b354dc4245" /><Relationship Type="http://schemas.openxmlformats.org/officeDocument/2006/relationships/notesSlide" Target="/ppt/notesSlides/notesSlide23.xml" Id="Re324f26e744143dc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b1f9001c58424e" /><Relationship Type="http://schemas.openxmlformats.org/officeDocument/2006/relationships/chart" Target="/ppt/slides/charts/chart12.xml" Id="R7b056122f1ae468f" /><Relationship Type="http://schemas.openxmlformats.org/officeDocument/2006/relationships/notesSlide" Target="/ppt/notesSlides/notesSlide24.xml" Id="R44ffec23125141e0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_rels/chart3.xml.rels><Relationships xmlns="http://schemas.openxmlformats.org/package/2006/relationships"><Relationship Id="rIdChartSnapshot1" Type="http://schemas.openxmlformats.org/officeDocument/2006/relationships/package" Target="../../embeddings/chart-data-snapshot-003.xlsx"/></Relationships>
</file>

<file path=ppt/slides/charts/_rels/chart4.xml.rels><Relationships xmlns="http://schemas.openxmlformats.org/package/2006/relationships"><Relationship Id="rIdChartSnapshot1" Type="http://schemas.openxmlformats.org/officeDocument/2006/relationships/package" Target="../../embeddings/chart-data-snapshot-004.xlsx"/></Relationships>
</file>

<file path=ppt/slides/charts/_rels/chart5.xml.rels><Relationships xmlns="http://schemas.openxmlformats.org/package/2006/relationships"><Relationship Id="rIdChartSnapshot1" Type="http://schemas.openxmlformats.org/officeDocument/2006/relationships/package" Target="../../embeddings/chart-data-snapshot-005.xlsx"/></Relationships>
</file>

<file path=ppt/slides/charts/_rels/chart6.xml.rels><Relationships xmlns="http://schemas.openxmlformats.org/package/2006/relationships"><Relationship Id="rIdChartSnapshot1" Type="http://schemas.openxmlformats.org/officeDocument/2006/relationships/package" Target="../../embeddings/chart-data-snapshot-006.xlsx"/></Relationships>
</file>

<file path=ppt/slides/charts/_rels/chart7.xml.rels><Relationships xmlns="http://schemas.openxmlformats.org/package/2006/relationships"><Relationship Id="rIdChartSnapshot1" Type="http://schemas.openxmlformats.org/officeDocument/2006/relationships/package" Target="../../embeddings/chart-data-snapshot-007.xlsx"/></Relationships>
</file>

<file path=ppt/slides/charts/_rels/chart8.xml.rels><Relationships xmlns="http://schemas.openxmlformats.org/package/2006/relationships"><Relationship Id="rIdChartSnapshot1" Type="http://schemas.openxmlformats.org/officeDocument/2006/relationships/package" Target="../../embeddings/chart-data-snapshot-008.xlsx"/></Relationships>
</file>

<file path=ppt/slides/charts/_rels/chart9.xml.rels><Relationships xmlns="http://schemas.openxmlformats.org/package/2006/relationships"><Relationship Id="rIdChartSnapshot1" Type="http://schemas.openxmlformats.org/officeDocument/2006/relationships/package" Target="../../embeddings/chart-data-snapshot-009.xlsx"/></Relationships>
</file>

<file path=ppt/slides/charts/_rels/chart10.xml.rels><Relationships xmlns="http://schemas.openxmlformats.org/package/2006/relationships"><Relationship Id="rIdChartSnapshot1" Type="http://schemas.openxmlformats.org/officeDocument/2006/relationships/package" Target="../../embeddings/chart-data-snapshot-010.xlsx"/></Relationships>
</file>

<file path=ppt/slides/charts/_rels/chart11.xml.rels><Relationships xmlns="http://schemas.openxmlformats.org/package/2006/relationships"><Relationship Id="rIdChartSnapshot1" Type="http://schemas.openxmlformats.org/officeDocument/2006/relationships/package" Target="../../embeddings/chart-data-snapshot-011.xlsx"/></Relationships>
</file>

<file path=ppt/slides/charts/_rels/chart12.xml.rels><Relationships xmlns="http://schemas.openxmlformats.org/package/2006/relationships"><Relationship Id="rIdChartSnapshot1" Type="http://schemas.openxmlformats.org/officeDocument/2006/relationships/package" Target="../../embeddings/chart-data-snapshot-012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记录条数</c:v>
          </c:tx>
          <c:spPr>
            <a:solidFill xmlns:a="http://schemas.openxmlformats.org/drawingml/2006/main">
              <a:srgbClr val="245D78"/>
            </a:solidFill>
          </c:spPr>
          <c:cat>
            <c:strRef>
              <c:f>'Chart Data'!$A$2:$A$3</c:f>
              <c:strCache>
                <c:ptCount val="2"/>
                <c:pt idx="0">
                  <c:v>计划量</c:v>
                </c:pt>
                <c:pt idx="1">
                  <c:v>完成量</c:v>
                </c:pt>
              </c:strCache>
            </c:strRef>
          </c:cat>
          <c:val>
            <c:numRef>
              <c:f>'Chart Data'!$B$2:$B$3</c:f>
              <c:numCache>
                <c:formatCode>0</c:formatCode>
                <c:ptCount val="2"/>
                <c:pt idx="0">
                  <c:v>3198</c:v>
                </c:pt>
                <c:pt idx="1">
                  <c:v>2851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75">
                  <a:latin typeface="Microsoft YaHei"/>
                  <a:ea typeface="Microsoft YaHei"/>
                  <a:cs typeface="Microsoft YaHe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  <c:max val="4000"/>
          <c:min val="0"/>
        </c:scaling>
        <c:delete val="0"/>
        <c:axPos val="l"/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  <c:majorUnit val="1000"/>
      </c:valAx>
    </c:plotArea>
    <c:plotVisOnly val="1"/>
  </c:chart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记录条数</c:v>
          </c:tx>
          <c:spPr>
            <a:solidFill xmlns:a="http://schemas.openxmlformats.org/drawingml/2006/main">
              <a:srgbClr val="245D78"/>
            </a:solidFill>
          </c:spPr>
          <c:cat>
            <c:strRef>
              <c:f>'Chart Data'!$A$2:$A$3</c:f>
              <c:strCache>
                <c:ptCount val="2"/>
                <c:pt idx="0">
                  <c:v>计划量</c:v>
                </c:pt>
                <c:pt idx="1">
                  <c:v>完成量</c:v>
                </c:pt>
              </c:strCache>
            </c:strRef>
          </c:cat>
          <c:val>
            <c:numRef>
              <c:f>'Chart Data'!$B$2:$B$3</c:f>
              <c:numCache>
                <c:formatCode>0</c:formatCode>
                <c:ptCount val="2"/>
                <c:pt idx="0">
                  <c:v>3061</c:v>
                </c:pt>
                <c:pt idx="1">
                  <c:v>2745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75">
                  <a:latin typeface="Microsoft YaHei"/>
                  <a:ea typeface="Microsoft YaHei"/>
                  <a:cs typeface="Microsoft YaHe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  <c:max val="4000"/>
          <c:min val="0"/>
        </c:scaling>
        <c:delete val="0"/>
        <c:axPos val="l"/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  <c:majorUnit val="1000"/>
      </c:valAx>
    </c:plotArea>
    <c:plotVisOnly val="1"/>
  </c:chart>
  <c:externalData r:id="rIdChartSnapshot1">
    <c:autoUpdate val="0"/>
  </c:externalData>
</c:chartSpace>
</file>

<file path=ppt/slides/charts/chart3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记录条数</c:v>
          </c:tx>
          <c:spPr>
            <a:solidFill xmlns:a="http://schemas.openxmlformats.org/drawingml/2006/main">
              <a:srgbClr val="245D78"/>
            </a:solidFill>
          </c:spPr>
          <c:cat>
            <c:strRef>
              <c:f>'Chart Data'!$A$2:$A$3</c:f>
              <c:strCache>
                <c:ptCount val="2"/>
                <c:pt idx="0">
                  <c:v>计划量</c:v>
                </c:pt>
                <c:pt idx="1">
                  <c:v>完成量</c:v>
                </c:pt>
              </c:strCache>
            </c:strRef>
          </c:cat>
          <c:val>
            <c:numRef>
              <c:f>'Chart Data'!$B$2:$B$3</c:f>
              <c:numCache>
                <c:formatCode>0</c:formatCode>
                <c:ptCount val="2"/>
                <c:pt idx="0">
                  <c:v>3320</c:v>
                </c:pt>
                <c:pt idx="1">
                  <c:v>2971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75">
                  <a:latin typeface="Microsoft YaHei"/>
                  <a:ea typeface="Microsoft YaHei"/>
                  <a:cs typeface="Microsoft YaHe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  <c:max val="4000"/>
          <c:min val="0"/>
        </c:scaling>
        <c:delete val="0"/>
        <c:axPos val="l"/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  <c:majorUnit val="1000"/>
      </c:valAx>
    </c:plotArea>
    <c:plotVisOnly val="1"/>
  </c:chart>
  <c:externalData r:id="rIdChartSnapshot1">
    <c:autoUpdate val="0"/>
  </c:externalData>
</c:chartSpace>
</file>

<file path=ppt/slides/charts/chart4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记录条数</c:v>
          </c:tx>
          <c:spPr>
            <a:solidFill xmlns:a="http://schemas.openxmlformats.org/drawingml/2006/main">
              <a:srgbClr val="245D78"/>
            </a:solidFill>
          </c:spPr>
          <c:cat>
            <c:strRef>
              <c:f>'Chart Data'!$A$2:$A$3</c:f>
              <c:strCache>
                <c:ptCount val="2"/>
                <c:pt idx="0">
                  <c:v>计划量</c:v>
                </c:pt>
                <c:pt idx="1">
                  <c:v>完成量</c:v>
                </c:pt>
              </c:strCache>
            </c:strRef>
          </c:cat>
          <c:val>
            <c:numRef>
              <c:f>'Chart Data'!$B$2:$B$3</c:f>
              <c:numCache>
                <c:formatCode>0</c:formatCode>
                <c:ptCount val="2"/>
                <c:pt idx="0">
                  <c:v>3053</c:v>
                </c:pt>
                <c:pt idx="1">
                  <c:v>2773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75">
                  <a:latin typeface="Microsoft YaHei"/>
                  <a:ea typeface="Microsoft YaHei"/>
                  <a:cs typeface="Microsoft YaHe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  <c:max val="4000"/>
          <c:min val="0"/>
        </c:scaling>
        <c:delete val="0"/>
        <c:axPos val="l"/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  <c:majorUnit val="1000"/>
      </c:valAx>
    </c:plotArea>
    <c:plotVisOnly val="1"/>
  </c:chart>
  <c:externalData r:id="rIdChartSnapshot1">
    <c:autoUpdate val="0"/>
  </c:externalData>
</c:chartSpace>
</file>

<file path=ppt/slides/charts/chart5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记录条数</c:v>
          </c:tx>
          <c:spPr>
            <a:solidFill xmlns:a="http://schemas.openxmlformats.org/drawingml/2006/main">
              <a:srgbClr val="245D78"/>
            </a:solidFill>
          </c:spPr>
          <c:cat>
            <c:strRef>
              <c:f>'Chart Data'!$A$2:$A$3</c:f>
              <c:strCache>
                <c:ptCount val="2"/>
                <c:pt idx="0">
                  <c:v>计划量</c:v>
                </c:pt>
                <c:pt idx="1">
                  <c:v>完成量</c:v>
                </c:pt>
              </c:strCache>
            </c:strRef>
          </c:cat>
          <c:val>
            <c:numRef>
              <c:f>'Chart Data'!$B$2:$B$3</c:f>
              <c:numCache>
                <c:formatCode>0</c:formatCode>
                <c:ptCount val="2"/>
                <c:pt idx="0">
                  <c:v>3303</c:v>
                </c:pt>
                <c:pt idx="1">
                  <c:v>2987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75">
                  <a:latin typeface="Microsoft YaHei"/>
                  <a:ea typeface="Microsoft YaHei"/>
                  <a:cs typeface="Microsoft YaHe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  <c:max val="4000"/>
          <c:min val="0"/>
        </c:scaling>
        <c:delete val="0"/>
        <c:axPos val="l"/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  <c:majorUnit val="1000"/>
      </c:valAx>
    </c:plotArea>
    <c:plotVisOnly val="1"/>
  </c:chart>
  <c:externalData r:id="rIdChartSnapshot1">
    <c:autoUpdate val="0"/>
  </c:externalData>
</c:chartSpace>
</file>

<file path=ppt/slides/charts/chart6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记录条数</c:v>
          </c:tx>
          <c:spPr>
            <a:solidFill xmlns:a="http://schemas.openxmlformats.org/drawingml/2006/main">
              <a:srgbClr val="245D78"/>
            </a:solidFill>
          </c:spPr>
          <c:cat>
            <c:strRef>
              <c:f>'Chart Data'!$A$2:$A$3</c:f>
              <c:strCache>
                <c:ptCount val="2"/>
                <c:pt idx="0">
                  <c:v>计划量</c:v>
                </c:pt>
                <c:pt idx="1">
                  <c:v>完成量</c:v>
                </c:pt>
              </c:strCache>
            </c:strRef>
          </c:cat>
          <c:val>
            <c:numRef>
              <c:f>'Chart Data'!$B$2:$B$3</c:f>
              <c:numCache>
                <c:formatCode>0</c:formatCode>
                <c:ptCount val="2"/>
                <c:pt idx="0">
                  <c:v>2921</c:v>
                </c:pt>
                <c:pt idx="1">
                  <c:v>2615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75">
                  <a:latin typeface="Microsoft YaHei"/>
                  <a:ea typeface="Microsoft YaHei"/>
                  <a:cs typeface="Microsoft YaHe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  <c:max val="4000"/>
          <c:min val="0"/>
        </c:scaling>
        <c:delete val="0"/>
        <c:axPos val="l"/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  <c:majorUnit val="1000"/>
      </c:valAx>
    </c:plotArea>
    <c:plotVisOnly val="1"/>
  </c:chart>
  <c:externalData r:id="rIdChartSnapshot1">
    <c:autoUpdate val="0"/>
  </c:externalData>
</c:chartSpace>
</file>

<file path=ppt/slides/charts/chart7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记录条数</c:v>
          </c:tx>
          <c:spPr>
            <a:solidFill xmlns:a="http://schemas.openxmlformats.org/drawingml/2006/main">
              <a:srgbClr val="245D78"/>
            </a:solidFill>
          </c:spPr>
          <c:cat>
            <c:strRef>
              <c:f>'Chart Data'!$A$2:$A$3</c:f>
              <c:strCache>
                <c:ptCount val="2"/>
                <c:pt idx="0">
                  <c:v>计划量</c:v>
                </c:pt>
                <c:pt idx="1">
                  <c:v>完成量</c:v>
                </c:pt>
              </c:strCache>
            </c:strRef>
          </c:cat>
          <c:val>
            <c:numRef>
              <c:f>'Chart Data'!$B$2:$B$3</c:f>
              <c:numCache>
                <c:formatCode>0</c:formatCode>
                <c:ptCount val="2"/>
                <c:pt idx="0">
                  <c:v>3053</c:v>
                </c:pt>
                <c:pt idx="1">
                  <c:v>2761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75">
                  <a:latin typeface="Microsoft YaHei"/>
                  <a:ea typeface="Microsoft YaHei"/>
                  <a:cs typeface="Microsoft YaHe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  <c:max val="4000"/>
          <c:min val="0"/>
        </c:scaling>
        <c:delete val="0"/>
        <c:axPos val="l"/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  <c:majorUnit val="1000"/>
      </c:valAx>
    </c:plotArea>
    <c:plotVisOnly val="1"/>
  </c:chart>
  <c:externalData r:id="rIdChartSnapshot1">
    <c:autoUpdate val="0"/>
  </c:externalData>
</c:chartSpace>
</file>

<file path=ppt/slides/charts/chart8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记录条数</c:v>
          </c:tx>
          <c:spPr>
            <a:solidFill xmlns:a="http://schemas.openxmlformats.org/drawingml/2006/main">
              <a:srgbClr val="245D78"/>
            </a:solidFill>
          </c:spPr>
          <c:cat>
            <c:strRef>
              <c:f>'Chart Data'!$A$2:$A$3</c:f>
              <c:strCache>
                <c:ptCount val="2"/>
                <c:pt idx="0">
                  <c:v>计划量</c:v>
                </c:pt>
                <c:pt idx="1">
                  <c:v>完成量</c:v>
                </c:pt>
              </c:strCache>
            </c:strRef>
          </c:cat>
          <c:val>
            <c:numRef>
              <c:f>'Chart Data'!$B$2:$B$3</c:f>
              <c:numCache>
                <c:formatCode>0</c:formatCode>
                <c:ptCount val="2"/>
                <c:pt idx="0">
                  <c:v>3037</c:v>
                </c:pt>
                <c:pt idx="1">
                  <c:v>2720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75">
                  <a:latin typeface="Microsoft YaHei"/>
                  <a:ea typeface="Microsoft YaHei"/>
                  <a:cs typeface="Microsoft YaHe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  <c:max val="4000"/>
          <c:min val="0"/>
        </c:scaling>
        <c:delete val="0"/>
        <c:axPos val="l"/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  <c:majorUnit val="1000"/>
      </c:valAx>
    </c:plotArea>
    <c:plotVisOnly val="1"/>
  </c:chart>
  <c:externalData r:id="rIdChartSnapshot1">
    <c:autoUpdate val="0"/>
  </c:externalData>
</c:chartSpace>
</file>

<file path=ppt/slides/charts/chart9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记录条数</c:v>
          </c:tx>
          <c:spPr>
            <a:solidFill xmlns:a="http://schemas.openxmlformats.org/drawingml/2006/main">
              <a:srgbClr val="245D78"/>
            </a:solidFill>
          </c:spPr>
          <c:cat>
            <c:strRef>
              <c:f>'Chart Data'!$A$2:$A$3</c:f>
              <c:strCache>
                <c:ptCount val="2"/>
                <c:pt idx="0">
                  <c:v>计划量</c:v>
                </c:pt>
                <c:pt idx="1">
                  <c:v>完成量</c:v>
                </c:pt>
              </c:strCache>
            </c:strRef>
          </c:cat>
          <c:val>
            <c:numRef>
              <c:f>'Chart Data'!$B$2:$B$3</c:f>
              <c:numCache>
                <c:formatCode>0</c:formatCode>
                <c:ptCount val="2"/>
                <c:pt idx="0">
                  <c:v>3072</c:v>
                </c:pt>
                <c:pt idx="1">
                  <c:v>2742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75">
                  <a:latin typeface="Microsoft YaHei"/>
                  <a:ea typeface="Microsoft YaHei"/>
                  <a:cs typeface="Microsoft YaHe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  <c:max val="4000"/>
          <c:min val="0"/>
        </c:scaling>
        <c:delete val="0"/>
        <c:axPos val="l"/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  <c:majorUnit val="1000"/>
      </c:valAx>
    </c:plotArea>
    <c:plotVisOnly val="1"/>
  </c:chart>
  <c:externalData r:id="rIdChartSnapshot1">
    <c:autoUpdate val="0"/>
  </c:externalData>
</c:chartSpace>
</file>

<file path=ppt/slides/charts/chart10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记录条数</c:v>
          </c:tx>
          <c:spPr>
            <a:solidFill xmlns:a="http://schemas.openxmlformats.org/drawingml/2006/main">
              <a:srgbClr val="245D78"/>
            </a:solidFill>
          </c:spPr>
          <c:cat>
            <c:strRef>
              <c:f>'Chart Data'!$A$2:$A$3</c:f>
              <c:strCache>
                <c:ptCount val="2"/>
                <c:pt idx="0">
                  <c:v>计划量</c:v>
                </c:pt>
                <c:pt idx="1">
                  <c:v>完成量</c:v>
                </c:pt>
              </c:strCache>
            </c:strRef>
          </c:cat>
          <c:val>
            <c:numRef>
              <c:f>'Chart Data'!$B$2:$B$3</c:f>
              <c:numCache>
                <c:formatCode>0</c:formatCode>
                <c:ptCount val="2"/>
                <c:pt idx="0">
                  <c:v>3159</c:v>
                </c:pt>
                <c:pt idx="1">
                  <c:v>2862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75">
                  <a:latin typeface="Microsoft YaHei"/>
                  <a:ea typeface="Microsoft YaHei"/>
                  <a:cs typeface="Microsoft YaHe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  <c:max val="4000"/>
          <c:min val="0"/>
        </c:scaling>
        <c:delete val="0"/>
        <c:axPos val="l"/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  <c:majorUnit val="1000"/>
      </c:valAx>
    </c:plotArea>
    <c:plotVisOnly val="1"/>
  </c:chart>
  <c:externalData r:id="rIdChartSnapshot1">
    <c:autoUpdate val="0"/>
  </c:externalData>
</c:chartSpace>
</file>

<file path=ppt/slides/charts/chart1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记录条数</c:v>
          </c:tx>
          <c:spPr>
            <a:solidFill xmlns:a="http://schemas.openxmlformats.org/drawingml/2006/main">
              <a:srgbClr val="245D78"/>
            </a:solidFill>
          </c:spPr>
          <c:cat>
            <c:strRef>
              <c:f>'Chart Data'!$A$2:$A$3</c:f>
              <c:strCache>
                <c:ptCount val="2"/>
                <c:pt idx="0">
                  <c:v>计划量</c:v>
                </c:pt>
                <c:pt idx="1">
                  <c:v>完成量</c:v>
                </c:pt>
              </c:strCache>
            </c:strRef>
          </c:cat>
          <c:val>
            <c:numRef>
              <c:f>'Chart Data'!$B$2:$B$3</c:f>
              <c:numCache>
                <c:formatCode>0</c:formatCode>
                <c:ptCount val="2"/>
                <c:pt idx="0">
                  <c:v>3018</c:v>
                </c:pt>
                <c:pt idx="1">
                  <c:v>2722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75">
                  <a:latin typeface="Microsoft YaHei"/>
                  <a:ea typeface="Microsoft YaHei"/>
                  <a:cs typeface="Microsoft YaHe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  <c:max val="4000"/>
          <c:min val="0"/>
        </c:scaling>
        <c:delete val="0"/>
        <c:axPos val="l"/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  <c:majorUnit val="1000"/>
      </c:valAx>
    </c:plotArea>
    <c:plotVisOnly val="1"/>
  </c:chart>
  <c:externalData r:id="rIdChartSnapshot1">
    <c:autoUpdate val="0"/>
  </c:externalData>
</c:chartSpace>
</file>

<file path=ppt/slides/charts/chart12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记录条数</c:v>
          </c:tx>
          <c:spPr>
            <a:solidFill xmlns:a="http://schemas.openxmlformats.org/drawingml/2006/main">
              <a:srgbClr val="245D78"/>
            </a:solidFill>
          </c:spPr>
          <c:cat>
            <c:strRef>
              <c:f>'Chart Data'!$A$2:$A$3</c:f>
              <c:strCache>
                <c:ptCount val="2"/>
                <c:pt idx="0">
                  <c:v>计划量</c:v>
                </c:pt>
                <c:pt idx="1">
                  <c:v>完成量</c:v>
                </c:pt>
              </c:strCache>
            </c:strRef>
          </c:cat>
          <c:val>
            <c:numRef>
              <c:f>'Chart Data'!$B$2:$B$3</c:f>
              <c:numCache>
                <c:formatCode>0</c:formatCode>
                <c:ptCount val="2"/>
                <c:pt idx="0">
                  <c:v>2988</c:v>
                </c:pt>
                <c:pt idx="1">
                  <c:v>2686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75">
                  <a:latin typeface="Microsoft YaHei"/>
                  <a:ea typeface="Microsoft YaHei"/>
                  <a:cs typeface="Microsoft YaHe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  <c:max val="4000"/>
          <c:min val="0"/>
        </c:scaling>
        <c:delete val="0"/>
        <c:axPos val="l"/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  <c:majorUnit val="1000"/>
      </c:valAx>
    </c:plotArea>
    <c:plotVisOnly val="1"/>
  </c:chart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AE156AA-CC59-492E-9F30-8084F0C9A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8625"/>
            <a:ext cx="10858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rPr>
              <a:t>XQ-001 统一身份接入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76F1AF-4C6C-4208-A39E-1816E86F8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85875"/>
            <a:ext cx="1085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rPr>
              <a:t>阶段目标：统一账号映射，减少人工重复维护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66750" y="2476500"/>
          <a:ext xmlns:a="http://schemas.openxmlformats.org/drawingml/2006/main" cx="10858500" cy="1428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190750"/>
                <a:gridCol w="4667250"/>
                <a:gridCol w="4000500"/>
              </a:tblGrid>
              <a:tr h="714375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427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责任部门</a:t>
                      </a:r>
                    </a:p>
                  </a:txBody>
                  <a:tcPr marL="91440" marR="91440" marT="45720" marB="45720">
                    <a:solidFill>
                      <a:srgbClr val="E8EE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427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负责人</a:t>
                      </a:r>
                    </a:p>
                  </a:txBody>
                  <a:tcPr marL="91440" marR="91440" marT="45720" marB="45720">
                    <a:solidFill>
                      <a:srgbClr val="E8EE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427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计划日期</a:t>
                      </a:r>
                    </a:p>
                  </a:txBody>
                  <a:tcPr marL="91440" marR="91440" marT="45720" marB="45720">
                    <a:solidFill>
                      <a:srgbClr val="E8EEF3"/>
                    </a:solidFill>
                  </a:tcPr>
                </a:tc>
              </a:tr>
              <a:tr h="71437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427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研发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427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研发负责人01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427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2026-09-16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7676540-0B51-4AE5-B5E4-8608D33E3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33875"/>
            <a:ext cx="1085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rPr>
              <a:t>统计口径与适用范围详见本页演讲者备注。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B51F919-649F-44AD-83CE-25B7CD936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619750"/>
            <a:ext cx="1085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rPr>
              <a:t>已确定安排：完成回归清单并由业务代表复核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3E9178F-FE3D-4FB7-8F3C-165339BE3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34125"/>
            <a:ext cx="10858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rPr>
              <a:t>星桥项目 XQ-CS-26  |  v1.0  |  2026-09-15  |  1/24</a:t>
            </a:r>
          </a:p>
        </p:txBody>
      </p:sp>
    </p:spTree>
    <p:extLst>
      <p:ext uri="{BB962C8B-B14F-4D97-AF65-F5344CB8AC3E}">
        <p14:creationId xmlns:p14="http://schemas.microsoft.com/office/powerpoint/2010/main" val="26838796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A437C17-F407-4ED1-947C-31DD180A2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8625"/>
            <a:ext cx="10858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rPr>
              <a:t>XQ-002 权限矩阵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DD42D3-B10A-48A5-A1AC-C79EA22E8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85875"/>
            <a:ext cx="1085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rPr>
              <a:t>阶段目标：按岗位和网点验证最小权限</a:t>
            </a:r>
          </a:p>
        </p:txBody>
      </p:sp>
      <p:graphicFrame>
        <p:nvGraphicFramePr>
          <p:cNvPr id="9" name="Chart"/>
          <p:cNvGraphicFramePr/>
          <p:nvPr/>
        </p:nvGraphicFramePr>
        <p:xfrm>
          <a:off xmlns:a="http://schemas.openxmlformats.org/drawingml/2006/main" x="666750" y="2333625"/>
          <a:ext xmlns:a="http://schemas.openxmlformats.org/drawingml/2006/main" cx="6667500" cy="3143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98046f43e53842ff"/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904877-21C7-4DED-9C89-D3036ED47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714625"/>
            <a:ext cx="34290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rPr>
              <a:t>数量单位：条</a:t>
            </a:r>
          </a:p>
          <a:p xmlns:a="http://schemas.openxmlformats.org/drawingml/2006/main">
            <a:pPr>
              <a:defRPr sz="1950" b="0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rPr>
              <a:t>仅反映作业记录</a:t>
            </a:r>
          </a:p>
          <a:p xmlns:a="http://schemas.openxmlformats.org/drawingml/2006/main">
            <a:pPr>
              <a:defRPr sz="1950" b="0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rPr>
              <a:t>不替代正式状态</a:t>
            </a:r>
          </a:p>
          <a:p xmlns:a="http://schemas.openxmlformats.org/drawingml/2006/main">
            <a:pPr>
              <a:defRPr sz="1950" b="0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rPr>
              <a:t>完整口径以工作簿为准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419CD39-EFE4-4B5A-B6F9-1D7BAB1CC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619750"/>
            <a:ext cx="1085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rPr>
              <a:t>已确定安排：补充边界样本后安排联合检查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683449-23AB-4F8D-8937-9117A9DB1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34125"/>
            <a:ext cx="10858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rPr>
              <a:t>星桥项目 XQ-CS-26  |  v1.0  |  2026-09-15  |  2/24</a:t>
            </a:r>
          </a:p>
        </p:txBody>
      </p:sp>
    </p:spTree>
    <p:extLst>
      <p:ext uri="{BB962C8B-B14F-4D97-AF65-F5344CB8AC3E}">
        <p14:creationId xmlns:p14="http://schemas.microsoft.com/office/powerpoint/2010/main" val="169430144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82B59CB-BB67-4C4E-B7A6-47F2FB2FE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8625"/>
            <a:ext cx="10858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rPr>
              <a:t>XQ-003 知识库检索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38396F5-43EB-4BFD-9190-38B8E5110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85875"/>
            <a:ext cx="1085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rPr>
              <a:t>阶段目标：提高常见问题检索命中质量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66750" y="2476500"/>
          <a:ext xmlns:a="http://schemas.openxmlformats.org/drawingml/2006/main" cx="10858500" cy="1428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190750"/>
                <a:gridCol w="4667250"/>
                <a:gridCol w="4000500"/>
              </a:tblGrid>
              <a:tr h="714375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427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责任部门</a:t>
                      </a:r>
                    </a:p>
                  </a:txBody>
                  <a:tcPr marL="91440" marR="91440" marT="45720" marB="45720">
                    <a:solidFill>
                      <a:srgbClr val="E8EE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427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负责人</a:t>
                      </a:r>
                    </a:p>
                  </a:txBody>
                  <a:tcPr marL="91440" marR="91440" marT="45720" marB="45720">
                    <a:solidFill>
                      <a:srgbClr val="E8EE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427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计划日期</a:t>
                      </a:r>
                    </a:p>
                  </a:txBody>
                  <a:tcPr marL="91440" marR="91440" marT="45720" marB="45720">
                    <a:solidFill>
                      <a:srgbClr val="E8EEF3"/>
                    </a:solidFill>
                  </a:tcPr>
                </a:tc>
              </a:tr>
              <a:tr h="71437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427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研发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427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研发负责人03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427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2026-09-18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0DC07E-E9B2-45E4-96DC-27ED26AA9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33875"/>
            <a:ext cx="1085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rPr>
              <a:t>统计口径与适用范围详见本页演讲者备注。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825D310-A87D-442F-B8F8-81582BD7D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619750"/>
            <a:ext cx="1085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rPr>
              <a:t>已确定安排：整理待确认字段并提交责任部门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7283EBC-DE53-4ED4-AC74-1D54511A5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34125"/>
            <a:ext cx="10858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rPr>
              <a:t>星桥项目 XQ-CS-26  |  v1.0  |  2026-09-15  |  3/24</a:t>
            </a:r>
          </a:p>
        </p:txBody>
      </p:sp>
    </p:spTree>
    <p:extLst>
      <p:ext uri="{BB962C8B-B14F-4D97-AF65-F5344CB8AC3E}">
        <p14:creationId xmlns:p14="http://schemas.microsoft.com/office/powerpoint/2010/main" val="174275100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6D03315-B5A1-47CA-A4D4-6DE9D0118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8625"/>
            <a:ext cx="10858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rPr>
              <a:t>XQ-004 工单路由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DDC9759-933F-486C-812A-4517A44DB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85875"/>
            <a:ext cx="1085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rPr>
              <a:t>阶段目标：将工单按业务类别分配到对应处理组</a:t>
            </a:r>
          </a:p>
        </p:txBody>
      </p:sp>
      <p:graphicFrame>
        <p:nvGraphicFramePr>
          <p:cNvPr id="9" name="Chart"/>
          <p:cNvGraphicFramePr/>
          <p:nvPr/>
        </p:nvGraphicFramePr>
        <p:xfrm>
          <a:off xmlns:a="http://schemas.openxmlformats.org/drawingml/2006/main" x="666750" y="2333625"/>
          <a:ext xmlns:a="http://schemas.openxmlformats.org/drawingml/2006/main" cx="6667500" cy="3143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853a438c3c8f4edb"/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8542746-5B7A-475A-832C-EE09DF92B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714625"/>
            <a:ext cx="34290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rPr>
              <a:t>数量单位：条</a:t>
            </a:r>
          </a:p>
          <a:p xmlns:a="http://schemas.openxmlformats.org/drawingml/2006/main">
            <a:pPr>
              <a:defRPr sz="1950" b="0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rPr>
              <a:t>仅反映作业记录</a:t>
            </a:r>
          </a:p>
          <a:p xmlns:a="http://schemas.openxmlformats.org/drawingml/2006/main">
            <a:pPr>
              <a:defRPr sz="1950" b="0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rPr>
              <a:t>不替代正式状态</a:t>
            </a:r>
          </a:p>
          <a:p xmlns:a="http://schemas.openxmlformats.org/drawingml/2006/main">
            <a:pPr>
              <a:defRPr sz="1950" b="0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rPr>
              <a:t>完整口径以工作簿为准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0B29BD-C3DB-4FCB-9367-B39906439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619750"/>
            <a:ext cx="1085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rPr>
              <a:t>已确定安排：按既定试点名单复核配置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00F4779-1207-4AF4-9544-5C00A918F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34125"/>
            <a:ext cx="10858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rPr>
              <a:t>星桥项目 XQ-CS-26  |  v1.0  |  2026-09-15  |  4/24</a:t>
            </a:r>
          </a:p>
        </p:txBody>
      </p:sp>
    </p:spTree>
    <p:extLst>
      <p:ext uri="{BB962C8B-B14F-4D97-AF65-F5344CB8AC3E}">
        <p14:creationId xmlns:p14="http://schemas.microsoft.com/office/powerpoint/2010/main" val="193901667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2BBF06B-7EF0-4C0A-865A-9C278266D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8625"/>
            <a:ext cx="10858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rPr>
              <a:t>XQ-005 会话留痕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E1BF77-2FF6-4FBB-B367-79ED5B0E0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85875"/>
            <a:ext cx="1085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rPr>
              <a:t>阶段目标：保证会话记录可追溯且保留访问控制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66750" y="2476500"/>
          <a:ext xmlns:a="http://schemas.openxmlformats.org/drawingml/2006/main" cx="10858500" cy="1428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190750"/>
                <a:gridCol w="4667250"/>
                <a:gridCol w="4000500"/>
              </a:tblGrid>
              <a:tr h="714375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427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责任部门</a:t>
                      </a:r>
                    </a:p>
                  </a:txBody>
                  <a:tcPr marL="91440" marR="91440" marT="45720" marB="45720">
                    <a:solidFill>
                      <a:srgbClr val="E8EE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427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负责人</a:t>
                      </a:r>
                    </a:p>
                  </a:txBody>
                  <a:tcPr marL="91440" marR="91440" marT="45720" marB="45720">
                    <a:solidFill>
                      <a:srgbClr val="E8EE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427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计划日期</a:t>
                      </a:r>
                    </a:p>
                  </a:txBody>
                  <a:tcPr marL="91440" marR="91440" marT="45720" marB="45720">
                    <a:solidFill>
                      <a:srgbClr val="E8EEF3"/>
                    </a:solidFill>
                  </a:tcPr>
                </a:tc>
              </a:tr>
              <a:tr h="71437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427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研发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427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研发负责人05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427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2026-09-20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D04880-47CA-4793-87DA-A56E8457A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33875"/>
            <a:ext cx="1085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rPr>
              <a:t>统计口径与适用范围详见本页演讲者备注。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74CB719-8A3F-401C-B6A0-7F1984E82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619750"/>
            <a:ext cx="1085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rPr>
              <a:t>已确定安排：保留原链路并完成切换前复查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4FE465E-5604-435F-AE4E-07BAAC3AC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34125"/>
            <a:ext cx="10858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rPr>
              <a:t>星桥项目 XQ-CS-26  |  v1.0  |  2026-09-15  |  5/24</a:t>
            </a:r>
          </a:p>
        </p:txBody>
      </p:sp>
    </p:spTree>
    <p:extLst>
      <p:ext uri="{BB962C8B-B14F-4D97-AF65-F5344CB8AC3E}">
        <p14:creationId xmlns:p14="http://schemas.microsoft.com/office/powerpoint/2010/main" val="101505723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D53A8C5-6092-4D68-B9EC-7E9E3401D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8625"/>
            <a:ext cx="10858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rPr>
              <a:t>XQ-006 质检规则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F4F8AB-CC5B-4724-B343-363A2FA63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85875"/>
            <a:ext cx="1085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rPr>
              <a:t>阶段目标：对抽检规则进行分层校准</a:t>
            </a:r>
          </a:p>
        </p:txBody>
      </p:sp>
      <p:graphicFrame>
        <p:nvGraphicFramePr>
          <p:cNvPr id="9" name="Chart"/>
          <p:cNvGraphicFramePr/>
          <p:nvPr/>
        </p:nvGraphicFramePr>
        <p:xfrm>
          <a:off xmlns:a="http://schemas.openxmlformats.org/drawingml/2006/main" x="666750" y="2333625"/>
          <a:ext xmlns:a="http://schemas.openxmlformats.org/drawingml/2006/main" cx="6667500" cy="3143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0bc0e9ecbb7843b3"/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568DC58-F8BC-4A7E-AA35-9F232D8EC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714625"/>
            <a:ext cx="34290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rPr>
              <a:t>数量单位：条</a:t>
            </a:r>
          </a:p>
          <a:p xmlns:a="http://schemas.openxmlformats.org/drawingml/2006/main">
            <a:pPr>
              <a:defRPr sz="1950" b="0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rPr>
              <a:t>仅反映作业记录</a:t>
            </a:r>
          </a:p>
          <a:p xmlns:a="http://schemas.openxmlformats.org/drawingml/2006/main">
            <a:pPr>
              <a:defRPr sz="1950" b="0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rPr>
              <a:t>不替代正式状态</a:t>
            </a:r>
          </a:p>
          <a:p xmlns:a="http://schemas.openxmlformats.org/drawingml/2006/main">
            <a:pPr>
              <a:defRPr sz="1950" b="0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rPr>
              <a:t>完整口径以工作簿为准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C1DBCF-541A-4C4B-8888-F24DC2EAB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619750"/>
            <a:ext cx="1085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rPr>
              <a:t>已确定安排：汇总异常记录后召开问题确认会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854008C-C40F-4D57-A9EC-4592E7B4D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34125"/>
            <a:ext cx="10858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rPr>
              <a:t>星桥项目 XQ-CS-26  |  v1.0  |  2026-09-15  |  6/24</a:t>
            </a:r>
          </a:p>
        </p:txBody>
      </p:sp>
    </p:spTree>
    <p:extLst>
      <p:ext uri="{BB962C8B-B14F-4D97-AF65-F5344CB8AC3E}">
        <p14:creationId xmlns:p14="http://schemas.microsoft.com/office/powerpoint/2010/main" val="142256696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8C20B0D-B6CB-4EAC-94C0-9AF6D81D1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8625"/>
            <a:ext cx="10858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rPr>
              <a:t>XQ-007 接口重试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2F0180A-923C-416E-B340-1B9E242E2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85875"/>
            <a:ext cx="1085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rPr>
              <a:t>阶段目标：确保失败接口可重试且不重复写入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66750" y="2476500"/>
          <a:ext xmlns:a="http://schemas.openxmlformats.org/drawingml/2006/main" cx="10858500" cy="1428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190750"/>
                <a:gridCol w="4667250"/>
                <a:gridCol w="4000500"/>
              </a:tblGrid>
              <a:tr h="714375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427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责任部门</a:t>
                      </a:r>
                    </a:p>
                  </a:txBody>
                  <a:tcPr marL="91440" marR="91440" marT="45720" marB="45720">
                    <a:solidFill>
                      <a:srgbClr val="E8EE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427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负责人</a:t>
                      </a:r>
                    </a:p>
                  </a:txBody>
                  <a:tcPr marL="91440" marR="91440" marT="45720" marB="45720">
                    <a:solidFill>
                      <a:srgbClr val="E8EE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427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计划日期</a:t>
                      </a:r>
                    </a:p>
                  </a:txBody>
                  <a:tcPr marL="91440" marR="91440" marT="45720" marB="45720">
                    <a:solidFill>
                      <a:srgbClr val="E8EEF3"/>
                    </a:solidFill>
                  </a:tcPr>
                </a:tc>
              </a:tr>
              <a:tr h="71437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427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研发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427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研发负责人07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427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2026-09-22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03720F-DF6F-412A-B22E-33F306542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33875"/>
            <a:ext cx="1085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rPr>
              <a:t>统计口径与适用范围详见本页演讲者备注。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1D09FD0-F39B-4480-B7AA-1C7E65E46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619750"/>
            <a:ext cx="1085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rPr>
              <a:t>已确定安排：完成回归清单并由业务代表复核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B7E220B-7201-4D1B-A54F-BC517A7E9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34125"/>
            <a:ext cx="10858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rPr>
              <a:t>星桥项目 XQ-CS-26  |  v1.0  |  2026-09-15  |  7/24</a:t>
            </a:r>
          </a:p>
        </p:txBody>
      </p:sp>
    </p:spTree>
    <p:extLst>
      <p:ext uri="{BB962C8B-B14F-4D97-AF65-F5344CB8AC3E}">
        <p14:creationId xmlns:p14="http://schemas.microsoft.com/office/powerpoint/2010/main" val="73133837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FF21214-C959-475A-8F71-E95C2080D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8625"/>
            <a:ext cx="10858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rPr>
              <a:t>XQ-008 监控告警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BC000E-0E80-40B6-AA79-7D018A1F6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85875"/>
            <a:ext cx="1085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rPr>
              <a:t>阶段目标：建立关键链路异常通知和升级规则</a:t>
            </a:r>
          </a:p>
        </p:txBody>
      </p:sp>
      <p:graphicFrame>
        <p:nvGraphicFramePr>
          <p:cNvPr id="9" name="Chart"/>
          <p:cNvGraphicFramePr/>
          <p:nvPr/>
        </p:nvGraphicFramePr>
        <p:xfrm>
          <a:off xmlns:a="http://schemas.openxmlformats.org/drawingml/2006/main" x="666750" y="2333625"/>
          <a:ext xmlns:a="http://schemas.openxmlformats.org/drawingml/2006/main" cx="6667500" cy="3143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be6c2daa67fc45bf"/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ECAF92-FCCD-43D4-88C5-183F4985B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714625"/>
            <a:ext cx="34290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rPr>
              <a:t>数量单位：条</a:t>
            </a:r>
          </a:p>
          <a:p xmlns:a="http://schemas.openxmlformats.org/drawingml/2006/main">
            <a:pPr>
              <a:defRPr sz="1950" b="0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rPr>
              <a:t>仅反映作业记录</a:t>
            </a:r>
          </a:p>
          <a:p xmlns:a="http://schemas.openxmlformats.org/drawingml/2006/main">
            <a:pPr>
              <a:defRPr sz="1950" b="0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rPr>
              <a:t>不替代正式状态</a:t>
            </a:r>
          </a:p>
          <a:p xmlns:a="http://schemas.openxmlformats.org/drawingml/2006/main">
            <a:pPr>
              <a:defRPr sz="1950" b="0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rPr>
              <a:t>完整口径以工作簿为准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D77F5C0-AC3D-4D3A-B74A-169B62AD4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619750"/>
            <a:ext cx="1085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rPr>
              <a:t>已确定安排：补充边界样本后安排联合检查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A3EB068-217B-48C8-A50B-D29EAA12E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34125"/>
            <a:ext cx="10858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rPr>
              <a:t>星桥项目 XQ-CS-26  |  v1.0  |  2026-09-15  |  8/24</a:t>
            </a:r>
          </a:p>
        </p:txBody>
      </p:sp>
    </p:spTree>
    <p:extLst>
      <p:ext uri="{BB962C8B-B14F-4D97-AF65-F5344CB8AC3E}">
        <p14:creationId xmlns:p14="http://schemas.microsoft.com/office/powerpoint/2010/main" val="195136258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2104B20-23F6-45A4-913E-4FB38265F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8625"/>
            <a:ext cx="10858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rPr>
              <a:t>XQ-009 数据迁移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40A134-C7EB-46D6-9B4B-AC0339A6E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85875"/>
            <a:ext cx="1085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rPr>
              <a:t>阶段目标：将存量记录迁移到新字段结构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66750" y="2476500"/>
          <a:ext xmlns:a="http://schemas.openxmlformats.org/drawingml/2006/main" cx="10858500" cy="1428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190750"/>
                <a:gridCol w="4667250"/>
                <a:gridCol w="4000500"/>
              </a:tblGrid>
              <a:tr h="714375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427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责任部门</a:t>
                      </a:r>
                    </a:p>
                  </a:txBody>
                  <a:tcPr marL="91440" marR="91440" marT="45720" marB="45720">
                    <a:solidFill>
                      <a:srgbClr val="E8EE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427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负责人</a:t>
                      </a:r>
                    </a:p>
                  </a:txBody>
                  <a:tcPr marL="91440" marR="91440" marT="45720" marB="45720">
                    <a:solidFill>
                      <a:srgbClr val="E8EE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427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计划日期</a:t>
                      </a:r>
                    </a:p>
                  </a:txBody>
                  <a:tcPr marL="91440" marR="91440" marT="45720" marB="45720">
                    <a:solidFill>
                      <a:srgbClr val="E8EEF3"/>
                    </a:solidFill>
                  </a:tcPr>
                </a:tc>
              </a:tr>
              <a:tr h="71437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427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实施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427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实施负责人01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427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2026-09-17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E67064-21AC-44B6-ADBF-E79D2A289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33875"/>
            <a:ext cx="1085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rPr>
              <a:t>统计口径与适用范围详见本页演讲者备注。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479D8D6-1340-448B-8095-00962ED9B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619750"/>
            <a:ext cx="1085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rPr>
              <a:t>已确定安排：整理待确认字段并提交责任部门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62401E9-FC2E-42DF-A22C-3AACC2A35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34125"/>
            <a:ext cx="10858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rPr>
              <a:t>星桥项目 XQ-CS-26  |  v1.0  |  2026-09-15  |  9/24</a:t>
            </a:r>
          </a:p>
        </p:txBody>
      </p:sp>
    </p:spTree>
    <p:extLst>
      <p:ext uri="{BB962C8B-B14F-4D97-AF65-F5344CB8AC3E}">
        <p14:creationId xmlns:p14="http://schemas.microsoft.com/office/powerpoint/2010/main" val="201222049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644A37C-6756-452E-9874-E392543F9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8625"/>
            <a:ext cx="10858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rPr>
              <a:t>XQ-010 网点接入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C1C6A3-93A6-42F5-9E9E-0B40002D0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85875"/>
            <a:ext cx="1085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rPr>
              <a:t>阶段目标：完成试点网点配置和链路核查</a:t>
            </a:r>
          </a:p>
        </p:txBody>
      </p:sp>
      <p:graphicFrame>
        <p:nvGraphicFramePr>
          <p:cNvPr id="9" name="Chart"/>
          <p:cNvGraphicFramePr/>
          <p:nvPr/>
        </p:nvGraphicFramePr>
        <p:xfrm>
          <a:off xmlns:a="http://schemas.openxmlformats.org/drawingml/2006/main" x="666750" y="2333625"/>
          <a:ext xmlns:a="http://schemas.openxmlformats.org/drawingml/2006/main" cx="6667500" cy="3143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be54b8a917a246c3"/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99D7FB-8B11-4CF4-B993-6332DDBF9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714625"/>
            <a:ext cx="34290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rPr>
              <a:t>数量单位：条</a:t>
            </a:r>
          </a:p>
          <a:p xmlns:a="http://schemas.openxmlformats.org/drawingml/2006/main">
            <a:pPr>
              <a:defRPr sz="1950" b="0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rPr>
              <a:t>仅反映作业记录</a:t>
            </a:r>
          </a:p>
          <a:p xmlns:a="http://schemas.openxmlformats.org/drawingml/2006/main">
            <a:pPr>
              <a:defRPr sz="1950" b="0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rPr>
              <a:t>不替代正式状态</a:t>
            </a:r>
          </a:p>
          <a:p xmlns:a="http://schemas.openxmlformats.org/drawingml/2006/main">
            <a:pPr>
              <a:defRPr sz="1950" b="0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rPr>
              <a:t>完整口径以工作簿为准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389073C-E7DE-458B-84A4-E563A1FAB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619750"/>
            <a:ext cx="1085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rPr>
              <a:t>已确定安排：按既定试点名单复核配置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8DCEECE-579B-4336-9231-2C39B8A6E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34125"/>
            <a:ext cx="10858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rPr>
              <a:t>星桥项目 XQ-CS-26  |  v1.0  |  2026-09-15  |  10/24</a:t>
            </a:r>
          </a:p>
        </p:txBody>
      </p:sp>
    </p:spTree>
    <p:extLst>
      <p:ext uri="{BB962C8B-B14F-4D97-AF65-F5344CB8AC3E}">
        <p14:creationId xmlns:p14="http://schemas.microsoft.com/office/powerpoint/2010/main" val="44961617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7C38974-941F-4D41-8EFA-07C79B93B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8625"/>
            <a:ext cx="10858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rPr>
              <a:t>XQ-011 坐席部署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BC2021-5B6D-4A69-BC5F-39DFBFF70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85875"/>
            <a:ext cx="1085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rPr>
              <a:t>阶段目标：为试点坐席部署兼容客户端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66750" y="2476500"/>
          <a:ext xmlns:a="http://schemas.openxmlformats.org/drawingml/2006/main" cx="10858500" cy="1428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190750"/>
                <a:gridCol w="4667250"/>
                <a:gridCol w="4000500"/>
              </a:tblGrid>
              <a:tr h="714375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427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责任部门</a:t>
                      </a:r>
                    </a:p>
                  </a:txBody>
                  <a:tcPr marL="91440" marR="91440" marT="45720" marB="45720">
                    <a:solidFill>
                      <a:srgbClr val="E8EE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427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负责人</a:t>
                      </a:r>
                    </a:p>
                  </a:txBody>
                  <a:tcPr marL="91440" marR="91440" marT="45720" marB="45720">
                    <a:solidFill>
                      <a:srgbClr val="E8EE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427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计划日期</a:t>
                      </a:r>
                    </a:p>
                  </a:txBody>
                  <a:tcPr marL="91440" marR="91440" marT="45720" marB="45720">
                    <a:solidFill>
                      <a:srgbClr val="E8EEF3"/>
                    </a:solidFill>
                  </a:tcPr>
                </a:tc>
              </a:tr>
              <a:tr h="71437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427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实施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427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实施负责人03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427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2026-09-19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1B92FA-9D65-4305-AC4C-263954DE0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33875"/>
            <a:ext cx="1085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rPr>
              <a:t>统计口径与适用范围详见本页演讲者备注。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079323D-1D59-45D1-9972-01EEE0792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619750"/>
            <a:ext cx="1085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rPr>
              <a:t>已确定安排：保留原链路并完成切换前复查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9F26CBD-32F3-441C-BC9A-8372AB8A9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34125"/>
            <a:ext cx="10858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rPr>
              <a:t>星桥项目 XQ-CS-26  |  v1.0  |  2026-09-15  |  11/24</a:t>
            </a:r>
          </a:p>
        </p:txBody>
      </p:sp>
    </p:spTree>
    <p:extLst>
      <p:ext uri="{BB962C8B-B14F-4D97-AF65-F5344CB8AC3E}">
        <p14:creationId xmlns:p14="http://schemas.microsoft.com/office/powerpoint/2010/main" val="17820462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DFD8B54-6A5F-4BCF-9801-AC8B7C90D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8625"/>
            <a:ext cx="10858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rPr>
              <a:t>XQ-012 网络联调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298FD3-2607-40FA-9314-456C28E26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85875"/>
            <a:ext cx="1085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rPr>
              <a:t>阶段目标：核对跨网段访问和白名单</a:t>
            </a:r>
          </a:p>
        </p:txBody>
      </p:sp>
      <p:graphicFrame>
        <p:nvGraphicFramePr>
          <p:cNvPr id="9" name="Chart"/>
          <p:cNvGraphicFramePr/>
          <p:nvPr/>
        </p:nvGraphicFramePr>
        <p:xfrm>
          <a:off xmlns:a="http://schemas.openxmlformats.org/drawingml/2006/main" x="666750" y="2333625"/>
          <a:ext xmlns:a="http://schemas.openxmlformats.org/drawingml/2006/main" cx="6667500" cy="3143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adfa03a54e124c7b"/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06031DF-9981-4A1B-8F8E-F40CCCD17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714625"/>
            <a:ext cx="34290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rPr>
              <a:t>数量单位：条</a:t>
            </a:r>
          </a:p>
          <a:p xmlns:a="http://schemas.openxmlformats.org/drawingml/2006/main">
            <a:pPr>
              <a:defRPr sz="1950" b="0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rPr>
              <a:t>仅反映作业记录</a:t>
            </a:r>
          </a:p>
          <a:p xmlns:a="http://schemas.openxmlformats.org/drawingml/2006/main">
            <a:pPr>
              <a:defRPr sz="1950" b="0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rPr>
              <a:t>不替代正式状态</a:t>
            </a:r>
          </a:p>
          <a:p xmlns:a="http://schemas.openxmlformats.org/drawingml/2006/main">
            <a:pPr>
              <a:defRPr sz="1950" b="0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rPr>
              <a:t>完整口径以工作簿为准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0F8F57D-2898-4582-A0EA-E2E5F3845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619750"/>
            <a:ext cx="1085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rPr>
              <a:t>已确定安排：汇总异常记录后召开问题确认会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22E4566-240F-4EEA-9EAD-FC22E03B3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34125"/>
            <a:ext cx="10858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rPr>
              <a:t>星桥项目 XQ-CS-26  |  v1.0  |  2026-09-15  |  12/24</a:t>
            </a:r>
          </a:p>
        </p:txBody>
      </p:sp>
    </p:spTree>
    <p:extLst>
      <p:ext uri="{BB962C8B-B14F-4D97-AF65-F5344CB8AC3E}">
        <p14:creationId xmlns:p14="http://schemas.microsoft.com/office/powerpoint/2010/main" val="488962074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F0A2062-2E72-4223-8364-E940954E7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8625"/>
            <a:ext cx="10858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rPr>
              <a:t>XQ-013 回滚演练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0022346-3D12-4F4C-947B-19D473CE2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85875"/>
            <a:ext cx="1085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rPr>
              <a:t>阶段目标：验证切换失败后可恢复到原有业务路径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66750" y="2476500"/>
          <a:ext xmlns:a="http://schemas.openxmlformats.org/drawingml/2006/main" cx="10858500" cy="1428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190750"/>
                <a:gridCol w="4667250"/>
                <a:gridCol w="4000500"/>
              </a:tblGrid>
              <a:tr h="714375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427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责任部门</a:t>
                      </a:r>
                    </a:p>
                  </a:txBody>
                  <a:tcPr marL="91440" marR="91440" marT="45720" marB="45720">
                    <a:solidFill>
                      <a:srgbClr val="E8EE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427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负责人</a:t>
                      </a:r>
                    </a:p>
                  </a:txBody>
                  <a:tcPr marL="91440" marR="91440" marT="45720" marB="45720">
                    <a:solidFill>
                      <a:srgbClr val="E8EE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427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计划日期</a:t>
                      </a:r>
                    </a:p>
                  </a:txBody>
                  <a:tcPr marL="91440" marR="91440" marT="45720" marB="45720">
                    <a:solidFill>
                      <a:srgbClr val="E8EEF3"/>
                    </a:solidFill>
                  </a:tcPr>
                </a:tc>
              </a:tr>
              <a:tr h="71437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427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实施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427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实施负责人05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427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2026-09-21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877B721-D4EE-4121-90E4-BA636D04D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33875"/>
            <a:ext cx="1085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rPr>
              <a:t>统计口径与适用范围详见本页演讲者备注。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64540F4-91EF-48CB-8952-6D413040E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619750"/>
            <a:ext cx="1085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rPr>
              <a:t>已确定安排：完成回归清单并由业务代表复核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BCCA6CC-3655-420A-9405-81F64E059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34125"/>
            <a:ext cx="10858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rPr>
              <a:t>星桥项目 XQ-CS-26  |  v1.0  |  2026-09-15  |  13/24</a:t>
            </a:r>
          </a:p>
        </p:txBody>
      </p:sp>
    </p:spTree>
    <p:extLst>
      <p:ext uri="{BB962C8B-B14F-4D97-AF65-F5344CB8AC3E}">
        <p14:creationId xmlns:p14="http://schemas.microsoft.com/office/powerpoint/2010/main" val="215321142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00C68C3-C2BA-4360-AF78-25BD4D9D0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8625"/>
            <a:ext cx="10858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rPr>
              <a:t>XQ-014 终端适配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301E3A-F080-4BBF-BCD9-88F739847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85875"/>
            <a:ext cx="1085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rPr>
              <a:t>阶段目标：核对不同终端的输入与展示差异</a:t>
            </a:r>
          </a:p>
        </p:txBody>
      </p:sp>
      <p:graphicFrame>
        <p:nvGraphicFramePr>
          <p:cNvPr id="9" name="Chart"/>
          <p:cNvGraphicFramePr/>
          <p:nvPr/>
        </p:nvGraphicFramePr>
        <p:xfrm>
          <a:off xmlns:a="http://schemas.openxmlformats.org/drawingml/2006/main" x="666750" y="2333625"/>
          <a:ext xmlns:a="http://schemas.openxmlformats.org/drawingml/2006/main" cx="6667500" cy="3143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71401d3b1a7d40e2"/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6CE1D3-DEFF-44FB-A94C-ED3A3D8F9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714625"/>
            <a:ext cx="34290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rPr>
              <a:t>数量单位：条</a:t>
            </a:r>
          </a:p>
          <a:p xmlns:a="http://schemas.openxmlformats.org/drawingml/2006/main">
            <a:pPr>
              <a:defRPr sz="1950" b="0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rPr>
              <a:t>仅反映作业记录</a:t>
            </a:r>
          </a:p>
          <a:p xmlns:a="http://schemas.openxmlformats.org/drawingml/2006/main">
            <a:pPr>
              <a:defRPr sz="1950" b="0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rPr>
              <a:t>不替代正式状态</a:t>
            </a:r>
          </a:p>
          <a:p xmlns:a="http://schemas.openxmlformats.org/drawingml/2006/main">
            <a:pPr>
              <a:defRPr sz="1950" b="0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rPr>
              <a:t>完整口径以工作簿为准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4F4FB51-54D1-424E-A631-385E10A8E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619750"/>
            <a:ext cx="1085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rPr>
              <a:t>已确定安排：补充边界样本后安排联合检查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D029B63-FD8E-4950-A739-59C59E9EF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34125"/>
            <a:ext cx="10858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rPr>
              <a:t>星桥项目 XQ-CS-26  |  v1.0  |  2026-09-15  |  14/24</a:t>
            </a:r>
          </a:p>
        </p:txBody>
      </p:sp>
    </p:spTree>
    <p:extLst>
      <p:ext uri="{BB962C8B-B14F-4D97-AF65-F5344CB8AC3E}">
        <p14:creationId xmlns:p14="http://schemas.microsoft.com/office/powerpoint/2010/main" val="1425460873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FB96DD0-2CE5-4715-8CD2-E6F4FDBC2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8625"/>
            <a:ext cx="10858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rPr>
              <a:t>XQ-015 权限复核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A7AF217-8096-449B-99E5-116170A73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85875"/>
            <a:ext cx="1085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rPr>
              <a:t>阶段目标：复核现场账号权限和责任人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66750" y="2476500"/>
          <a:ext xmlns:a="http://schemas.openxmlformats.org/drawingml/2006/main" cx="10858500" cy="1428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190750"/>
                <a:gridCol w="4667250"/>
                <a:gridCol w="4000500"/>
              </a:tblGrid>
              <a:tr h="714375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427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责任部门</a:t>
                      </a:r>
                    </a:p>
                  </a:txBody>
                  <a:tcPr marL="91440" marR="91440" marT="45720" marB="45720">
                    <a:solidFill>
                      <a:srgbClr val="E8EE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427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负责人</a:t>
                      </a:r>
                    </a:p>
                  </a:txBody>
                  <a:tcPr marL="91440" marR="91440" marT="45720" marB="45720">
                    <a:solidFill>
                      <a:srgbClr val="E8EE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427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计划日期</a:t>
                      </a:r>
                    </a:p>
                  </a:txBody>
                  <a:tcPr marL="91440" marR="91440" marT="45720" marB="45720">
                    <a:solidFill>
                      <a:srgbClr val="E8EEF3"/>
                    </a:solidFill>
                  </a:tcPr>
                </a:tc>
              </a:tr>
              <a:tr h="71437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427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实施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427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实施负责人07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427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2026-09-16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CBE7358-EE98-464E-A68F-8D43E958C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33875"/>
            <a:ext cx="1085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rPr>
              <a:t>统计口径与适用范围详见本页演讲者备注。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639A5D-1B94-46D1-ABB8-FA07836DF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619750"/>
            <a:ext cx="1085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rPr>
              <a:t>已确定安排：整理待确认字段并提交责任部门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6C98CF4-97FE-4EE9-B6C3-5C2FD899B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34125"/>
            <a:ext cx="10858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rPr>
              <a:t>星桥项目 XQ-CS-26  |  v1.0  |  2026-09-15  |  15/24</a:t>
            </a:r>
          </a:p>
        </p:txBody>
      </p:sp>
    </p:spTree>
    <p:extLst>
      <p:ext uri="{BB962C8B-B14F-4D97-AF65-F5344CB8AC3E}">
        <p14:creationId xmlns:p14="http://schemas.microsoft.com/office/powerpoint/2010/main" val="1440242971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F867B27-0674-4B98-89BC-390003E6B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8625"/>
            <a:ext cx="10858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rPr>
              <a:t>XQ-016 试点切换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EBEED2B-ACEA-4308-80BA-FD8CB3581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85875"/>
            <a:ext cx="1085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rPr>
              <a:t>阶段目标：按批准窗口执行试点切换</a:t>
            </a:r>
          </a:p>
        </p:txBody>
      </p:sp>
      <p:graphicFrame>
        <p:nvGraphicFramePr>
          <p:cNvPr id="9" name="Chart"/>
          <p:cNvGraphicFramePr/>
          <p:nvPr/>
        </p:nvGraphicFramePr>
        <p:xfrm>
          <a:off xmlns:a="http://schemas.openxmlformats.org/drawingml/2006/main" x="666750" y="2333625"/>
          <a:ext xmlns:a="http://schemas.openxmlformats.org/drawingml/2006/main" cx="6667500" cy="3143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d65dbad170fc40c9"/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1D381A-197B-4E23-B04D-053FAA5F0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714625"/>
            <a:ext cx="34290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rPr>
              <a:t>数量单位：条</a:t>
            </a:r>
          </a:p>
          <a:p xmlns:a="http://schemas.openxmlformats.org/drawingml/2006/main">
            <a:pPr>
              <a:defRPr sz="1950" b="0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rPr>
              <a:t>仅反映作业记录</a:t>
            </a:r>
          </a:p>
          <a:p xmlns:a="http://schemas.openxmlformats.org/drawingml/2006/main">
            <a:pPr>
              <a:defRPr sz="1950" b="0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rPr>
              <a:t>不替代正式状态</a:t>
            </a:r>
          </a:p>
          <a:p xmlns:a="http://schemas.openxmlformats.org/drawingml/2006/main">
            <a:pPr>
              <a:defRPr sz="1950" b="0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rPr>
              <a:t>完整口径以工作簿为准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ED54CE2-8C6D-4C4D-8F14-5965A1AC2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619750"/>
            <a:ext cx="1085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rPr>
              <a:t>已确定安排：按既定试点名单复核配置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7D70945-6196-424E-B75E-FB5AC826C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34125"/>
            <a:ext cx="10858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rPr>
              <a:t>星桥项目 XQ-CS-26  |  v1.0  |  2026-09-15  |  16/24</a:t>
            </a:r>
          </a:p>
        </p:txBody>
      </p:sp>
    </p:spTree>
    <p:extLst>
      <p:ext uri="{BB962C8B-B14F-4D97-AF65-F5344CB8AC3E}">
        <p14:creationId xmlns:p14="http://schemas.microsoft.com/office/powerpoint/2010/main" val="711619540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FBADA68-3B54-4B76-B00D-4259BCFC8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8625"/>
            <a:ext cx="10858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rPr>
              <a:t>XQ-017 坐席培训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E010EB-4CAC-43B5-A1BC-EA72B8ED4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85875"/>
            <a:ext cx="1085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rPr>
              <a:t>阶段目标：使试点坐席掌握新工单处理流程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66750" y="2476500"/>
          <a:ext xmlns:a="http://schemas.openxmlformats.org/drawingml/2006/main" cx="10858500" cy="1428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190750"/>
                <a:gridCol w="4667250"/>
                <a:gridCol w="4000500"/>
              </a:tblGrid>
              <a:tr h="714375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427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责任部门</a:t>
                      </a:r>
                    </a:p>
                  </a:txBody>
                  <a:tcPr marL="91440" marR="91440" marT="45720" marB="45720">
                    <a:solidFill>
                      <a:srgbClr val="E8EE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427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负责人</a:t>
                      </a:r>
                    </a:p>
                  </a:txBody>
                  <a:tcPr marL="91440" marR="91440" marT="45720" marB="45720">
                    <a:solidFill>
                      <a:srgbClr val="E8EE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427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计划日期</a:t>
                      </a:r>
                    </a:p>
                  </a:txBody>
                  <a:tcPr marL="91440" marR="91440" marT="45720" marB="45720">
                    <a:solidFill>
                      <a:srgbClr val="E8EEF3"/>
                    </a:solidFill>
                  </a:tcPr>
                </a:tc>
              </a:tr>
              <a:tr h="71437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427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运营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427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运营负责人01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427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2026-09-18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E6C90D8-E829-4858-8B57-DA043FC1D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33875"/>
            <a:ext cx="1085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rPr>
              <a:t>统计口径与适用范围详见本页演讲者备注。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06CB17D-7B88-4A87-BC98-F3A2DAA1C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619750"/>
            <a:ext cx="1085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rPr>
              <a:t>已确定安排：保留原链路并完成切换前复查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C2FF313-91EC-4331-9941-74C9E3401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34125"/>
            <a:ext cx="10858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rPr>
              <a:t>星桥项目 XQ-CS-26  |  v1.0  |  2026-09-15  |  17/24</a:t>
            </a:r>
          </a:p>
        </p:txBody>
      </p:sp>
    </p:spTree>
    <p:extLst>
      <p:ext uri="{BB962C8B-B14F-4D97-AF65-F5344CB8AC3E}">
        <p14:creationId xmlns:p14="http://schemas.microsoft.com/office/powerpoint/2010/main" val="1118407906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485E8A3-E235-4DCC-B057-2FB6BC3A8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8625"/>
            <a:ext cx="10858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rPr>
              <a:t>XQ-018 话术维护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7F2F05-6305-4021-B0A5-A916650B0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85875"/>
            <a:ext cx="1085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rPr>
              <a:t>阶段目标：更新试点业务话术与升级提示</a:t>
            </a:r>
          </a:p>
        </p:txBody>
      </p:sp>
      <p:graphicFrame>
        <p:nvGraphicFramePr>
          <p:cNvPr id="9" name="Chart"/>
          <p:cNvGraphicFramePr/>
          <p:nvPr/>
        </p:nvGraphicFramePr>
        <p:xfrm>
          <a:off xmlns:a="http://schemas.openxmlformats.org/drawingml/2006/main" x="666750" y="2333625"/>
          <a:ext xmlns:a="http://schemas.openxmlformats.org/drawingml/2006/main" cx="6667500" cy="3143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9f1d7bfcbace4fbf"/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DCB47D3-265D-4F4A-83CC-16365B09E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714625"/>
            <a:ext cx="34290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rPr>
              <a:t>数量单位：条</a:t>
            </a:r>
          </a:p>
          <a:p xmlns:a="http://schemas.openxmlformats.org/drawingml/2006/main">
            <a:pPr>
              <a:defRPr sz="1950" b="0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rPr>
              <a:t>仅反映作业记录</a:t>
            </a:r>
          </a:p>
          <a:p xmlns:a="http://schemas.openxmlformats.org/drawingml/2006/main">
            <a:pPr>
              <a:defRPr sz="1950" b="0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rPr>
              <a:t>不替代正式状态</a:t>
            </a:r>
          </a:p>
          <a:p xmlns:a="http://schemas.openxmlformats.org/drawingml/2006/main">
            <a:pPr>
              <a:defRPr sz="1950" b="0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rPr>
              <a:t>完整口径以工作簿为准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B0E453-7060-4C6A-B3DC-1B62027C1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619750"/>
            <a:ext cx="1085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rPr>
              <a:t>已确定安排：汇总异常记录后召开问题确认会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357BB3A-AA25-4ABE-9F7F-6F81944BF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34125"/>
            <a:ext cx="10858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rPr>
              <a:t>星桥项目 XQ-CS-26  |  v1.0  |  2026-09-15  |  18/24</a:t>
            </a:r>
          </a:p>
        </p:txBody>
      </p:sp>
    </p:spTree>
    <p:extLst>
      <p:ext uri="{BB962C8B-B14F-4D97-AF65-F5344CB8AC3E}">
        <p14:creationId xmlns:p14="http://schemas.microsoft.com/office/powerpoint/2010/main" val="413391328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7E7B2C6-7D62-4697-967F-DD65F3E5F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8625"/>
            <a:ext cx="10858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rPr>
              <a:t>XQ-019 知识审核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8633588-A05E-4CE7-B72F-2B1E99255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85875"/>
            <a:ext cx="1085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rPr>
              <a:t>阶段目标：核对知识条目的有效期与审核责任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66750" y="2476500"/>
          <a:ext xmlns:a="http://schemas.openxmlformats.org/drawingml/2006/main" cx="10858500" cy="1428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190750"/>
                <a:gridCol w="4667250"/>
                <a:gridCol w="4000500"/>
              </a:tblGrid>
              <a:tr h="714375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427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责任部门</a:t>
                      </a:r>
                    </a:p>
                  </a:txBody>
                  <a:tcPr marL="91440" marR="91440" marT="45720" marB="45720">
                    <a:solidFill>
                      <a:srgbClr val="E8EE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427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负责人</a:t>
                      </a:r>
                    </a:p>
                  </a:txBody>
                  <a:tcPr marL="91440" marR="91440" marT="45720" marB="45720">
                    <a:solidFill>
                      <a:srgbClr val="E8EE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427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计划日期</a:t>
                      </a:r>
                    </a:p>
                  </a:txBody>
                  <a:tcPr marL="91440" marR="91440" marT="45720" marB="45720">
                    <a:solidFill>
                      <a:srgbClr val="E8EEF3"/>
                    </a:solidFill>
                  </a:tcPr>
                </a:tc>
              </a:tr>
              <a:tr h="71437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427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运营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427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运营负责人03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427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2026-09-20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F009149-ED5C-4D35-81BA-DC50FB014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33875"/>
            <a:ext cx="1085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rPr>
              <a:t>统计口径与适用范围详见本页演讲者备注。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D723D7F-FD95-46E6-B186-140C8694F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619750"/>
            <a:ext cx="1085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rPr>
              <a:t>已确定安排：完成回归清单并由业务代表复核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9FAE5EE-D112-4836-BB23-39EF0FDEA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34125"/>
            <a:ext cx="10858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rPr>
              <a:t>星桥项目 XQ-CS-26  |  v1.0  |  2026-09-15  |  19/24</a:t>
            </a:r>
          </a:p>
        </p:txBody>
      </p:sp>
    </p:spTree>
    <p:extLst>
      <p:ext uri="{BB962C8B-B14F-4D97-AF65-F5344CB8AC3E}">
        <p14:creationId xmlns:p14="http://schemas.microsoft.com/office/powerpoint/2010/main" val="371380632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7DBD8E0-099F-4720-9A85-68A9D505A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8625"/>
            <a:ext cx="10858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rPr>
              <a:t>XQ-020 服务巡检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DA2BCC0-CC23-49CB-9010-8C6035287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85875"/>
            <a:ext cx="1085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rPr>
              <a:t>阶段目标：建立日常巡检和异常移交流程</a:t>
            </a:r>
          </a:p>
        </p:txBody>
      </p:sp>
      <p:graphicFrame>
        <p:nvGraphicFramePr>
          <p:cNvPr id="9" name="Chart"/>
          <p:cNvGraphicFramePr/>
          <p:nvPr/>
        </p:nvGraphicFramePr>
        <p:xfrm>
          <a:off xmlns:a="http://schemas.openxmlformats.org/drawingml/2006/main" x="666750" y="2333625"/>
          <a:ext xmlns:a="http://schemas.openxmlformats.org/drawingml/2006/main" cx="6667500" cy="3143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a6dbef40d7f94248"/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229599-F473-4D2D-903E-17EE1FE5B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714625"/>
            <a:ext cx="34290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rPr>
              <a:t>数量单位：条</a:t>
            </a:r>
          </a:p>
          <a:p xmlns:a="http://schemas.openxmlformats.org/drawingml/2006/main">
            <a:pPr>
              <a:defRPr sz="1950" b="0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rPr>
              <a:t>仅反映作业记录</a:t>
            </a:r>
          </a:p>
          <a:p xmlns:a="http://schemas.openxmlformats.org/drawingml/2006/main">
            <a:pPr>
              <a:defRPr sz="1950" b="0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rPr>
              <a:t>不替代正式状态</a:t>
            </a:r>
          </a:p>
          <a:p xmlns:a="http://schemas.openxmlformats.org/drawingml/2006/main">
            <a:pPr>
              <a:defRPr sz="1950" b="0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rPr>
              <a:t>完整口径以工作簿为准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1C822AD-B4C6-408C-8E42-7E1044440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619750"/>
            <a:ext cx="1085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rPr>
              <a:t>已确定安排：补充边界样本后安排联合检查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4B0776F-C3A2-4D1C-9D58-791C94C3A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34125"/>
            <a:ext cx="10858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rPr>
              <a:t>星桥项目 XQ-CS-26  |  v1.0  |  2026-09-15  |  20/24</a:t>
            </a:r>
          </a:p>
        </p:txBody>
      </p:sp>
    </p:spTree>
    <p:extLst>
      <p:ext uri="{BB962C8B-B14F-4D97-AF65-F5344CB8AC3E}">
        <p14:creationId xmlns:p14="http://schemas.microsoft.com/office/powerpoint/2010/main" val="626336087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BB3989D-DAAE-4D61-8ABA-4C335260C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8625"/>
            <a:ext cx="10858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rPr>
              <a:t>XQ-021 反馈归因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2281CE0-6E56-4AC6-AA40-AF7634C38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85875"/>
            <a:ext cx="1085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rPr>
              <a:t>阶段目标：按固定分类记录用户反馈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66750" y="2476500"/>
          <a:ext xmlns:a="http://schemas.openxmlformats.org/drawingml/2006/main" cx="10858500" cy="1428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190750"/>
                <a:gridCol w="4667250"/>
                <a:gridCol w="4000500"/>
              </a:tblGrid>
              <a:tr h="714375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427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责任部门</a:t>
                      </a:r>
                    </a:p>
                  </a:txBody>
                  <a:tcPr marL="91440" marR="91440" marT="45720" marB="45720">
                    <a:solidFill>
                      <a:srgbClr val="E8EE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427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负责人</a:t>
                      </a:r>
                    </a:p>
                  </a:txBody>
                  <a:tcPr marL="91440" marR="91440" marT="45720" marB="45720">
                    <a:solidFill>
                      <a:srgbClr val="E8EE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427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计划日期</a:t>
                      </a:r>
                    </a:p>
                  </a:txBody>
                  <a:tcPr marL="91440" marR="91440" marT="45720" marB="45720">
                    <a:solidFill>
                      <a:srgbClr val="E8EEF3"/>
                    </a:solidFill>
                  </a:tcPr>
                </a:tc>
              </a:tr>
              <a:tr h="71437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427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运营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427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运营负责人05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427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2026-09-22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016E2C-F6EB-4895-9029-8752EAAAF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33875"/>
            <a:ext cx="1085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rPr>
              <a:t>统计口径与适用范围详见本页演讲者备注。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7A85033-E174-46E0-BF4C-C7B241937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619750"/>
            <a:ext cx="1085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rPr>
              <a:t>已确定安排：整理待确认字段并提交责任部门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13B46B5-947C-4B19-A805-BEA3044C9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34125"/>
            <a:ext cx="10858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rPr>
              <a:t>星桥项目 XQ-CS-26  |  v1.0  |  2026-09-15  |  21/24</a:t>
            </a:r>
          </a:p>
        </p:txBody>
      </p:sp>
    </p:spTree>
    <p:extLst>
      <p:ext uri="{BB962C8B-B14F-4D97-AF65-F5344CB8AC3E}">
        <p14:creationId xmlns:p14="http://schemas.microsoft.com/office/powerpoint/2010/main" val="1254159858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072CDF8-ADE4-48AA-8540-178E885EC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8625"/>
            <a:ext cx="10858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rPr>
              <a:t>XQ-022 排班协同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38A487-E8EF-4764-B26D-39BA620BC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85875"/>
            <a:ext cx="1085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rPr>
              <a:t>阶段目标：核对试点时段的值班衔接</a:t>
            </a:r>
          </a:p>
        </p:txBody>
      </p:sp>
      <p:graphicFrame>
        <p:nvGraphicFramePr>
          <p:cNvPr id="9" name="Chart"/>
          <p:cNvGraphicFramePr/>
          <p:nvPr/>
        </p:nvGraphicFramePr>
        <p:xfrm>
          <a:off xmlns:a="http://schemas.openxmlformats.org/drawingml/2006/main" x="666750" y="2333625"/>
          <a:ext xmlns:a="http://schemas.openxmlformats.org/drawingml/2006/main" cx="6667500" cy="3143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df1062f5291d4fef"/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FCB4B9D-F756-47D9-AC3E-976C701C8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714625"/>
            <a:ext cx="34290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rPr>
              <a:t>数量单位：条</a:t>
            </a:r>
          </a:p>
          <a:p xmlns:a="http://schemas.openxmlformats.org/drawingml/2006/main">
            <a:pPr>
              <a:defRPr sz="1950" b="0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rPr>
              <a:t>仅反映作业记录</a:t>
            </a:r>
          </a:p>
          <a:p xmlns:a="http://schemas.openxmlformats.org/drawingml/2006/main">
            <a:pPr>
              <a:defRPr sz="1950" b="0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rPr>
              <a:t>不替代正式状态</a:t>
            </a:r>
          </a:p>
          <a:p xmlns:a="http://schemas.openxmlformats.org/drawingml/2006/main">
            <a:pPr>
              <a:defRPr sz="1950" b="0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rPr>
              <a:t>完整口径以工作簿为准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997499D-F29F-4F5B-845E-1D8381D3C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619750"/>
            <a:ext cx="1085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rPr>
              <a:t>已确定安排：按既定试点名单复核配置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90DE16-B2F5-4BFC-8614-817C75BC4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34125"/>
            <a:ext cx="10858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rPr>
              <a:t>星桥项目 XQ-CS-26  |  v1.0  |  2026-09-15  |  22/24</a:t>
            </a:r>
          </a:p>
        </p:txBody>
      </p:sp>
    </p:spTree>
    <p:extLst>
      <p:ext uri="{BB962C8B-B14F-4D97-AF65-F5344CB8AC3E}">
        <p14:creationId xmlns:p14="http://schemas.microsoft.com/office/powerpoint/2010/main" val="1813794822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B21DDD1-0F30-422E-B9B7-24DD7AD5E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8625"/>
            <a:ext cx="10858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rPr>
              <a:t>XQ-023 应急值守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981A168-0339-451D-BA6F-4A5655356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85875"/>
            <a:ext cx="1085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rPr>
              <a:t>阶段目标：明确试点异常的值守与升级联系人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66750" y="2476500"/>
          <a:ext xmlns:a="http://schemas.openxmlformats.org/drawingml/2006/main" cx="10858500" cy="1428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190750"/>
                <a:gridCol w="4667250"/>
                <a:gridCol w="4000500"/>
              </a:tblGrid>
              <a:tr h="714375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427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责任部门</a:t>
                      </a:r>
                    </a:p>
                  </a:txBody>
                  <a:tcPr marL="91440" marR="91440" marT="45720" marB="45720">
                    <a:solidFill>
                      <a:srgbClr val="E8EE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427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负责人</a:t>
                      </a:r>
                    </a:p>
                  </a:txBody>
                  <a:tcPr marL="91440" marR="91440" marT="45720" marB="45720">
                    <a:solidFill>
                      <a:srgbClr val="E8EE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427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计划日期</a:t>
                      </a:r>
                    </a:p>
                  </a:txBody>
                  <a:tcPr marL="91440" marR="91440" marT="45720" marB="45720">
                    <a:solidFill>
                      <a:srgbClr val="E8EEF3"/>
                    </a:solidFill>
                  </a:tcPr>
                </a:tc>
              </a:tr>
              <a:tr h="71437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427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运营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427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运营负责人07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427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2026-09-17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D75FC5-C20D-4E04-B379-BB70A667F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33875"/>
            <a:ext cx="1085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rPr>
              <a:t>统计口径与适用范围详见本页演讲者备注。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9D3F1E6-FE9F-4DC3-AE6B-0081E5839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619750"/>
            <a:ext cx="1085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rPr>
              <a:t>已确定安排：保留原链路并完成切换前复查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69C0C8B-4D50-482E-A774-6911F16D4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34125"/>
            <a:ext cx="10858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rPr>
              <a:t>星桥项目 XQ-CS-26  |  v1.0  |  2026-09-15  |  23/24</a:t>
            </a:r>
          </a:p>
        </p:txBody>
      </p:sp>
    </p:spTree>
    <p:extLst>
      <p:ext uri="{BB962C8B-B14F-4D97-AF65-F5344CB8AC3E}">
        <p14:creationId xmlns:p14="http://schemas.microsoft.com/office/powerpoint/2010/main" val="952980283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7A7378B-DC80-4551-8F7E-27CC772E5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8625"/>
            <a:ext cx="10858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rPr>
              <a:t>XQ-024 运营交接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8C81B6E-3990-4F86-A66C-72F76A08D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85875"/>
            <a:ext cx="1085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rPr>
              <a:t>阶段目标：将试点运行记录交接给常规运营组</a:t>
            </a:r>
          </a:p>
        </p:txBody>
      </p:sp>
      <p:graphicFrame>
        <p:nvGraphicFramePr>
          <p:cNvPr id="9" name="Chart"/>
          <p:cNvGraphicFramePr/>
          <p:nvPr/>
        </p:nvGraphicFramePr>
        <p:xfrm>
          <a:off xmlns:a="http://schemas.openxmlformats.org/drawingml/2006/main" x="666750" y="2333625"/>
          <a:ext xmlns:a="http://schemas.openxmlformats.org/drawingml/2006/main" cx="6667500" cy="3143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7b056122f1ae468f"/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884FCE6-3C17-439E-9FEC-A0233FB74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714625"/>
            <a:ext cx="34290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rPr>
              <a:t>数量单位：条</a:t>
            </a:r>
          </a:p>
          <a:p xmlns:a="http://schemas.openxmlformats.org/drawingml/2006/main">
            <a:pPr>
              <a:defRPr sz="1950" b="0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rPr>
              <a:t>仅反映作业记录</a:t>
            </a:r>
          </a:p>
          <a:p xmlns:a="http://schemas.openxmlformats.org/drawingml/2006/main">
            <a:pPr>
              <a:defRPr sz="1950" b="0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rPr>
              <a:t>不替代正式状态</a:t>
            </a:r>
          </a:p>
          <a:p xmlns:a="http://schemas.openxmlformats.org/drawingml/2006/main">
            <a:pPr>
              <a:defRPr sz="1950" b="0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rPr>
              <a:t>完整口径以工作簿为准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8E31A95-DAC2-4F2E-AD01-5DFA87DF2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619750"/>
            <a:ext cx="1085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rPr>
              <a:t>已确定安排：汇总异常记录后召开问题确认会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61B7BED-B40D-4EF1-9C95-3EB2B8EF7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34125"/>
            <a:ext cx="10858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rPr>
              <a:t>星桥项目 XQ-CS-26  |  v1.0  |  2026-09-15  |  24/24</a:t>
            </a:r>
          </a:p>
        </p:txBody>
      </p:sp>
    </p:spTree>
    <p:extLst>
      <p:ext uri="{BB962C8B-B14F-4D97-AF65-F5344CB8AC3E}">
        <p14:creationId xmlns:p14="http://schemas.microsoft.com/office/powerpoint/2010/main" val="41060828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2026-09-22T06:07:59.6040000Z</dcterms:created>
  <dcterms:modified xsi:type="dcterms:W3CDTF">2026-09-22T06:07:59.6040000Z</dcterms:modified>
</coreProperties>
</file>