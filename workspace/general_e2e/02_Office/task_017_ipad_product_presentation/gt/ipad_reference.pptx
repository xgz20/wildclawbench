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"1.0" encoding="utf-8" ?>
<Relationships xmlns="http://schemas.openxmlformats.org/package/2006/relationships">
    <Relationship Type="http://schemas.openxmlformats.org/package/2006/relationships/metadata/core-properties" Target="/docProps/core.xml" Id="R7e668176a7934dd9" />
    <Relationship Type="http://schemas.openxmlformats.org/officeDocument/2006/relationships/extended-properties" Target="/docProps/app.xml" Id="R11e49934da2246bc" />
    <Relationship Type="http://schemas.openxmlformats.org/officeDocument/2006/relationships/officeDocument" Target="/ppt/presentation.xml" Id="Rc0adcf7288404e2b" />
    <Relationship Id="rId2" Type="http://schemas.openxmlformats.org/officeDocument/2006/relationships/custom-properties" Target="docProps/custom.xml" />
</Relationships>
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b6f8efb666435c"/>
  </p:sldMasterIdLst>
  <p:notesMasterIdLst>
    <p:notesMasterId xmlns:r="http://schemas.openxmlformats.org/officeDocument/2006/relationships" r:id="Rf970d72ef45541b3"/>
  </p:notesMasterIdLst>
  <p:sldIdLst>
    <p:sldId xmlns:r="http://schemas.openxmlformats.org/officeDocument/2006/relationships" id="256" r:id="R45e69e29fc224937"/>
    <p:sldId xmlns:r="http://schemas.openxmlformats.org/officeDocument/2006/relationships" id="257" r:id="R5375fdaf08bb473a"/>
    <p:sldId xmlns:r="http://schemas.openxmlformats.org/officeDocument/2006/relationships" id="258" r:id="R766755a209db451a"/>
    <p:sldId xmlns:r="http://schemas.openxmlformats.org/officeDocument/2006/relationships" id="259" r:id="R58adefde109047f3"/>
    <p:sldId xmlns:r="http://schemas.openxmlformats.org/officeDocument/2006/relationships" id="260" r:id="R0a16668362c74441"/>
    <p:sldId xmlns:r="http://schemas.openxmlformats.org/officeDocument/2006/relationships" id="261" r:id="R683b6904cef14bc4"/>
    <p:sldId xmlns:r="http://schemas.openxmlformats.org/officeDocument/2006/relationships" id="262" r:id="Re41aacf4d59e4d66"/>
    <p:sldId xmlns:r="http://schemas.openxmlformats.org/officeDocument/2006/relationships" id="263" r:id="R7e83b909c1254f4f"/>
    <p:sldId xmlns:r="http://schemas.openxmlformats.org/officeDocument/2006/relationships" id="264" r:id="Rc4d3766f3d4343da"/>
    <p:sldId xmlns:r="http://schemas.openxmlformats.org/officeDocument/2006/relationships" id="265" r:id="R731c267360d8429c"/>
    <p:sldId xmlns:r="http://schemas.openxmlformats.org/officeDocument/2006/relationships" id="266" r:id="R60f3302abd0e4051"/>
    <p:sldId xmlns:r="http://schemas.openxmlformats.org/officeDocument/2006/relationships" id="267" r:id="R67f04c6ebcbf4e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af6c9e0a741d3" /><Relationship Type="http://schemas.openxmlformats.org/officeDocument/2006/relationships/slideMaster" Target="/ppt/slideMasters/slideMaster1.xml" Id="R33b6f8efb666435c" /><Relationship Type="http://schemas.openxmlformats.org/officeDocument/2006/relationships/notesMaster" Target="/ppt/notesMasters/notesMaster1.xml" Id="Rf970d72ef45541b3" /><Relationship Type="http://schemas.openxmlformats.org/officeDocument/2006/relationships/presProps" Target="/ppt/presProps.xml" Id="Refd74e0fc50547a8" /><Relationship Type="http://schemas.openxmlformats.org/officeDocument/2006/relationships/tableStyles" Target="/ppt/tableStyles.xml" Id="R48ec320cc9094139" /><Relationship Type="http://schemas.openxmlformats.org/officeDocument/2006/relationships/slide" Target="/ppt/slides/slide1.xml" Id="R45e69e29fc224937" /><Relationship Type="http://schemas.openxmlformats.org/officeDocument/2006/relationships/slide" Target="/ppt/slides/slide2.xml" Id="R5375fdaf08bb473a" /><Relationship Type="http://schemas.openxmlformats.org/officeDocument/2006/relationships/slide" Target="/ppt/slides/slide3.xml" Id="R766755a209db451a" /><Relationship Type="http://schemas.openxmlformats.org/officeDocument/2006/relationships/slide" Target="/ppt/slides/slide4.xml" Id="R58adefde109047f3" /><Relationship Type="http://schemas.openxmlformats.org/officeDocument/2006/relationships/slide" Target="/ppt/slides/slide5.xml" Id="R0a16668362c74441" /><Relationship Type="http://schemas.openxmlformats.org/officeDocument/2006/relationships/slide" Target="/ppt/slides/slide6.xml" Id="R683b6904cef14bc4" /><Relationship Type="http://schemas.openxmlformats.org/officeDocument/2006/relationships/slide" Target="/ppt/slides/slide7.xml" Id="Re41aacf4d59e4d66" /><Relationship Type="http://schemas.openxmlformats.org/officeDocument/2006/relationships/slide" Target="/ppt/slides/slide8.xml" Id="R7e83b909c1254f4f" /><Relationship Type="http://schemas.openxmlformats.org/officeDocument/2006/relationships/slide" Target="/ppt/slides/slide9.xml" Id="Rc4d3766f3d4343da" /><Relationship Type="http://schemas.openxmlformats.org/officeDocument/2006/relationships/slide" Target="/ppt/slides/slide10.xml" Id="R731c267360d8429c" /><Relationship Type="http://schemas.openxmlformats.org/officeDocument/2006/relationships/slide" Target="/ppt/slides/slide11.xml" Id="R60f3302abd0e4051" /><Relationship Type="http://schemas.openxmlformats.org/officeDocument/2006/relationships/slide" Target="/ppt/slides/slide12.xml" Id="R67f04c6ebcbf4e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b805d328746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e605da5a5145ff" /><Relationship Type="http://schemas.openxmlformats.org/officeDocument/2006/relationships/notesMaster" Target="/ppt/notesMasters/notesMaster1.xml" Id="R55e9834d8dfe43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bb343654474e37" /><Relationship Type="http://schemas.openxmlformats.org/officeDocument/2006/relationships/notesMaster" Target="/ppt/notesMasters/notesMaster1.xml" Id="Rea8490e576184c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9b9dd8ebdf4876" /><Relationship Type="http://schemas.openxmlformats.org/officeDocument/2006/relationships/notesMaster" Target="/ppt/notesMasters/notesMaster1.xml" Id="R46e1d7194c0c40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9e56cf88b04c1d" /><Relationship Type="http://schemas.openxmlformats.org/officeDocument/2006/relationships/notesMaster" Target="/ppt/notesMasters/notesMaster1.xml" Id="Rcf218d8963984e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32880da0cd4873" /><Relationship Type="http://schemas.openxmlformats.org/officeDocument/2006/relationships/notesMaster" Target="/ppt/notesMasters/notesMaster1.xml" Id="Rb47d35dd113848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023a512164147" /><Relationship Type="http://schemas.openxmlformats.org/officeDocument/2006/relationships/notesMaster" Target="/ppt/notesMasters/notesMaster1.xml" Id="Rbe1d3cbd7575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d06eace2854503" /><Relationship Type="http://schemas.openxmlformats.org/officeDocument/2006/relationships/notesMaster" Target="/ppt/notesMasters/notesMaster1.xml" Id="Re1a8ceceb1654c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ab423547714cfc" /><Relationship Type="http://schemas.openxmlformats.org/officeDocument/2006/relationships/notesMaster" Target="/ppt/notesMasters/notesMaster1.xml" Id="Rc325ce266b954f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51b50694c24513" /><Relationship Type="http://schemas.openxmlformats.org/officeDocument/2006/relationships/notesMaster" Target="/ppt/notesMasters/notesMaster1.xml" Id="Rdf8cc6478689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46f269d804c8e" /><Relationship Type="http://schemas.openxmlformats.org/officeDocument/2006/relationships/notesMaster" Target="/ppt/notesMasters/notesMaster1.xml" Id="R45239291aa7f405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69fc8ff2f24930" /><Relationship Type="http://schemas.openxmlformats.org/officeDocument/2006/relationships/notesMaster" Target="/ppt/notesMasters/notesMaster1.xml" Id="R71232465554446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a6f628df80438d" /><Relationship Type="http://schemas.openxmlformats.org/officeDocument/2006/relationships/notesMaster" Target="/ppt/notesMasters/notesMaster1.xml" Id="R5c087f5ccc8a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第1页。页面展示 iPad、Lovable. Drawable. Magical.、From $349 or $29.08/mo. for 12 mo.，图像亦来自第1页。价格仅指冻结材料中的美元起售价，未给出人民币价格或当前销售报价；本稿不补充后续版本。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第2—4页。A16 chip；128GB of starting storage；11-inch Liquid Retina display；Touch ID 用于解锁、登录和支付。第3页是更多存储与 Liquid Retina 的主视觉。第4页产品图用于本页。本文没有把 A16 当作量化测试结果，不补充核心数量、刷新率、分辨率或峰值亮度。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第4、9、15页。11-inch Liquid Retina；第15页为观影情境，明确提到 True Tone（原彩显示）与不同光线下舒适观看。第9页强调创作画布。图像来自第15页。没有材料依据的 OLED、120Hz、屏幕亮度和专业色准指标不能添加。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第6—8页。可同时使用多个 App；记笔记、协作和多任务；编辑电子表格、Keynote 演示和笔记。第8页描述 all-day battery life，但未在本材料中给出具体续航小时数。图像来自第7页。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第9页。11英寸 Liquid Retina 是创作画布，可使用 Apple Pencil 涂画、做笔记、标注文档；页面示意在视频上绘画。图像来自第9页。配件功能不得理解为包装中已含 Apple Pencil。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第8、10页。A16 的 Neural Engine 与机器学习能力有助于4K视频编辑和通过Live Text与照片/视频内容互动；本材料没有提供性能百分比、跑分或与其他芯片的测试结果。第10页描述高质量内置麦克风和 landscape stereo speakers，举例播客、节拍和影片配乐。图像来自第10页。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第11—14页。第11页12MP Wide后置广角摄像头，可拍摄内容、修整照片、编辑视频、用Visual Look Up识别图中对象、扫描和标注文档；第12—13页12MP Center Stage摄像头、人物居中、Smart HDR 4，以及视频会议/自拍示例；第14页Wi-Fi，5G限定于Wi-Fi + Cellular机型，数据计划为可选项。图像来自第12页。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第6、8页。Smart Script使手写笔记更流畅、灵活且清晰；Math Notes可使用Apple Pencil求解方程；Live Text用于与照片或视频中的内容互动。图像来自第6页，示意Math Notes和同时使用多个App。本材料未给iPadOS具体版本号，不表述为当前最新版。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第5、9、17—18、24页。Apple Pencil支持绘画、手写、笔记、日记、插画和文档标注，材料描述像素级精确度与低延迟；第5页图注为磁吸附着，不等同磁吸充电。第17—18页还介绍Smart Folio正反面保护和USB-C连接硬盘、扩展坞、显示器等。第24页iPad栏支持Apple Pencil (USB-C)和Apple Pencil (1st generation)，其他型号的Pencil Pro兼容性不属于本机。图像来自第17页。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第5、8、19页。Magic Keyboard Folio为可磁吸连接的两件式设计：可拆卸键盘与带可调支架的保护背板；内置触控板，第5页说明click-anywhere trackpad；第19页说明14-key function row。第5页“不需配对或充电”的图注对应键盘，不应归给Apple Pencil。图像来自第19页。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第15—16、20—21页。Liquid Retina与True Tone用于观影；AR体验用于学习；Game Mode使高图形负载游戏帧率更稳定，但未给帧率或提升百分比；SharePlay邀请朋友一起观看或游玩；可配对游戏手柄。第20页列Photos、Maps、Messages、Apple News、Mail、Safari等内置App，并称App Store有超过一百万款为iPad设计的App。第21页图示Freeform、Procreate、Apple Books、iMovie、Microsoft Excel和视频会议等应用。图像来自第16页。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来源：material.pdf 第1—24页的归纳。第22页：按重量计40%再生材料；制造使用30%可再生电力；100%纤维基包装；Apple提出2030年全部碳足迹净零目标（企业目标，不等于本产品现已碳中和）；隐私与无障碍为品牌价值说明。第23页：符合条件的旧iPad可通过Apple Trade In获得抵扣；学生和教育工作者可获得教育优惠，材料未列折扣金额。图像来自第23页。第24页为其他型号对比：iPad Pro为M5、Ultra Retina XDR、TrueDepth摄像头，iPad Air为M3、Liquid Retina、Touch ID，iPad为A16、11英寸Liquid Retina、Touch ID，iPad mini为A17 Pro、8.3英寸Liquid Retina、Touch ID；Apple Intelligence标在Pro/Air/mini栏，iPad栏为短横线。不能把对比机型能力归给本题iPad。第24页iPad栏还列出sRGB色彩、原彩显示、12MP广角后摄与4K视频、横向12MP人物居中前摄、支持Magic Keyboard Folio；Pro起售价999美元、Air599美元、mini499美元，不能当作本题iPad的349美元。Pro与Air提供13或11英寸，iPad mini为8.3英寸；Pro列ProMotion和纳米纹理玻璃（1TB/2TB机型选项），这些不属于本题iPad。比较信息仅用于辨别对象，不要求候选输出比较页。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5ac1ad8c54d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e98fb656742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c0276436a401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f512a08ff45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38e8b28f446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e626fb7c446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4DCED4-D910-4E10-8E7B-DFA9775273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D4806F-03FF-45C3-B423-DB15F96A5B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F855C0-FF37-4EA5-AF5C-86BFA2BAD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1C55DA-BB8A-47D0-847C-3C6CC75D88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7E07E0-2453-4034-A2FD-3CA4D53E51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5A6B0F-1CD1-40AA-819A-90BD24D335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1546B8-BB5C-41EE-B4C5-8838B50F13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5EC376-40F7-452C-9726-E10E1E3D43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CA615F-AF59-4F2D-8B37-1ECE410294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8D4648D-90B2-46F7-BE74-BAE8172E1D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b754c615a8443a" /><Relationship Type="http://schemas.openxmlformats.org/officeDocument/2006/relationships/slideLayout" Target="/ppt/slideLayouts/slideLayout1.xml" Id="R80b11f07a4fe43fb" /><Relationship Type="http://schemas.openxmlformats.org/officeDocument/2006/relationships/slideLayout" Target="/ppt/slideLayouts/slideLayout2.xml" Id="Rae7f1159bb0d4b86" /><Relationship Type="http://schemas.openxmlformats.org/officeDocument/2006/relationships/slideLayout" Target="/ppt/slideLayouts/slideLayout3.xml" Id="R5c62aae80c7842cd" /><Relationship Type="http://schemas.openxmlformats.org/officeDocument/2006/relationships/slideLayout" Target="/ppt/slideLayouts/slideLayout4.xml" Id="R97d533d9e6374787" /><Relationship Type="http://schemas.openxmlformats.org/officeDocument/2006/relationships/slideLayout" Target="/ppt/slideLayouts/slideLayout5.xml" Id="Rc38a3430414a46db" /><Relationship Type="http://schemas.openxmlformats.org/officeDocument/2006/relationships/slideLayout" Target="/ppt/slideLayouts/slideLayout6.xml" Id="Raaf99d27732b40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11f07a4fe43fb"/>
    <p:sldLayoutId xmlns:r="http://schemas.openxmlformats.org/officeDocument/2006/relationships" id="2147483650" r:id="Rae7f1159bb0d4b86"/>
    <p:sldLayoutId xmlns:r="http://schemas.openxmlformats.org/officeDocument/2006/relationships" id="2147483651" r:id="R5c62aae80c7842cd"/>
    <p:sldLayoutId xmlns:r="http://schemas.openxmlformats.org/officeDocument/2006/relationships" id="2147483652" r:id="R97d533d9e6374787"/>
    <p:sldLayoutId xmlns:r="http://schemas.openxmlformats.org/officeDocument/2006/relationships" id="2147483653" r:id="Rc38a3430414a46db"/>
    <p:sldLayoutId xmlns:r="http://schemas.openxmlformats.org/officeDocument/2006/relationships" id="2147483654" r:id="Raaf99d27732b40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ccce79b864279" /><Relationship Type="http://schemas.openxmlformats.org/officeDocument/2006/relationships/image" Target="/ppt/media/image.png" Id="R81fdf8f02fdd47e4" /><Relationship Type="http://schemas.openxmlformats.org/officeDocument/2006/relationships/notesSlide" Target="/ppt/notesSlides/notesSlide1.xml" Id="R3124b69242eb47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252af171d454d" /><Relationship Type="http://schemas.openxmlformats.org/officeDocument/2006/relationships/image" Target="/ppt/media/image2.png" Id="R06adbad5d72947bb" /><Relationship Type="http://schemas.openxmlformats.org/officeDocument/2006/relationships/notesSlide" Target="/ppt/notesSlides/notesSlide2.xml" Id="R0956ffd8989d40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c1bcbf6d74fd2" /><Relationship Type="http://schemas.openxmlformats.org/officeDocument/2006/relationships/image" Target="/ppt/media/image3.png" Id="R6859060555794de6" /><Relationship Type="http://schemas.openxmlformats.org/officeDocument/2006/relationships/notesSlide" Target="/ppt/notesSlides/notesSlide3.xml" Id="Rd7e65f7c95d147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bff05599944d1" /><Relationship Type="http://schemas.openxmlformats.org/officeDocument/2006/relationships/image" Target="/ppt/media/image4.png" Id="R80239379f82b4c1b" /><Relationship Type="http://schemas.openxmlformats.org/officeDocument/2006/relationships/notesSlide" Target="/ppt/notesSlides/notesSlide4.xml" Id="R84b3bc68c20043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a8ad928704d7f" /><Relationship Type="http://schemas.openxmlformats.org/officeDocument/2006/relationships/image" Target="/ppt/media/image5.png" Id="R5ce7cf8fde514a73" /><Relationship Type="http://schemas.openxmlformats.org/officeDocument/2006/relationships/notesSlide" Target="/ppt/notesSlides/notesSlide5.xml" Id="R0b0ec44de51844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5c5c50408440a" /><Relationship Type="http://schemas.openxmlformats.org/officeDocument/2006/relationships/image" Target="/ppt/media/image6.png" Id="R98834be6c6c14199" /><Relationship Type="http://schemas.openxmlformats.org/officeDocument/2006/relationships/notesSlide" Target="/ppt/notesSlides/notesSlide6.xml" Id="R7fe918a7138944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9c6bfbcbc4f87" /><Relationship Type="http://schemas.openxmlformats.org/officeDocument/2006/relationships/image" Target="/ppt/media/image7.png" Id="Ra3b17c20bb3e4e9f" /><Relationship Type="http://schemas.openxmlformats.org/officeDocument/2006/relationships/notesSlide" Target="/ppt/notesSlides/notesSlide7.xml" Id="R77d92af2e21348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b537e478b4b3f" /><Relationship Type="http://schemas.openxmlformats.org/officeDocument/2006/relationships/image" Target="/ppt/media/image8.png" Id="R4259d2d2c7324cfd" /><Relationship Type="http://schemas.openxmlformats.org/officeDocument/2006/relationships/notesSlide" Target="/ppt/notesSlides/notesSlide8.xml" Id="Rd11b6c3e6130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3b7eb6e7144f37" /><Relationship Type="http://schemas.openxmlformats.org/officeDocument/2006/relationships/image" Target="/ppt/media/image9.png" Id="Rbd733b5b0ca545f3" /><Relationship Type="http://schemas.openxmlformats.org/officeDocument/2006/relationships/notesSlide" Target="/ppt/notesSlides/notesSlide9.xml" Id="R0708bc4d7e1f4a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19be5b9fe4443" /><Relationship Type="http://schemas.openxmlformats.org/officeDocument/2006/relationships/image" Target="/ppt/media/image10.png" Id="Re5934bf7721c4562" /><Relationship Type="http://schemas.openxmlformats.org/officeDocument/2006/relationships/notesSlide" Target="/ppt/notesSlides/notesSlide10.xml" Id="R6e4a3545b49e44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4a1b6404b643a1" /><Relationship Type="http://schemas.openxmlformats.org/officeDocument/2006/relationships/image" Target="/ppt/media/image11.png" Id="Ra579cec7e4fb4782" /><Relationship Type="http://schemas.openxmlformats.org/officeDocument/2006/relationships/notesSlide" Target="/ppt/notesSlides/notesSlide11.xml" Id="R64eb822b204f4d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2853added944f8" /><Relationship Type="http://schemas.openxmlformats.org/officeDocument/2006/relationships/image" Target="/ppt/media/image12.png" Id="Ra8c5b86c98a34dbf" /><Relationship Type="http://schemas.openxmlformats.org/officeDocument/2006/relationships/notesSlide" Target="/ppt/notesSlides/notesSlide12.xml" Id="R9a310786673f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AE940281-C0B8-45AA-85EC-B6E5B5B1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A8353-BCD8-4253-950D-4F1A19B9E6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df8f02fdd47e4"/>
          <a:stretch xmlns:a="http://schemas.openxmlformats.org/drawingml/2006/main"/>
        </p:blipFill>
        <p:spPr>
          <a:xfrm xmlns:a="http://schemas.openxmlformats.org/drawingml/2006/main">
            <a:off x="1412307" y="400050"/>
            <a:ext cx="4452486" cy="5810250"/>
          </a:xfrm>
          <a:prstGeom xmlns:a="http://schemas.openxmlformats.org/drawingml/2006/main" prst="rect">
            <a:avLst/>
          </a:prstGeom>
        </p:spPr>
      </p:pic>
      <p:sp>
        <p:nvSpPr>
          <p:cNvPr id="3" name="iPad">
            <a:extLst xmlns:a="http://schemas.openxmlformats.org/drawingml/2006/main">
              <a:ext uri="{FF2B5EF4-FFF2-40B4-BE49-F238E27FC236}">
                <a16:creationId xmlns:a16="http://schemas.microsoft.com/office/drawing/2014/main" id="{86B3181B-8D7D-4BCC-BACC-7506D9BF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3810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iPad</a:t>
            </a:r>
          </a:p>
        </p:txBody>
      </p:sp>
      <p:sp>
        <p:nvSpPr>
          <p:cNvPr id="4" name="日常创作与学习">
            <a:extLst xmlns:a="http://schemas.openxmlformats.org/drawingml/2006/main">
              <a:ext uri="{FF2B5EF4-FFF2-40B4-BE49-F238E27FC236}">
                <a16:creationId xmlns:a16="http://schemas.microsoft.com/office/drawing/2014/main" id="{29B6C473-78EE-4AFE-BB28-D36BDB7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99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日常创作与学习</a:t>
            </a:r>
          </a:p>
        </p:txBody>
      </p:sp>
      <p:sp>
        <p:nvSpPr>
          <p:cNvPr id="5" name="349 美元起">
            <a:extLst xmlns:a="http://schemas.openxmlformats.org/drawingml/2006/main">
              <a:ext uri="{FF2B5EF4-FFF2-40B4-BE49-F238E27FC236}">
                <a16:creationId xmlns:a16="http://schemas.microsoft.com/office/drawing/2014/main" id="{4E72428C-BC08-477B-9547-5FE07149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62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349 美元起</a:t>
            </a:r>
          </a:p>
        </p:txBody>
      </p:sp>
      <p:sp>
        <p:nvSpPr>
          <p:cNvPr id="6" name="附件所列起售价">
            <a:extLst xmlns:a="http://schemas.openxmlformats.org/drawingml/2006/main">
              <a:ext uri="{FF2B5EF4-FFF2-40B4-BE49-F238E27FC236}">
                <a16:creationId xmlns:a16="http://schemas.microsoft.com/office/drawing/2014/main" id="{355A5638-DA04-4984-AFD1-7B36860A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10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附件所列起售价</a:t>
            </a:r>
          </a:p>
        </p:txBody>
      </p:sp>
    </p:spTree>
    <p:extLst>
      <p:ext uri="{BB962C8B-B14F-4D97-AF65-F5344CB8AC3E}">
        <p14:creationId xmlns:p14="http://schemas.microsoft.com/office/powerpoint/2010/main" val="63613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核心配置">
            <a:extLst xmlns:a="http://schemas.openxmlformats.org/drawingml/2006/main">
              <a:ext uri="{FF2B5EF4-FFF2-40B4-BE49-F238E27FC236}">
                <a16:creationId xmlns:a16="http://schemas.microsoft.com/office/drawing/2014/main" id="{D8804C50-B0FC-49A0-9AD4-9BCF71E5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核心配置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7E461423-3F47-4BA1-B409-BD41AE26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0174E-243A-4F72-83F2-BABBFB114C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dbad5d72947bb"/>
          <a:stretch xmlns:a="http://schemas.openxmlformats.org/drawingml/2006/main"/>
        </p:blipFill>
        <p:spPr>
          <a:xfrm xmlns:a="http://schemas.openxmlformats.org/drawingml/2006/main">
            <a:off x="5916146" y="1238250"/>
            <a:ext cx="5455583" cy="4905375"/>
          </a:xfrm>
          <a:prstGeom xmlns:a="http://schemas.openxmlformats.org/drawingml/2006/main" prst="rect">
            <a:avLst/>
          </a:prstGeom>
        </p:spPr>
      </p:pic>
      <p:sp>
        <p:nvSpPr>
          <p:cNvPr id="4" name="A16">
            <a:extLst xmlns:a="http://schemas.openxmlformats.org/drawingml/2006/main">
              <a:ext uri="{FF2B5EF4-FFF2-40B4-BE49-F238E27FC236}">
                <a16:creationId xmlns:a16="http://schemas.microsoft.com/office/drawing/2014/main" id="{21F0154A-E982-4B35-940D-9CF3DB53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A16</a:t>
            </a:r>
          </a:p>
        </p:txBody>
      </p:sp>
      <p:sp>
        <p:nvSpPr>
          <p:cNvPr id="5" name="芯片">
            <a:extLst xmlns:a="http://schemas.openxmlformats.org/drawingml/2006/main">
              <a:ext uri="{FF2B5EF4-FFF2-40B4-BE49-F238E27FC236}">
                <a16:creationId xmlns:a16="http://schemas.microsoft.com/office/drawing/2014/main" id="{57EE4098-7A2B-4A08-B7D5-F120B5C0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芯片</a:t>
            </a:r>
          </a:p>
        </p:txBody>
      </p:sp>
      <p:sp>
        <p:nvSpPr>
          <p:cNvPr id="6" name="128GB 起">
            <a:extLst xmlns:a="http://schemas.openxmlformats.org/drawingml/2006/main">
              <a:ext uri="{FF2B5EF4-FFF2-40B4-BE49-F238E27FC236}">
                <a16:creationId xmlns:a16="http://schemas.microsoft.com/office/drawing/2014/main" id="{CA12EE6C-453D-4974-9B82-3D680D3B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857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128GB 起</a:t>
            </a:r>
          </a:p>
        </p:txBody>
      </p:sp>
      <p:sp>
        <p:nvSpPr>
          <p:cNvPr id="7" name="起始存储容量">
            <a:extLst xmlns:a="http://schemas.openxmlformats.org/drawingml/2006/main">
              <a:ext uri="{FF2B5EF4-FFF2-40B4-BE49-F238E27FC236}">
                <a16:creationId xmlns:a16="http://schemas.microsoft.com/office/drawing/2014/main" id="{A7213DD5-EA12-4FA5-9AD5-DAABF2A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起始存储容量</a:t>
            </a:r>
          </a:p>
        </p:txBody>
      </p:sp>
      <p:sp>
        <p:nvSpPr>
          <p:cNvPr id="8" name="Touch ID">
            <a:extLst xmlns:a="http://schemas.openxmlformats.org/drawingml/2006/main">
              <a:ext uri="{FF2B5EF4-FFF2-40B4-BE49-F238E27FC236}">
                <a16:creationId xmlns:a16="http://schemas.microsoft.com/office/drawing/2014/main" id="{C0575551-59F4-431D-9DBF-12662E0F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191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Touch ID</a:t>
            </a:r>
          </a:p>
        </p:txBody>
      </p:sp>
      <p:sp>
        <p:nvSpPr>
          <p:cNvPr id="9" name="解锁、登录与支付">
            <a:extLst xmlns:a="http://schemas.openxmlformats.org/drawingml/2006/main">
              <a:ext uri="{FF2B5EF4-FFF2-40B4-BE49-F238E27FC236}">
                <a16:creationId xmlns:a16="http://schemas.microsoft.com/office/drawing/2014/main" id="{1F686603-44FC-4748-9E85-EB122469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57825"/>
            <a:ext cx="457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解锁、登录与支付</a:t>
            </a:r>
          </a:p>
        </p:txBody>
      </p:sp>
    </p:spTree>
    <p:extLst>
      <p:ext uri="{BB962C8B-B14F-4D97-AF65-F5344CB8AC3E}">
        <p14:creationId xmlns:p14="http://schemas.microsoft.com/office/powerpoint/2010/main" val="20972315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11 英寸 Liquid Retina 显示屏">
            <a:extLst xmlns:a="http://schemas.openxmlformats.org/drawingml/2006/main">
              <a:ext uri="{FF2B5EF4-FFF2-40B4-BE49-F238E27FC236}">
                <a16:creationId xmlns:a16="http://schemas.microsoft.com/office/drawing/2014/main" id="{B0B35A05-3FFC-46B8-A26C-6244483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11 英寸 Liquid Retina 显示屏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5C7B7C60-489D-443F-AF7B-B1C2713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128F5-8B9C-4A4E-A724-05B7A2A1CA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9060555794de6"/>
          <a:stretch xmlns:a="http://schemas.openxmlformats.org/drawingml/2006/main"/>
        </p:blipFill>
        <p:spPr>
          <a:xfrm xmlns:a="http://schemas.openxmlformats.org/drawingml/2006/main">
            <a:off x="533400" y="2194048"/>
            <a:ext cx="6610350" cy="3136655"/>
          </a:xfrm>
          <a:prstGeom xmlns:a="http://schemas.openxmlformats.org/drawingml/2006/main" prst="rect">
            <a:avLst/>
          </a:prstGeom>
        </p:spPr>
      </p:pic>
      <p:sp>
        <p:nvSpPr>
          <p:cNvPr id="4" name="观影与阅读">
            <a:extLst xmlns:a="http://schemas.openxmlformats.org/drawingml/2006/main">
              <a:ext uri="{FF2B5EF4-FFF2-40B4-BE49-F238E27FC236}">
                <a16:creationId xmlns:a16="http://schemas.microsoft.com/office/drawing/2014/main" id="{8CC77762-30BD-4302-A5E3-4D232C63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观影与阅读</a:t>
            </a:r>
          </a:p>
        </p:txBody>
      </p:sp>
      <p:sp>
        <p:nvSpPr>
          <p:cNvPr id="5" name="11 英寸屏幕，呈现日常内容">
            <a:extLst xmlns:a="http://schemas.openxmlformats.org/drawingml/2006/main">
              <a:ext uri="{FF2B5EF4-FFF2-40B4-BE49-F238E27FC236}">
                <a16:creationId xmlns:a16="http://schemas.microsoft.com/office/drawing/2014/main" id="{ABCFD131-6988-4212-BA97-8F0D95A9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11 英寸屏幕，呈现日常内容</a:t>
            </a:r>
          </a:p>
        </p:txBody>
      </p:sp>
      <p:sp>
        <p:nvSpPr>
          <p:cNvPr id="6" name="原彩显示">
            <a:extLst xmlns:a="http://schemas.openxmlformats.org/drawingml/2006/main">
              <a:ext uri="{FF2B5EF4-FFF2-40B4-BE49-F238E27FC236}">
                <a16:creationId xmlns:a16="http://schemas.microsoft.com/office/drawing/2014/main" id="{8DC70B3E-F78B-4A5C-BED8-396CAF0C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147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原彩显示</a:t>
            </a:r>
          </a:p>
        </p:txBody>
      </p:sp>
      <p:sp>
        <p:nvSpPr>
          <p:cNvPr id="7" name="在不同光线下舒适观看">
            <a:extLst xmlns:a="http://schemas.openxmlformats.org/drawingml/2006/main">
              <a:ext uri="{FF2B5EF4-FFF2-40B4-BE49-F238E27FC236}">
                <a16:creationId xmlns:a16="http://schemas.microsoft.com/office/drawing/2014/main" id="{87A5C4F4-83C0-4BAC-B4E3-1B45582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672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在不同光线下舒适观看</a:t>
            </a:r>
          </a:p>
        </p:txBody>
      </p:sp>
    </p:spTree>
    <p:extLst>
      <p:ext uri="{BB962C8B-B14F-4D97-AF65-F5344CB8AC3E}">
        <p14:creationId xmlns:p14="http://schemas.microsoft.com/office/powerpoint/2010/main" val="179916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多任务与协作">
            <a:extLst xmlns:a="http://schemas.openxmlformats.org/drawingml/2006/main">
              <a:ext uri="{FF2B5EF4-FFF2-40B4-BE49-F238E27FC236}">
                <a16:creationId xmlns:a16="http://schemas.microsoft.com/office/drawing/2014/main" id="{2E25E542-7725-45F3-B6B4-88C3EC6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多任务与协作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98983971-4573-4F03-8726-431CADCF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08F9E-C8EF-4141-892D-EC447BE46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39379f82b4c1b"/>
          <a:stretch xmlns:a="http://schemas.openxmlformats.org/drawingml/2006/main"/>
        </p:blipFill>
        <p:spPr>
          <a:xfrm xmlns:a="http://schemas.openxmlformats.org/drawingml/2006/main">
            <a:off x="5286375" y="2264874"/>
            <a:ext cx="6334125" cy="2956902"/>
          </a:xfrm>
          <a:prstGeom xmlns:a="http://schemas.openxmlformats.org/drawingml/2006/main" prst="rect">
            <a:avLst/>
          </a:prstGeom>
        </p:spPr>
      </p:pic>
      <p:sp>
        <p:nvSpPr>
          <p:cNvPr id="4" name="多个 App 配合使用">
            <a:extLst xmlns:a="http://schemas.openxmlformats.org/drawingml/2006/main">
              <a:ext uri="{FF2B5EF4-FFF2-40B4-BE49-F238E27FC236}">
                <a16:creationId xmlns:a16="http://schemas.microsoft.com/office/drawing/2014/main" id="{AF289257-8145-47C1-A6DC-742A113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多个 App 配合使用</a:t>
            </a:r>
          </a:p>
        </p:txBody>
      </p:sp>
      <p:sp>
        <p:nvSpPr>
          <p:cNvPr id="5" name="资料、笔记与沟通放在一起">
            <a:extLst xmlns:a="http://schemas.openxmlformats.org/drawingml/2006/main">
              <a:ext uri="{FF2B5EF4-FFF2-40B4-BE49-F238E27FC236}">
                <a16:creationId xmlns:a16="http://schemas.microsoft.com/office/drawing/2014/main" id="{2FD5EC7E-C192-4932-8D23-95F22E6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资料、笔记与沟通放在一起</a:t>
            </a:r>
          </a:p>
        </p:txBody>
      </p:sp>
      <p:sp>
        <p:nvSpPr>
          <p:cNvPr id="6" name="日常工作随身进行">
            <a:extLst xmlns:a="http://schemas.openxmlformats.org/drawingml/2006/main">
              <a:ext uri="{FF2B5EF4-FFF2-40B4-BE49-F238E27FC236}">
                <a16:creationId xmlns:a16="http://schemas.microsoft.com/office/drawing/2014/main" id="{B08E4DE8-D462-4501-87A3-CC27FC8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日常工作随身进行</a:t>
            </a:r>
          </a:p>
        </p:txBody>
      </p:sp>
      <p:sp>
        <p:nvSpPr>
          <p:cNvPr id="7" name="编辑表格、整理演示与协作">
            <a:extLst xmlns:a="http://schemas.openxmlformats.org/drawingml/2006/main">
              <a:ext uri="{FF2B5EF4-FFF2-40B4-BE49-F238E27FC236}">
                <a16:creationId xmlns:a16="http://schemas.microsoft.com/office/drawing/2014/main" id="{789B2DE5-1969-44B5-B543-2B2EEC39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编辑表格、整理演示与协作</a:t>
            </a:r>
          </a:p>
        </p:txBody>
      </p:sp>
    </p:spTree>
    <p:extLst>
      <p:ext uri="{BB962C8B-B14F-4D97-AF65-F5344CB8AC3E}">
        <p14:creationId xmlns:p14="http://schemas.microsoft.com/office/powerpoint/2010/main" val="149183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随手记录与绘画">
            <a:extLst xmlns:a="http://schemas.openxmlformats.org/drawingml/2006/main">
              <a:ext uri="{FF2B5EF4-FFF2-40B4-BE49-F238E27FC236}">
                <a16:creationId xmlns:a16="http://schemas.microsoft.com/office/drawing/2014/main" id="{5C7AD526-DE6B-4504-A9EB-32F64EC8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随手记录与绘画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CD1A1B71-A920-4C50-B861-57327B1B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AC663-E41C-4A04-9C3A-3857DDBA8B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7cf8fde514a73"/>
          <a:stretch xmlns:a="http://schemas.openxmlformats.org/drawingml/2006/main"/>
        </p:blipFill>
        <p:spPr>
          <a:xfrm xmlns:a="http://schemas.openxmlformats.org/drawingml/2006/main">
            <a:off x="400050" y="2065473"/>
            <a:ext cx="7000875" cy="3431905"/>
          </a:xfrm>
          <a:prstGeom xmlns:a="http://schemas.openxmlformats.org/drawingml/2006/main" prst="rect">
            <a:avLst/>
          </a:prstGeom>
        </p:spPr>
      </p:pic>
      <p:sp>
        <p:nvSpPr>
          <p:cNvPr id="4" name="Apple Pencil">
            <a:extLst xmlns:a="http://schemas.openxmlformats.org/drawingml/2006/main">
              <a:ext uri="{FF2B5EF4-FFF2-40B4-BE49-F238E27FC236}">
                <a16:creationId xmlns:a16="http://schemas.microsoft.com/office/drawing/2014/main" id="{998CB4D1-7D42-4DD3-B347-73A35EF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Apple Pencil</a:t>
            </a:r>
          </a:p>
        </p:txBody>
      </p:sp>
      <p:sp>
        <p:nvSpPr>
          <p:cNvPr id="5" name="绘画、手写与文档标注">
            <a:extLst xmlns:a="http://schemas.openxmlformats.org/drawingml/2006/main">
              <a:ext uri="{FF2B5EF4-FFF2-40B4-BE49-F238E27FC236}">
                <a16:creationId xmlns:a16="http://schemas.microsoft.com/office/drawing/2014/main" id="{12806914-6CDA-475F-A1B5-B7DEE0B6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绘画、手写与文档标注</a:t>
            </a:r>
          </a:p>
        </p:txBody>
      </p:sp>
      <p:sp>
        <p:nvSpPr>
          <p:cNvPr id="6" name="把想法留在画面上">
            <a:extLst xmlns:a="http://schemas.openxmlformats.org/drawingml/2006/main">
              <a:ext uri="{FF2B5EF4-FFF2-40B4-BE49-F238E27FC236}">
                <a16:creationId xmlns:a16="http://schemas.microsoft.com/office/drawing/2014/main" id="{72A8F909-3A26-4CB2-A667-CAE6031A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338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把想法留在画面上</a:t>
            </a:r>
          </a:p>
        </p:txBody>
      </p:sp>
      <p:sp>
        <p:nvSpPr>
          <p:cNvPr id="7" name="在创作中直接书写和涂画">
            <a:extLst xmlns:a="http://schemas.openxmlformats.org/drawingml/2006/main">
              <a:ext uri="{FF2B5EF4-FFF2-40B4-BE49-F238E27FC236}">
                <a16:creationId xmlns:a16="http://schemas.microsoft.com/office/drawing/2014/main" id="{1884058A-22C2-412A-B91B-FED266CC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8625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在创作中直接书写和涂画</a:t>
            </a:r>
          </a:p>
        </p:txBody>
      </p:sp>
    </p:spTree>
    <p:extLst>
      <p:ext uri="{BB962C8B-B14F-4D97-AF65-F5344CB8AC3E}">
        <p14:creationId xmlns:p14="http://schemas.microsoft.com/office/powerpoint/2010/main" val="1754490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视频与音频创作">
            <a:extLst xmlns:a="http://schemas.openxmlformats.org/drawingml/2006/main">
              <a:ext uri="{FF2B5EF4-FFF2-40B4-BE49-F238E27FC236}">
                <a16:creationId xmlns:a16="http://schemas.microsoft.com/office/drawing/2014/main" id="{A946FBA4-A3FB-495E-8CF7-A2D86228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视频与音频创作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D96CA4F9-ED11-4701-BC6F-6F0B7392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39319-2F9A-4C26-943F-C842AB618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34be6c6c14199"/>
          <a:stretch xmlns:a="http://schemas.openxmlformats.org/drawingml/2006/main"/>
        </p:blipFill>
        <p:spPr>
          <a:xfrm xmlns:a="http://schemas.openxmlformats.org/drawingml/2006/main">
            <a:off x="5920434" y="1533525"/>
            <a:ext cx="4999333" cy="4572000"/>
          </a:xfrm>
          <a:prstGeom xmlns:a="http://schemas.openxmlformats.org/drawingml/2006/main" prst="rect">
            <a:avLst/>
          </a:prstGeom>
        </p:spPr>
      </p:pic>
      <p:sp>
        <p:nvSpPr>
          <p:cNvPr id="4" name="4K 视频编辑">
            <a:extLst xmlns:a="http://schemas.openxmlformats.org/drawingml/2006/main">
              <a:ext uri="{FF2B5EF4-FFF2-40B4-BE49-F238E27FC236}">
                <a16:creationId xmlns:a16="http://schemas.microsoft.com/office/drawing/2014/main" id="{9911A50F-56F8-49C4-8B91-6880CFFC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43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4K 视频编辑</a:t>
            </a:r>
          </a:p>
        </p:txBody>
      </p:sp>
      <p:sp>
        <p:nvSpPr>
          <p:cNvPr id="5" name="A16 支持视频创作任务">
            <a:extLst xmlns:a="http://schemas.openxmlformats.org/drawingml/2006/main">
              <a:ext uri="{FF2B5EF4-FFF2-40B4-BE49-F238E27FC236}">
                <a16:creationId xmlns:a16="http://schemas.microsoft.com/office/drawing/2014/main" id="{27B2ED8A-F7EF-484D-81E4-3B1FA5D8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A16 支持视频创作任务</a:t>
            </a:r>
          </a:p>
        </p:txBody>
      </p:sp>
      <p:sp>
        <p:nvSpPr>
          <p:cNvPr id="6" name="声音也能创作">
            <a:extLst xmlns:a="http://schemas.openxmlformats.org/drawingml/2006/main">
              <a:ext uri="{FF2B5EF4-FFF2-40B4-BE49-F238E27FC236}">
                <a16:creationId xmlns:a16="http://schemas.microsoft.com/office/drawing/2014/main" id="{38CF9B1A-2855-4D75-8057-0C1135DC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438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声音也能创作</a:t>
            </a:r>
          </a:p>
        </p:txBody>
      </p:sp>
      <p:sp>
        <p:nvSpPr>
          <p:cNvPr id="7" name="内置麦克风与横向立体声扬声器">
            <a:extLst xmlns:a="http://schemas.openxmlformats.org/drawingml/2006/main">
              <a:ext uri="{FF2B5EF4-FFF2-40B4-BE49-F238E27FC236}">
                <a16:creationId xmlns:a16="http://schemas.microsoft.com/office/drawing/2014/main" id="{F5CAC2A2-0327-44AE-BB34-55209121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内置麦克风与横向立体声扬声器</a:t>
            </a:r>
          </a:p>
        </p:txBody>
      </p:sp>
    </p:spTree>
    <p:extLst>
      <p:ext uri="{BB962C8B-B14F-4D97-AF65-F5344CB8AC3E}">
        <p14:creationId xmlns:p14="http://schemas.microsoft.com/office/powerpoint/2010/main" val="575465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拍摄与视频通话">
            <a:extLst xmlns:a="http://schemas.openxmlformats.org/drawingml/2006/main">
              <a:ext uri="{FF2B5EF4-FFF2-40B4-BE49-F238E27FC236}">
                <a16:creationId xmlns:a16="http://schemas.microsoft.com/office/drawing/2014/main" id="{593CD66B-865D-4AA4-9B79-9BA0263D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拍摄与视频通话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F2CC9AC7-337D-4BD0-A46C-23CE0B67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8AF2B-A248-4E1B-BC6B-88E2DDE61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17c20bb3e4e9f"/>
          <a:stretch xmlns:a="http://schemas.openxmlformats.org/drawingml/2006/main"/>
        </p:blipFill>
        <p:spPr>
          <a:xfrm xmlns:a="http://schemas.openxmlformats.org/drawingml/2006/main">
            <a:off x="381000" y="2152867"/>
            <a:ext cx="6800850" cy="3314266"/>
          </a:xfrm>
          <a:prstGeom xmlns:a="http://schemas.openxmlformats.org/drawingml/2006/main" prst="rect">
            <a:avLst/>
          </a:prstGeom>
        </p:spPr>
      </p:pic>
      <p:sp>
        <p:nvSpPr>
          <p:cNvPr id="4" name="1200 万像素后置摄像头">
            <a:extLst xmlns:a="http://schemas.openxmlformats.org/drawingml/2006/main">
              <a:ext uri="{FF2B5EF4-FFF2-40B4-BE49-F238E27FC236}">
                <a16:creationId xmlns:a16="http://schemas.microsoft.com/office/drawing/2014/main" id="{01B87A49-5177-4169-BA74-D4C8102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000250"/>
            <a:ext cx="426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1200 万像素后置摄像头</a:t>
            </a:r>
          </a:p>
        </p:txBody>
      </p:sp>
      <p:sp>
        <p:nvSpPr>
          <p:cNvPr id="5" name="拍摄内容，也可扫描文档">
            <a:extLst xmlns:a="http://schemas.openxmlformats.org/drawingml/2006/main">
              <a:ext uri="{FF2B5EF4-FFF2-40B4-BE49-F238E27FC236}">
                <a16:creationId xmlns:a16="http://schemas.microsoft.com/office/drawing/2014/main" id="{D327F69E-60C9-426A-8406-C87EE16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52700"/>
            <a:ext cx="4267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拍摄内容，也可扫描文档</a:t>
            </a:r>
          </a:p>
        </p:txBody>
      </p:sp>
      <p:sp>
        <p:nvSpPr>
          <p:cNvPr id="6" name="1200 万像素前置摄像头">
            <a:extLst xmlns:a="http://schemas.openxmlformats.org/drawingml/2006/main">
              <a:ext uri="{FF2B5EF4-FFF2-40B4-BE49-F238E27FC236}">
                <a16:creationId xmlns:a16="http://schemas.microsoft.com/office/drawing/2014/main" id="{F319A00F-07B0-462E-AB65-806ED4A7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14750"/>
            <a:ext cx="426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1200 万像素前置摄像头</a:t>
            </a:r>
          </a:p>
        </p:txBody>
      </p:sp>
      <p:sp>
        <p:nvSpPr>
          <p:cNvPr id="7" name="人物居中，让视频通话保持入镜">
            <a:extLst xmlns:a="http://schemas.openxmlformats.org/drawingml/2006/main">
              <a:ext uri="{FF2B5EF4-FFF2-40B4-BE49-F238E27FC236}">
                <a16:creationId xmlns:a16="http://schemas.microsoft.com/office/drawing/2014/main" id="{FBAF8B30-C61A-466D-A729-3B300E9B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67200"/>
            <a:ext cx="4267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人物居中，让视频通话保持入镜</a:t>
            </a:r>
          </a:p>
        </p:txBody>
      </p:sp>
    </p:spTree>
    <p:extLst>
      <p:ext uri="{BB962C8B-B14F-4D97-AF65-F5344CB8AC3E}">
        <p14:creationId xmlns:p14="http://schemas.microsoft.com/office/powerpoint/2010/main" val="1017007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PadOS 的手写与识别体验">
            <a:extLst xmlns:a="http://schemas.openxmlformats.org/drawingml/2006/main">
              <a:ext uri="{FF2B5EF4-FFF2-40B4-BE49-F238E27FC236}">
                <a16:creationId xmlns:a16="http://schemas.microsoft.com/office/drawing/2014/main" id="{1A37FFA8-3410-4CA4-BE23-2FBC86F7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iPadOS 的手写与识别体验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0C592BFF-3CA3-460B-9EE3-50DDE8A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F6D90-F2B3-4A1F-986A-73DAD99B1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9d2d2c7324cfd"/>
          <a:stretch xmlns:a="http://schemas.openxmlformats.org/drawingml/2006/main"/>
        </p:blipFill>
        <p:spPr>
          <a:xfrm xmlns:a="http://schemas.openxmlformats.org/drawingml/2006/main">
            <a:off x="5964205" y="1524000"/>
            <a:ext cx="5626166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Smart Script">
            <a:extLst xmlns:a="http://schemas.openxmlformats.org/drawingml/2006/main">
              <a:ext uri="{FF2B5EF4-FFF2-40B4-BE49-F238E27FC236}">
                <a16:creationId xmlns:a16="http://schemas.microsoft.com/office/drawing/2014/main" id="{B91B3189-D489-4A83-9B6B-3B6D56DB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Smart Script</a:t>
            </a:r>
          </a:p>
        </p:txBody>
      </p:sp>
      <p:sp>
        <p:nvSpPr>
          <p:cNvPr id="5" name="手写笔记更清晰、流畅">
            <a:extLst xmlns:a="http://schemas.openxmlformats.org/drawingml/2006/main">
              <a:ext uri="{FF2B5EF4-FFF2-40B4-BE49-F238E27FC236}">
                <a16:creationId xmlns:a16="http://schemas.microsoft.com/office/drawing/2014/main" id="{4EEB13FB-4D86-4F20-A6FB-F2EC146A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336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手写笔记更清晰、流畅</a:t>
            </a:r>
          </a:p>
        </p:txBody>
      </p:sp>
      <p:sp>
        <p:nvSpPr>
          <p:cNvPr id="6" name="Math Notes">
            <a:extLst xmlns:a="http://schemas.openxmlformats.org/drawingml/2006/main">
              <a:ext uri="{FF2B5EF4-FFF2-40B4-BE49-F238E27FC236}">
                <a16:creationId xmlns:a16="http://schemas.microsoft.com/office/drawing/2014/main" id="{8D0CA714-6B24-4D77-A510-B81F9B7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4762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Math Notes</a:t>
            </a:r>
          </a:p>
        </p:txBody>
      </p:sp>
      <p:sp>
        <p:nvSpPr>
          <p:cNvPr id="7" name="用 Apple Pencil 书写并求解方程">
            <a:extLst xmlns:a="http://schemas.openxmlformats.org/drawingml/2006/main">
              <a:ext uri="{FF2B5EF4-FFF2-40B4-BE49-F238E27FC236}">
                <a16:creationId xmlns:a16="http://schemas.microsoft.com/office/drawing/2014/main" id="{B2F080E0-BC36-4091-8F23-1DD59FD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38575"/>
            <a:ext cx="5067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用 Apple Pencil 书写并求解方程</a:t>
            </a:r>
          </a:p>
        </p:txBody>
      </p:sp>
      <p:sp>
        <p:nvSpPr>
          <p:cNvPr id="8" name="Live Text">
            <a:extLst xmlns:a="http://schemas.openxmlformats.org/drawingml/2006/main">
              <a:ext uri="{FF2B5EF4-FFF2-40B4-BE49-F238E27FC236}">
                <a16:creationId xmlns:a16="http://schemas.microsoft.com/office/drawing/2014/main" id="{E18A18D6-8D13-4B2B-BB61-8ED11189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67300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Live Text</a:t>
            </a:r>
          </a:p>
        </p:txBody>
      </p:sp>
      <p:sp>
        <p:nvSpPr>
          <p:cNvPr id="9" name="与照片、视频中的内容互动">
            <a:extLst xmlns:a="http://schemas.openxmlformats.org/drawingml/2006/main">
              <a:ext uri="{FF2B5EF4-FFF2-40B4-BE49-F238E27FC236}">
                <a16:creationId xmlns:a16="http://schemas.microsoft.com/office/drawing/2014/main" id="{C55E4AF3-6086-49F6-834A-BBF2736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9750"/>
            <a:ext cx="506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与照片、视频中的内容互动</a:t>
            </a:r>
          </a:p>
        </p:txBody>
      </p:sp>
    </p:spTree>
    <p:extLst>
      <p:ext uri="{BB962C8B-B14F-4D97-AF65-F5344CB8AC3E}">
        <p14:creationId xmlns:p14="http://schemas.microsoft.com/office/powerpoint/2010/main" val="770966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le Pencil">
            <a:extLst xmlns:a="http://schemas.openxmlformats.org/drawingml/2006/main">
              <a:ext uri="{FF2B5EF4-FFF2-40B4-BE49-F238E27FC236}">
                <a16:creationId xmlns:a16="http://schemas.microsoft.com/office/drawing/2014/main" id="{3ACB0314-0FAF-4106-AE1C-BF0BB7FF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Apple Pencil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ACA49779-97A9-480A-BA2A-BEB3BA1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601D9-8CB7-4AA7-B985-6BBE2995FA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33b5b0ca545f3"/>
          <a:stretch xmlns:a="http://schemas.openxmlformats.org/drawingml/2006/main"/>
        </p:blipFill>
        <p:spPr>
          <a:xfrm xmlns:a="http://schemas.openxmlformats.org/drawingml/2006/main">
            <a:off x="1613957" y="1524000"/>
            <a:ext cx="4125387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从手写到插画">
            <a:extLst xmlns:a="http://schemas.openxmlformats.org/drawingml/2006/main">
              <a:ext uri="{FF2B5EF4-FFF2-40B4-BE49-F238E27FC236}">
                <a16:creationId xmlns:a16="http://schemas.microsoft.com/office/drawing/2014/main" id="{0040D67D-AE99-45A6-8B76-D8EBEC9B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669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从手写到插画</a:t>
            </a:r>
          </a:p>
        </p:txBody>
      </p:sp>
      <p:sp>
        <p:nvSpPr>
          <p:cNvPr id="5" name="笔记、日记与绘画都能使用">
            <a:extLst xmlns:a="http://schemas.openxmlformats.org/drawingml/2006/main">
              <a:ext uri="{FF2B5EF4-FFF2-40B4-BE49-F238E27FC236}">
                <a16:creationId xmlns:a16="http://schemas.microsoft.com/office/drawing/2014/main" id="{C50BD89A-786C-474C-A039-8E524E58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1937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笔记、日记与绘画都能使用</a:t>
            </a:r>
          </a:p>
        </p:txBody>
      </p:sp>
      <p:sp>
        <p:nvSpPr>
          <p:cNvPr id="6" name="精细落笔">
            <a:extLst xmlns:a="http://schemas.openxmlformats.org/drawingml/2006/main">
              <a:ext uri="{FF2B5EF4-FFF2-40B4-BE49-F238E27FC236}">
                <a16:creationId xmlns:a16="http://schemas.microsoft.com/office/drawing/2014/main" id="{C61332D4-070A-4CF7-BBA3-45EA51CF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8142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精细落笔</a:t>
            </a:r>
          </a:p>
        </p:txBody>
      </p:sp>
      <p:sp>
        <p:nvSpPr>
          <p:cNvPr id="7" name="材料强调精确度与低延迟">
            <a:extLst xmlns:a="http://schemas.openxmlformats.org/drawingml/2006/main">
              <a:ext uri="{FF2B5EF4-FFF2-40B4-BE49-F238E27FC236}">
                <a16:creationId xmlns:a16="http://schemas.microsoft.com/office/drawing/2014/main" id="{E6FFF030-011D-4055-AA29-9346AB43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33875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材料强调精确度与低延迟</a:t>
            </a:r>
          </a:p>
        </p:txBody>
      </p:sp>
    </p:spTree>
    <p:extLst>
      <p:ext uri="{BB962C8B-B14F-4D97-AF65-F5344CB8AC3E}">
        <p14:creationId xmlns:p14="http://schemas.microsoft.com/office/powerpoint/2010/main" val="17136783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agic Keyboard Folio">
            <a:extLst xmlns:a="http://schemas.openxmlformats.org/drawingml/2006/main">
              <a:ext uri="{FF2B5EF4-FFF2-40B4-BE49-F238E27FC236}">
                <a16:creationId xmlns:a16="http://schemas.microsoft.com/office/drawing/2014/main" id="{C4A6A15D-52F6-4E83-9132-9013BC5A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Magic Keyboard Folio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C3B52432-DFC2-4788-8F88-5BD29CE9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097E9-3F00-4DFD-AF10-EA80972EA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34bf7721c4562"/>
          <a:stretch xmlns:a="http://schemas.openxmlformats.org/drawingml/2006/main"/>
        </p:blipFill>
        <p:spPr>
          <a:xfrm xmlns:a="http://schemas.openxmlformats.org/drawingml/2006/main">
            <a:off x="1514891" y="1390650"/>
            <a:ext cx="458069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两件式设计">
            <a:extLst xmlns:a="http://schemas.openxmlformats.org/drawingml/2006/main">
              <a:ext uri="{FF2B5EF4-FFF2-40B4-BE49-F238E27FC236}">
                <a16:creationId xmlns:a16="http://schemas.microsoft.com/office/drawing/2014/main" id="{D3003A96-FAA7-41E8-9F62-93EAED7E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403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两件式设计</a:t>
            </a:r>
          </a:p>
        </p:txBody>
      </p:sp>
      <p:sp>
        <p:nvSpPr>
          <p:cNvPr id="5" name="可拆卸键盘与可调支架背板">
            <a:extLst xmlns:a="http://schemas.openxmlformats.org/drawingml/2006/main">
              <a:ext uri="{FF2B5EF4-FFF2-40B4-BE49-F238E27FC236}">
                <a16:creationId xmlns:a16="http://schemas.microsoft.com/office/drawing/2014/main" id="{DE803E65-EA22-47BA-B56D-2ACC7BCB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0325"/>
            <a:ext cx="4038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可拆卸键盘与可调支架背板</a:t>
            </a:r>
          </a:p>
        </p:txBody>
      </p:sp>
      <p:sp>
        <p:nvSpPr>
          <p:cNvPr id="6" name="触控板与 14 键功能行">
            <a:extLst xmlns:a="http://schemas.openxmlformats.org/drawingml/2006/main">
              <a:ext uri="{FF2B5EF4-FFF2-40B4-BE49-F238E27FC236}">
                <a16:creationId xmlns:a16="http://schemas.microsoft.com/office/drawing/2014/main" id="{7A3BCAE5-2554-4570-8E74-6C28C2D0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62375"/>
            <a:ext cx="4038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触控板与 14 键功能行</a:t>
            </a:r>
          </a:p>
        </p:txBody>
      </p:sp>
      <p:sp>
        <p:nvSpPr>
          <p:cNvPr id="7" name="输入和精细操作更方便">
            <a:extLst xmlns:a="http://schemas.openxmlformats.org/drawingml/2006/main">
              <a:ext uri="{FF2B5EF4-FFF2-40B4-BE49-F238E27FC236}">
                <a16:creationId xmlns:a16="http://schemas.microsoft.com/office/drawing/2014/main" id="{D317B99D-66B3-429A-84F7-EC4A20F2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14825"/>
            <a:ext cx="4038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输入和精细操作更方便</a:t>
            </a:r>
          </a:p>
        </p:txBody>
      </p:sp>
    </p:spTree>
    <p:extLst>
      <p:ext uri="{BB962C8B-B14F-4D97-AF65-F5344CB8AC3E}">
        <p14:creationId xmlns:p14="http://schemas.microsoft.com/office/powerpoint/2010/main" val="19444537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学习与娱乐">
            <a:extLst xmlns:a="http://schemas.openxmlformats.org/drawingml/2006/main">
              <a:ext uri="{FF2B5EF4-FFF2-40B4-BE49-F238E27FC236}">
                <a16:creationId xmlns:a16="http://schemas.microsoft.com/office/drawing/2014/main" id="{DF2F7798-3C0C-427D-BFDD-A2817C5C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学习与娱乐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E65C09EE-F966-456B-ABC8-D28C4918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E7812-A547-4337-9F0A-28FDA24F93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9cec7e4fb4782"/>
          <a:stretch xmlns:a="http://schemas.openxmlformats.org/drawingml/2006/main"/>
        </p:blipFill>
        <p:spPr>
          <a:xfrm xmlns:a="http://schemas.openxmlformats.org/drawingml/2006/main">
            <a:off x="6143625" y="2097286"/>
            <a:ext cx="5562600" cy="3215878"/>
          </a:xfrm>
          <a:prstGeom xmlns:a="http://schemas.openxmlformats.org/drawingml/2006/main" prst="rect">
            <a:avLst/>
          </a:prstGeom>
        </p:spPr>
      </p:pic>
      <p:sp>
        <p:nvSpPr>
          <p:cNvPr id="4" name="AR 学习体验">
            <a:extLst xmlns:a="http://schemas.openxmlformats.org/drawingml/2006/main">
              <a:ext uri="{FF2B5EF4-FFF2-40B4-BE49-F238E27FC236}">
                <a16:creationId xmlns:a16="http://schemas.microsoft.com/office/drawing/2014/main" id="{BF5A09E5-F406-40AA-AEEA-0A404B9B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AR 学习体验</a:t>
            </a:r>
          </a:p>
        </p:txBody>
      </p:sp>
      <p:sp>
        <p:nvSpPr>
          <p:cNvPr id="5" name="把学习内容放进身边的空间">
            <a:extLst xmlns:a="http://schemas.openxmlformats.org/drawingml/2006/main">
              <a:ext uri="{FF2B5EF4-FFF2-40B4-BE49-F238E27FC236}">
                <a16:creationId xmlns:a16="http://schemas.microsoft.com/office/drawing/2014/main" id="{09424622-0D07-4A95-8D04-ADFB6BF5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把学习内容放进身边的空间</a:t>
            </a:r>
          </a:p>
        </p:txBody>
      </p:sp>
      <p:sp>
        <p:nvSpPr>
          <p:cNvPr id="6" name="游戏与分享">
            <a:extLst xmlns:a="http://schemas.openxmlformats.org/drawingml/2006/main">
              <a:ext uri="{FF2B5EF4-FFF2-40B4-BE49-F238E27FC236}">
                <a16:creationId xmlns:a16="http://schemas.microsoft.com/office/drawing/2014/main" id="{2B7FB879-38B8-4A80-B45D-07CBCF0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游戏与分享</a:t>
            </a:r>
          </a:p>
        </p:txBody>
      </p:sp>
      <p:sp>
        <p:nvSpPr>
          <p:cNvPr id="7" name="游戏模式与 SharePlay 丰富娱乐体验">
            <a:extLst xmlns:a="http://schemas.openxmlformats.org/drawingml/2006/main">
              <a:ext uri="{FF2B5EF4-FFF2-40B4-BE49-F238E27FC236}">
                <a16:creationId xmlns:a16="http://schemas.microsoft.com/office/drawing/2014/main" id="{D0679ACE-CFB6-4741-B467-1D71D85A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游戏模式与 SharePlay 丰富娱乐体验</a:t>
            </a:r>
          </a:p>
        </p:txBody>
      </p:sp>
    </p:spTree>
    <p:extLst>
      <p:ext uri="{BB962C8B-B14F-4D97-AF65-F5344CB8AC3E}">
        <p14:creationId xmlns:p14="http://schemas.microsoft.com/office/powerpoint/2010/main" val="17380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Pad 的日常使用价值">
            <a:extLst xmlns:a="http://schemas.openxmlformats.org/drawingml/2006/main">
              <a:ext uri="{FF2B5EF4-FFF2-40B4-BE49-F238E27FC236}">
                <a16:creationId xmlns:a16="http://schemas.microsoft.com/office/drawing/2014/main" id="{2AC9D5E1-7EAD-40C8-A8DA-DE97696C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iPad 的日常使用价值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D47306B-9B32-484F-84D6-80655B55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817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01E2E-AE9F-40C8-B47B-3244C42905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5b86c98a34dbf"/>
          <a:stretch xmlns:a="http://schemas.openxmlformats.org/drawingml/2006/main"/>
        </p:blipFill>
        <p:spPr>
          <a:xfrm xmlns:a="http://schemas.openxmlformats.org/drawingml/2006/main">
            <a:off x="7442016" y="1504950"/>
            <a:ext cx="3889742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A16 与 128GB 起始存储">
            <a:extLst xmlns:a="http://schemas.openxmlformats.org/drawingml/2006/main">
              <a:ext uri="{FF2B5EF4-FFF2-40B4-BE49-F238E27FC236}">
                <a16:creationId xmlns:a16="http://schemas.microsoft.com/office/drawing/2014/main" id="{6AB2D84F-24DB-4184-98A0-7A6D0CEF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A16 与 128GB 起始存储</a:t>
            </a:r>
          </a:p>
        </p:txBody>
      </p:sp>
      <p:sp>
        <p:nvSpPr>
          <p:cNvPr id="5" name="支持工作、学习和内容创作">
            <a:extLst xmlns:a="http://schemas.openxmlformats.org/drawingml/2006/main">
              <a:ext uri="{FF2B5EF4-FFF2-40B4-BE49-F238E27FC236}">
                <a16:creationId xmlns:a16="http://schemas.microsoft.com/office/drawing/2014/main" id="{40546036-1FBB-4CCD-A01B-D201C2A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支持工作、学习和内容创作</a:t>
            </a:r>
          </a:p>
        </p:txBody>
      </p:sp>
      <p:sp>
        <p:nvSpPr>
          <p:cNvPr id="6" name="Apple Pencil 与键盘配合">
            <a:extLst xmlns:a="http://schemas.openxmlformats.org/drawingml/2006/main">
              <a:ext uri="{FF2B5EF4-FFF2-40B4-BE49-F238E27FC236}">
                <a16:creationId xmlns:a16="http://schemas.microsoft.com/office/drawing/2014/main" id="{91C782D8-DBE4-4283-BF72-E2A9C8DE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Apple Pencil 与键盘配合</a:t>
            </a:r>
          </a:p>
        </p:txBody>
      </p:sp>
      <p:sp>
        <p:nvSpPr>
          <p:cNvPr id="7" name="根据使用方式扩展体验">
            <a:extLst xmlns:a="http://schemas.openxmlformats.org/drawingml/2006/main">
              <a:ext uri="{FF2B5EF4-FFF2-40B4-BE49-F238E27FC236}">
                <a16:creationId xmlns:a16="http://schemas.microsoft.com/office/drawing/2014/main" id="{C363C485-5739-41E7-9BB9-C028C21A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根据使用方式扩展体验</a:t>
            </a:r>
          </a:p>
        </p:txBody>
      </p:sp>
      <p:sp>
        <p:nvSpPr>
          <p:cNvPr id="8" name="349 美元起">
            <a:extLst xmlns:a="http://schemas.openxmlformats.org/drawingml/2006/main">
              <a:ext uri="{FF2B5EF4-FFF2-40B4-BE49-F238E27FC236}">
                <a16:creationId xmlns:a16="http://schemas.microsoft.com/office/drawing/2014/main" id="{6DBDE0F1-9FB1-47B2-BE4C-63C6413B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71E3"/>
                </a:solidFill>
                <a:latin typeface="Microsoft YaHei"/>
                <a:ea typeface="Microsoft YaHei"/>
                <a:cs typeface="Microsoft YaHei"/>
              </a:rPr>
              <a:t>349 美元起</a:t>
            </a:r>
          </a:p>
        </p:txBody>
      </p:sp>
      <p:sp>
        <p:nvSpPr>
          <p:cNvPr id="9" name="价格及产品信息以本次附件为准">
            <a:extLst xmlns:a="http://schemas.openxmlformats.org/drawingml/2006/main">
              <a:ext uri="{FF2B5EF4-FFF2-40B4-BE49-F238E27FC236}">
                <a16:creationId xmlns:a16="http://schemas.microsoft.com/office/drawing/2014/main" id="{B9AD66C2-D06B-4E0D-9AC4-D74595BA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15154"/>
                </a:solidFill>
                <a:latin typeface="Microsoft YaHei"/>
                <a:ea typeface="Microsoft YaHei"/>
                <a:cs typeface="Microsoft YaHei"/>
              </a:rPr>
              <a:t>价格及产品信息以本次附件为准</a:t>
            </a:r>
          </a:p>
        </p:txBody>
      </p:sp>
    </p:spTree>
    <p:extLst>
      <p:ext uri="{BB962C8B-B14F-4D97-AF65-F5344CB8AC3E}">
        <p14:creationId xmlns:p14="http://schemas.microsoft.com/office/powerpoint/2010/main" val="1095383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2026-10-12T07:29:42.6030000Z</dcterms:created>
  <dcterms:modified xsi:type="dcterms:W3CDTF">2026-10-12T07:29:42.6030000Z</dcterms:modified>
</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3e536d60c60f11f18000790700007807" pid="2" fmtid="{D5CDD505-2E9C-101B-9397-08002B2CF9AE}">
    <vt:lpwstr>CWMV2p+syKDf3oXNYMxBZ62/oErYd2yhp82p/H7xNEvqGi2Ds1DtlGGlq6Bb8IDOkG6CHizSUjUJXOJF2wc8uWsYQ==</vt:lpwstr>
  </property>
</Properties>
</file>