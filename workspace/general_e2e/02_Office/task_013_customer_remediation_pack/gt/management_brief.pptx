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404612338484f" /><Relationship Type="http://schemas.openxmlformats.org/officeDocument/2006/relationships/extended-properties" Target="/docProps/app.xml" Id="R2aa7c835372a416a" /><Relationship Type="http://schemas.openxmlformats.org/officeDocument/2006/relationships/officeDocument" Target="/ppt/presentation.xml" Id="Rd522b79328d54d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a583296bc491e"/>
  </p:sldMasterIdLst>
  <p:notesMasterIdLst>
    <p:notesMasterId xmlns:r="http://schemas.openxmlformats.org/officeDocument/2006/relationships" r:id="R7500b4c327134242"/>
  </p:notesMasterIdLst>
  <p:sldIdLst>
    <p:sldId xmlns:r="http://schemas.openxmlformats.org/officeDocument/2006/relationships" id="256" r:id="R7ec6e6f326a54b0e"/>
    <p:sldId xmlns:r="http://schemas.openxmlformats.org/officeDocument/2006/relationships" id="257" r:id="R8ec21a8aa6eb4d75"/>
    <p:sldId xmlns:r="http://schemas.openxmlformats.org/officeDocument/2006/relationships" id="258" r:id="R27303ab7fbe8435a"/>
    <p:sldId xmlns:r="http://schemas.openxmlformats.org/officeDocument/2006/relationships" id="259" r:id="R204565ece9e640b6"/>
    <p:sldId xmlns:r="http://schemas.openxmlformats.org/officeDocument/2006/relationships" id="260" r:id="R356973960fec49a9"/>
    <p:sldId xmlns:r="http://schemas.openxmlformats.org/officeDocument/2006/relationships" id="261" r:id="R01c969de0a174046"/>
    <p:sldId xmlns:r="http://schemas.openxmlformats.org/officeDocument/2006/relationships" id="262" r:id="R91ada71d03074001"/>
    <p:sldId xmlns:r="http://schemas.openxmlformats.org/officeDocument/2006/relationships" id="263" r:id="R80b06f7f5ffd4716"/>
    <p:sldId xmlns:r="http://schemas.openxmlformats.org/officeDocument/2006/relationships" id="264" r:id="Rb6ddca76cb674606"/>
    <p:sldId xmlns:r="http://schemas.openxmlformats.org/officeDocument/2006/relationships" id="265" r:id="Ra2285954372944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2b2980d9b44ea" /><Relationship Type="http://schemas.openxmlformats.org/officeDocument/2006/relationships/slideMaster" Target="/ppt/slideMasters/slideMaster1.xml" Id="R82ba583296bc491e" /><Relationship Type="http://schemas.openxmlformats.org/officeDocument/2006/relationships/notesMaster" Target="/ppt/notesMasters/notesMaster1.xml" Id="R7500b4c327134242" /><Relationship Type="http://schemas.openxmlformats.org/officeDocument/2006/relationships/presProps" Target="/ppt/presProps.xml" Id="R9534091c24454e7c" /><Relationship Type="http://schemas.openxmlformats.org/officeDocument/2006/relationships/tableStyles" Target="/ppt/tableStyles.xml" Id="R0ad9b1eb18cf42e5" /><Relationship Type="http://schemas.openxmlformats.org/officeDocument/2006/relationships/slide" Target="/ppt/slides/slide1.xml" Id="R7ec6e6f326a54b0e" /><Relationship Type="http://schemas.openxmlformats.org/officeDocument/2006/relationships/slide" Target="/ppt/slides/slide2.xml" Id="R8ec21a8aa6eb4d75" /><Relationship Type="http://schemas.openxmlformats.org/officeDocument/2006/relationships/slide" Target="/ppt/slides/slide3.xml" Id="R27303ab7fbe8435a" /><Relationship Type="http://schemas.openxmlformats.org/officeDocument/2006/relationships/slide" Target="/ppt/slides/slide4.xml" Id="R204565ece9e640b6" /><Relationship Type="http://schemas.openxmlformats.org/officeDocument/2006/relationships/slide" Target="/ppt/slides/slide5.xml" Id="R356973960fec49a9" /><Relationship Type="http://schemas.openxmlformats.org/officeDocument/2006/relationships/slide" Target="/ppt/slides/slide6.xml" Id="R01c969de0a174046" /><Relationship Type="http://schemas.openxmlformats.org/officeDocument/2006/relationships/slide" Target="/ppt/slides/slide7.xml" Id="R91ada71d03074001" /><Relationship Type="http://schemas.openxmlformats.org/officeDocument/2006/relationships/slide" Target="/ppt/slides/slide8.xml" Id="R80b06f7f5ffd4716" /><Relationship Type="http://schemas.openxmlformats.org/officeDocument/2006/relationships/slide" Target="/ppt/slides/slide9.xml" Id="Rb6ddca76cb674606" /><Relationship Type="http://schemas.openxmlformats.org/officeDocument/2006/relationships/slide" Target="/ppt/slides/slide10.xml" Id="Ra2285954372944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a4f7fc70e3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64819cc7694356" /><Relationship Type="http://schemas.openxmlformats.org/officeDocument/2006/relationships/notesMaster" Target="/ppt/notesMasters/notesMaster1.xml" Id="R4063c7e8043d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eb9d9fb1204cc3" /><Relationship Type="http://schemas.openxmlformats.org/officeDocument/2006/relationships/notesMaster" Target="/ppt/notesMasters/notesMaster1.xml" Id="Rb4edfac408214a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1545db5a2f473b" /><Relationship Type="http://schemas.openxmlformats.org/officeDocument/2006/relationships/notesMaster" Target="/ppt/notesMasters/notesMaster1.xml" Id="R1fdb8643a0cc48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25b8d95a594fd7" /><Relationship Type="http://schemas.openxmlformats.org/officeDocument/2006/relationships/notesMaster" Target="/ppt/notesMasters/notesMaster1.xml" Id="R2b38088b11c24d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3993905c9431b" /><Relationship Type="http://schemas.openxmlformats.org/officeDocument/2006/relationships/notesMaster" Target="/ppt/notesMasters/notesMaster1.xml" Id="R679117ad6650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c7faf1d39948e4" /><Relationship Type="http://schemas.openxmlformats.org/officeDocument/2006/relationships/notesMaster" Target="/ppt/notesMasters/notesMaster1.xml" Id="Rdffdecb190a84b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e4931d9bcc4443" /><Relationship Type="http://schemas.openxmlformats.org/officeDocument/2006/relationships/notesMaster" Target="/ppt/notesMasters/notesMaster1.xml" Id="R03addc785357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5e5f7e1bb5493c" /><Relationship Type="http://schemas.openxmlformats.org/officeDocument/2006/relationships/notesMaster" Target="/ppt/notesMasters/notesMaster1.xml" Id="Rc07c2b161f4944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2c3ec1492f4aa0" /><Relationship Type="http://schemas.openxmlformats.org/officeDocument/2006/relationships/notesMaster" Target="/ppt/notesMasters/notesMaster1.xml" Id="R35ed346c7d3b4b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90a0bec8a64986" /><Relationship Type="http://schemas.openxmlformats.org/officeDocument/2006/relationships/notesMaster" Target="/ppt/notesMasters/notesMaster1.xml" Id="R4d10e18aa2c644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模拟业务参考交付。统计截止2026-10-30 18:00。依据质量补充意见及逐设备有效履历。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来源：合同设备登记、有效售后履历、部件周转、质量补充意见。详见customer_actions.xlsx逐台台账。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来源：逐台台账的完成事件、撤销事件、返工证和复测记录。源记录ID见Excel对应行。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来源：库存及兼容、到货与预留记录。SA2只适配QY-A100，SB2只适配QY-B200；到货后须质检放行。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来源：库存/到货记录及服务约定。日期是建议安排，审批、到货质检及预约仍是前提。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来源：渠道有效签收及转售确认、服务约定与客户往来归档。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来源：C05/C12适用设备批准、10/29撤回记录及专项服务约定。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来源：模组身份缺口及现场记录，不能以出厂清单代替当前模组。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来源：质量补充意见、服务约定、客户执行方案。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依据本版Excel、Word及上述证据。尚未实际联系客户或执行处置。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f8179d4f744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536cae8c549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3d2e48fc04a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cf59080f3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8cd3e359e47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4bea9ad34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EF9FDB-E9BE-46A2-8FA2-77DF36CAF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622933-05E2-4366-8993-5EA273E8D9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8FB8E3-69DB-4F5A-8E51-C366B91B2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F28244-68E3-4F42-91CC-709ED0D6D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24F6CD-0D78-487A-BED7-D411EB008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3C42A2-5AD7-422D-A187-12C5256C9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2CE58A-02D6-4578-A9D0-884A87CC1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5F5815-F19C-4CED-9888-B0B6DC3DEA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B9D541-A6F0-4188-8CA9-A9DE68C3E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3559C7-1289-4F14-8A3A-1AC73F8028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dd3dd77ed467e" /><Relationship Type="http://schemas.openxmlformats.org/officeDocument/2006/relationships/slideLayout" Target="/ppt/slideLayouts/slideLayout1.xml" Id="R87a2de5e557844e0" /><Relationship Type="http://schemas.openxmlformats.org/officeDocument/2006/relationships/slideLayout" Target="/ppt/slideLayouts/slideLayout2.xml" Id="R4255d7db202d4655" /><Relationship Type="http://schemas.openxmlformats.org/officeDocument/2006/relationships/slideLayout" Target="/ppt/slideLayouts/slideLayout3.xml" Id="R5f9f14cd69ac433b" /><Relationship Type="http://schemas.openxmlformats.org/officeDocument/2006/relationships/slideLayout" Target="/ppt/slideLayouts/slideLayout4.xml" Id="R2eed8d81b74c4f0b" /><Relationship Type="http://schemas.openxmlformats.org/officeDocument/2006/relationships/slideLayout" Target="/ppt/slideLayouts/slideLayout5.xml" Id="R2d87df8662c24774" /><Relationship Type="http://schemas.openxmlformats.org/officeDocument/2006/relationships/slideLayout" Target="/ppt/slideLayouts/slideLayout6.xml" Id="Rd7ce3b66a8ed46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2de5e557844e0"/>
    <p:sldLayoutId xmlns:r="http://schemas.openxmlformats.org/officeDocument/2006/relationships" id="2147483650" r:id="R4255d7db202d4655"/>
    <p:sldLayoutId xmlns:r="http://schemas.openxmlformats.org/officeDocument/2006/relationships" id="2147483651" r:id="R5f9f14cd69ac433b"/>
    <p:sldLayoutId xmlns:r="http://schemas.openxmlformats.org/officeDocument/2006/relationships" id="2147483652" r:id="R2eed8d81b74c4f0b"/>
    <p:sldLayoutId xmlns:r="http://schemas.openxmlformats.org/officeDocument/2006/relationships" id="2147483653" r:id="R2d87df8662c24774"/>
    <p:sldLayoutId xmlns:r="http://schemas.openxmlformats.org/officeDocument/2006/relationships" id="2147483654" r:id="Rd7ce3b66a8ed46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316c62b8242d1" /><Relationship Type="http://schemas.openxmlformats.org/officeDocument/2006/relationships/notesSlide" Target="/ppt/notesSlides/notesSlide1.xml" Id="R8a094ea6f7e14c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efd6acccc4279" /><Relationship Type="http://schemas.openxmlformats.org/officeDocument/2006/relationships/notesSlide" Target="/ppt/notesSlides/notesSlide2.xml" Id="R99d9724bc9c04e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e372fd79544fe" /><Relationship Type="http://schemas.openxmlformats.org/officeDocument/2006/relationships/notesSlide" Target="/ppt/notesSlides/notesSlide3.xml" Id="Rd131a1436b3147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40e79b0b34050" /><Relationship Type="http://schemas.openxmlformats.org/officeDocument/2006/relationships/notesSlide" Target="/ppt/notesSlides/notesSlide4.xml" Id="Rd30033c48572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48359996f4eb9" /><Relationship Type="http://schemas.openxmlformats.org/officeDocument/2006/relationships/notesSlide" Target="/ppt/notesSlides/notesSlide5.xml" Id="Rca1bc3bdaa1b4b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c69c1c46542e4" /><Relationship Type="http://schemas.openxmlformats.org/officeDocument/2006/relationships/notesSlide" Target="/ppt/notesSlides/notesSlide6.xml" Id="R788a7e431aad40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ed3c5f8be4294" /><Relationship Type="http://schemas.openxmlformats.org/officeDocument/2006/relationships/notesSlide" Target="/ppt/notesSlides/notesSlide7.xml" Id="Raab260fa9b5442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c982925544eff" /><Relationship Type="http://schemas.openxmlformats.org/officeDocument/2006/relationships/notesSlide" Target="/ppt/notesSlides/notesSlide8.xml" Id="R2bed33acbda74b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52048311a04c60" /><Relationship Type="http://schemas.openxmlformats.org/officeDocument/2006/relationships/notesSlide" Target="/ppt/notesSlides/notesSlide9.xml" Id="R1d29720e624541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bbb7e7ae24828" /><Relationship Type="http://schemas.openxmlformats.org/officeDocument/2006/relationships/notesSlide" Target="/ppt/notesSlides/notesSlide10.xml" Id="R3bdcf229819f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73831-3324-44B9-A75E-AA66C6E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专项质量处置审批建议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75F8C-0BBC-4FA7-A58B-433DF78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EB544-EB5F-4CDC-AF77-D97132E3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启曜会议终端</a:t>
            </a:r>
          </a:p>
          <a:p xmlns:a="http://schemas.openxmlformats.org/drawingml/2006/main">
            <a: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客户处置与执行安排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3F56A-80A9-4E4E-8E4F-03C76291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截至2026年10月30日18:00</a:t>
            </a:r>
          </a:p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待沈岚、周衡审核后执行</a:t>
            </a:r>
          </a:p>
        </p:txBody>
      </p:sp>
    </p:spTree>
    <p:extLst>
      <p:ext uri="{BB962C8B-B14F-4D97-AF65-F5344CB8AC3E}">
        <p14:creationId xmlns:p14="http://schemas.microsoft.com/office/powerpoint/2010/main" val="505051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E0174-9C2C-43B8-A468-48424BA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72台设备分别落实处置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7752-5207-48F6-A0F0-2FB5EDD8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6CF0A-8E47-441B-9CB7-FF3120922658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428750"/>
                <a:gridCol w="5962650"/>
              </a:tblGrid>
              <a:tr h="67818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本次安排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67818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客户侧受影响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停用问题终端，安排永久更换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7818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已返厂隔离且受影响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保持隔离，单独跟踪处置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有充分依据排除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保留逐台依据，不扩大召回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7818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当前模组身份待核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暂时停用并核验，预留上界资源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96032-4445-4C07-8E9E-1AE7195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42台确认受影响，其中36台仍在客户侧。6台待核单独列示。</a:t>
            </a:r>
          </a:p>
        </p:txBody>
      </p:sp>
    </p:spTree>
    <p:extLst>
      <p:ext uri="{BB962C8B-B14F-4D97-AF65-F5344CB8AC3E}">
        <p14:creationId xmlns:p14="http://schemas.microsoft.com/office/powerpoint/2010/main" val="846460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A1C71-F03D-4745-B55D-1A944051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当前装机事实决定处置对象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30631-4EB2-4226-8FEF-AE7DD11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12DE6-5D3A-4455-A349-C5E78A00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领件后撤销仍需更换：QY2657823、QY2696492等6台。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94BDB-9431-4A25-AA95-A178BB2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维修及周转装入问题模组：QY2603448、QY2622123等12台。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4FB2B-466B-45D9-A3B7-0E15AB3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截止后才完成的换件：QY2674443、QY2606736等6台仍计入本次。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59D6D-6395-465F-A5D4-A0D41D99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已有效换合格、已更换的供体、合格替换机，以及R3返工并复测通过者分别留存排除依据。</a:t>
            </a:r>
          </a:p>
        </p:txBody>
      </p:sp>
    </p:spTree>
    <p:extLst>
      <p:ext uri="{BB962C8B-B14F-4D97-AF65-F5344CB8AC3E}">
        <p14:creationId xmlns:p14="http://schemas.microsoft.com/office/powerpoint/2010/main" val="1504500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B6AC4-A14F-47F2-AE19-CDDF7A42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替件可用量与需求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C092D-55FD-4810-B10E-9D948C8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96491-4C16-4B07-9DEB-AD95E80292BF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124200"/>
              </a:tblGrid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SA2 / A100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SB2 / B200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账面库存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正式预留 / 待检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/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11月4日确认到货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客户换件 / 待核上界 / 厂内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/ 3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/ 3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8995D-15FD-493D-9099-46912BBA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追加10套SB2仍为草案，不纳入已确认资源。</a:t>
            </a:r>
          </a:p>
        </p:txBody>
      </p:sp>
    </p:spTree>
    <p:extLst>
      <p:ext uri="{BB962C8B-B14F-4D97-AF65-F5344CB8AC3E}">
        <p14:creationId xmlns:p14="http://schemas.microsoft.com/office/powerpoint/2010/main" val="1697484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B8BF6-A40C-49F7-BA1C-CB3C6826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发运安排与客户预约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E7DCC-7F16-430A-999B-21650C89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A0FBC-E7D0-4885-8930-99D8E0411029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619250"/>
                <a:gridCol w="6534150"/>
              </a:tblGrid>
              <a:tr h="6223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前提及预计时间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6223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首轮SA2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10/31审批后发运，预计11/02到达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23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首轮SB2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10/31审批后发运，预计11/02到达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后续SB2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11/04到货验收后发运，预计11/06到达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23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待核上界预留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A、B各3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先核实身份，明确需要后再发放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厂内隔离处置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A、B各3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11/06后结合库存与质检安排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F9324-DC46-4983-AA25-BAE1E7F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到货、安装、复测和结案分别记录。客户预约未确认，函稿不保证到货即修复。</a:t>
            </a:r>
          </a:p>
        </p:txBody>
      </p:sp>
    </p:spTree>
    <p:extLst>
      <p:ext uri="{BB962C8B-B14F-4D97-AF65-F5344CB8AC3E}">
        <p14:creationId xmlns:p14="http://schemas.microsoft.com/office/powerpoint/2010/main" val="2014217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A7AE5-92D4-4F6C-ADE8-686B8E1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客户归属与通知路径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946D4-C3FB-4999-9D03-774C20D6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598B7-5094-4429-8851-96936AE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C07、C14各3台转售设备通过D02传达。两客户其他直营设备另函联系，不扩大渠道可见范围。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6D4C2-48D1-4203-8F4B-D471C91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返厂的6台原机与6台替换机分别列示，返厂原机继续隔离处置。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9680E-2BBA-4EB0-B3F1-811D34A0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函稿按客户及联络路径列明设备与动作。客户侧只收到与本方相关的范围，不附其他客户明细。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B04CD-1AC3-4461-8E0D-E62C868B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18个客户对应20封函稿；C07、C14各分直营、渠道两封。逐台范围与联系人见执行方案。</a:t>
            </a:r>
          </a:p>
        </p:txBody>
      </p:sp>
    </p:spTree>
    <p:extLst>
      <p:ext uri="{BB962C8B-B14F-4D97-AF65-F5344CB8AC3E}">
        <p14:creationId xmlns:p14="http://schemas.microsoft.com/office/powerpoint/2010/main" val="1701489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6C83-7384-45F4-9CEE-BF47E76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临时措施与商务授权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C3E48-159E-4D31-B5DD-CFA1D6B5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857E-BB5E-458F-B75A-22C7886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C05、C12各3台可采用获批临时安排：原机隔离并停止业务，备用端承接服务。现场落实情况待核实。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C699C-CABB-4A6F-98F3-5516B72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临时安排最迟至11月6日，仍需永久更换。条件不成立或期限届满，原机保持停用并升级补充资源。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EC8B4-916A-4F01-B1E6-0AC74A6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免费范围为问题模组及标准上门服务。C05借机授权保留，已撤回的24个月延保不写入通知。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595F2-5A26-428E-A6DE-15D4280C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不承诺普遍延保、全额退款或免费整机升级。超范围请求另行审批。</a:t>
            </a:r>
          </a:p>
        </p:txBody>
      </p:sp>
    </p:spTree>
    <p:extLst>
      <p:ext uri="{BB962C8B-B14F-4D97-AF65-F5344CB8AC3E}">
        <p14:creationId xmlns:p14="http://schemas.microsoft.com/office/powerpoint/2010/main" val="1967481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12FDA-B3DC-4FBD-9504-1389788B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6台身份待核设备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9E28E-FD5A-46E0-ADE5-C9C4F5E4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E1D4-E8D7-4C79-A42A-CB6A3AFB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QY2651976、QY2654516、QY2646495、QY2656682、QY2641399、QY2685510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E3B7C-C08B-44C9-AE41-F84882EC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区域服务建议11月2日前取得当前模组铭牌照片、模组序列号及有效安装记录，质量部门核验批次和返工复测依据。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F8ACB-A2F4-4FB6-B3D7-27C0C817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补证前暂时停用并保持待核，不作无需处理或已修复承诺。资源按A、B各3套预留上界。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BFAD8-E4F7-4C43-86D8-5C354A1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若确认受影响，转入换件与回收流程；若证据支持排除，归档对应证据。仍无法确认者由沈岚确定后续安排。</a:t>
            </a:r>
          </a:p>
        </p:txBody>
      </p:sp>
    </p:spTree>
    <p:extLst>
      <p:ext uri="{BB962C8B-B14F-4D97-AF65-F5344CB8AC3E}">
        <p14:creationId xmlns:p14="http://schemas.microsoft.com/office/powerpoint/2010/main" val="814696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B5051-571D-4B4F-947F-C19819D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结案证据与职责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FF4A1-43CA-4DE2-8A9E-48B1ADE5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BCA54-3E5D-47B6-9D2A-466047C3F2F0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438900"/>
                <a:gridCol w="2190750"/>
              </a:tblGrid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关闭所需证据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现场换件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有效安装 + 模组绑定 + 复测 + 客户回执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区域服务 / 质量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厂内隔离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维修复测及质量放行，或报废审批与处置凭证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仓储 / 质量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待核设备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身份补证 + 批次判断 + 后续动作完成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区域服务 / 沈岚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通知及服务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发送审批 + 正确联络路径 + 客户反馈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A233A-F41F-4071-ADA9-F45C473B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领料、发货、签收到货和返厂入库均单独记录，不能替代完整结案证据。</a:t>
            </a:r>
          </a:p>
        </p:txBody>
      </p:sp>
    </p:spTree>
    <p:extLst>
      <p:ext uri="{BB962C8B-B14F-4D97-AF65-F5344CB8AC3E}">
        <p14:creationId xmlns:p14="http://schemas.microsoft.com/office/powerpoint/2010/main" val="1303508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36452-539A-4317-93DE-BE81623E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本次申请批准的事项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8FF48-10D6-4CF8-BA27-7DD3BA18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217A8-A076-437E-B2E7-671FE772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批准36台客户侧受影响设备的分批更换，维持6台厂内隔离，确认6台待核的停用、补证和预留安排。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9052E-C4FB-4062-B6CA-DEB132A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批准当前可用资源分配，并以11月4日到货质检为第二批SB2发运前提。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7E11A-8D95-4A63-A219-BB8C446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沈岚、周衡审核客户范围与函稿。区域服务回收预约窗口后，再形成逐客户实际执行日期。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7CD71-346D-4200-953B-65F081E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后续出现新事实时更新逐台台账及相关函稿，重新核对范围、承诺和结案状态。</a:t>
            </a:r>
          </a:p>
        </p:txBody>
      </p:sp>
    </p:spTree>
    <p:extLst>
      <p:ext uri="{BB962C8B-B14F-4D97-AF65-F5344CB8AC3E}">
        <p14:creationId xmlns:p14="http://schemas.microsoft.com/office/powerpoint/2010/main" val="1886027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2026-10-27T07:14:04.0430000Z</dcterms:created>
  <dcterms:modified xsi:type="dcterms:W3CDTF">2026-10-27T07:14:04.0430000Z</dcterms:modified>
</coreProperties>
</file>