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14e7b7ae48d435f" /><Relationship Type="http://schemas.openxmlformats.org/officeDocument/2006/relationships/extended-properties" Target="/docProps/app.xml" Id="Rbc9e00e7329a4d8a" /><Relationship Type="http://schemas.openxmlformats.org/officeDocument/2006/relationships/officeDocument" Target="/ppt/presentation.xml" Id="R96b5603762784be8" /></Relationships>
</file>

<file path=ppt/presentation.xml><?xml version="1.0" encoding="utf-8"?>
<p:presentation xmlns:p="http://schemas.openxmlformats.org/presentationml/2006/main">
  <p:sldMasterIdLst>
    <p:sldMasterId xmlns:r="http://schemas.openxmlformats.org/officeDocument/2006/relationships" id="2147483648" r:id="R82946e80edef4744"/>
  </p:sldMasterIdLst>
  <p:notesMasterIdLst>
    <p:notesMasterId xmlns:r="http://schemas.openxmlformats.org/officeDocument/2006/relationships" r:id="R2893f4cd0719404e"/>
  </p:notesMasterIdLst>
  <p:sldIdLst>
    <p:sldId xmlns:r="http://schemas.openxmlformats.org/officeDocument/2006/relationships" id="256" r:id="R17c855148c13443a"/>
    <p:sldId xmlns:r="http://schemas.openxmlformats.org/officeDocument/2006/relationships" id="257" r:id="R51bec646f4af4a46"/>
    <p:sldId xmlns:r="http://schemas.openxmlformats.org/officeDocument/2006/relationships" id="258" r:id="Rae809eac06154c89"/>
    <p:sldId xmlns:r="http://schemas.openxmlformats.org/officeDocument/2006/relationships" id="259" r:id="R9f1a701ca56c4821"/>
    <p:sldId xmlns:r="http://schemas.openxmlformats.org/officeDocument/2006/relationships" id="260" r:id="Rb4fd515bd9f44854"/>
    <p:sldId xmlns:r="http://schemas.openxmlformats.org/officeDocument/2006/relationships" id="261" r:id="Rf4c20e4c66cf48c3"/>
    <p:sldId xmlns:r="http://schemas.openxmlformats.org/officeDocument/2006/relationships" id="262" r:id="R605e1ed74d3f4ed3"/>
    <p:sldId xmlns:r="http://schemas.openxmlformats.org/officeDocument/2006/relationships" id="263" r:id="Ra47c20314c9a42d2"/>
    <p:sldId xmlns:r="http://schemas.openxmlformats.org/officeDocument/2006/relationships" id="264" r:id="R2eb0749274964873"/>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c85462079284332" /><Relationship Type="http://schemas.openxmlformats.org/officeDocument/2006/relationships/slideMaster" Target="/ppt/slideMasters/slideMaster1.xml" Id="R82946e80edef4744" /><Relationship Type="http://schemas.openxmlformats.org/officeDocument/2006/relationships/notesMaster" Target="/ppt/notesMasters/notesMaster1.xml" Id="R2893f4cd0719404e" /><Relationship Type="http://schemas.openxmlformats.org/officeDocument/2006/relationships/presProps" Target="/ppt/presProps.xml" Id="R3fdcf1f4a3e14bbc" /><Relationship Type="http://schemas.openxmlformats.org/officeDocument/2006/relationships/tableStyles" Target="/ppt/tableStyles.xml" Id="Rfa8242fa0eec4d80" /><Relationship Type="http://schemas.openxmlformats.org/officeDocument/2006/relationships/slide" Target="/ppt/slides/slide1.xml" Id="R17c855148c13443a" /><Relationship Type="http://schemas.openxmlformats.org/officeDocument/2006/relationships/slide" Target="/ppt/slides/slide2.xml" Id="R51bec646f4af4a46" /><Relationship Type="http://schemas.openxmlformats.org/officeDocument/2006/relationships/slide" Target="/ppt/slides/slide3.xml" Id="Rae809eac06154c89" /><Relationship Type="http://schemas.openxmlformats.org/officeDocument/2006/relationships/slide" Target="/ppt/slides/slide4.xml" Id="R9f1a701ca56c4821" /><Relationship Type="http://schemas.openxmlformats.org/officeDocument/2006/relationships/slide" Target="/ppt/slides/slide5.xml" Id="Rb4fd515bd9f44854" /><Relationship Type="http://schemas.openxmlformats.org/officeDocument/2006/relationships/slide" Target="/ppt/slides/slide6.xml" Id="Rf4c20e4c66cf48c3" /><Relationship Type="http://schemas.openxmlformats.org/officeDocument/2006/relationships/slide" Target="/ppt/slides/slide7.xml" Id="R605e1ed74d3f4ed3" /><Relationship Type="http://schemas.openxmlformats.org/officeDocument/2006/relationships/slide" Target="/ppt/slides/slide8.xml" Id="Ra47c20314c9a42d2" /><Relationship Type="http://schemas.openxmlformats.org/officeDocument/2006/relationships/slide" Target="/ppt/slides/slide9.xml" Id="R2eb074927496487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a5d0add26a5466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Microsoft YaHei"/>
        <a:ea typeface=""/>
        <a:cs typeface=""/>
      </a:majorFont>
      <a:minorFont>
        <a:latin typeface="Microsoft YaHei"/>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d37322e2cd745fe" /><Relationship Type="http://schemas.openxmlformats.org/officeDocument/2006/relationships/notesMaster" Target="/ppt/notesMasters/notesMaster1.xml" Id="R1ccc4f745bee4478" /></Relationships>
</file>

<file path=ppt/notesSlides/_rels/notesSlide2.xml.rels>&#65279;<?xml version="1.0" encoding="utf-8"?><Relationships xmlns="http://schemas.openxmlformats.org/package/2006/relationships"><Relationship Type="http://schemas.openxmlformats.org/officeDocument/2006/relationships/slide" Target="/ppt/slides/slide2.xml" Id="R126a7eb053c344e3" /><Relationship Type="http://schemas.openxmlformats.org/officeDocument/2006/relationships/notesMaster" Target="/ppt/notesMasters/notesMaster1.xml" Id="R65034b5ea5ef4490" /></Relationships>
</file>

<file path=ppt/notesSlides/_rels/notesSlide3.xml.rels>&#65279;<?xml version="1.0" encoding="utf-8"?><Relationships xmlns="http://schemas.openxmlformats.org/package/2006/relationships"><Relationship Type="http://schemas.openxmlformats.org/officeDocument/2006/relationships/slide" Target="/ppt/slides/slide3.xml" Id="Rc17fb24df2044494" /><Relationship Type="http://schemas.openxmlformats.org/officeDocument/2006/relationships/notesMaster" Target="/ppt/notesMasters/notesMaster1.xml" Id="R5582ec12b12749c5" /></Relationships>
</file>

<file path=ppt/notesSlides/_rels/notesSlide4.xml.rels>&#65279;<?xml version="1.0" encoding="utf-8"?><Relationships xmlns="http://schemas.openxmlformats.org/package/2006/relationships"><Relationship Type="http://schemas.openxmlformats.org/officeDocument/2006/relationships/slide" Target="/ppt/slides/slide4.xml" Id="Rf75a111025484f78" /><Relationship Type="http://schemas.openxmlformats.org/officeDocument/2006/relationships/notesMaster" Target="/ppt/notesMasters/notesMaster1.xml" Id="R008a1432a1e5448e" /></Relationships>
</file>

<file path=ppt/notesSlides/_rels/notesSlide5.xml.rels>&#65279;<?xml version="1.0" encoding="utf-8"?><Relationships xmlns="http://schemas.openxmlformats.org/package/2006/relationships"><Relationship Type="http://schemas.openxmlformats.org/officeDocument/2006/relationships/slide" Target="/ppt/slides/slide5.xml" Id="Rf8b01d05392b409d" /><Relationship Type="http://schemas.openxmlformats.org/officeDocument/2006/relationships/notesMaster" Target="/ppt/notesMasters/notesMaster1.xml" Id="Rdf7fec16e1b24305" /></Relationships>
</file>

<file path=ppt/notesSlides/_rels/notesSlide6.xml.rels>&#65279;<?xml version="1.0" encoding="utf-8"?><Relationships xmlns="http://schemas.openxmlformats.org/package/2006/relationships"><Relationship Type="http://schemas.openxmlformats.org/officeDocument/2006/relationships/slide" Target="/ppt/slides/slide6.xml" Id="Rc4c88998f4024e1f" /><Relationship Type="http://schemas.openxmlformats.org/officeDocument/2006/relationships/notesMaster" Target="/ppt/notesMasters/notesMaster1.xml" Id="Ra5f9c18fe1a94423" /></Relationships>
</file>

<file path=ppt/notesSlides/_rels/notesSlide7.xml.rels>&#65279;<?xml version="1.0" encoding="utf-8"?><Relationships xmlns="http://schemas.openxmlformats.org/package/2006/relationships"><Relationship Type="http://schemas.openxmlformats.org/officeDocument/2006/relationships/slide" Target="/ppt/slides/slide7.xml" Id="Rda61c19b4eae4760" /><Relationship Type="http://schemas.openxmlformats.org/officeDocument/2006/relationships/notesMaster" Target="/ppt/notesMasters/notesMaster1.xml" Id="R7e1070b28c574b57" /></Relationships>
</file>

<file path=ppt/notesSlides/_rels/notesSlide8.xml.rels>&#65279;<?xml version="1.0" encoding="utf-8"?><Relationships xmlns="http://schemas.openxmlformats.org/package/2006/relationships"><Relationship Type="http://schemas.openxmlformats.org/officeDocument/2006/relationships/slide" Target="/ppt/slides/slide8.xml" Id="R1e0262b045254454" /><Relationship Type="http://schemas.openxmlformats.org/officeDocument/2006/relationships/notesMaster" Target="/ppt/notesMasters/notesMaster1.xml" Id="R8d7fa124f1d34373" /></Relationships>
</file>

<file path=ppt/notesSlides/_rels/notesSlide9.xml.rels>&#65279;<?xml version="1.0" encoding="utf-8"?><Relationships xmlns="http://schemas.openxmlformats.org/package/2006/relationships"><Relationship Type="http://schemas.openxmlformats.org/officeDocument/2006/relationships/slide" Target="/ppt/slides/slide9.xml" Id="R46c5b110e103493b" /><Relationship Type="http://schemas.openxmlformats.org/officeDocument/2006/relationships/notesMaster" Target="/ppt/notesMasters/notesMaster1.xml" Id="R57a6d3cad89f427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INPUT 1 BridgeMind AI Project Summary.docx</a:t>
            </a:r>
          </a:p>
          <a:p xmlns:a="http://schemas.openxmlformats.org/drawingml/2006/main">
            <a:r>
              <a:t>SHA256 3079cbcb6c29c41a751b9bae602477aa856ce599cb6dbb683e2d583c8541ad43</a:t>
            </a:r>
          </a:p>
          <a:p xmlns:a="http://schemas.openxmlformats.org/drawingml/2006/main">
            <a:r>
              <a:t>段落 1: ‘BridgeMind AI’ - An easy to use software application to improve your bicycle maintenance business.</a:t>
            </a:r>
          </a:p>
          <a:p xmlns:a="http://schemas.openxmlformats.org/drawingml/2006/main">
            <a:r>
              <a:t>段落 3: This ‘BridgeMind AI’ project proposal aims to address several challenges faced by small to medium-sized bicycle maintenance businesses in the UK. Firstly, these businesses struggle to access and understand market intelligence data, which hinders their decision-making. Secondly, existing dashboard tools are too complex for most businesses to use effectively. Finally, tracking parts used in repairs and associating them with customers is difficult, which is a growing concern due to regulatory requirements.</a:t>
            </a:r>
          </a:p>
          <a:p xmlns:a="http://schemas.openxmlformats.org/drawingml/2006/main">
            <a:r>
              <a:t>段落 5: BridgeMind AI addresses these challenges for UK bicycle maintenance businesses by providing a user-friendly, AI-powered interface for understanding their own supply chain. It simplifies how they access and understand data, resolving current difficulties to understand market intelligence. Business users can simply ask the interface questions in a manner similar to a Google search to check order statuses and update orders at the point of sale.  This is all managed through a single, secure app - BridgeMind AI.</a:t>
            </a:r>
          </a:p>
          <a:p xmlns:a="http://schemas.openxmlformats.org/drawingml/2006/main">
            <a:r>
              <a:t>段落 7: The system itself uses advanced AI, including Large Language Models (LLMs) and Retrieval Augmented Generation (RAG), to process market data and reporting requirements like GDPR. It ensures these questions are considered simply at the ‘point of sale’ without introducing cumbersome and unwieldy customer questionnaires.  This is made possible through a High Quality Data Model that tracks transactions and parts from a centrally regulated database, including suppliers and government data. This model uses a ‘4D ontology’ to track changes in parts or bike sales over time, unlike current logistics databases.</a:t>
            </a:r>
          </a:p>
          <a:p xmlns:a="http://schemas.openxmlformats.org/drawingml/2006/main">
            <a:r>
              <a:t>段落 9: This project describes a 6 month study in which BridgeMind AI will be used with a real life use case (Common Ground Bikes in Oxford, UK) to illustrate how it can improve real life information processing and address specific challenges for bicycle maintenance businesses.  Through this work, Bridge Minds will illustrate how the application of BridgeMind AI in practice will give businesses confidence in their data and a reduction in the time spent processing customer needs, tracking market changes, and analyzing information. </a:t>
            </a:r>
          </a:p>
          <a:p xmlns:a="http://schemas.openxmlformats.org/drawingml/2006/main">
            <a:r>
              <a:t>INPUT 2 BridgeMind AI POC Project spend profile for month 2.xlsx / 0.0 Notes</a:t>
            </a:r>
          </a:p>
          <a:p xmlns:a="http://schemas.openxmlformats.org/drawingml/2006/main">
            <a:r>
              <a:t>SHA256 f0c44755ea22d5b0a13eae8f24928faaaa338944628a80b00c7f7aed41747ade</a:t>
            </a:r>
          </a:p>
          <a:p xmlns:a="http://schemas.openxmlformats.org/drawingml/2006/main">
            <a:r>
              <a:t>A1=Notes - this spreadsheet provides the monthly cummulative spend for the BridgeMind AI Common Ground Bikes POC depoloyment</a:t>
            </a:r>
          </a:p>
          <a:p xmlns:a="http://schemas.openxmlformats.org/drawingml/2006/main">
            <a:r>
              <a:t>A2=Monthly spend reviews are conducted in the first week of each calendar month</a:t>
            </a:r>
          </a:p>
          <a:p xmlns:a="http://schemas.openxmlformats.org/drawingml/2006/main">
            <a:r>
              <a:t>A3=Date - 3rd November</a:t>
            </a:r>
          </a:p>
          <a:p xmlns:a="http://schemas.openxmlformats.org/drawingml/2006/main">
            <a:r>
              <a:t>A4=Spend review number </a:t>
            </a:r>
          </a:p>
          <a:p xmlns:a="http://schemas.openxmlformats.org/drawingml/2006/main">
            <a:r>
              <a:t>B4=2</a:t>
            </a:r>
          </a:p>
          <a:p xmlns:a="http://schemas.openxmlformats.org/drawingml/2006/main">
            <a:r>
              <a:t>A5=Project Proposal number </a:t>
            </a:r>
          </a:p>
          <a:p xmlns:a="http://schemas.openxmlformats.org/drawingml/2006/main">
            <a:r>
              <a:t>B5=IUK6060_BIKE</a:t>
            </a:r>
          </a:p>
          <a:p xmlns:a="http://schemas.openxmlformats.org/drawingml/2006/main">
            <a:r>
              <a:t>报告落款为任务指定的2025-10-30。费用材料备注11月3日属于材料编制时点，不能据此证明数据在10月30日已定稿。</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核心口径：费用进度表J41=10298.70，J42=9874.366666666667，J43=19324.40，J45=-424.333333333334。超支取实际减同期预算，约4.2973%。进度和风险证据见第3、4、7、8页备注。月底月报使用附件第2月汇总，数据编制日为11月3日，未提供逐日截点核算。</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INPUT 2 BridgeMind AI POC Project spend profile for month 2.xlsx / 1.0 Current spend (Burn profile</a:t>
            </a:r>
          </a:p>
          <a:p xmlns:a="http://schemas.openxmlformats.org/drawingml/2006/main">
            <a:r>
              <a:t>SHA256 f0c44755ea22d5b0a13eae8f24928faaaa338944628a80b00c7f7aed41747ade</a:t>
            </a:r>
          </a:p>
          <a:p xmlns:a="http://schemas.openxmlformats.org/drawingml/2006/main">
            <a:r>
              <a:t>A1=Year</a:t>
            </a:r>
          </a:p>
          <a:p xmlns:a="http://schemas.openxmlformats.org/drawingml/2006/main">
            <a:r>
              <a:t>B1=2025</a:t>
            </a:r>
          </a:p>
          <a:p xmlns:a="http://schemas.openxmlformats.org/drawingml/2006/main">
            <a:r>
              <a:t>T1=2026</a:t>
            </a:r>
          </a:p>
          <a:p xmlns:a="http://schemas.openxmlformats.org/drawingml/2006/main">
            <a:r>
              <a:t>A2=Month</a:t>
            </a:r>
          </a:p>
          <a:p xmlns:a="http://schemas.openxmlformats.org/drawingml/2006/main">
            <a:r>
              <a:t>F2=1</a:t>
            </a:r>
          </a:p>
          <a:p xmlns:a="http://schemas.openxmlformats.org/drawingml/2006/main">
            <a:r>
              <a:t>J2=2</a:t>
            </a:r>
          </a:p>
          <a:p xmlns:a="http://schemas.openxmlformats.org/drawingml/2006/main">
            <a:r>
              <a:t>N2=3</a:t>
            </a:r>
          </a:p>
          <a:p xmlns:a="http://schemas.openxmlformats.org/drawingml/2006/main">
            <a:r>
              <a:t>S2=4</a:t>
            </a:r>
          </a:p>
          <a:p xmlns:a="http://schemas.openxmlformats.org/drawingml/2006/main">
            <a:r>
              <a:t>W2=5</a:t>
            </a:r>
          </a:p>
          <a:p xmlns:a="http://schemas.openxmlformats.org/drawingml/2006/main">
            <a:r>
              <a:t>AA2=6</a:t>
            </a:r>
          </a:p>
          <a:p xmlns:a="http://schemas.openxmlformats.org/drawingml/2006/main">
            <a:r>
              <a:t>A3=Week Commencing</a:t>
            </a:r>
          </a:p>
          <a:p xmlns:a="http://schemas.openxmlformats.org/drawingml/2006/main">
            <a:r>
              <a:t>B3=45901</a:t>
            </a:r>
          </a:p>
          <a:p xmlns:a="http://schemas.openxmlformats.org/drawingml/2006/main">
            <a:r>
              <a:t>C3=45908</a:t>
            </a:r>
          </a:p>
          <a:p xmlns:a="http://schemas.openxmlformats.org/drawingml/2006/main">
            <a:r>
              <a:t>D3=45915</a:t>
            </a:r>
          </a:p>
          <a:p xmlns:a="http://schemas.openxmlformats.org/drawingml/2006/main">
            <a:r>
              <a:t>E3=45922</a:t>
            </a:r>
          </a:p>
          <a:p xmlns:a="http://schemas.openxmlformats.org/drawingml/2006/main">
            <a:r>
              <a:t>F3=45929</a:t>
            </a:r>
          </a:p>
          <a:p xmlns:a="http://schemas.openxmlformats.org/drawingml/2006/main">
            <a:r>
              <a:t>G3=45936</a:t>
            </a:r>
          </a:p>
          <a:p xmlns:a="http://schemas.openxmlformats.org/drawingml/2006/main">
            <a:r>
              <a:t>H3=45943</a:t>
            </a:r>
          </a:p>
          <a:p xmlns:a="http://schemas.openxmlformats.org/drawingml/2006/main">
            <a:r>
              <a:t>I3=45950</a:t>
            </a:r>
          </a:p>
          <a:p xmlns:a="http://schemas.openxmlformats.org/drawingml/2006/main">
            <a:r>
              <a:t>J3=45957</a:t>
            </a:r>
          </a:p>
          <a:p xmlns:a="http://schemas.openxmlformats.org/drawingml/2006/main">
            <a:r>
              <a:t>K3=45964</a:t>
            </a:r>
          </a:p>
          <a:p xmlns:a="http://schemas.openxmlformats.org/drawingml/2006/main">
            <a:r>
              <a:t>L3=45971</a:t>
            </a:r>
          </a:p>
          <a:p xmlns:a="http://schemas.openxmlformats.org/drawingml/2006/main">
            <a:r>
              <a:t>M3=45978</a:t>
            </a:r>
          </a:p>
          <a:p xmlns:a="http://schemas.openxmlformats.org/drawingml/2006/main">
            <a:r>
              <a:t>N3=45985</a:t>
            </a:r>
          </a:p>
          <a:p xmlns:a="http://schemas.openxmlformats.org/drawingml/2006/main">
            <a:r>
              <a:t>O3=45992</a:t>
            </a:r>
          </a:p>
          <a:p xmlns:a="http://schemas.openxmlformats.org/drawingml/2006/main">
            <a:r>
              <a:t>P3=45999</a:t>
            </a:r>
          </a:p>
          <a:p xmlns:a="http://schemas.openxmlformats.org/drawingml/2006/main">
            <a:r>
              <a:t>Q3=46006</a:t>
            </a:r>
          </a:p>
          <a:p xmlns:a="http://schemas.openxmlformats.org/drawingml/2006/main">
            <a:r>
              <a:t>R3=46013</a:t>
            </a:r>
          </a:p>
          <a:p xmlns:a="http://schemas.openxmlformats.org/drawingml/2006/main">
            <a:r>
              <a:t>S3=46020</a:t>
            </a:r>
          </a:p>
          <a:p xmlns:a="http://schemas.openxmlformats.org/drawingml/2006/main">
            <a:r>
              <a:t>T3=46027</a:t>
            </a:r>
          </a:p>
          <a:p xmlns:a="http://schemas.openxmlformats.org/drawingml/2006/main">
            <a:r>
              <a:t>U3=46034</a:t>
            </a:r>
          </a:p>
          <a:p xmlns:a="http://schemas.openxmlformats.org/drawingml/2006/main">
            <a:r>
              <a:t>V3=46041</a:t>
            </a:r>
          </a:p>
          <a:p xmlns:a="http://schemas.openxmlformats.org/drawingml/2006/main">
            <a:r>
              <a:t>W3=46048</a:t>
            </a:r>
          </a:p>
          <a:p xmlns:a="http://schemas.openxmlformats.org/drawingml/2006/main">
            <a:r>
              <a:t>X3=46055</a:t>
            </a:r>
          </a:p>
          <a:p xmlns:a="http://schemas.openxmlformats.org/drawingml/2006/main">
            <a:r>
              <a:t>Y3=46062</a:t>
            </a:r>
          </a:p>
          <a:p xmlns:a="http://schemas.openxmlformats.org/drawingml/2006/main">
            <a:r>
              <a:t>Z3=46069</a:t>
            </a:r>
          </a:p>
          <a:p xmlns:a="http://schemas.openxmlformats.org/drawingml/2006/main">
            <a:r>
              <a:t>AA3=46076</a:t>
            </a:r>
          </a:p>
          <a:p xmlns:a="http://schemas.openxmlformats.org/drawingml/2006/main">
            <a:r>
              <a:t>A4=WP1 Define Bicycle shop inventory Use case</a:t>
            </a:r>
          </a:p>
          <a:p xmlns:a="http://schemas.openxmlformats.org/drawingml/2006/main">
            <a:r>
              <a:t>A5=Output 1 - Initial report outlining Use case, underlying information requirements and definition of AI architecture to be implemented</a:t>
            </a:r>
          </a:p>
          <a:p xmlns:a="http://schemas.openxmlformats.org/drawingml/2006/main">
            <a:r>
              <a:t>A6=WP2 Produce initial Demonstrator for use in Bicycle shop </a:t>
            </a:r>
          </a:p>
          <a:p xmlns:a="http://schemas.openxmlformats.org/drawingml/2006/main">
            <a:r>
              <a:t>A7=Output 2 - Demonstration of early workflow to users</a:t>
            </a:r>
          </a:p>
          <a:p xmlns:a="http://schemas.openxmlformats.org/drawingml/2006/main">
            <a:r>
              <a:t>A8=WP3 - Complete deployable Proof of concept for use in Bicycle shop </a:t>
            </a:r>
          </a:p>
          <a:p xmlns:a="http://schemas.openxmlformats.org/drawingml/2006/main">
            <a:r>
              <a:t>A9=Output 3 - Test deployment of system to selected users in Bicyle shop</a:t>
            </a:r>
          </a:p>
          <a:p xmlns:a="http://schemas.openxmlformats.org/drawingml/2006/main">
            <a:r>
              <a:t>A10=WP4 - Final Delivery of POC to trial users</a:t>
            </a:r>
          </a:p>
          <a:p xmlns:a="http://schemas.openxmlformats.org/drawingml/2006/main">
            <a:r>
              <a:t>A11=Output 4 - Encorporation of trial feedback into POC, rollout of 'beta' version of POC to bicycle shop users</a:t>
            </a:r>
          </a:p>
          <a:p xmlns:a="http://schemas.openxmlformats.org/drawingml/2006/main">
            <a:r>
              <a:t>颜色计划区：WP1 B4:J4；Output1 K5（周起始2025-11-03）；WP2 K6:S6；Output2 S7（2025-12-29）；WP3 T8:W8；Output3 W9（2026-01-26）；WP4 X10:AA10；Output4 AA11（2026-02-23）。色块表达计划，并非完成百分比。</a:t>
            </a:r>
          </a:p>
          <a:p xmlns:a="http://schemas.openxmlformats.org/drawingml/2006/main">
            <a:r>
              <a:t>INPUT 4 BridgeMind AI POC deployment PROJECT LOG.docx</a:t>
            </a:r>
          </a:p>
          <a:p xmlns:a="http://schemas.openxmlformats.org/drawingml/2006/main">
            <a:r>
              <a:t>SHA256 77d065e6870ce8e64db094bc653312ed8ce6df5113cfdeeedd6427a3f4b7544f</a:t>
            </a:r>
          </a:p>
          <a:p xmlns:a="http://schemas.openxmlformats.org/drawingml/2006/main">
            <a:r>
              <a:t>段落 46: 20-10-2025</a:t>
            </a:r>
          </a:p>
          <a:p xmlns:a="http://schemas.openxmlformats.org/drawingml/2006/main">
            <a:r>
              <a:t>段落 47: Attendees</a:t>
            </a:r>
          </a:p>
          <a:p xmlns:a="http://schemas.openxmlformats.org/drawingml/2006/main">
            <a:r>
              <a:t>段落 48: Matt</a:t>
            </a:r>
          </a:p>
          <a:p xmlns:a="http://schemas.openxmlformats.org/drawingml/2006/main">
            <a:r>
              <a:t>段落 49: James</a:t>
            </a:r>
          </a:p>
          <a:p xmlns:a="http://schemas.openxmlformats.org/drawingml/2006/main">
            <a:r>
              <a:t>段落 50: Jeff</a:t>
            </a:r>
          </a:p>
          <a:p xmlns:a="http://schemas.openxmlformats.org/drawingml/2006/main">
            <a:r>
              <a:t>段落 51: Marnie</a:t>
            </a:r>
          </a:p>
          <a:p xmlns:a="http://schemas.openxmlformats.org/drawingml/2006/main">
            <a:r>
              <a:t>段落 52: Barry </a:t>
            </a:r>
          </a:p>
          <a:p xmlns:a="http://schemas.openxmlformats.org/drawingml/2006/main">
            <a:r>
              <a:t>段落 53: Raven </a:t>
            </a:r>
          </a:p>
          <a:p xmlns:a="http://schemas.openxmlformats.org/drawingml/2006/main">
            <a:r>
              <a:t>段落 54: Daisy </a:t>
            </a:r>
          </a:p>
          <a:p xmlns:a="http://schemas.openxmlformats.org/drawingml/2006/main">
            <a:r>
              <a:t>段落 56: Weekly team meeting (Tuesdays 1000 GMT)</a:t>
            </a:r>
          </a:p>
          <a:p xmlns:a="http://schemas.openxmlformats.org/drawingml/2006/main">
            <a:r>
              <a:t>段落 57: Round table</a:t>
            </a:r>
          </a:p>
          <a:p xmlns:a="http://schemas.openxmlformats.org/drawingml/2006/main">
            <a:r>
              <a:t>段落 58: James outlined went through latest version of Output 1 - Initial report outlining Use case, underlying information requirements and definition of AI architecture to be implemented</a:t>
            </a:r>
          </a:p>
          <a:p xmlns:a="http://schemas.openxmlformats.org/drawingml/2006/main">
            <a:r>
              <a:t>段落 59: Any Current issues?</a:t>
            </a:r>
          </a:p>
          <a:p xmlns:a="http://schemas.openxmlformats.org/drawingml/2006/main">
            <a:r>
              <a:t>段落 60: General structure of Output 1V1.0 is agreed and content maturing, associated actions and comments are in the document and assigned to relevant team members</a:t>
            </a:r>
          </a:p>
          <a:p xmlns:a="http://schemas.openxmlformats.org/drawingml/2006/main">
            <a:r>
              <a:t>段落 61: Initial draft circulated around full team - all comments and actions to be fully incorporated in Output 1 V1.0 By 27/10/2025</a:t>
            </a:r>
          </a:p>
          <a:p xmlns:a="http://schemas.openxmlformats.org/drawingml/2006/main">
            <a:r>
              <a:t>段落 62: Action Items</a:t>
            </a:r>
          </a:p>
          <a:p xmlns:a="http://schemas.openxmlformats.org/drawingml/2006/main">
            <a:r>
              <a:t>段落 63: Initial draft circulated around full team - all comments and actions to be fully incorporated in Output 1 V1.0 By 27/10/2025</a:t>
            </a:r>
          </a:p>
          <a:p xmlns:a="http://schemas.openxmlformats.org/drawingml/2006/main">
            <a:r>
              <a:t>段落 64: Produce Initial version of Monthly meeting report by 27/10/2025 for advanced circulation with Auditor (Professor Dodge)</a:t>
            </a:r>
          </a:p>
          <a:p xmlns:a="http://schemas.openxmlformats.org/drawingml/2006/main">
            <a:r>
              <a:t>段落 65: 13-10-2025</a:t>
            </a:r>
          </a:p>
          <a:p xmlns:a="http://schemas.openxmlformats.org/drawingml/2006/main">
            <a:r>
              <a:t>段落 66: Attendees</a:t>
            </a:r>
          </a:p>
          <a:p xmlns:a="http://schemas.openxmlformats.org/drawingml/2006/main">
            <a:r>
              <a:t>段落 67: Matt</a:t>
            </a:r>
          </a:p>
          <a:p xmlns:a="http://schemas.openxmlformats.org/drawingml/2006/main">
            <a:r>
              <a:t>段落 68: James</a:t>
            </a:r>
          </a:p>
          <a:p xmlns:a="http://schemas.openxmlformats.org/drawingml/2006/main">
            <a:r>
              <a:t>段落 69: Jeff</a:t>
            </a:r>
          </a:p>
          <a:p xmlns:a="http://schemas.openxmlformats.org/drawingml/2006/main">
            <a:r>
              <a:t>段落 70: Marnie</a:t>
            </a:r>
          </a:p>
          <a:p xmlns:a="http://schemas.openxmlformats.org/drawingml/2006/main">
            <a:r>
              <a:t>段落 71: Barry (not required)</a:t>
            </a:r>
          </a:p>
          <a:p xmlns:a="http://schemas.openxmlformats.org/drawingml/2006/main">
            <a:r>
              <a:t>段落 72: Raven (not required)</a:t>
            </a:r>
          </a:p>
          <a:p xmlns:a="http://schemas.openxmlformats.org/drawingml/2006/main">
            <a:r>
              <a:t>段落 73: Daisy </a:t>
            </a:r>
          </a:p>
          <a:p xmlns:a="http://schemas.openxmlformats.org/drawingml/2006/main">
            <a:r>
              <a:t>段落 75: Weekly team meeting (Tuesdays 1000 GMT)</a:t>
            </a:r>
          </a:p>
          <a:p xmlns:a="http://schemas.openxmlformats.org/drawingml/2006/main">
            <a:r>
              <a:t>段落 76: Round table</a:t>
            </a:r>
          </a:p>
          <a:p xmlns:a="http://schemas.openxmlformats.org/drawingml/2006/main">
            <a:r>
              <a:t>段落 77: James outlined went through draft version of Output 1 - Initial report outlining Use case, underlying information requirements and definition of AI architecture to be implemented</a:t>
            </a:r>
          </a:p>
          <a:p xmlns:a="http://schemas.openxmlformats.org/drawingml/2006/main">
            <a:r>
              <a:t>段落 78: Any Current issues?</a:t>
            </a:r>
          </a:p>
          <a:p xmlns:a="http://schemas.openxmlformats.org/drawingml/2006/main">
            <a:r>
              <a:t>段落 79: Feedback from advanced socialisation of Output 1 architecture, its relation to the Common Ground Bikes local information requirements and general thoughts on implementation (from meeting on 15th Oct meeting) - feedback incorporated in Output 1</a:t>
            </a:r>
          </a:p>
          <a:p xmlns:a="http://schemas.openxmlformats.org/drawingml/2006/main">
            <a:r>
              <a:t>段落 80: Action Items</a:t>
            </a:r>
          </a:p>
          <a:p xmlns:a="http://schemas.openxmlformats.org/drawingml/2006/main">
            <a:r>
              <a:t>段落 81: Produce Initial Draft of Output 1 by 20/10/2025</a:t>
            </a:r>
          </a:p>
          <a:p xmlns:a="http://schemas.openxmlformats.org/drawingml/2006/main">
            <a:r>
              <a:t>段落 83: 06-10-2025</a:t>
            </a:r>
          </a:p>
          <a:p xmlns:a="http://schemas.openxmlformats.org/drawingml/2006/main">
            <a:r>
              <a:t>段落 84: Attendees</a:t>
            </a:r>
          </a:p>
          <a:p xmlns:a="http://schemas.openxmlformats.org/drawingml/2006/main">
            <a:r>
              <a:t>段落 85: Matt</a:t>
            </a:r>
          </a:p>
          <a:p xmlns:a="http://schemas.openxmlformats.org/drawingml/2006/main">
            <a:r>
              <a:t>段落 86: James</a:t>
            </a:r>
          </a:p>
          <a:p xmlns:a="http://schemas.openxmlformats.org/drawingml/2006/main">
            <a:r>
              <a:t>段落 87: Jeff</a:t>
            </a:r>
          </a:p>
          <a:p xmlns:a="http://schemas.openxmlformats.org/drawingml/2006/main">
            <a:r>
              <a:t>段落 88: Marnie</a:t>
            </a:r>
          </a:p>
          <a:p xmlns:a="http://schemas.openxmlformats.org/drawingml/2006/main">
            <a:r>
              <a:t>段落 89: Barry</a:t>
            </a:r>
          </a:p>
          <a:p xmlns:a="http://schemas.openxmlformats.org/drawingml/2006/main">
            <a:r>
              <a:t>段落 90: Raven</a:t>
            </a:r>
          </a:p>
          <a:p xmlns:a="http://schemas.openxmlformats.org/drawingml/2006/main">
            <a:r>
              <a:t>段落 91: Daisy</a:t>
            </a:r>
          </a:p>
          <a:p xmlns:a="http://schemas.openxmlformats.org/drawingml/2006/main">
            <a:r>
              <a:t>段落 93: Weekly team meeting (Tuesdays 1000 GMT)</a:t>
            </a:r>
          </a:p>
          <a:p xmlns:a="http://schemas.openxmlformats.org/drawingml/2006/main">
            <a:r>
              <a:t>段落 94: Round table</a:t>
            </a:r>
          </a:p>
          <a:p xmlns:a="http://schemas.openxmlformats.org/drawingml/2006/main">
            <a:r>
              <a:t>段落 95: James outlined current project status - working toward completion of WP1 Define Bicycle shop inventory Use case.  </a:t>
            </a:r>
          </a:p>
          <a:p xmlns:a="http://schemas.openxmlformats.org/drawingml/2006/main">
            <a:r>
              <a:t>段落 96: Agreed priority was addressing risk 4 (status update)</a:t>
            </a:r>
          </a:p>
          <a:p xmlns:a="http://schemas.openxmlformats.org/drawingml/2006/main">
            <a:r>
              <a:t>段落 97: Any Current issues?</a:t>
            </a:r>
          </a:p>
          <a:p xmlns:a="http://schemas.openxmlformats.org/drawingml/2006/main">
            <a:r>
              <a:t>段落 98: Engineering team confirmed end to end functioning of SpinBits DB, dummy data worked and all data processed and contained in the system configured with BridgeMind AI’s backend data model (SUCCESS)</a:t>
            </a:r>
          </a:p>
          <a:p xmlns:a="http://schemas.openxmlformats.org/drawingml/2006/main">
            <a:r>
              <a:t>段落 99: Action Items</a:t>
            </a:r>
          </a:p>
          <a:p xmlns:a="http://schemas.openxmlformats.org/drawingml/2006/main">
            <a:r>
              <a:t>段落 100: With all component data stores addressed - complete data and information architecture for WP1 is schedule for completion and socialisation, acceptance testing with Common Ground Bikes (15th October)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INPUT 4 BridgeMind AI POC deployment PROJECT LOG.docx</a:t>
            </a:r>
          </a:p>
          <a:p xmlns:a="http://schemas.openxmlformats.org/drawingml/2006/main">
            <a:r>
              <a:t>SHA256 77d065e6870ce8e64db094bc653312ed8ce6df5113cfdeeedd6427a3f4b7544f</a:t>
            </a:r>
          </a:p>
          <a:p xmlns:a="http://schemas.openxmlformats.org/drawingml/2006/main">
            <a:r>
              <a:t>段落 23: Monthly spend reviews are conducted in the first week of each calendar month</a:t>
            </a:r>
          </a:p>
          <a:p xmlns:a="http://schemas.openxmlformats.org/drawingml/2006/main">
            <a:r>
              <a:t>段落 24: Monthly project review meetings happen at the end of each calendar month (first monthly project review meeting = Thursday 30th October)</a:t>
            </a:r>
          </a:p>
          <a:p xmlns:a="http://schemas.openxmlformats.org/drawingml/2006/main">
            <a:r>
              <a:t>段落 30: 27-10-2025</a:t>
            </a:r>
          </a:p>
          <a:p xmlns:a="http://schemas.openxmlformats.org/drawingml/2006/main">
            <a:r>
              <a:t>段落 31: Attendees</a:t>
            </a:r>
          </a:p>
          <a:p xmlns:a="http://schemas.openxmlformats.org/drawingml/2006/main">
            <a:r>
              <a:t>段落 32: James, Marnie, Daisy, Jeff</a:t>
            </a:r>
          </a:p>
          <a:p xmlns:a="http://schemas.openxmlformats.org/drawingml/2006/main">
            <a:r>
              <a:t>段落 34: Weekly team meeting (Tuesdays 1000 GMT)</a:t>
            </a:r>
          </a:p>
          <a:p xmlns:a="http://schemas.openxmlformats.org/drawingml/2006/main">
            <a:r>
              <a:t>段落 35: Round table</a:t>
            </a:r>
          </a:p>
          <a:p xmlns:a="http://schemas.openxmlformats.org/drawingml/2006/main">
            <a:r>
              <a:t>段落 36: Prep for 1st monthly meeting with Government funding auditor</a:t>
            </a:r>
          </a:p>
          <a:p xmlns:a="http://schemas.openxmlformats.org/drawingml/2006/main">
            <a:r>
              <a:t>段落 37: Draft monthly report deck available here - review all content and agree with reporting team (James, Marnie, Daisy and Jeff)</a:t>
            </a:r>
          </a:p>
          <a:p xmlns:a="http://schemas.openxmlformats.org/drawingml/2006/main">
            <a:r>
              <a:t>段落 38: Output 1 (conclusion of WP1) is on schedule for delivery by 7th Nov 2025</a:t>
            </a:r>
          </a:p>
          <a:p xmlns:a="http://schemas.openxmlformats.org/drawingml/2006/main">
            <a:r>
              <a:t>段落 39: Any Current issues?</a:t>
            </a:r>
          </a:p>
          <a:p xmlns:a="http://schemas.openxmlformats.org/drawingml/2006/main">
            <a:r>
              <a:t>段落 40: None - all feedback comments in for Output 1 V1.0</a:t>
            </a:r>
          </a:p>
          <a:p xmlns:a="http://schemas.openxmlformats.org/drawingml/2006/main">
            <a:r>
              <a:t>段落 41: Anticipated completion of Output 1 V2.0 = 3rd Nov, for circulation with stakeholder on 5th Nov, for final incorporation of their comments by 9th Nov</a:t>
            </a:r>
          </a:p>
          <a:p xmlns:a="http://schemas.openxmlformats.org/drawingml/2006/main">
            <a:r>
              <a:t>段落 42: Action Items</a:t>
            </a:r>
          </a:p>
          <a:p xmlns:a="http://schemas.openxmlformats.org/drawingml/2006/main">
            <a:r>
              <a:t>段落 43: Share Monthly report with Stakeholders by 30th Oct</a:t>
            </a:r>
          </a:p>
          <a:p xmlns:a="http://schemas.openxmlformats.org/drawingml/2006/main">
            <a:r>
              <a:t>段落 44: Complete all editions and revisions to Output 1 V2.0 by 3rd Nov</a:t>
            </a:r>
          </a:p>
          <a:p xmlns:a="http://schemas.openxmlformats.org/drawingml/2006/main">
            <a:r>
              <a:t>段落 45: Conclude WP1 and share Output 1 V2.0 with Professor Dodge 7th Nov</a:t>
            </a:r>
          </a:p>
          <a:p xmlns:a="http://schemas.openxmlformats.org/drawingml/2006/main">
            <a:r>
              <a:t>可接受处理：说明7日与9日安排冲突并待确认；或将7日评审稿/9日最终稿明确列为建议方案而非已确认事实。不能把计划写成已完成。</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INPUT 2 BridgeMind AI POC Project spend profile for month 2.xlsx / 1.0 Current spend (Burn profile</a:t>
            </a:r>
          </a:p>
          <a:p xmlns:a="http://schemas.openxmlformats.org/drawingml/2006/main">
            <a:r>
              <a:t>SHA256 f0c44755ea22d5b0a13eae8f24928faaaa338944628a80b00c7f7aed41747ade</a:t>
            </a:r>
          </a:p>
          <a:p xmlns:a="http://schemas.openxmlformats.org/drawingml/2006/main">
            <a:r>
              <a:t>AC16=100 [=SUM(B16:AA16)]</a:t>
            </a:r>
          </a:p>
          <a:p xmlns:a="http://schemas.openxmlformats.org/drawingml/2006/main">
            <a:r>
              <a:t>AC17=75 [=(shared formula)]</a:t>
            </a:r>
          </a:p>
          <a:p xmlns:a="http://schemas.openxmlformats.org/drawingml/2006/main">
            <a:r>
              <a:t>AC18=1000 [=(shared formula)]</a:t>
            </a:r>
          </a:p>
          <a:p xmlns:a="http://schemas.openxmlformats.org/drawingml/2006/main">
            <a:r>
              <a:t>AC19=1100 [=(shared formula)]</a:t>
            </a:r>
          </a:p>
          <a:p xmlns:a="http://schemas.openxmlformats.org/drawingml/2006/main">
            <a:r>
              <a:t>AC20=1125 [=(shared formula)]</a:t>
            </a:r>
          </a:p>
          <a:p xmlns:a="http://schemas.openxmlformats.org/drawingml/2006/main">
            <a:r>
              <a:t>AC21=1125 [=(shared formula)]</a:t>
            </a:r>
          </a:p>
          <a:p xmlns:a="http://schemas.openxmlformats.org/drawingml/2006/main">
            <a:r>
              <a:t>AC22=1125 [=(shared formula)]</a:t>
            </a:r>
          </a:p>
          <a:p xmlns:a="http://schemas.openxmlformats.org/drawingml/2006/main">
            <a:r>
              <a:t>AC23=1175 [=(shared formula)]</a:t>
            </a:r>
          </a:p>
          <a:p xmlns:a="http://schemas.openxmlformats.org/drawingml/2006/main">
            <a:r>
              <a:t>AC24=1025 [=(shared formula)]</a:t>
            </a:r>
          </a:p>
          <a:p xmlns:a="http://schemas.openxmlformats.org/drawingml/2006/main">
            <a:r>
              <a:t>AC28=40 [=SUM(B28:AB28)]</a:t>
            </a:r>
          </a:p>
          <a:p xmlns:a="http://schemas.openxmlformats.org/drawingml/2006/main">
            <a:r>
              <a:t>AC29=5 [=(shared formula)]</a:t>
            </a:r>
          </a:p>
          <a:p xmlns:a="http://schemas.openxmlformats.org/drawingml/2006/main">
            <a:r>
              <a:t>AC30=20 [=(shared formula)]</a:t>
            </a:r>
          </a:p>
          <a:p xmlns:a="http://schemas.openxmlformats.org/drawingml/2006/main">
            <a:r>
              <a:t>AC33=70 [=SUM(B33:AB33)]</a:t>
            </a:r>
          </a:p>
          <a:p xmlns:a="http://schemas.openxmlformats.org/drawingml/2006/main">
            <a:r>
              <a:t>AC34=35 [=(shared formula)]</a:t>
            </a:r>
          </a:p>
          <a:p xmlns:a="http://schemas.openxmlformats.org/drawingml/2006/main">
            <a:r>
              <a:t>F37=1139.3499999999999 [='5.0 TOTAL PROJECT COSTS'!B43/6]</a:t>
            </a:r>
          </a:p>
          <a:p xmlns:a="http://schemas.openxmlformats.org/drawingml/2006/main">
            <a:r>
              <a:t>J37=1139.3499999999999 [='5.0 TOTAL PROJECT COSTS'!B43/6]</a:t>
            </a:r>
          </a:p>
          <a:p xmlns:a="http://schemas.openxmlformats.org/drawingml/2006/main">
            <a:r>
              <a:t>F41=5981.35 [=SUM(B16:F37)]</a:t>
            </a:r>
          </a:p>
          <a:p xmlns:a="http://schemas.openxmlformats.org/drawingml/2006/main">
            <a:r>
              <a:t>J41=10298.700000000001 [=SUM(B16:J37)]</a:t>
            </a:r>
          </a:p>
          <a:p xmlns:a="http://schemas.openxmlformats.org/drawingml/2006/main">
            <a:r>
              <a:t>AC41=14856.100000000002 [=AA41]</a:t>
            </a:r>
          </a:p>
          <a:p xmlns:a="http://schemas.openxmlformats.org/drawingml/2006/main">
            <a:r>
              <a:t>J42=9874.3666666666668 [=F42*2]</a:t>
            </a:r>
          </a:p>
          <a:p xmlns:a="http://schemas.openxmlformats.org/drawingml/2006/main">
            <a:r>
              <a:t>AC42=29623.1 [=(shared formula)]</a:t>
            </a:r>
          </a:p>
          <a:p xmlns:a="http://schemas.openxmlformats.org/drawingml/2006/main">
            <a:r>
              <a:t>J43=19324.399999999998 [=AC42-J41]</a:t>
            </a:r>
          </a:p>
          <a:p xmlns:a="http://schemas.openxmlformats.org/drawingml/2006/main">
            <a:r>
              <a:t>J45=-424.33333333333394 [=J42-J41]</a:t>
            </a:r>
          </a:p>
          <a:p xmlns:a="http://schemas.openxmlformats.org/drawingml/2006/main">
            <a:r>
              <a:t>独立复算：人员100+75+1000+1100+1125+1125+1125+1175+1025=7850；材料40+5+20=65；差旅70+35=105；管理费6836.10/6*2=2278.70；累计10298.70。全周期29623.10/6*2=9874.3666667为表内同期预算。差额10298.70-9874.3666667=424.3333333。剩余29623.10-10298.70=19324.40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INPUT 2 BridgeMind AI POC Project spend profile for month 2.xlsx / 0.0 Notes</a:t>
            </a:r>
          </a:p>
          <a:p xmlns:a="http://schemas.openxmlformats.org/drawingml/2006/main">
            <a:r>
              <a:t>SHA256 f0c44755ea22d5b0a13eae8f24928faaaa338944628a80b00c7f7aed41747ade</a:t>
            </a:r>
          </a:p>
          <a:p xmlns:a="http://schemas.openxmlformats.org/drawingml/2006/main">
            <a:r>
              <a:t>A1=Notes - this spreadsheet provides the monthly cummulative spend for the BridgeMind AI Common Ground Bikes POC depoloyment</a:t>
            </a:r>
          </a:p>
          <a:p xmlns:a="http://schemas.openxmlformats.org/drawingml/2006/main">
            <a:r>
              <a:t>A2=Monthly spend reviews are conducted in the first week of each calendar month</a:t>
            </a:r>
          </a:p>
          <a:p xmlns:a="http://schemas.openxmlformats.org/drawingml/2006/main">
            <a:r>
              <a:t>A3=Date - 3rd November</a:t>
            </a:r>
          </a:p>
          <a:p xmlns:a="http://schemas.openxmlformats.org/drawingml/2006/main">
            <a:r>
              <a:t>A4=Spend review number </a:t>
            </a:r>
          </a:p>
          <a:p xmlns:a="http://schemas.openxmlformats.org/drawingml/2006/main">
            <a:r>
              <a:t>B4=2</a:t>
            </a:r>
          </a:p>
          <a:p xmlns:a="http://schemas.openxmlformats.org/drawingml/2006/main">
            <a:r>
              <a:t>A5=Project Proposal number </a:t>
            </a:r>
          </a:p>
          <a:p xmlns:a="http://schemas.openxmlformats.org/drawingml/2006/main">
            <a:r>
              <a:t>B5=IUK6060_BIKE</a:t>
            </a:r>
          </a:p>
          <a:p xmlns:a="http://schemas.openxmlformats.org/drawingml/2006/main">
            <a:r>
              <a:t>INPUT 2 BridgeMind AI POC Project spend profile for month 2.xlsx / 4.0 CURRENT PROJECT COSTS (to d</a:t>
            </a:r>
          </a:p>
          <a:p xmlns:a="http://schemas.openxmlformats.org/drawingml/2006/main">
            <a:r>
              <a:t>SHA256 f0c44755ea22d5b0a13eae8f24928faaaa338944628a80b00c7f7aed41747ade</a:t>
            </a:r>
          </a:p>
          <a:p xmlns:a="http://schemas.openxmlformats.org/drawingml/2006/main">
            <a:r>
              <a:t>A2=1. Total Personnel Costs (per role)</a:t>
            </a:r>
          </a:p>
          <a:p xmlns:a="http://schemas.openxmlformats.org/drawingml/2006/main">
            <a:r>
              <a:t>A4=Role</a:t>
            </a:r>
          </a:p>
          <a:p xmlns:a="http://schemas.openxmlformats.org/drawingml/2006/main">
            <a:r>
              <a:t>B4=Total days worked (full project)</a:t>
            </a:r>
          </a:p>
          <a:p xmlns:a="http://schemas.openxmlformats.org/drawingml/2006/main">
            <a:r>
              <a:t>C4=Day rate (per role)</a:t>
            </a:r>
          </a:p>
          <a:p xmlns:a="http://schemas.openxmlformats.org/drawingml/2006/main">
            <a:r>
              <a:t>D4=Total role cost (£)</a:t>
            </a:r>
          </a:p>
          <a:p xmlns:a="http://schemas.openxmlformats.org/drawingml/2006/main">
            <a:r>
              <a:t>A5=Tech Start Up CEO</a:t>
            </a:r>
          </a:p>
          <a:p xmlns:a="http://schemas.openxmlformats.org/drawingml/2006/main">
            <a:r>
              <a:t>B5=1</a:t>
            </a:r>
          </a:p>
          <a:p xmlns:a="http://schemas.openxmlformats.org/drawingml/2006/main">
            <a:r>
              <a:t>C5=100 [='3.0 Rate card and costs'!B4]</a:t>
            </a:r>
          </a:p>
          <a:p xmlns:a="http://schemas.openxmlformats.org/drawingml/2006/main">
            <a:r>
              <a:t>D5=100 [=B5*C5]</a:t>
            </a:r>
          </a:p>
          <a:p xmlns:a="http://schemas.openxmlformats.org/drawingml/2006/main">
            <a:r>
              <a:t>A6=Tech Start Up CTO</a:t>
            </a:r>
          </a:p>
          <a:p xmlns:a="http://schemas.openxmlformats.org/drawingml/2006/main">
            <a:r>
              <a:t>B6=1 [='2.0 Resources (used to date)'!AC16]</a:t>
            </a:r>
          </a:p>
          <a:p xmlns:a="http://schemas.openxmlformats.org/drawingml/2006/main">
            <a:r>
              <a:t>C6=75</a:t>
            </a:r>
          </a:p>
          <a:p xmlns:a="http://schemas.openxmlformats.org/drawingml/2006/main">
            <a:r>
              <a:t>D6=75 [=(shared formula)]</a:t>
            </a:r>
          </a:p>
          <a:p xmlns:a="http://schemas.openxmlformats.org/drawingml/2006/main">
            <a:r>
              <a:t>A7=Tech Start Up Information Manager</a:t>
            </a:r>
          </a:p>
          <a:p xmlns:a="http://schemas.openxmlformats.org/drawingml/2006/main">
            <a:r>
              <a:t>B7=1 [='2.0 Resources (used to date)'!AC17]</a:t>
            </a:r>
          </a:p>
          <a:p xmlns:a="http://schemas.openxmlformats.org/drawingml/2006/main">
            <a:r>
              <a:t>C7=50</a:t>
            </a:r>
          </a:p>
          <a:p xmlns:a="http://schemas.openxmlformats.org/drawingml/2006/main">
            <a:r>
              <a:t>D7=50 [=(shared formula)]</a:t>
            </a:r>
          </a:p>
          <a:p xmlns:a="http://schemas.openxmlformats.org/drawingml/2006/main">
            <a:r>
              <a:t>A8=Tech Start Up Project Manager</a:t>
            </a:r>
          </a:p>
          <a:p xmlns:a="http://schemas.openxmlformats.org/drawingml/2006/main">
            <a:r>
              <a:t>B8=20 [='2.0 Resources (used to date)'!AC18]</a:t>
            </a:r>
          </a:p>
          <a:p xmlns:a="http://schemas.openxmlformats.org/drawingml/2006/main">
            <a:r>
              <a:t>C8=50</a:t>
            </a:r>
          </a:p>
          <a:p xmlns:a="http://schemas.openxmlformats.org/drawingml/2006/main">
            <a:r>
              <a:t>D8=1000 [=(shared formula)]</a:t>
            </a:r>
          </a:p>
          <a:p xmlns:a="http://schemas.openxmlformats.org/drawingml/2006/main">
            <a:r>
              <a:t>A9=Tech Start Up Engineering Manager</a:t>
            </a:r>
          </a:p>
          <a:p xmlns:a="http://schemas.openxmlformats.org/drawingml/2006/main">
            <a:r>
              <a:t>B9=22 [='2.0 Resources (used to date)'!AC19]</a:t>
            </a:r>
          </a:p>
          <a:p xmlns:a="http://schemas.openxmlformats.org/drawingml/2006/main">
            <a:r>
              <a:t>C9=50</a:t>
            </a:r>
          </a:p>
          <a:p xmlns:a="http://schemas.openxmlformats.org/drawingml/2006/main">
            <a:r>
              <a:t>D9=1100 [=(shared formula)]</a:t>
            </a:r>
          </a:p>
          <a:p xmlns:a="http://schemas.openxmlformats.org/drawingml/2006/main">
            <a:r>
              <a:t>A10=Tech Start Up Dev 1</a:t>
            </a:r>
          </a:p>
          <a:p xmlns:a="http://schemas.openxmlformats.org/drawingml/2006/main">
            <a:r>
              <a:t>B10=22.5 [='2.0 Resources (used to date)'!AC20]</a:t>
            </a:r>
          </a:p>
          <a:p xmlns:a="http://schemas.openxmlformats.org/drawingml/2006/main">
            <a:r>
              <a:t>C10=50</a:t>
            </a:r>
          </a:p>
          <a:p xmlns:a="http://schemas.openxmlformats.org/drawingml/2006/main">
            <a:r>
              <a:t>D10=1125 [=(shared formula)]</a:t>
            </a:r>
          </a:p>
          <a:p xmlns:a="http://schemas.openxmlformats.org/drawingml/2006/main">
            <a:r>
              <a:t>A11=Tech Start Up Dev 2</a:t>
            </a:r>
          </a:p>
          <a:p xmlns:a="http://schemas.openxmlformats.org/drawingml/2006/main">
            <a:r>
              <a:t>B11=22.5 [='2.0 Resources (used to date)'!AC21]</a:t>
            </a:r>
          </a:p>
          <a:p xmlns:a="http://schemas.openxmlformats.org/drawingml/2006/main">
            <a:r>
              <a:t>C11=50</a:t>
            </a:r>
          </a:p>
          <a:p xmlns:a="http://schemas.openxmlformats.org/drawingml/2006/main">
            <a:r>
              <a:t>D11=1125 [=(shared formula)]</a:t>
            </a:r>
          </a:p>
          <a:p xmlns:a="http://schemas.openxmlformats.org/drawingml/2006/main">
            <a:r>
              <a:t>A12=Tech Start Up UI Expert </a:t>
            </a:r>
          </a:p>
          <a:p xmlns:a="http://schemas.openxmlformats.org/drawingml/2006/main">
            <a:r>
              <a:t>B12=22.5 [='2.0 Resources (used to date)'!AC22]</a:t>
            </a:r>
          </a:p>
          <a:p xmlns:a="http://schemas.openxmlformats.org/drawingml/2006/main">
            <a:r>
              <a:t>C12=50</a:t>
            </a:r>
          </a:p>
          <a:p xmlns:a="http://schemas.openxmlformats.org/drawingml/2006/main">
            <a:r>
              <a:t>D12=1125 [=(shared formula)]</a:t>
            </a:r>
          </a:p>
          <a:p xmlns:a="http://schemas.openxmlformats.org/drawingml/2006/main">
            <a:r>
              <a:t>A13=Tech Start Up ML Engineer</a:t>
            </a:r>
          </a:p>
          <a:p xmlns:a="http://schemas.openxmlformats.org/drawingml/2006/main">
            <a:r>
              <a:t>B13=23.5 [='2.0 Resources (used to date)'!AC23]</a:t>
            </a:r>
          </a:p>
          <a:p xmlns:a="http://schemas.openxmlformats.org/drawingml/2006/main">
            <a:r>
              <a:t>C13=50</a:t>
            </a:r>
          </a:p>
          <a:p xmlns:a="http://schemas.openxmlformats.org/drawingml/2006/main">
            <a:r>
              <a:t>D13=1175 [=(shared formula)]</a:t>
            </a:r>
          </a:p>
          <a:p xmlns:a="http://schemas.openxmlformats.org/drawingml/2006/main">
            <a:r>
              <a:t>A15=1.1 Total Personnel Cost (full project)</a:t>
            </a:r>
          </a:p>
          <a:p xmlns:a="http://schemas.openxmlformats.org/drawingml/2006/main">
            <a:r>
              <a:t>D15=6875 [=SUM(D5:D13)]</a:t>
            </a:r>
          </a:p>
          <a:p xmlns:a="http://schemas.openxmlformats.org/drawingml/2006/main">
            <a:r>
              <a:t>A17=2.0 Associated material costs (Full project)</a:t>
            </a:r>
          </a:p>
          <a:p xmlns:a="http://schemas.openxmlformats.org/drawingml/2006/main">
            <a:r>
              <a:t>B18=Months</a:t>
            </a:r>
          </a:p>
          <a:p xmlns:a="http://schemas.openxmlformats.org/drawingml/2006/main">
            <a:r>
              <a:t>A19=Total Project Duration </a:t>
            </a:r>
          </a:p>
          <a:p xmlns:a="http://schemas.openxmlformats.org/drawingml/2006/main">
            <a:r>
              <a:t>B19=6</a:t>
            </a:r>
          </a:p>
          <a:p xmlns:a="http://schemas.openxmlformats.org/drawingml/2006/main">
            <a:r>
              <a:t>A21=Costs</a:t>
            </a:r>
          </a:p>
          <a:p xmlns:a="http://schemas.openxmlformats.org/drawingml/2006/main">
            <a:r>
              <a:t>B21=Per month</a:t>
            </a:r>
          </a:p>
          <a:p xmlns:a="http://schemas.openxmlformats.org/drawingml/2006/main">
            <a:r>
              <a:t>C21=Full project cost (= Monthly cost* number of months)</a:t>
            </a:r>
          </a:p>
          <a:p xmlns:a="http://schemas.openxmlformats.org/drawingml/2006/main">
            <a:r>
              <a:t>A22=Cloud computing costs for total project</a:t>
            </a:r>
          </a:p>
          <a:p xmlns:a="http://schemas.openxmlformats.org/drawingml/2006/main">
            <a:r>
              <a:t>B22=20 [='3.0 Rate card and costs'!B15]</a:t>
            </a:r>
          </a:p>
          <a:p xmlns:a="http://schemas.openxmlformats.org/drawingml/2006/main">
            <a:r>
              <a:t>C22=120 [=B22*B19]</a:t>
            </a:r>
          </a:p>
          <a:p xmlns:a="http://schemas.openxmlformats.org/drawingml/2006/main">
            <a:r>
              <a:t>A23=Data capture materials (stationary)</a:t>
            </a:r>
          </a:p>
          <a:p xmlns:a="http://schemas.openxmlformats.org/drawingml/2006/main">
            <a:r>
              <a:t>B23=2 [='3.0 Rate card and costs'!B16]</a:t>
            </a:r>
          </a:p>
          <a:p xmlns:a="http://schemas.openxmlformats.org/drawingml/2006/main">
            <a:r>
              <a:t>C23=12 [=B23*B19]</a:t>
            </a:r>
          </a:p>
          <a:p xmlns:a="http://schemas.openxmlformats.org/drawingml/2006/main">
            <a:r>
              <a:t>A24=Cybersecurity software protection </a:t>
            </a:r>
          </a:p>
          <a:p xmlns:a="http://schemas.openxmlformats.org/drawingml/2006/main">
            <a:r>
              <a:t>B24=10 [='3.0 Rate card and costs'!B17]</a:t>
            </a:r>
          </a:p>
          <a:p xmlns:a="http://schemas.openxmlformats.org/drawingml/2006/main">
            <a:r>
              <a:t>C24=60 [=B24*B19]</a:t>
            </a:r>
          </a:p>
          <a:p xmlns:a="http://schemas.openxmlformats.org/drawingml/2006/main">
            <a:r>
              <a:t>A26=2.1 Associated Material Costs (full project)</a:t>
            </a:r>
          </a:p>
          <a:p xmlns:a="http://schemas.openxmlformats.org/drawingml/2006/main">
            <a:r>
              <a:t>C26=192 [=SUM(C22:C24)]</a:t>
            </a:r>
          </a:p>
          <a:p xmlns:a="http://schemas.openxmlformats.org/drawingml/2006/main">
            <a:r>
              <a:t>A29=3.0 Travel and expenses costs (full project)</a:t>
            </a:r>
          </a:p>
          <a:p xmlns:a="http://schemas.openxmlformats.org/drawingml/2006/main">
            <a:r>
              <a:t>A31=Travel and expenses</a:t>
            </a:r>
          </a:p>
          <a:p xmlns:a="http://schemas.openxmlformats.org/drawingml/2006/main">
            <a:r>
              <a:t>B31=Per month</a:t>
            </a:r>
          </a:p>
          <a:p xmlns:a="http://schemas.openxmlformats.org/drawingml/2006/main">
            <a:r>
              <a:t>C31=Full travel and expenses cost (= Monthly cost* number of months)</a:t>
            </a:r>
          </a:p>
          <a:p xmlns:a="http://schemas.openxmlformats.org/drawingml/2006/main">
            <a:r>
              <a:t>A32=Travel to client sites</a:t>
            </a:r>
          </a:p>
          <a:p xmlns:a="http://schemas.openxmlformats.org/drawingml/2006/main">
            <a:r>
              <a:t>B32=50 [='3.0 Rate card and costs'!B20]</a:t>
            </a:r>
          </a:p>
          <a:p xmlns:a="http://schemas.openxmlformats.org/drawingml/2006/main">
            <a:r>
              <a:t>C32=300 [=B32*B19]</a:t>
            </a:r>
          </a:p>
          <a:p xmlns:a="http://schemas.openxmlformats.org/drawingml/2006/main">
            <a:r>
              <a:t>A33=Refreshments for client meetings</a:t>
            </a:r>
          </a:p>
          <a:p xmlns:a="http://schemas.openxmlformats.org/drawingml/2006/main">
            <a:r>
              <a:t>B33=20 [='3.0 Rate card and costs'!B21]</a:t>
            </a:r>
          </a:p>
          <a:p xmlns:a="http://schemas.openxmlformats.org/drawingml/2006/main">
            <a:r>
              <a:t>C33=120 [=B33*B19]</a:t>
            </a:r>
          </a:p>
          <a:p xmlns:a="http://schemas.openxmlformats.org/drawingml/2006/main">
            <a:r>
              <a:t>A35=3.1 Total Travel and expenses costs (full project)</a:t>
            </a:r>
          </a:p>
          <a:p xmlns:a="http://schemas.openxmlformats.org/drawingml/2006/main">
            <a:r>
              <a:t>C35=420 [=SUM(C32:C33)]</a:t>
            </a:r>
          </a:p>
          <a:p xmlns:a="http://schemas.openxmlformats.org/drawingml/2006/main">
            <a:r>
              <a:t>A38=4.0 Project Overheads</a:t>
            </a:r>
          </a:p>
          <a:p xmlns:a="http://schemas.openxmlformats.org/drawingml/2006/main">
            <a:r>
              <a:t>A40=Total project cost (without overhead applied)</a:t>
            </a:r>
          </a:p>
          <a:p xmlns:a="http://schemas.openxmlformats.org/drawingml/2006/main">
            <a:r>
              <a:t>B40=7487 [=D15+C26+C35]</a:t>
            </a:r>
          </a:p>
          <a:p xmlns:a="http://schemas.openxmlformats.org/drawingml/2006/main">
            <a:r>
              <a:t>A41=Rate of overhead</a:t>
            </a:r>
          </a:p>
          <a:p xmlns:a="http://schemas.openxmlformats.org/drawingml/2006/main">
            <a:r>
              <a:t>B41=0.3 [=('3.0 Rate card and costs'!B23/100)]</a:t>
            </a:r>
          </a:p>
          <a:p xmlns:a="http://schemas.openxmlformats.org/drawingml/2006/main">
            <a:r>
              <a:t>A43=4.1 Total Project Overhead cost</a:t>
            </a:r>
          </a:p>
          <a:p xmlns:a="http://schemas.openxmlformats.org/drawingml/2006/main">
            <a:r>
              <a:t>B43=2246.1 [=B41*B40]</a:t>
            </a:r>
          </a:p>
          <a:p xmlns:a="http://schemas.openxmlformats.org/drawingml/2006/main">
            <a:r>
              <a:t>A46=5.0 Total Project Cost</a:t>
            </a:r>
          </a:p>
          <a:p xmlns:a="http://schemas.openxmlformats.org/drawingml/2006/main">
            <a:r>
              <a:t>A48=Total Project Cost</a:t>
            </a:r>
          </a:p>
          <a:p xmlns:a="http://schemas.openxmlformats.org/drawingml/2006/main">
            <a:r>
              <a:t>B48=9733.1 [=B43+C35+C26+D15]</a:t>
            </a:r>
          </a:p>
          <a:p xmlns:a="http://schemas.openxmlformats.org/drawingml/2006/main">
            <a:r>
              <a:t>A53=5.1 Total Final Project Cost (£)</a:t>
            </a:r>
          </a:p>
          <a:p xmlns:a="http://schemas.openxmlformats.org/drawingml/2006/main">
            <a:r>
              <a:t>B53=9733.1 [=B48+B50]</a:t>
            </a:r>
          </a:p>
          <a:p xmlns:a="http://schemas.openxmlformats.org/drawingml/2006/main">
            <a:r>
              <a:t>INPUT 2 BridgeMind AI POC Project spend profile for month 2.xlsx / 5.0 TOTAL PROJECT COSTS</a:t>
            </a:r>
          </a:p>
          <a:p xmlns:a="http://schemas.openxmlformats.org/drawingml/2006/main">
            <a:r>
              <a:t>SHA256 f0c44755ea22d5b0a13eae8f24928faaaa338944628a80b00c7f7aed41747ade</a:t>
            </a:r>
          </a:p>
          <a:p xmlns:a="http://schemas.openxmlformats.org/drawingml/2006/main">
            <a:r>
              <a:t>A2=1. Total Personnel Costs (per role)</a:t>
            </a:r>
          </a:p>
          <a:p xmlns:a="http://schemas.openxmlformats.org/drawingml/2006/main">
            <a:r>
              <a:t>A4=Role</a:t>
            </a:r>
          </a:p>
          <a:p xmlns:a="http://schemas.openxmlformats.org/drawingml/2006/main">
            <a:r>
              <a:t>B4=Total days worked (full project)</a:t>
            </a:r>
          </a:p>
          <a:p xmlns:a="http://schemas.openxmlformats.org/drawingml/2006/main">
            <a:r>
              <a:t>C4=Day rate (per role)</a:t>
            </a:r>
          </a:p>
          <a:p xmlns:a="http://schemas.openxmlformats.org/drawingml/2006/main">
            <a:r>
              <a:t>D4=Total role cost (£)</a:t>
            </a:r>
          </a:p>
          <a:p xmlns:a="http://schemas.openxmlformats.org/drawingml/2006/main">
            <a:r>
              <a:t>A5=Tech Start Up CEO</a:t>
            </a:r>
          </a:p>
          <a:p xmlns:a="http://schemas.openxmlformats.org/drawingml/2006/main">
            <a:r>
              <a:t>B5=5</a:t>
            </a:r>
          </a:p>
          <a:p xmlns:a="http://schemas.openxmlformats.org/drawingml/2006/main">
            <a:r>
              <a:t>C5=100</a:t>
            </a:r>
          </a:p>
          <a:p xmlns:a="http://schemas.openxmlformats.org/drawingml/2006/main">
            <a:r>
              <a:t>D5=500</a:t>
            </a:r>
          </a:p>
          <a:p xmlns:a="http://schemas.openxmlformats.org/drawingml/2006/main">
            <a:r>
              <a:t>A6=Tech Start Up CTO</a:t>
            </a:r>
          </a:p>
          <a:p xmlns:a="http://schemas.openxmlformats.org/drawingml/2006/main">
            <a:r>
              <a:t>B6=5</a:t>
            </a:r>
          </a:p>
          <a:p xmlns:a="http://schemas.openxmlformats.org/drawingml/2006/main">
            <a:r>
              <a:t>C6=75</a:t>
            </a:r>
          </a:p>
          <a:p xmlns:a="http://schemas.openxmlformats.org/drawingml/2006/main">
            <a:r>
              <a:t>D6=375</a:t>
            </a:r>
          </a:p>
          <a:p xmlns:a="http://schemas.openxmlformats.org/drawingml/2006/main">
            <a:r>
              <a:t>A7=Tech Start Up Information Manager</a:t>
            </a:r>
          </a:p>
          <a:p xmlns:a="http://schemas.openxmlformats.org/drawingml/2006/main">
            <a:r>
              <a:t>B7=36</a:t>
            </a:r>
          </a:p>
          <a:p xmlns:a="http://schemas.openxmlformats.org/drawingml/2006/main">
            <a:r>
              <a:t>C7=50</a:t>
            </a:r>
          </a:p>
          <a:p xmlns:a="http://schemas.openxmlformats.org/drawingml/2006/main">
            <a:r>
              <a:t>D7=1800</a:t>
            </a:r>
          </a:p>
          <a:p xmlns:a="http://schemas.openxmlformats.org/drawingml/2006/main">
            <a:r>
              <a:t>A8=Tech Start Up Project Manager</a:t>
            </a:r>
          </a:p>
          <a:p xmlns:a="http://schemas.openxmlformats.org/drawingml/2006/main">
            <a:r>
              <a:t>B8=65</a:t>
            </a:r>
          </a:p>
          <a:p xmlns:a="http://schemas.openxmlformats.org/drawingml/2006/main">
            <a:r>
              <a:t>C8=50</a:t>
            </a:r>
          </a:p>
          <a:p xmlns:a="http://schemas.openxmlformats.org/drawingml/2006/main">
            <a:r>
              <a:t>D8=3250</a:t>
            </a:r>
          </a:p>
          <a:p xmlns:a="http://schemas.openxmlformats.org/drawingml/2006/main">
            <a:r>
              <a:t>A9=Tech Start Up Engineering Manager</a:t>
            </a:r>
          </a:p>
          <a:p xmlns:a="http://schemas.openxmlformats.org/drawingml/2006/main">
            <a:r>
              <a:t>B9=65</a:t>
            </a:r>
          </a:p>
          <a:p xmlns:a="http://schemas.openxmlformats.org/drawingml/2006/main">
            <a:r>
              <a:t>C9=50</a:t>
            </a:r>
          </a:p>
          <a:p xmlns:a="http://schemas.openxmlformats.org/drawingml/2006/main">
            <a:r>
              <a:t>D9=3250</a:t>
            </a:r>
          </a:p>
          <a:p xmlns:a="http://schemas.openxmlformats.org/drawingml/2006/main">
            <a:r>
              <a:t>A10=Tech Start Up Dev 1</a:t>
            </a:r>
          </a:p>
          <a:p xmlns:a="http://schemas.openxmlformats.org/drawingml/2006/main">
            <a:r>
              <a:t>B10=65</a:t>
            </a:r>
          </a:p>
          <a:p xmlns:a="http://schemas.openxmlformats.org/drawingml/2006/main">
            <a:r>
              <a:t>C10=50</a:t>
            </a:r>
          </a:p>
          <a:p xmlns:a="http://schemas.openxmlformats.org/drawingml/2006/main">
            <a:r>
              <a:t>D10=3250</a:t>
            </a:r>
          </a:p>
          <a:p xmlns:a="http://schemas.openxmlformats.org/drawingml/2006/main">
            <a:r>
              <a:t>A11=Tech Start Up Dev 2</a:t>
            </a:r>
          </a:p>
          <a:p xmlns:a="http://schemas.openxmlformats.org/drawingml/2006/main">
            <a:r>
              <a:t>B11=65</a:t>
            </a:r>
          </a:p>
          <a:p xmlns:a="http://schemas.openxmlformats.org/drawingml/2006/main">
            <a:r>
              <a:t>C11=50</a:t>
            </a:r>
          </a:p>
          <a:p xmlns:a="http://schemas.openxmlformats.org/drawingml/2006/main">
            <a:r>
              <a:t>D11=3250</a:t>
            </a:r>
          </a:p>
          <a:p xmlns:a="http://schemas.openxmlformats.org/drawingml/2006/main">
            <a:r>
              <a:t>A12=Tech Start Up UI Expert</a:t>
            </a:r>
          </a:p>
          <a:p xmlns:a="http://schemas.openxmlformats.org/drawingml/2006/main">
            <a:r>
              <a:t>B12=65</a:t>
            </a:r>
          </a:p>
          <a:p xmlns:a="http://schemas.openxmlformats.org/drawingml/2006/main">
            <a:r>
              <a:t>C12=50</a:t>
            </a:r>
          </a:p>
          <a:p xmlns:a="http://schemas.openxmlformats.org/drawingml/2006/main">
            <a:r>
              <a:t>D12=3250</a:t>
            </a:r>
          </a:p>
          <a:p xmlns:a="http://schemas.openxmlformats.org/drawingml/2006/main">
            <a:r>
              <a:t>A13=Tech Start Up ML Engineer</a:t>
            </a:r>
          </a:p>
          <a:p xmlns:a="http://schemas.openxmlformats.org/drawingml/2006/main">
            <a:r>
              <a:t>B13=65</a:t>
            </a:r>
          </a:p>
          <a:p xmlns:a="http://schemas.openxmlformats.org/drawingml/2006/main">
            <a:r>
              <a:t>C13=50</a:t>
            </a:r>
          </a:p>
          <a:p xmlns:a="http://schemas.openxmlformats.org/drawingml/2006/main">
            <a:r>
              <a:t>D13=3250</a:t>
            </a:r>
          </a:p>
          <a:p xmlns:a="http://schemas.openxmlformats.org/drawingml/2006/main">
            <a:r>
              <a:t>A15=1.1 Total Personnel Cost (full project)</a:t>
            </a:r>
          </a:p>
          <a:p xmlns:a="http://schemas.openxmlformats.org/drawingml/2006/main">
            <a:r>
              <a:t>D15=22175</a:t>
            </a:r>
          </a:p>
          <a:p xmlns:a="http://schemas.openxmlformats.org/drawingml/2006/main">
            <a:r>
              <a:t>A17=2.0 Associated material costs (Full project)</a:t>
            </a:r>
          </a:p>
          <a:p xmlns:a="http://schemas.openxmlformats.org/drawingml/2006/main">
            <a:r>
              <a:t>B18=Months</a:t>
            </a:r>
          </a:p>
          <a:p xmlns:a="http://schemas.openxmlformats.org/drawingml/2006/main">
            <a:r>
              <a:t>A19=Total Project Duration</a:t>
            </a:r>
          </a:p>
          <a:p xmlns:a="http://schemas.openxmlformats.org/drawingml/2006/main">
            <a:r>
              <a:t>B19=6</a:t>
            </a:r>
          </a:p>
          <a:p xmlns:a="http://schemas.openxmlformats.org/drawingml/2006/main">
            <a:r>
              <a:t>A21=Costs</a:t>
            </a:r>
          </a:p>
          <a:p xmlns:a="http://schemas.openxmlformats.org/drawingml/2006/main">
            <a:r>
              <a:t>B21=Per month</a:t>
            </a:r>
          </a:p>
          <a:p xmlns:a="http://schemas.openxmlformats.org/drawingml/2006/main">
            <a:r>
              <a:t>C21=Full project cost (= Monthly cost* number of months)</a:t>
            </a:r>
          </a:p>
          <a:p xmlns:a="http://schemas.openxmlformats.org/drawingml/2006/main">
            <a:r>
              <a:t>A22=Cloud computing costs for total project</a:t>
            </a:r>
          </a:p>
          <a:p xmlns:a="http://schemas.openxmlformats.org/drawingml/2006/main">
            <a:r>
              <a:t>B22=20</a:t>
            </a:r>
          </a:p>
          <a:p xmlns:a="http://schemas.openxmlformats.org/drawingml/2006/main">
            <a:r>
              <a:t>C22=120</a:t>
            </a:r>
          </a:p>
          <a:p xmlns:a="http://schemas.openxmlformats.org/drawingml/2006/main">
            <a:r>
              <a:t>A23=Data capture materials (stationary)</a:t>
            </a:r>
          </a:p>
          <a:p xmlns:a="http://schemas.openxmlformats.org/drawingml/2006/main">
            <a:r>
              <a:t>B23=2</a:t>
            </a:r>
          </a:p>
          <a:p xmlns:a="http://schemas.openxmlformats.org/drawingml/2006/main">
            <a:r>
              <a:t>C23=12</a:t>
            </a:r>
          </a:p>
          <a:p xmlns:a="http://schemas.openxmlformats.org/drawingml/2006/main">
            <a:r>
              <a:t>A24=Cybersecurity software protection</a:t>
            </a:r>
          </a:p>
          <a:p xmlns:a="http://schemas.openxmlformats.org/drawingml/2006/main">
            <a:r>
              <a:t>B24=10</a:t>
            </a:r>
          </a:p>
          <a:p xmlns:a="http://schemas.openxmlformats.org/drawingml/2006/main">
            <a:r>
              <a:t>C24=60</a:t>
            </a:r>
          </a:p>
          <a:p xmlns:a="http://schemas.openxmlformats.org/drawingml/2006/main">
            <a:r>
              <a:t>A26=2.1 Associated Material Costs (full project)</a:t>
            </a:r>
          </a:p>
          <a:p xmlns:a="http://schemas.openxmlformats.org/drawingml/2006/main">
            <a:r>
              <a:t>C26=192</a:t>
            </a:r>
          </a:p>
          <a:p xmlns:a="http://schemas.openxmlformats.org/drawingml/2006/main">
            <a:r>
              <a:t>A29=3.0 Travel and expenses costs (full project)</a:t>
            </a:r>
          </a:p>
          <a:p xmlns:a="http://schemas.openxmlformats.org/drawingml/2006/main">
            <a:r>
              <a:t>A31=Travel and expenses</a:t>
            </a:r>
          </a:p>
          <a:p xmlns:a="http://schemas.openxmlformats.org/drawingml/2006/main">
            <a:r>
              <a:t>B31=Per month</a:t>
            </a:r>
          </a:p>
          <a:p xmlns:a="http://schemas.openxmlformats.org/drawingml/2006/main">
            <a:r>
              <a:t>C31=Full travel and expenses cost (= Monthly cost* number of months)</a:t>
            </a:r>
          </a:p>
          <a:p xmlns:a="http://schemas.openxmlformats.org/drawingml/2006/main">
            <a:r>
              <a:t>A32=Travel to client sites</a:t>
            </a:r>
          </a:p>
          <a:p xmlns:a="http://schemas.openxmlformats.org/drawingml/2006/main">
            <a:r>
              <a:t>B32=50</a:t>
            </a:r>
          </a:p>
          <a:p xmlns:a="http://schemas.openxmlformats.org/drawingml/2006/main">
            <a:r>
              <a:t>C32=300</a:t>
            </a:r>
          </a:p>
          <a:p xmlns:a="http://schemas.openxmlformats.org/drawingml/2006/main">
            <a:r>
              <a:t>A33=Refreshments for client meetings</a:t>
            </a:r>
          </a:p>
          <a:p xmlns:a="http://schemas.openxmlformats.org/drawingml/2006/main">
            <a:r>
              <a:t>B33=20</a:t>
            </a:r>
          </a:p>
          <a:p xmlns:a="http://schemas.openxmlformats.org/drawingml/2006/main">
            <a:r>
              <a:t>C33=120</a:t>
            </a:r>
          </a:p>
          <a:p xmlns:a="http://schemas.openxmlformats.org/drawingml/2006/main">
            <a:r>
              <a:t>A35=3.1 Total Travel and expenses costs (full project)</a:t>
            </a:r>
          </a:p>
          <a:p xmlns:a="http://schemas.openxmlformats.org/drawingml/2006/main">
            <a:r>
              <a:t>C35=420</a:t>
            </a:r>
          </a:p>
          <a:p xmlns:a="http://schemas.openxmlformats.org/drawingml/2006/main">
            <a:r>
              <a:t>A38=4.0 Project Overheads</a:t>
            </a:r>
          </a:p>
          <a:p xmlns:a="http://schemas.openxmlformats.org/drawingml/2006/main">
            <a:r>
              <a:t>A40=Total project cost (without overhead applied)</a:t>
            </a:r>
          </a:p>
          <a:p xmlns:a="http://schemas.openxmlformats.org/drawingml/2006/main">
            <a:r>
              <a:t>B40=22787</a:t>
            </a:r>
          </a:p>
          <a:p xmlns:a="http://schemas.openxmlformats.org/drawingml/2006/main">
            <a:r>
              <a:t>A41=Rate of overhead</a:t>
            </a:r>
          </a:p>
          <a:p xmlns:a="http://schemas.openxmlformats.org/drawingml/2006/main">
            <a:r>
              <a:t>B41=0.3</a:t>
            </a:r>
          </a:p>
          <a:p xmlns:a="http://schemas.openxmlformats.org/drawingml/2006/main">
            <a:r>
              <a:t>A43=4.1 Total Project Overhead cost</a:t>
            </a:r>
          </a:p>
          <a:p xmlns:a="http://schemas.openxmlformats.org/drawingml/2006/main">
            <a:r>
              <a:t>B43=6836.0999999999995</a:t>
            </a:r>
          </a:p>
          <a:p xmlns:a="http://schemas.openxmlformats.org/drawingml/2006/main">
            <a:r>
              <a:t>A46=5.0 Total Project Cost</a:t>
            </a:r>
          </a:p>
          <a:p xmlns:a="http://schemas.openxmlformats.org/drawingml/2006/main">
            <a:r>
              <a:t>A48=Total Project Cost</a:t>
            </a:r>
          </a:p>
          <a:p xmlns:a="http://schemas.openxmlformats.org/drawingml/2006/main">
            <a:r>
              <a:t>B48=29623.1</a:t>
            </a:r>
          </a:p>
          <a:p xmlns:a="http://schemas.openxmlformats.org/drawingml/2006/main">
            <a:r>
              <a:t>A53=5.1Total Final Project Cost (£)</a:t>
            </a:r>
          </a:p>
          <a:p xmlns:a="http://schemas.openxmlformats.org/drawingml/2006/main">
            <a:r>
              <a:t>B53=29623.1</a:t>
            </a:r>
          </a:p>
          <a:p xmlns:a="http://schemas.openxmlformats.org/drawingml/2006/main">
            <a:r>
              <a:t>CURRENT表B6:B13依次引用Resources AC16:AC23，形成一行错位，Information Manager被取成CTO的1天，ML行取UI的23.5天，ML自身20.5天未正确进入该汇总。当前表材料和差旅按6个月計算。Burn AC41=AA41，包含后4个月管理费，金额不能作为10月累计。</a:t>
            </a:r>
          </a:p>
          <a:p xmlns:a="http://schemas.openxmlformats.org/drawingml/2006/main">
            <a:r>
              <a:t>INPUT 2 BridgeMind AI POC Project spend profile for month 2.xlsx / 3.0 Rate card and costs</a:t>
            </a:r>
          </a:p>
          <a:p xmlns:a="http://schemas.openxmlformats.org/drawingml/2006/main">
            <a:r>
              <a:t>SHA256 f0c44755ea22d5b0a13eae8f24928faaaa338944628a80b00c7f7aed41747ade</a:t>
            </a:r>
          </a:p>
          <a:p xmlns:a="http://schemas.openxmlformats.org/drawingml/2006/main">
            <a:r>
              <a:t>A2=1.0 Bridge Mind Personnel - </a:t>
            </a:r>
          </a:p>
          <a:p xmlns:a="http://schemas.openxmlformats.org/drawingml/2006/main">
            <a:r>
              <a:t>B2=Daily Rate (£)</a:t>
            </a:r>
          </a:p>
          <a:p xmlns:a="http://schemas.openxmlformats.org/drawingml/2006/main">
            <a:r>
              <a:t>A4=Tech Start Up CEO</a:t>
            </a:r>
          </a:p>
          <a:p xmlns:a="http://schemas.openxmlformats.org/drawingml/2006/main">
            <a:r>
              <a:t>B4=100</a:t>
            </a:r>
          </a:p>
          <a:p xmlns:a="http://schemas.openxmlformats.org/drawingml/2006/main">
            <a:r>
              <a:t>A5=Tech Start Up CTO</a:t>
            </a:r>
          </a:p>
          <a:p xmlns:a="http://schemas.openxmlformats.org/drawingml/2006/main">
            <a:r>
              <a:t>B5=75</a:t>
            </a:r>
          </a:p>
          <a:p xmlns:a="http://schemas.openxmlformats.org/drawingml/2006/main">
            <a:r>
              <a:t>A6=Tech Start Up Information Manager</a:t>
            </a:r>
          </a:p>
          <a:p xmlns:a="http://schemas.openxmlformats.org/drawingml/2006/main">
            <a:r>
              <a:t>B6=50</a:t>
            </a:r>
          </a:p>
          <a:p xmlns:a="http://schemas.openxmlformats.org/drawingml/2006/main">
            <a:r>
              <a:t>A7=Tech Start Up Project Manager</a:t>
            </a:r>
          </a:p>
          <a:p xmlns:a="http://schemas.openxmlformats.org/drawingml/2006/main">
            <a:r>
              <a:t>B7=50</a:t>
            </a:r>
          </a:p>
          <a:p xmlns:a="http://schemas.openxmlformats.org/drawingml/2006/main">
            <a:r>
              <a:t>A8=Tech Start Up Engineering Manager</a:t>
            </a:r>
          </a:p>
          <a:p xmlns:a="http://schemas.openxmlformats.org/drawingml/2006/main">
            <a:r>
              <a:t>B8=50</a:t>
            </a:r>
          </a:p>
          <a:p xmlns:a="http://schemas.openxmlformats.org/drawingml/2006/main">
            <a:r>
              <a:t>A9=Tech Start Up Dev 1</a:t>
            </a:r>
          </a:p>
          <a:p xmlns:a="http://schemas.openxmlformats.org/drawingml/2006/main">
            <a:r>
              <a:t>B9=50</a:t>
            </a:r>
          </a:p>
          <a:p xmlns:a="http://schemas.openxmlformats.org/drawingml/2006/main">
            <a:r>
              <a:t>A10=Tech Start Up Dev 2</a:t>
            </a:r>
          </a:p>
          <a:p xmlns:a="http://schemas.openxmlformats.org/drawingml/2006/main">
            <a:r>
              <a:t>B10=50</a:t>
            </a:r>
          </a:p>
          <a:p xmlns:a="http://schemas.openxmlformats.org/drawingml/2006/main">
            <a:r>
              <a:t>A11=Tech Start Up UI Expert </a:t>
            </a:r>
          </a:p>
          <a:p xmlns:a="http://schemas.openxmlformats.org/drawingml/2006/main">
            <a:r>
              <a:t>B11=50</a:t>
            </a:r>
          </a:p>
          <a:p xmlns:a="http://schemas.openxmlformats.org/drawingml/2006/main">
            <a:r>
              <a:t>A12=Tech Start Up ML Engineer</a:t>
            </a:r>
          </a:p>
          <a:p xmlns:a="http://schemas.openxmlformats.org/drawingml/2006/main">
            <a:r>
              <a:t>B12=50</a:t>
            </a:r>
          </a:p>
          <a:p xmlns:a="http://schemas.openxmlformats.org/drawingml/2006/main">
            <a:r>
              <a:t>A14=2.0 Bridge Mind Materials costs (per month)</a:t>
            </a:r>
          </a:p>
          <a:p xmlns:a="http://schemas.openxmlformats.org/drawingml/2006/main">
            <a:r>
              <a:t>A15=Cloud computing costs</a:t>
            </a:r>
          </a:p>
          <a:p xmlns:a="http://schemas.openxmlformats.org/drawingml/2006/main">
            <a:r>
              <a:t>B15=20</a:t>
            </a:r>
          </a:p>
          <a:p xmlns:a="http://schemas.openxmlformats.org/drawingml/2006/main">
            <a:r>
              <a:t>A16=Data capture materials (stationary)</a:t>
            </a:r>
          </a:p>
          <a:p xmlns:a="http://schemas.openxmlformats.org/drawingml/2006/main">
            <a:r>
              <a:t>B16=2</a:t>
            </a:r>
          </a:p>
          <a:p xmlns:a="http://schemas.openxmlformats.org/drawingml/2006/main">
            <a:r>
              <a:t>A17=Cybersecurity software protection </a:t>
            </a:r>
          </a:p>
          <a:p xmlns:a="http://schemas.openxmlformats.org/drawingml/2006/main">
            <a:r>
              <a:t>B17=10</a:t>
            </a:r>
          </a:p>
          <a:p xmlns:a="http://schemas.openxmlformats.org/drawingml/2006/main">
            <a:r>
              <a:t>A19=3.0 Travel and expenses (per month)</a:t>
            </a:r>
          </a:p>
          <a:p xmlns:a="http://schemas.openxmlformats.org/drawingml/2006/main">
            <a:r>
              <a:t>A20=Travel to client sites</a:t>
            </a:r>
          </a:p>
          <a:p xmlns:a="http://schemas.openxmlformats.org/drawingml/2006/main">
            <a:r>
              <a:t>B20=50</a:t>
            </a:r>
          </a:p>
          <a:p xmlns:a="http://schemas.openxmlformats.org/drawingml/2006/main">
            <a:r>
              <a:t>A21=Refreshments for client meetings</a:t>
            </a:r>
          </a:p>
          <a:p xmlns:a="http://schemas.openxmlformats.org/drawingml/2006/main">
            <a:r>
              <a:t>B21=20</a:t>
            </a:r>
          </a:p>
          <a:p xmlns:a="http://schemas.openxmlformats.org/drawingml/2006/main">
            <a:r>
              <a:t>A23=4.0 Overhead Rate (%) - applied to overall project cost </a:t>
            </a:r>
          </a:p>
          <a:p xmlns:a="http://schemas.openxmlformats.org/drawingml/2006/main">
            <a:r>
              <a:t>B23=30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INPUT 3 BridgeMind AI POC Project deployment Risk Register.xlsx / Sheet1</a:t>
            </a:r>
          </a:p>
          <a:p xmlns:a="http://schemas.openxmlformats.org/drawingml/2006/main">
            <a:r>
              <a:t>SHA256 42b2b87faec8f0a39defac7a15fc7629113d55eeab3ac77ffc62439aeae189cc</a:t>
            </a:r>
          </a:p>
          <a:p xmlns:a="http://schemas.openxmlformats.org/drawingml/2006/main">
            <a:r>
              <a:t>A2=Number</a:t>
            </a:r>
          </a:p>
          <a:p xmlns:a="http://schemas.openxmlformats.org/drawingml/2006/main">
            <a:r>
              <a:t>B2=Title</a:t>
            </a:r>
          </a:p>
          <a:p xmlns:a="http://schemas.openxmlformats.org/drawingml/2006/main">
            <a:r>
              <a:t>C2=Details</a:t>
            </a:r>
          </a:p>
          <a:p xmlns:a="http://schemas.openxmlformats.org/drawingml/2006/main">
            <a:r>
              <a:t>D2=Likelihood</a:t>
            </a:r>
          </a:p>
          <a:p xmlns:a="http://schemas.openxmlformats.org/drawingml/2006/main">
            <a:r>
              <a:t>E2=Impact</a:t>
            </a:r>
          </a:p>
          <a:p xmlns:a="http://schemas.openxmlformats.org/drawingml/2006/main">
            <a:r>
              <a:t>F2=Mitigation</a:t>
            </a:r>
          </a:p>
          <a:p xmlns:a="http://schemas.openxmlformats.org/drawingml/2006/main">
            <a:r>
              <a:t>G2=Likelihood (after mitigation)</a:t>
            </a:r>
          </a:p>
          <a:p xmlns:a="http://schemas.openxmlformats.org/drawingml/2006/main">
            <a:r>
              <a:t>H2=Impact (after mitigation)</a:t>
            </a:r>
          </a:p>
          <a:p xmlns:a="http://schemas.openxmlformats.org/drawingml/2006/main">
            <a:r>
              <a:t>A3=1</a:t>
            </a:r>
          </a:p>
          <a:p xmlns:a="http://schemas.openxmlformats.org/drawingml/2006/main">
            <a:r>
              <a:t>B3=Difficulty of configuration of local information systems (i.e. Common Ground Bikes inventory Management system is not fit for the application of BridgeMind AI)</a:t>
            </a:r>
          </a:p>
          <a:p xmlns:a="http://schemas.openxmlformats.org/drawingml/2006/main">
            <a:r>
              <a:t>C3=This project seeks to apply Bridge Mind’s, ‘BridgeMind AI’ capability to improve the efficiency of Common Ground Bikes's internal inventory management system.  There is a risk that the inventory management systems at Common Ground Bikes are of a challenging quality and insufficently digitised to see the successful application of BridgeMind AI over the course of the project.</a:t>
            </a:r>
          </a:p>
          <a:p xmlns:a="http://schemas.openxmlformats.org/drawingml/2006/main">
            <a:r>
              <a:t>D3=Medium</a:t>
            </a:r>
          </a:p>
          <a:p xmlns:a="http://schemas.openxmlformats.org/drawingml/2006/main">
            <a:r>
              <a:t>E3=High</a:t>
            </a:r>
          </a:p>
          <a:p xmlns:a="http://schemas.openxmlformats.org/drawingml/2006/main">
            <a:r>
              <a:t>F3=The agreed project plan is scoped to contain multiple feedback points with a detailed consideration of Common Ground Bikes Inventory Management system.  In addition, pre-work has already been undertaken to get an understanding of the systems Common Ground Bikes used for information management and confidence has been attained to understand that the information is of sufficient quality and viable formats to apply BridgeMind AI.  Should unforeseen data tidying or data wrangling activity occur, a further mitigation step will be taken to adjust platform complexity as required to ensure the focus of the work remains upon delivery of a functioning end to end BridgeMind AI POC.</a:t>
            </a:r>
          </a:p>
          <a:p xmlns:a="http://schemas.openxmlformats.org/drawingml/2006/main">
            <a:r>
              <a:t>G3=Low</a:t>
            </a:r>
          </a:p>
          <a:p xmlns:a="http://schemas.openxmlformats.org/drawingml/2006/main">
            <a:r>
              <a:t>H3=Medium</a:t>
            </a:r>
          </a:p>
          <a:p xmlns:a="http://schemas.openxmlformats.org/drawingml/2006/main">
            <a:r>
              <a:t>A4=2</a:t>
            </a:r>
          </a:p>
          <a:p xmlns:a="http://schemas.openxmlformats.org/drawingml/2006/main">
            <a:r>
              <a:t>B4=Reduced staff availability</a:t>
            </a:r>
          </a:p>
          <a:p xmlns:a="http://schemas.openxmlformats.org/drawingml/2006/main">
            <a:r>
              <a:t>C4=Impact of reduced staff availability or force majeure disruptions (e.g pandemics such as COVID) on project planning and delivery. There is a potential risk that staff illness or restrictions similar to COVID lock-downs could impact on the availability of the project team to deliver this work. </a:t>
            </a:r>
          </a:p>
          <a:p xmlns:a="http://schemas.openxmlformats.org/drawingml/2006/main">
            <a:r>
              <a:t>D4=Medium</a:t>
            </a:r>
          </a:p>
          <a:p xmlns:a="http://schemas.openxmlformats.org/drawingml/2006/main">
            <a:r>
              <a:t>E4=Medium</a:t>
            </a:r>
          </a:p>
          <a:p xmlns:a="http://schemas.openxmlformats.org/drawingml/2006/main">
            <a:r>
              <a:t>F4=Bridge Minds are based in Oxford, UK.  Common Ground Bikes are based in Oxford, UK.  A good working relationship and access to the team at Common Ground Bikes has been established by the Bridge Minds team.  In the event that physical meetings are disrupted, we are able to host workshops and review deliverables and meetings virtually (through virtual events and electronic deliverables). In addition, the project team is derived from established teams within Bridge Minds. The Engineers, Leadership team and Project Managers have a significant background of collaboration and support working for a range of product demonstrations and project deliveries. In the event of any staff ill health or lack of availability, we have a broad resilience scoped into the existing delivery team.</a:t>
            </a:r>
          </a:p>
          <a:p xmlns:a="http://schemas.openxmlformats.org/drawingml/2006/main">
            <a:r>
              <a:t>G4=Low</a:t>
            </a:r>
          </a:p>
          <a:p xmlns:a="http://schemas.openxmlformats.org/drawingml/2006/main">
            <a:r>
              <a:t>H4=Low</a:t>
            </a:r>
          </a:p>
          <a:p xmlns:a="http://schemas.openxmlformats.org/drawingml/2006/main">
            <a:r>
              <a:t>A5=3</a:t>
            </a:r>
          </a:p>
          <a:p xmlns:a="http://schemas.openxmlformats.org/drawingml/2006/main">
            <a:r>
              <a:t>B5=Lack of stakeholder engagement/data</a:t>
            </a:r>
          </a:p>
          <a:p xmlns:a="http://schemas.openxmlformats.org/drawingml/2006/main">
            <a:r>
              <a:t>C5=Lack of stakeholder engagement. There is a potential risk that the user's in Common Ground Bikes do not engage with the BridgeMind AI trials or change their desire to support this project as it progresses. This could result in a lack of feedback on the BridgeMind AI POC, which could make progress assessments challenging and reduce the chance of commercial exploitation </a:t>
            </a:r>
          </a:p>
          <a:p xmlns:a="http://schemas.openxmlformats.org/drawingml/2006/main">
            <a:r>
              <a:t>D5=Medium</a:t>
            </a:r>
          </a:p>
          <a:p xmlns:a="http://schemas.openxmlformats.org/drawingml/2006/main">
            <a:r>
              <a:t>E5=High</a:t>
            </a:r>
          </a:p>
          <a:p xmlns:a="http://schemas.openxmlformats.org/drawingml/2006/main">
            <a:r>
              <a:t>F5=The project plan has been scoped to allow Bridge Minds to bring in other potential users from its own industry network and experience to provide access to a wider group of stakeholders  as required.  However, the level of access and understanding already establised with the team at Common Ground Bikes(especially with the initial requiremetns gathering) mean there is already a good level of understanding and access to data sets that mean BridgeMind AI could already have meaningful deployment.  </a:t>
            </a:r>
          </a:p>
          <a:p xmlns:a="http://schemas.openxmlformats.org/drawingml/2006/main">
            <a:r>
              <a:t>G5=Low</a:t>
            </a:r>
          </a:p>
          <a:p xmlns:a="http://schemas.openxmlformats.org/drawingml/2006/main">
            <a:r>
              <a:t>H5=Medium</a:t>
            </a:r>
          </a:p>
          <a:p xmlns:a="http://schemas.openxmlformats.org/drawingml/2006/main">
            <a:r>
              <a:t>A6=4</a:t>
            </a:r>
          </a:p>
          <a:p xmlns:a="http://schemas.openxmlformats.org/drawingml/2006/main">
            <a:r>
              <a:t>B6=Insufficient BridgeMind AI maturity to handle the difficulty of the task of managing and improving the local information requirements of Common Ground Bikesinventory management system. </a:t>
            </a:r>
          </a:p>
          <a:p xmlns:a="http://schemas.openxmlformats.org/drawingml/2006/main">
            <a:r>
              <a:t>C6=There is a risk that that user expectation might exceed the capability that BridgeMind AI can provide in this experiment and that users at Common Ground Bikes are left disappointed and feel let down by the lack of gains to their own local efficiency from the promised trial.  </a:t>
            </a:r>
          </a:p>
          <a:p xmlns:a="http://schemas.openxmlformats.org/drawingml/2006/main">
            <a:r>
              <a:t>D6=Medium</a:t>
            </a:r>
          </a:p>
          <a:p xmlns:a="http://schemas.openxmlformats.org/drawingml/2006/main">
            <a:r>
              <a:t>E6=Medium</a:t>
            </a:r>
          </a:p>
          <a:p xmlns:a="http://schemas.openxmlformats.org/drawingml/2006/main">
            <a:r>
              <a:t>F6=As illustrated in the project plan, user feedback will be fed in throughout the project to make it clear that users are a) engaged with and their feelings are listened to and b) their expectations about what BridgeMind AI will deliver will be clear.  Throughout the project delviery the users of BridgeMind AI will be made aware that this is an initial proof of concept and not a commercially mature solution. </a:t>
            </a:r>
          </a:p>
          <a:p xmlns:a="http://schemas.openxmlformats.org/drawingml/2006/main">
            <a:r>
              <a:t>G6=Low</a:t>
            </a:r>
          </a:p>
          <a:p xmlns:a="http://schemas.openxmlformats.org/drawingml/2006/main">
            <a:r>
              <a:t>H6=Low</a:t>
            </a:r>
          </a:p>
          <a:p xmlns:a="http://schemas.openxmlformats.org/drawingml/2006/main">
            <a:r>
              <a:t>A8=Colour key</a:t>
            </a:r>
          </a:p>
          <a:p xmlns:a="http://schemas.openxmlformats.org/drawingml/2006/main">
            <a:r>
              <a:t>A9=Low</a:t>
            </a:r>
          </a:p>
          <a:p xmlns:a="http://schemas.openxmlformats.org/drawingml/2006/main">
            <a:r>
              <a:t>A10=Medium</a:t>
            </a:r>
          </a:p>
          <a:p xmlns:a="http://schemas.openxmlformats.org/drawingml/2006/main">
            <a:r>
              <a:t>A11=High</a:t>
            </a:r>
          </a:p>
          <a:p xmlns:a="http://schemas.openxmlformats.org/drawingml/2006/main">
            <a:r>
              <a:t>INPUT 4 BridgeMind AI POC deployment PROJECT LOG.docx</a:t>
            </a:r>
          </a:p>
          <a:p xmlns:a="http://schemas.openxmlformats.org/drawingml/2006/main">
            <a:r>
              <a:t>SHA256 77d065e6870ce8e64db094bc653312ed8ce6df5113cfdeeedd6427a3f4b7544f</a:t>
            </a:r>
          </a:p>
          <a:p xmlns:a="http://schemas.openxmlformats.org/drawingml/2006/main">
            <a:r>
              <a:t>段落 83: 06-10-2025</a:t>
            </a:r>
          </a:p>
          <a:p xmlns:a="http://schemas.openxmlformats.org/drawingml/2006/main">
            <a:r>
              <a:t>段落 84: Attendees</a:t>
            </a:r>
          </a:p>
          <a:p xmlns:a="http://schemas.openxmlformats.org/drawingml/2006/main">
            <a:r>
              <a:t>段落 85: Matt</a:t>
            </a:r>
          </a:p>
          <a:p xmlns:a="http://schemas.openxmlformats.org/drawingml/2006/main">
            <a:r>
              <a:t>段落 86: James</a:t>
            </a:r>
          </a:p>
          <a:p xmlns:a="http://schemas.openxmlformats.org/drawingml/2006/main">
            <a:r>
              <a:t>段落 87: Jeff</a:t>
            </a:r>
          </a:p>
          <a:p xmlns:a="http://schemas.openxmlformats.org/drawingml/2006/main">
            <a:r>
              <a:t>段落 88: Marnie</a:t>
            </a:r>
          </a:p>
          <a:p xmlns:a="http://schemas.openxmlformats.org/drawingml/2006/main">
            <a:r>
              <a:t>段落 89: Barry</a:t>
            </a:r>
          </a:p>
          <a:p xmlns:a="http://schemas.openxmlformats.org/drawingml/2006/main">
            <a:r>
              <a:t>段落 90: Raven</a:t>
            </a:r>
          </a:p>
          <a:p xmlns:a="http://schemas.openxmlformats.org/drawingml/2006/main">
            <a:r>
              <a:t>段落 91: Daisy</a:t>
            </a:r>
          </a:p>
          <a:p xmlns:a="http://schemas.openxmlformats.org/drawingml/2006/main">
            <a:r>
              <a:t>段落 93: Weekly team meeting (Tuesdays 1000 GMT)</a:t>
            </a:r>
          </a:p>
          <a:p xmlns:a="http://schemas.openxmlformats.org/drawingml/2006/main">
            <a:r>
              <a:t>段落 94: Round table</a:t>
            </a:r>
          </a:p>
          <a:p xmlns:a="http://schemas.openxmlformats.org/drawingml/2006/main">
            <a:r>
              <a:t>段落 95: James outlined current project status - working toward completion of WP1 Define Bicycle shop inventory Use case.  </a:t>
            </a:r>
          </a:p>
          <a:p xmlns:a="http://schemas.openxmlformats.org/drawingml/2006/main">
            <a:r>
              <a:t>段落 96: Agreed priority was addressing risk 4 (status update)</a:t>
            </a:r>
          </a:p>
          <a:p xmlns:a="http://schemas.openxmlformats.org/drawingml/2006/main">
            <a:r>
              <a:t>段落 97: Any Current issues?</a:t>
            </a:r>
          </a:p>
          <a:p xmlns:a="http://schemas.openxmlformats.org/drawingml/2006/main">
            <a:r>
              <a:t>段落 98: Engineering team confirmed end to end functioning of SpinBits DB, dummy data worked and all data processed and contained in the system configured with BridgeMind AI’s backend data model (SUCCESS)</a:t>
            </a:r>
          </a:p>
          <a:p xmlns:a="http://schemas.openxmlformats.org/drawingml/2006/main">
            <a:r>
              <a:t>段落 99: Action Items</a:t>
            </a:r>
          </a:p>
          <a:p xmlns:a="http://schemas.openxmlformats.org/drawingml/2006/main">
            <a:r>
              <a:t>段落 100: With all component data stores addressed - complete data and information architecture for WP1 is schedule for completion and socialisation, acceptance testing with Common Ground Bikes (15th October)</a:t>
            </a:r>
          </a:p>
          <a:p xmlns:a="http://schemas.openxmlformats.org/drawingml/2006/main">
            <a:r>
              <a:t>段落 101: 29-09-2025</a:t>
            </a:r>
          </a:p>
          <a:p xmlns:a="http://schemas.openxmlformats.org/drawingml/2006/main">
            <a:r>
              <a:t>段落 102: Attendees</a:t>
            </a:r>
          </a:p>
          <a:p xmlns:a="http://schemas.openxmlformats.org/drawingml/2006/main">
            <a:r>
              <a:t>段落 103: Matt</a:t>
            </a:r>
          </a:p>
          <a:p xmlns:a="http://schemas.openxmlformats.org/drawingml/2006/main">
            <a:r>
              <a:t>段落 104: James</a:t>
            </a:r>
          </a:p>
          <a:p xmlns:a="http://schemas.openxmlformats.org/drawingml/2006/main">
            <a:r>
              <a:t>段落 105: Jeff</a:t>
            </a:r>
          </a:p>
          <a:p xmlns:a="http://schemas.openxmlformats.org/drawingml/2006/main">
            <a:r>
              <a:t>段落 106: Marnie</a:t>
            </a:r>
          </a:p>
          <a:p xmlns:a="http://schemas.openxmlformats.org/drawingml/2006/main">
            <a:r>
              <a:t>段落 107: Barry (apologies sent)</a:t>
            </a:r>
          </a:p>
          <a:p xmlns:a="http://schemas.openxmlformats.org/drawingml/2006/main">
            <a:r>
              <a:t>段落 108: Raven</a:t>
            </a:r>
          </a:p>
          <a:p xmlns:a="http://schemas.openxmlformats.org/drawingml/2006/main">
            <a:r>
              <a:t>段落 109: Daisy</a:t>
            </a:r>
          </a:p>
          <a:p xmlns:a="http://schemas.openxmlformats.org/drawingml/2006/main">
            <a:r>
              <a:t>段落 111: Weekly team meeting (Tuesdays 1000 GMT)</a:t>
            </a:r>
          </a:p>
          <a:p xmlns:a="http://schemas.openxmlformats.org/drawingml/2006/main">
            <a:r>
              <a:t>段落 112: Round table</a:t>
            </a:r>
          </a:p>
          <a:p xmlns:a="http://schemas.openxmlformats.org/drawingml/2006/main">
            <a:r>
              <a:t>段落 113: James outlined current project status - working toward completion of WP1 Define Bicycle shop inventory Use case.  Confirmation from Professor Dodge that first monthly review meeting will be happening on 30th Oct</a:t>
            </a:r>
          </a:p>
          <a:p xmlns:a="http://schemas.openxmlformats.org/drawingml/2006/main">
            <a:r>
              <a:t>段落 115: Any Current issues?</a:t>
            </a:r>
          </a:p>
          <a:p xmlns:a="http://schemas.openxmlformats.org/drawingml/2006/main">
            <a:r>
              <a:t>段落 116: Concern expressed that a workaround might be needed for complexity of SpinBits data extraction engine (risk 4 in risk register)</a:t>
            </a:r>
          </a:p>
          <a:p xmlns:a="http://schemas.openxmlformats.org/drawingml/2006/main">
            <a:r>
              <a:t>段落 117: Action Items</a:t>
            </a:r>
          </a:p>
          <a:p xmlns:a="http://schemas.openxmlformats.org/drawingml/2006/main">
            <a:r>
              <a:t>段落 118: Testing needs to show how SpinBits manages data extraction and the quality of its outputs for further analysis - once this is understood, its outputs can fully integrated into BridgeMind AI - when this is complete, risk 4 will have been addressed</a:t>
            </a:r>
          </a:p>
          <a:p xmlns:a="http://schemas.openxmlformats.org/drawingml/2006/main">
            <a:r>
              <a:t>段落 119: 22-09-2025</a:t>
            </a:r>
          </a:p>
          <a:p xmlns:a="http://schemas.openxmlformats.org/drawingml/2006/main">
            <a:r>
              <a:t>段落 120: Attendees</a:t>
            </a:r>
          </a:p>
          <a:p xmlns:a="http://schemas.openxmlformats.org/drawingml/2006/main">
            <a:r>
              <a:t>段落 121: Matt</a:t>
            </a:r>
          </a:p>
          <a:p xmlns:a="http://schemas.openxmlformats.org/drawingml/2006/main">
            <a:r>
              <a:t>段落 122: James</a:t>
            </a:r>
          </a:p>
          <a:p xmlns:a="http://schemas.openxmlformats.org/drawingml/2006/main">
            <a:r>
              <a:t>段落 123: Jeff</a:t>
            </a:r>
          </a:p>
          <a:p xmlns:a="http://schemas.openxmlformats.org/drawingml/2006/main">
            <a:r>
              <a:t>段落 124: Marnie</a:t>
            </a:r>
          </a:p>
          <a:p xmlns:a="http://schemas.openxmlformats.org/drawingml/2006/main">
            <a:r>
              <a:t>段落 125: Barry</a:t>
            </a:r>
          </a:p>
          <a:p xmlns:a="http://schemas.openxmlformats.org/drawingml/2006/main">
            <a:r>
              <a:t>段落 126: Raven</a:t>
            </a:r>
          </a:p>
          <a:p xmlns:a="http://schemas.openxmlformats.org/drawingml/2006/main">
            <a:r>
              <a:t>段落 127: Daisy</a:t>
            </a:r>
          </a:p>
          <a:p xmlns:a="http://schemas.openxmlformats.org/drawingml/2006/main">
            <a:r>
              <a:t>段落 129: Weekly team meeting (Tuesdays 1000 GMT)</a:t>
            </a:r>
          </a:p>
          <a:p xmlns:a="http://schemas.openxmlformats.org/drawingml/2006/main">
            <a:r>
              <a:t>段落 130: Round table</a:t>
            </a:r>
          </a:p>
          <a:p xmlns:a="http://schemas.openxmlformats.org/drawingml/2006/main">
            <a:r>
              <a:t>段落 131: James outlined current project status - working toward completion of WP1 Define Bicycle shop inventory Use case</a:t>
            </a:r>
          </a:p>
          <a:p xmlns:a="http://schemas.openxmlformats.org/drawingml/2006/main">
            <a:r>
              <a:t>段落 132: Team focus - findings of SpinBits DB and potential impact on planning assumptions</a:t>
            </a:r>
          </a:p>
          <a:p xmlns:a="http://schemas.openxmlformats.org/drawingml/2006/main">
            <a:r>
              <a:t>段落 133: Any Current issues?</a:t>
            </a:r>
          </a:p>
          <a:p xmlns:a="http://schemas.openxmlformats.org/drawingml/2006/main">
            <a:r>
              <a:t>段落 134: SpinBits investigations ongoing - delays have come in getting a version of the db that isn’t commercially sensitive.  How can the team generate a version of the SpinBits DB that doesn’t impinge proprietary rights and GDPR?</a:t>
            </a:r>
          </a:p>
          <a:p xmlns:a="http://schemas.openxmlformats.org/drawingml/2006/main">
            <a:r>
              <a:t>段落 135: Current moderate risk that this will impact on data availability </a:t>
            </a:r>
          </a:p>
          <a:p xmlns:a="http://schemas.openxmlformats.org/drawingml/2006/main">
            <a:r>
              <a:t>段落 136: Action Items</a:t>
            </a:r>
          </a:p>
          <a:p xmlns:a="http://schemas.openxmlformats.org/drawingml/2006/main">
            <a:r>
              <a:t>段落 137: James and Matt to meet with Common Ground Bikes to produce a synthetic version of the local SpinBits database and obtain commercial trial license for SpinBits to test extraction and link to wider interoperability work to train BridgeMind AI</a:t>
            </a:r>
          </a:p>
          <a:p xmlns:a="http://schemas.openxmlformats.org/drawingml/2006/main">
            <a:r>
              <a:t>评级为可能性与影响的两个字段，不把Low/Medium合成未经定义的总体评级。登记表未给负责人。10月6日成功记录针对虚拟数据链路，不能证明生产数据、所有风险或整个系统已经全部验收。</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INPUT 4 BridgeMind AI POC deployment PROJECT LOG.docx</a:t>
            </a:r>
          </a:p>
          <a:p xmlns:a="http://schemas.openxmlformats.org/drawingml/2006/main">
            <a:r>
              <a:t>SHA256 77d065e6870ce8e64db094bc653312ed8ce6df5113cfdeeedd6427a3f4b7544f</a:t>
            </a:r>
          </a:p>
          <a:p xmlns:a="http://schemas.openxmlformats.org/drawingml/2006/main">
            <a:r>
              <a:t>段落 30: 27-10-2025</a:t>
            </a:r>
          </a:p>
          <a:p xmlns:a="http://schemas.openxmlformats.org/drawingml/2006/main">
            <a:r>
              <a:t>段落 31: Attendees</a:t>
            </a:r>
          </a:p>
          <a:p xmlns:a="http://schemas.openxmlformats.org/drawingml/2006/main">
            <a:r>
              <a:t>段落 32: James, Marnie, Daisy, Jeff</a:t>
            </a:r>
          </a:p>
          <a:p xmlns:a="http://schemas.openxmlformats.org/drawingml/2006/main">
            <a:r>
              <a:t>段落 34: Weekly team meeting (Tuesdays 1000 GMT)</a:t>
            </a:r>
          </a:p>
          <a:p xmlns:a="http://schemas.openxmlformats.org/drawingml/2006/main">
            <a:r>
              <a:t>段落 35: Round table</a:t>
            </a:r>
          </a:p>
          <a:p xmlns:a="http://schemas.openxmlformats.org/drawingml/2006/main">
            <a:r>
              <a:t>段落 36: Prep for 1st monthly meeting with Government funding auditor</a:t>
            </a:r>
          </a:p>
          <a:p xmlns:a="http://schemas.openxmlformats.org/drawingml/2006/main">
            <a:r>
              <a:t>段落 37: Draft monthly report deck available here - review all content and agree with reporting team (James, Marnie, Daisy and Jeff)</a:t>
            </a:r>
          </a:p>
          <a:p xmlns:a="http://schemas.openxmlformats.org/drawingml/2006/main">
            <a:r>
              <a:t>段落 38: Output 1 (conclusion of WP1) is on schedule for delivery by 7th Nov 2025</a:t>
            </a:r>
          </a:p>
          <a:p xmlns:a="http://schemas.openxmlformats.org/drawingml/2006/main">
            <a:r>
              <a:t>段落 39: Any Current issues?</a:t>
            </a:r>
          </a:p>
          <a:p xmlns:a="http://schemas.openxmlformats.org/drawingml/2006/main">
            <a:r>
              <a:t>段落 40: None - all feedback comments in for Output 1 V1.0</a:t>
            </a:r>
          </a:p>
          <a:p xmlns:a="http://schemas.openxmlformats.org/drawingml/2006/main">
            <a:r>
              <a:t>段落 41: Anticipated completion of Output 1 V2.0 = 3rd Nov, for circulation with stakeholder on 5th Nov, for final incorporation of their comments by 9th Nov</a:t>
            </a:r>
          </a:p>
          <a:p xmlns:a="http://schemas.openxmlformats.org/drawingml/2006/main">
            <a:r>
              <a:t>段落 42: Action Items</a:t>
            </a:r>
          </a:p>
          <a:p xmlns:a="http://schemas.openxmlformats.org/drawingml/2006/main">
            <a:r>
              <a:t>段落 43: Share Monthly report with Stakeholders by 30th Oct</a:t>
            </a:r>
          </a:p>
          <a:p xmlns:a="http://schemas.openxmlformats.org/drawingml/2006/main">
            <a:r>
              <a:t>段落 44: Complete all editions and revisions to Output 1 V2.0 by 3rd Nov</a:t>
            </a:r>
          </a:p>
          <a:p xmlns:a="http://schemas.openxmlformats.org/drawingml/2006/main">
            <a:r>
              <a:t>段落 45: Conclude WP1 and share Output 1 V2.0 with Professor Dodge 7th Nov</a:t>
            </a:r>
          </a:p>
          <a:p xmlns:a="http://schemas.openxmlformats.org/drawingml/2006/main">
            <a:r>
              <a:t>段落 46: 20-10-2025</a:t>
            </a:r>
          </a:p>
          <a:p xmlns:a="http://schemas.openxmlformats.org/drawingml/2006/main">
            <a:r>
              <a:t>段落 47: Attendees</a:t>
            </a:r>
          </a:p>
          <a:p xmlns:a="http://schemas.openxmlformats.org/drawingml/2006/main">
            <a:r>
              <a:t>段落 48: Matt</a:t>
            </a:r>
          </a:p>
          <a:p xmlns:a="http://schemas.openxmlformats.org/drawingml/2006/main">
            <a:r>
              <a:t>段落 49: James</a:t>
            </a:r>
          </a:p>
          <a:p xmlns:a="http://schemas.openxmlformats.org/drawingml/2006/main">
            <a:r>
              <a:t>段落 50: Jeff</a:t>
            </a:r>
          </a:p>
          <a:p xmlns:a="http://schemas.openxmlformats.org/drawingml/2006/main">
            <a:r>
              <a:t>段落 51: Marnie</a:t>
            </a:r>
          </a:p>
          <a:p xmlns:a="http://schemas.openxmlformats.org/drawingml/2006/main">
            <a:r>
              <a:t>段落 52: Barry </a:t>
            </a:r>
          </a:p>
          <a:p xmlns:a="http://schemas.openxmlformats.org/drawingml/2006/main">
            <a:r>
              <a:t>段落 53: Raven </a:t>
            </a:r>
          </a:p>
          <a:p xmlns:a="http://schemas.openxmlformats.org/drawingml/2006/main">
            <a:r>
              <a:t>段落 54: Daisy </a:t>
            </a:r>
          </a:p>
          <a:p xmlns:a="http://schemas.openxmlformats.org/drawingml/2006/main">
            <a:r>
              <a:t>段落 56: Weekly team meeting (Tuesdays 1000 GMT)</a:t>
            </a:r>
          </a:p>
          <a:p xmlns:a="http://schemas.openxmlformats.org/drawingml/2006/main">
            <a:r>
              <a:t>段落 57: Round table</a:t>
            </a:r>
          </a:p>
          <a:p xmlns:a="http://schemas.openxmlformats.org/drawingml/2006/main">
            <a:r>
              <a:t>段落 58: James outlined went through latest version of Output 1 - Initial report outlining Use case, underlying information requirements and definition of AI architecture to be implemented</a:t>
            </a:r>
          </a:p>
          <a:p xmlns:a="http://schemas.openxmlformats.org/drawingml/2006/main">
            <a:r>
              <a:t>段落 59: Any Current issues?</a:t>
            </a:r>
          </a:p>
          <a:p xmlns:a="http://schemas.openxmlformats.org/drawingml/2006/main">
            <a:r>
              <a:t>段落 60: General structure of Output 1V1.0 is agreed and content maturing, associated actions and comments are in the document and assigned to relevant team members</a:t>
            </a:r>
          </a:p>
          <a:p xmlns:a="http://schemas.openxmlformats.org/drawingml/2006/main">
            <a:r>
              <a:t>段落 61: Initial draft circulated around full team - all comments and actions to be fully incorporated in Output 1 V1.0 By 27/10/2025</a:t>
            </a:r>
          </a:p>
          <a:p xmlns:a="http://schemas.openxmlformats.org/drawingml/2006/main">
            <a:r>
              <a:t>段落 62: Action Items</a:t>
            </a:r>
          </a:p>
          <a:p xmlns:a="http://schemas.openxmlformats.org/drawingml/2006/main">
            <a:r>
              <a:t>段落 63: Initial draft circulated around full team - all comments and actions to be fully incorporated in Output 1 V1.0 By 27/10/2025</a:t>
            </a:r>
          </a:p>
          <a:p xmlns:a="http://schemas.openxmlformats.org/drawingml/2006/main">
            <a:r>
              <a:t>段落 64: Produce Initial version of Monthly meeting report by 27/10/2025 for advanced circulation with Auditor (Professor Dodge)</a:t>
            </a:r>
          </a:p>
          <a:p xmlns:a="http://schemas.openxmlformats.org/drawingml/2006/main">
            <a:r>
              <a:t>月报分享、V2.0编辑及交付是27-10-2025的当前行动；20日及更早记录用于解释已发生进展，不机械复制为仍待办。财务和风险核对是从材料差异推导出的建议，不虚构已有指派。</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INPUT 1 BridgeMind AI Project Summary.docx</a:t>
            </a:r>
          </a:p>
          <a:p xmlns:a="http://schemas.openxmlformats.org/drawingml/2006/main">
            <a:r>
              <a:t>SHA256 3079cbcb6c29c41a751b9bae602477aa856ce599cb6dbb683e2d583c8541ad43</a:t>
            </a:r>
          </a:p>
          <a:p xmlns:a="http://schemas.openxmlformats.org/drawingml/2006/main">
            <a:r>
              <a:t>段落 1: ‘BridgeMind AI’ - An easy to use software application to improve your bicycle maintenance business.</a:t>
            </a:r>
          </a:p>
          <a:p xmlns:a="http://schemas.openxmlformats.org/drawingml/2006/main">
            <a:r>
              <a:t>段落 3: This ‘BridgeMind AI’ project proposal aims to address several challenges faced by small to medium-sized bicycle maintenance businesses in the UK. Firstly, these businesses struggle to access and understand market intelligence data, which hinders their decision-making. Secondly, existing dashboard tools are too complex for most businesses to use effectively. Finally, tracking parts used in repairs and associating them with customers is difficult, which is a growing concern due to regulatory requirements.</a:t>
            </a:r>
          </a:p>
          <a:p xmlns:a="http://schemas.openxmlformats.org/drawingml/2006/main">
            <a:r>
              <a:t>段落 5: BridgeMind AI addresses these challenges for UK bicycle maintenance businesses by providing a user-friendly, AI-powered interface for understanding their own supply chain. It simplifies how they access and understand data, resolving current difficulties to understand market intelligence. Business users can simply ask the interface questions in a manner similar to a Google search to check order statuses and update orders at the point of sale.  This is all managed through a single, secure app - BridgeMind AI.</a:t>
            </a:r>
          </a:p>
          <a:p xmlns:a="http://schemas.openxmlformats.org/drawingml/2006/main">
            <a:r>
              <a:t>段落 7: The system itself uses advanced AI, including Large Language Models (LLMs) and Retrieval Augmented Generation (RAG), to process market data and reporting requirements like GDPR. It ensures these questions are considered simply at the ‘point of sale’ without introducing cumbersome and unwieldy customer questionnaires.  This is made possible through a High Quality Data Model that tracks transactions and parts from a centrally regulated database, including suppliers and government data. This model uses a ‘4D ontology’ to track changes in parts or bike sales over time, unlike current logistics databases.</a:t>
            </a:r>
          </a:p>
          <a:p xmlns:a="http://schemas.openxmlformats.org/drawingml/2006/main">
            <a:r>
              <a:t>段落 9: This project describes a 6 month study in which BridgeMind AI will be used with a real life use case (Common Ground Bikes in Oxford, UK) to illustrate how it can improve real life information processing and address specific challenges for bicycle maintenance businesses.  Through this work, Bridge Minds will illustrate how the application of BridgeMind AI in practice will give businesses confidence in their data and a reduction in the time spent processing customer needs, tracking market changes, and analyzing information. </a:t>
            </a:r>
          </a:p>
          <a:p xmlns:a="http://schemas.openxmlformats.org/drawingml/2006/main">
            <a:r>
              <a:t>历史记录</a:t>
            </a:r>
          </a:p>
          <a:p xmlns:a="http://schemas.openxmlformats.org/drawingml/2006/main">
            <a:r>
              <a:t>INPUT 4 BridgeMind AI POC deployment PROJECT LOG.docx</a:t>
            </a:r>
          </a:p>
          <a:p xmlns:a="http://schemas.openxmlformats.org/drawingml/2006/main">
            <a:r>
              <a:t>SHA256 77d065e6870ce8e64db094bc653312ed8ce6df5113cfdeeedd6427a3f4b7544f</a:t>
            </a:r>
          </a:p>
          <a:p xmlns:a="http://schemas.openxmlformats.org/drawingml/2006/main">
            <a:r>
              <a:t>段落 138: 15-09-2025</a:t>
            </a:r>
          </a:p>
          <a:p xmlns:a="http://schemas.openxmlformats.org/drawingml/2006/main">
            <a:r>
              <a:t>段落 139: Attendees</a:t>
            </a:r>
          </a:p>
          <a:p xmlns:a="http://schemas.openxmlformats.org/drawingml/2006/main">
            <a:r>
              <a:t>段落 140: Full team</a:t>
            </a:r>
          </a:p>
          <a:p xmlns:a="http://schemas.openxmlformats.org/drawingml/2006/main">
            <a:r>
              <a:t>段落 142: Weekly team meeting (Tuesdays 1000 GMT)</a:t>
            </a:r>
          </a:p>
          <a:p xmlns:a="http://schemas.openxmlformats.org/drawingml/2006/main">
            <a:r>
              <a:t>段落 143: Round table</a:t>
            </a:r>
          </a:p>
          <a:p xmlns:a="http://schemas.openxmlformats.org/drawingml/2006/main">
            <a:r>
              <a:t>段落 144: James outlined current project status - working toward completion of WP1 Define Bicycle shop inventory Use case</a:t>
            </a:r>
          </a:p>
          <a:p xmlns:a="http://schemas.openxmlformats.org/drawingml/2006/main">
            <a:r>
              <a:t>段落 145: General team discussion on how this was looking</a:t>
            </a:r>
          </a:p>
          <a:p xmlns:a="http://schemas.openxmlformats.org/drawingml/2006/main">
            <a:r>
              <a:t>段落 146: Any Current issues?</a:t>
            </a:r>
          </a:p>
          <a:p xmlns:a="http://schemas.openxmlformats.org/drawingml/2006/main">
            <a:r>
              <a:t>段落 147: IM and EM inputs suggested that local situation at Common Ground Bikes wasn’t too far off initial spec’d requirements</a:t>
            </a:r>
          </a:p>
          <a:p xmlns:a="http://schemas.openxmlformats.org/drawingml/2006/main">
            <a:r>
              <a:t>段落 148: General feeling that main new change came around the data extraction automation being undertaken to manually extract data from invoices.</a:t>
            </a:r>
          </a:p>
          <a:p xmlns:a="http://schemas.openxmlformats.org/drawingml/2006/main">
            <a:r>
              <a:t>段落 149: Action Items</a:t>
            </a:r>
          </a:p>
          <a:p xmlns:a="http://schemas.openxmlformats.org/drawingml/2006/main">
            <a:r>
              <a:t>段落 150: Engineering team to get access to outputs from SpinBits to assess interoperability and connection with other classes and entities needed to map to overall BridgeMind AI ontology</a:t>
            </a:r>
          </a:p>
          <a:p xmlns:a="http://schemas.openxmlformats.org/drawingml/2006/main">
            <a:r>
              <a:t>段落 151: ACTION - request access to the SpinBits DB</a:t>
            </a:r>
          </a:p>
          <a:p xmlns:a="http://schemas.openxmlformats.org/drawingml/2006/main">
            <a:r>
              <a:t>段落 152: 08-09-2025</a:t>
            </a:r>
          </a:p>
          <a:p xmlns:a="http://schemas.openxmlformats.org/drawingml/2006/main">
            <a:r>
              <a:t>段落 153: Attendees</a:t>
            </a:r>
          </a:p>
          <a:p xmlns:a="http://schemas.openxmlformats.org/drawingml/2006/main">
            <a:r>
              <a:t>段落 154: Full team</a:t>
            </a:r>
          </a:p>
          <a:p xmlns:a="http://schemas.openxmlformats.org/drawingml/2006/main">
            <a:r>
              <a:t>段落 156: Weekly team meeting (Tuesdays 1000 GMT)</a:t>
            </a:r>
          </a:p>
          <a:p xmlns:a="http://schemas.openxmlformats.org/drawingml/2006/main">
            <a:r>
              <a:t>段落 157: Round table</a:t>
            </a:r>
          </a:p>
          <a:p xmlns:a="http://schemas.openxmlformats.org/drawingml/2006/main">
            <a:r>
              <a:t>段落 158: Meeting at Common Ground Bikes to review information requirements</a:t>
            </a:r>
          </a:p>
          <a:p xmlns:a="http://schemas.openxmlformats.org/drawingml/2006/main">
            <a:r>
              <a:t>段落 159: The weekly meeting was used as an opportunity to formally review our shared understanding of Common Ground Bikes information requirements</a:t>
            </a:r>
          </a:p>
          <a:p xmlns:a="http://schemas.openxmlformats.org/drawingml/2006/main">
            <a:r>
              <a:t>段落 160: Any Current issues?</a:t>
            </a:r>
          </a:p>
          <a:p xmlns:a="http://schemas.openxmlformats.org/drawingml/2006/main">
            <a:r>
              <a:t>段落 161: James expressed concerns that the full BridgeMind AI team coming to the workshop would be too crowded - to avoid this, two reps from BridgeMind AI (Matt and James) attended personally and the remainder of the team attended virtually</a:t>
            </a:r>
          </a:p>
          <a:p xmlns:a="http://schemas.openxmlformats.org/drawingml/2006/main">
            <a:r>
              <a:t>段落 162: Although 2 hours were apportioned for this meeting, the session ran over, meaning further information gathering was later required.</a:t>
            </a:r>
          </a:p>
          <a:p xmlns:a="http://schemas.openxmlformats.org/drawingml/2006/main">
            <a:r>
              <a:t>段落 163: Action Items</a:t>
            </a:r>
          </a:p>
          <a:p xmlns:a="http://schemas.openxmlformats.org/drawingml/2006/main">
            <a:r>
              <a:t>段落 164: James and Matt to do an additional two days at Common Ground Bikes to further understand the recent changes to the inventory management system used</a:t>
            </a:r>
          </a:p>
          <a:p xmlns:a="http://schemas.openxmlformats.org/drawingml/2006/main">
            <a:r>
              <a:t>段落 165: Look at the update to how Common Ground Bikes database (SpinBits) is storing particular information related to - 2.4 Customer unique identifier </a:t>
            </a:r>
          </a:p>
          <a:p xmlns:a="http://schemas.openxmlformats.org/drawingml/2006/main">
            <a:r>
              <a:t>段落 166: James explained a particular patch has been applied to add this data automatically from his invoices so he no longer needs to do this manually</a:t>
            </a:r>
          </a:p>
          <a:p xmlns:a="http://schemas.openxmlformats.org/drawingml/2006/main">
            <a:r>
              <a:t>段落 167: 01-09-2025</a:t>
            </a:r>
          </a:p>
          <a:p xmlns:a="http://schemas.openxmlformats.org/drawingml/2006/main">
            <a:r>
              <a:t>段落 168: Project Kick off meeting (KOM)</a:t>
            </a:r>
          </a:p>
          <a:p xmlns:a="http://schemas.openxmlformats.org/drawingml/2006/main">
            <a:r>
              <a:t>段落 170: Attendees</a:t>
            </a:r>
          </a:p>
          <a:p xmlns:a="http://schemas.openxmlformats.org/drawingml/2006/main">
            <a:r>
              <a:t>段落 171: BridgeMind AI CEO - Zac</a:t>
            </a:r>
          </a:p>
          <a:p xmlns:a="http://schemas.openxmlformats.org/drawingml/2006/main">
            <a:r>
              <a:t>段落 172: BridgeMind AI CTO - Claire</a:t>
            </a:r>
          </a:p>
          <a:p xmlns:a="http://schemas.openxmlformats.org/drawingml/2006/main">
            <a:r>
              <a:t>段落 173: BridgeMind AI Information Manager - Matt</a:t>
            </a:r>
          </a:p>
          <a:p xmlns:a="http://schemas.openxmlformats.org/drawingml/2006/main">
            <a:r>
              <a:t>段落 174: BridgeMind AI Project Manager - James</a:t>
            </a:r>
          </a:p>
          <a:p xmlns:a="http://schemas.openxmlformats.org/drawingml/2006/main">
            <a:r>
              <a:t>段落 175: BridgeMind AI Engineering Manager - Jeff</a:t>
            </a:r>
          </a:p>
          <a:p xmlns:a="http://schemas.openxmlformats.org/drawingml/2006/main">
            <a:r>
              <a:t>段落 176: BridgeMind AI Dev 1 - Marnie</a:t>
            </a:r>
          </a:p>
          <a:p xmlns:a="http://schemas.openxmlformats.org/drawingml/2006/main">
            <a:r>
              <a:t>段落 177: BridgeMind AI Dev 2 - Barry</a:t>
            </a:r>
          </a:p>
          <a:p xmlns:a="http://schemas.openxmlformats.org/drawingml/2006/main">
            <a:r>
              <a:t>段落 178: BridgeMind AI UI Expert - Raven</a:t>
            </a:r>
          </a:p>
          <a:p xmlns:a="http://schemas.openxmlformats.org/drawingml/2006/main">
            <a:r>
              <a:t>段落 179: BridgeMind AI Up ML Engineer - Daisy</a:t>
            </a:r>
          </a:p>
          <a:p xmlns:a="http://schemas.openxmlformats.org/drawingml/2006/main">
            <a:r>
              <a:t>段落 180: IUK Assessor - Professor Frank Dodge (FD)</a:t>
            </a:r>
          </a:p>
          <a:p xmlns:a="http://schemas.openxmlformats.org/drawingml/2006/main">
            <a:r>
              <a:t>段落 181: Common Ground Bikes - James</a:t>
            </a:r>
          </a:p>
          <a:p xmlns:a="http://schemas.openxmlformats.org/drawingml/2006/main">
            <a:r>
              <a:t>段落 183: Round table</a:t>
            </a:r>
          </a:p>
          <a:p xmlns:a="http://schemas.openxmlformats.org/drawingml/2006/main">
            <a:r>
              <a:t>段落 184: Initial project KOM meeting to discuss project schedule</a:t>
            </a:r>
          </a:p>
          <a:p xmlns:a="http://schemas.openxmlformats.org/drawingml/2006/main">
            <a:r>
              <a:t>段落 185: Agree weekly meeting schedule (Tuesdays 1000) - whole team to attend if possible, but as a minimum PM and EM to meet attend every meeting</a:t>
            </a:r>
          </a:p>
          <a:p xmlns:a="http://schemas.openxmlformats.org/drawingml/2006/main">
            <a:r>
              <a:t>段落 186: Any Current issues?</a:t>
            </a:r>
          </a:p>
          <a:p xmlns:a="http://schemas.openxmlformats.org/drawingml/2006/main">
            <a:r>
              <a:t>段落 187: Funding is approved</a:t>
            </a:r>
          </a:p>
          <a:p xmlns:a="http://schemas.openxmlformats.org/drawingml/2006/main">
            <a:r>
              <a:t>段落 188: FD has requested monthly meetings to review</a:t>
            </a:r>
          </a:p>
          <a:p xmlns:a="http://schemas.openxmlformats.org/drawingml/2006/main">
            <a:r>
              <a:t>段落 189: Project spend</a:t>
            </a:r>
          </a:p>
          <a:p xmlns:a="http://schemas.openxmlformats.org/drawingml/2006/main">
            <a:r>
              <a:t>段落 190: Deliverable status</a:t>
            </a:r>
          </a:p>
          <a:p xmlns:a="http://schemas.openxmlformats.org/drawingml/2006/main">
            <a:r>
              <a:t>段落 191: Risk profile</a:t>
            </a:r>
          </a:p>
          <a:p xmlns:a="http://schemas.openxmlformats.org/drawingml/2006/main">
            <a:r>
              <a:t>段落 192: Schedule to start on 30th Oct (to coincide with production of Output 1 - Initial report outlining Use case, underlying information requirements and definition of AI architecture to be implemented, which concludes the end of WP1)</a:t>
            </a:r>
          </a:p>
          <a:p xmlns:a="http://schemas.openxmlformats.org/drawingml/2006/main">
            <a:r>
              <a:t>段落 193: Action Items</a:t>
            </a:r>
          </a:p>
          <a:p xmlns:a="http://schemas.openxmlformats.org/drawingml/2006/main">
            <a:r>
              <a:t>段落 194: 1) Review understanding Some elements of Common Ground Bikes inventory management system have changed, and the initial requirements analysis conducted is now 6 months old.  As a first activity, it is suggested that next week team reps meet at Common Ground Bikes to review the initial requirements and determine if they are still accurate, what has changed and what best reflects the needs of Common Ground Bikes.</a:t>
            </a:r>
          </a:p>
          <a:p xmlns:a="http://schemas.openxmlformats.org/drawingml/2006/main">
            <a:r>
              <a:t>段落 195: 2) Next week's weekly standup will take place at Common Ground Bikes (Cowley Road)</a:t>
            </a:r>
          </a:p>
          <a:p xmlns:a="http://schemas.openxmlformats.org/drawingml/2006/main">
            <a:r>
              <a:t>段落 196: 3) Put in meeting request for first monthly review 30th Oct</a:t>
            </a:r>
          </a:p>
          <a:p xmlns:a="http://schemas.openxmlformats.org/drawingml/2006/main">
            <a:r>
              <a:t>其他可核对原始工时数据</a:t>
            </a:r>
          </a:p>
          <a:p xmlns:a="http://schemas.openxmlformats.org/drawingml/2006/main">
            <a:r>
              <a:t>INPUT 2 BridgeMind AI POC Project spend profile for month 2.xlsx / 2.0 Resources (used to date)</a:t>
            </a:r>
          </a:p>
          <a:p xmlns:a="http://schemas.openxmlformats.org/drawingml/2006/main">
            <a:r>
              <a:t>SHA256 f0c44755ea22d5b0a13eae8f24928faaaa338944628a80b00c7f7aed41747ade</a:t>
            </a:r>
          </a:p>
          <a:p xmlns:a="http://schemas.openxmlformats.org/drawingml/2006/main">
            <a:r>
              <a:t>A16=Tech Start Up CEO</a:t>
            </a:r>
          </a:p>
          <a:p xmlns:a="http://schemas.openxmlformats.org/drawingml/2006/main">
            <a:r>
              <a:t>B16=1</a:t>
            </a:r>
          </a:p>
          <a:p xmlns:a="http://schemas.openxmlformats.org/drawingml/2006/main">
            <a:r>
              <a:t>AC16=1</a:t>
            </a:r>
          </a:p>
          <a:p xmlns:a="http://schemas.openxmlformats.org/drawingml/2006/main">
            <a:r>
              <a:t>A17=Tech Start Up CTO</a:t>
            </a:r>
          </a:p>
          <a:p xmlns:a="http://schemas.openxmlformats.org/drawingml/2006/main">
            <a:r>
              <a:t>B17=1</a:t>
            </a:r>
          </a:p>
          <a:p xmlns:a="http://schemas.openxmlformats.org/drawingml/2006/main">
            <a:r>
              <a:t>AC17=1</a:t>
            </a:r>
          </a:p>
          <a:p xmlns:a="http://schemas.openxmlformats.org/drawingml/2006/main">
            <a:r>
              <a:t>A18=Tech Start Up Information Manager</a:t>
            </a:r>
          </a:p>
          <a:p xmlns:a="http://schemas.openxmlformats.org/drawingml/2006/main">
            <a:r>
              <a:t>B18=3</a:t>
            </a:r>
          </a:p>
          <a:p xmlns:a="http://schemas.openxmlformats.org/drawingml/2006/main">
            <a:r>
              <a:t>C18=4</a:t>
            </a:r>
          </a:p>
          <a:p xmlns:a="http://schemas.openxmlformats.org/drawingml/2006/main">
            <a:r>
              <a:t>D18=4</a:t>
            </a:r>
          </a:p>
          <a:p xmlns:a="http://schemas.openxmlformats.org/drawingml/2006/main">
            <a:r>
              <a:t>E18=4</a:t>
            </a:r>
          </a:p>
          <a:p xmlns:a="http://schemas.openxmlformats.org/drawingml/2006/main">
            <a:r>
              <a:t>F18=1</a:t>
            </a:r>
          </a:p>
          <a:p xmlns:a="http://schemas.openxmlformats.org/drawingml/2006/main">
            <a:r>
              <a:t>G18=1</a:t>
            </a:r>
          </a:p>
          <a:p xmlns:a="http://schemas.openxmlformats.org/drawingml/2006/main">
            <a:r>
              <a:t>H18=1</a:t>
            </a:r>
          </a:p>
          <a:p xmlns:a="http://schemas.openxmlformats.org/drawingml/2006/main">
            <a:r>
              <a:t>I18=1</a:t>
            </a:r>
          </a:p>
          <a:p xmlns:a="http://schemas.openxmlformats.org/drawingml/2006/main">
            <a:r>
              <a:t>J18=1</a:t>
            </a:r>
          </a:p>
          <a:p xmlns:a="http://schemas.openxmlformats.org/drawingml/2006/main">
            <a:r>
              <a:t>AC18=20</a:t>
            </a:r>
          </a:p>
          <a:p xmlns:a="http://schemas.openxmlformats.org/drawingml/2006/main">
            <a:r>
              <a:t>A19=Tech Start Up Project Manager</a:t>
            </a:r>
          </a:p>
          <a:p xmlns:a="http://schemas.openxmlformats.org/drawingml/2006/main">
            <a:r>
              <a:t>B19=2.5</a:t>
            </a:r>
          </a:p>
          <a:p xmlns:a="http://schemas.openxmlformats.org/drawingml/2006/main">
            <a:r>
              <a:t>C19=2</a:t>
            </a:r>
          </a:p>
          <a:p xmlns:a="http://schemas.openxmlformats.org/drawingml/2006/main">
            <a:r>
              <a:t>D19=2.5</a:t>
            </a:r>
          </a:p>
          <a:p xmlns:a="http://schemas.openxmlformats.org/drawingml/2006/main">
            <a:r>
              <a:t>E19=3</a:t>
            </a:r>
          </a:p>
          <a:p xmlns:a="http://schemas.openxmlformats.org/drawingml/2006/main">
            <a:r>
              <a:t>F19=2</a:t>
            </a:r>
          </a:p>
          <a:p xmlns:a="http://schemas.openxmlformats.org/drawingml/2006/main">
            <a:r>
              <a:t>G19=2.5</a:t>
            </a:r>
          </a:p>
          <a:p xmlns:a="http://schemas.openxmlformats.org/drawingml/2006/main">
            <a:r>
              <a:t>H19=2.5</a:t>
            </a:r>
          </a:p>
          <a:p xmlns:a="http://schemas.openxmlformats.org/drawingml/2006/main">
            <a:r>
              <a:t>I19=2.5</a:t>
            </a:r>
          </a:p>
          <a:p xmlns:a="http://schemas.openxmlformats.org/drawingml/2006/main">
            <a:r>
              <a:t>J19=2.5</a:t>
            </a:r>
          </a:p>
          <a:p xmlns:a="http://schemas.openxmlformats.org/drawingml/2006/main">
            <a:r>
              <a:t>AC19=22</a:t>
            </a:r>
          </a:p>
          <a:p xmlns:a="http://schemas.openxmlformats.org/drawingml/2006/main">
            <a:r>
              <a:t>A20=Tech Start Up Engineering Manager</a:t>
            </a:r>
          </a:p>
          <a:p xmlns:a="http://schemas.openxmlformats.org/drawingml/2006/main">
            <a:r>
              <a:t>B20=2.5</a:t>
            </a:r>
          </a:p>
          <a:p xmlns:a="http://schemas.openxmlformats.org/drawingml/2006/main">
            <a:r>
              <a:t>C20=2.5</a:t>
            </a:r>
          </a:p>
          <a:p xmlns:a="http://schemas.openxmlformats.org/drawingml/2006/main">
            <a:r>
              <a:t>D20=2.5</a:t>
            </a:r>
          </a:p>
          <a:p xmlns:a="http://schemas.openxmlformats.org/drawingml/2006/main">
            <a:r>
              <a:t>E20=2.5</a:t>
            </a:r>
          </a:p>
          <a:p xmlns:a="http://schemas.openxmlformats.org/drawingml/2006/main">
            <a:r>
              <a:t>F20=2.5</a:t>
            </a:r>
          </a:p>
          <a:p xmlns:a="http://schemas.openxmlformats.org/drawingml/2006/main">
            <a:r>
              <a:t>G20=2.5</a:t>
            </a:r>
          </a:p>
          <a:p xmlns:a="http://schemas.openxmlformats.org/drawingml/2006/main">
            <a:r>
              <a:t>H20=2.5</a:t>
            </a:r>
          </a:p>
          <a:p xmlns:a="http://schemas.openxmlformats.org/drawingml/2006/main">
            <a:r>
              <a:t>I20=2.5</a:t>
            </a:r>
          </a:p>
          <a:p xmlns:a="http://schemas.openxmlformats.org/drawingml/2006/main">
            <a:r>
              <a:t>J20=2.5</a:t>
            </a:r>
          </a:p>
          <a:p xmlns:a="http://schemas.openxmlformats.org/drawingml/2006/main">
            <a:r>
              <a:t>AC20=22.5</a:t>
            </a:r>
          </a:p>
          <a:p xmlns:a="http://schemas.openxmlformats.org/drawingml/2006/main">
            <a:r>
              <a:t>A21=Tech Start Up Dev 1</a:t>
            </a:r>
          </a:p>
          <a:p xmlns:a="http://schemas.openxmlformats.org/drawingml/2006/main">
            <a:r>
              <a:t>B21=2.5</a:t>
            </a:r>
          </a:p>
          <a:p xmlns:a="http://schemas.openxmlformats.org/drawingml/2006/main">
            <a:r>
              <a:t>C21=2.5</a:t>
            </a:r>
          </a:p>
          <a:p xmlns:a="http://schemas.openxmlformats.org/drawingml/2006/main">
            <a:r>
              <a:t>D21=2.5</a:t>
            </a:r>
          </a:p>
          <a:p xmlns:a="http://schemas.openxmlformats.org/drawingml/2006/main">
            <a:r>
              <a:t>E21=2.5</a:t>
            </a:r>
          </a:p>
          <a:p xmlns:a="http://schemas.openxmlformats.org/drawingml/2006/main">
            <a:r>
              <a:t>F21=2.5</a:t>
            </a:r>
          </a:p>
          <a:p xmlns:a="http://schemas.openxmlformats.org/drawingml/2006/main">
            <a:r>
              <a:t>G21=2.5</a:t>
            </a:r>
          </a:p>
          <a:p xmlns:a="http://schemas.openxmlformats.org/drawingml/2006/main">
            <a:r>
              <a:t>H21=2.5</a:t>
            </a:r>
          </a:p>
          <a:p xmlns:a="http://schemas.openxmlformats.org/drawingml/2006/main">
            <a:r>
              <a:t>I21=2.5</a:t>
            </a:r>
          </a:p>
          <a:p xmlns:a="http://schemas.openxmlformats.org/drawingml/2006/main">
            <a:r>
              <a:t>J21=2.5</a:t>
            </a:r>
          </a:p>
          <a:p xmlns:a="http://schemas.openxmlformats.org/drawingml/2006/main">
            <a:r>
              <a:t>AC21=22.5</a:t>
            </a:r>
          </a:p>
          <a:p xmlns:a="http://schemas.openxmlformats.org/drawingml/2006/main">
            <a:r>
              <a:t>A22=Tech Start Up Dev 2</a:t>
            </a:r>
          </a:p>
          <a:p xmlns:a="http://schemas.openxmlformats.org/drawingml/2006/main">
            <a:r>
              <a:t>B22=2.5</a:t>
            </a:r>
          </a:p>
          <a:p xmlns:a="http://schemas.openxmlformats.org/drawingml/2006/main">
            <a:r>
              <a:t>C22=2.5</a:t>
            </a:r>
          </a:p>
          <a:p xmlns:a="http://schemas.openxmlformats.org/drawingml/2006/main">
            <a:r>
              <a:t>D22=2.5</a:t>
            </a:r>
          </a:p>
          <a:p xmlns:a="http://schemas.openxmlformats.org/drawingml/2006/main">
            <a:r>
              <a:t>E22=2.5</a:t>
            </a:r>
          </a:p>
          <a:p xmlns:a="http://schemas.openxmlformats.org/drawingml/2006/main">
            <a:r>
              <a:t>F22=2.5</a:t>
            </a:r>
          </a:p>
          <a:p xmlns:a="http://schemas.openxmlformats.org/drawingml/2006/main">
            <a:r>
              <a:t>G22=2.5</a:t>
            </a:r>
          </a:p>
          <a:p xmlns:a="http://schemas.openxmlformats.org/drawingml/2006/main">
            <a:r>
              <a:t>H22=2.5</a:t>
            </a:r>
          </a:p>
          <a:p xmlns:a="http://schemas.openxmlformats.org/drawingml/2006/main">
            <a:r>
              <a:t>I22=2.5</a:t>
            </a:r>
          </a:p>
          <a:p xmlns:a="http://schemas.openxmlformats.org/drawingml/2006/main">
            <a:r>
              <a:t>J22=2.5</a:t>
            </a:r>
          </a:p>
          <a:p xmlns:a="http://schemas.openxmlformats.org/drawingml/2006/main">
            <a:r>
              <a:t>AC22=22.5</a:t>
            </a:r>
          </a:p>
          <a:p xmlns:a="http://schemas.openxmlformats.org/drawingml/2006/main">
            <a:r>
              <a:t>A23=Tech Start Up UI Expert </a:t>
            </a:r>
          </a:p>
          <a:p xmlns:a="http://schemas.openxmlformats.org/drawingml/2006/main">
            <a:r>
              <a:t>B23=2.5</a:t>
            </a:r>
          </a:p>
          <a:p xmlns:a="http://schemas.openxmlformats.org/drawingml/2006/main">
            <a:r>
              <a:t>C23=3</a:t>
            </a:r>
          </a:p>
          <a:p xmlns:a="http://schemas.openxmlformats.org/drawingml/2006/main">
            <a:r>
              <a:t>D23=3</a:t>
            </a:r>
          </a:p>
          <a:p xmlns:a="http://schemas.openxmlformats.org/drawingml/2006/main">
            <a:r>
              <a:t>E23=2.5</a:t>
            </a:r>
          </a:p>
          <a:p xmlns:a="http://schemas.openxmlformats.org/drawingml/2006/main">
            <a:r>
              <a:t>F23=2.5</a:t>
            </a:r>
          </a:p>
          <a:p xmlns:a="http://schemas.openxmlformats.org/drawingml/2006/main">
            <a:r>
              <a:t>G23=2.5</a:t>
            </a:r>
          </a:p>
          <a:p xmlns:a="http://schemas.openxmlformats.org/drawingml/2006/main">
            <a:r>
              <a:t>H23=2.5</a:t>
            </a:r>
          </a:p>
          <a:p xmlns:a="http://schemas.openxmlformats.org/drawingml/2006/main">
            <a:r>
              <a:t>I23=2.5</a:t>
            </a:r>
          </a:p>
          <a:p xmlns:a="http://schemas.openxmlformats.org/drawingml/2006/main">
            <a:r>
              <a:t>J23=2.5</a:t>
            </a:r>
          </a:p>
          <a:p xmlns:a="http://schemas.openxmlformats.org/drawingml/2006/main">
            <a:r>
              <a:t>AC23=23.5</a:t>
            </a:r>
          </a:p>
          <a:p xmlns:a="http://schemas.openxmlformats.org/drawingml/2006/main">
            <a:r>
              <a:t>A24=Tech Start Up ML Engineer</a:t>
            </a:r>
          </a:p>
          <a:p xmlns:a="http://schemas.openxmlformats.org/drawingml/2006/main">
            <a:r>
              <a:t>B24=2.5</a:t>
            </a:r>
          </a:p>
          <a:p xmlns:a="http://schemas.openxmlformats.org/drawingml/2006/main">
            <a:r>
              <a:t>C24=2.5</a:t>
            </a:r>
          </a:p>
          <a:p xmlns:a="http://schemas.openxmlformats.org/drawingml/2006/main">
            <a:r>
              <a:t>D24=2.5</a:t>
            </a:r>
          </a:p>
          <a:p xmlns:a="http://schemas.openxmlformats.org/drawingml/2006/main">
            <a:r>
              <a:t>E24=2.5</a:t>
            </a:r>
          </a:p>
          <a:p xmlns:a="http://schemas.openxmlformats.org/drawingml/2006/main">
            <a:r>
              <a:t>F24=2.5</a:t>
            </a:r>
          </a:p>
          <a:p xmlns:a="http://schemas.openxmlformats.org/drawingml/2006/main">
            <a:r>
              <a:t>G24=1</a:t>
            </a:r>
          </a:p>
          <a:p xmlns:a="http://schemas.openxmlformats.org/drawingml/2006/main">
            <a:r>
              <a:t>H24=1</a:t>
            </a:r>
          </a:p>
          <a:p xmlns:a="http://schemas.openxmlformats.org/drawingml/2006/main">
            <a:r>
              <a:t>I24=2.5</a:t>
            </a:r>
          </a:p>
          <a:p xmlns:a="http://schemas.openxmlformats.org/drawingml/2006/main">
            <a:r>
              <a:t>J24=3.5</a:t>
            </a:r>
          </a:p>
          <a:p xmlns:a="http://schemas.openxmlformats.org/drawingml/2006/main">
            <a:r>
              <a:t>AC24=20.5</a:t>
            </a:r>
          </a:p>
          <a:p xmlns:a="http://schemas.openxmlformats.org/drawingml/2006/main">
            <a:r>
              <a:t>A27=2.0 BridgeMind AI Materials costs (per month)(£)</a:t>
            </a:r>
          </a:p>
          <a:p xmlns:a="http://schemas.openxmlformats.org/drawingml/2006/main">
            <a:r>
              <a:t>AC27=Total </a:t>
            </a:r>
          </a:p>
          <a:p xmlns:a="http://schemas.openxmlformats.org/drawingml/2006/main">
            <a:r>
              <a:t>A28=Cloud computing costs</a:t>
            </a:r>
          </a:p>
          <a:p xmlns:a="http://schemas.openxmlformats.org/drawingml/2006/main">
            <a:r>
              <a:t>D28=20</a:t>
            </a:r>
          </a:p>
          <a:p xmlns:a="http://schemas.openxmlformats.org/drawingml/2006/main">
            <a:r>
              <a:t>H28=20</a:t>
            </a:r>
          </a:p>
          <a:p xmlns:a="http://schemas.openxmlformats.org/drawingml/2006/main">
            <a:r>
              <a:t>AC28=40</a:t>
            </a:r>
          </a:p>
          <a:p xmlns:a="http://schemas.openxmlformats.org/drawingml/2006/main">
            <a:r>
              <a:t>A29=Data capture materials (stationary)</a:t>
            </a:r>
          </a:p>
          <a:p xmlns:a="http://schemas.openxmlformats.org/drawingml/2006/main">
            <a:r>
              <a:t>C29=1</a:t>
            </a:r>
          </a:p>
          <a:p xmlns:a="http://schemas.openxmlformats.org/drawingml/2006/main">
            <a:r>
              <a:t>D29=1</a:t>
            </a:r>
          </a:p>
          <a:p xmlns:a="http://schemas.openxmlformats.org/drawingml/2006/main">
            <a:r>
              <a:t>I29=3</a:t>
            </a:r>
          </a:p>
          <a:p xmlns:a="http://schemas.openxmlformats.org/drawingml/2006/main">
            <a:r>
              <a:t>AC29=5</a:t>
            </a:r>
          </a:p>
          <a:p xmlns:a="http://schemas.openxmlformats.org/drawingml/2006/main">
            <a:r>
              <a:t>A30=Cybersecurity software protection </a:t>
            </a:r>
          </a:p>
          <a:p xmlns:a="http://schemas.openxmlformats.org/drawingml/2006/main">
            <a:r>
              <a:t>B30=10</a:t>
            </a:r>
          </a:p>
          <a:p xmlns:a="http://schemas.openxmlformats.org/drawingml/2006/main">
            <a:r>
              <a:t>G30=10</a:t>
            </a:r>
          </a:p>
          <a:p xmlns:a="http://schemas.openxmlformats.org/drawingml/2006/main">
            <a:r>
              <a:t>AC30=20</a:t>
            </a:r>
          </a:p>
          <a:p xmlns:a="http://schemas.openxmlformats.org/drawingml/2006/main">
            <a:r>
              <a:t>A32=3.0 Travel and expenses (per month) (£)</a:t>
            </a:r>
          </a:p>
          <a:p xmlns:a="http://schemas.openxmlformats.org/drawingml/2006/main">
            <a:r>
              <a:t>A33=Travel to client sites</a:t>
            </a:r>
          </a:p>
          <a:p xmlns:a="http://schemas.openxmlformats.org/drawingml/2006/main">
            <a:r>
              <a:t>C33=10</a:t>
            </a:r>
          </a:p>
          <a:p xmlns:a="http://schemas.openxmlformats.org/drawingml/2006/main">
            <a:r>
              <a:t>D33=10</a:t>
            </a:r>
          </a:p>
          <a:p xmlns:a="http://schemas.openxmlformats.org/drawingml/2006/main">
            <a:r>
              <a:t>E33=10</a:t>
            </a:r>
          </a:p>
          <a:p xmlns:a="http://schemas.openxmlformats.org/drawingml/2006/main">
            <a:r>
              <a:t>F33=10</a:t>
            </a:r>
          </a:p>
          <a:p xmlns:a="http://schemas.openxmlformats.org/drawingml/2006/main">
            <a:r>
              <a:t>G33=10</a:t>
            </a:r>
          </a:p>
          <a:p xmlns:a="http://schemas.openxmlformats.org/drawingml/2006/main">
            <a:r>
              <a:t>H33=10</a:t>
            </a:r>
          </a:p>
          <a:p xmlns:a="http://schemas.openxmlformats.org/drawingml/2006/main">
            <a:r>
              <a:t>I33=10</a:t>
            </a:r>
          </a:p>
          <a:p xmlns:a="http://schemas.openxmlformats.org/drawingml/2006/main">
            <a:r>
              <a:t>AC33=70</a:t>
            </a:r>
          </a:p>
          <a:p xmlns:a="http://schemas.openxmlformats.org/drawingml/2006/main">
            <a:r>
              <a:t>A34=Refreshments for client meetings</a:t>
            </a:r>
          </a:p>
          <a:p xmlns:a="http://schemas.openxmlformats.org/drawingml/2006/main">
            <a:r>
              <a:t>C34=5</a:t>
            </a:r>
          </a:p>
          <a:p xmlns:a="http://schemas.openxmlformats.org/drawingml/2006/main">
            <a:r>
              <a:t>D34=5</a:t>
            </a:r>
          </a:p>
          <a:p xmlns:a="http://schemas.openxmlformats.org/drawingml/2006/main">
            <a:r>
              <a:t>E34=5</a:t>
            </a:r>
          </a:p>
          <a:p xmlns:a="http://schemas.openxmlformats.org/drawingml/2006/main">
            <a:r>
              <a:t>F34=5</a:t>
            </a:r>
          </a:p>
          <a:p xmlns:a="http://schemas.openxmlformats.org/drawingml/2006/main">
            <a:r>
              <a:t>G34=5</a:t>
            </a:r>
          </a:p>
          <a:p xmlns:a="http://schemas.openxmlformats.org/drawingml/2006/main">
            <a:r>
              <a:t>H34=5</a:t>
            </a:r>
          </a:p>
          <a:p xmlns:a="http://schemas.openxmlformats.org/drawingml/2006/main">
            <a:r>
              <a:t>I34=5</a:t>
            </a:r>
          </a:p>
          <a:p xmlns:a="http://schemas.openxmlformats.org/drawingml/2006/main">
            <a:r>
              <a:t>AC34=35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8519357bf244642"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bb5a879e1ff247ff"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5a3394a1e00644ff"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3852668d8c6840ce"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601ad83addf3486c"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23873ed511fc40f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9C746E6-D3EC-42C0-A3D3-86EFC402E79D}"/>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1D69FF5D-F84E-475F-847E-832FDF06A491}"/>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E2D5E421-3B9B-43F3-A9FF-FBFEFE523435}"/>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73C79AC-D4A6-414D-BE4E-A303D2A4053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2FDEDCFD-71EB-4B24-8A7E-3F266390A3E7}"/>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191B85F4-12FD-4E8B-9205-FD7A98CA976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35279FEB-CBFF-46B8-AD6F-8E0C2CA2239E}"/>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FA564BC1-DD19-4112-BF48-EB10BF08DCE7}"/>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0099592-6461-403C-A959-DF8FF8E5970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22CC4888-5DC8-403F-A640-AB70AD80B0A8}"/>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49f657ee1114766" /><Relationship Type="http://schemas.openxmlformats.org/officeDocument/2006/relationships/slideLayout" Target="/ppt/slideLayouts/slideLayout1.xml" Id="Rbdbd69687210489f" /><Relationship Type="http://schemas.openxmlformats.org/officeDocument/2006/relationships/slideLayout" Target="/ppt/slideLayouts/slideLayout2.xml" Id="R1089f8110b194428" /><Relationship Type="http://schemas.openxmlformats.org/officeDocument/2006/relationships/slideLayout" Target="/ppt/slideLayouts/slideLayout3.xml" Id="R47b0d61265d841a5" /><Relationship Type="http://schemas.openxmlformats.org/officeDocument/2006/relationships/slideLayout" Target="/ppt/slideLayouts/slideLayout4.xml" Id="R649c461e11ac4a6b" /><Relationship Type="http://schemas.openxmlformats.org/officeDocument/2006/relationships/slideLayout" Target="/ppt/slideLayouts/slideLayout5.xml" Id="R9ccc0d82ec014c18" /><Relationship Type="http://schemas.openxmlformats.org/officeDocument/2006/relationships/slideLayout" Target="/ppt/slideLayouts/slideLayout6.xml" Id="Rdb6a041819c44bf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dbd69687210489f"/>
    <p:sldLayoutId xmlns:r="http://schemas.openxmlformats.org/officeDocument/2006/relationships" id="2147483650" r:id="R1089f8110b194428"/>
    <p:sldLayoutId xmlns:r="http://schemas.openxmlformats.org/officeDocument/2006/relationships" id="2147483651" r:id="R47b0d61265d841a5"/>
    <p:sldLayoutId xmlns:r="http://schemas.openxmlformats.org/officeDocument/2006/relationships" id="2147483652" r:id="R649c461e11ac4a6b"/>
    <p:sldLayoutId xmlns:r="http://schemas.openxmlformats.org/officeDocument/2006/relationships" id="2147483653" r:id="R9ccc0d82ec014c18"/>
    <p:sldLayoutId xmlns:r="http://schemas.openxmlformats.org/officeDocument/2006/relationships" id="2147483654" r:id="Rdb6a041819c44bf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Microsoft YaHei"/>
        <a:ea typeface=""/>
        <a:cs typeface=""/>
      </a:majorFont>
      <a:minorFont>
        <a:latin typeface="Microsoft YaHei"/>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56725fe626b44a9d" /><Relationship Type="http://schemas.openxmlformats.org/officeDocument/2006/relationships/notesSlide" Target="/ppt/notesSlides/notesSlide1.xml" Id="R33c414ec1bc447d8"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cf20644fd1784f0c" /><Relationship Type="http://schemas.openxmlformats.org/officeDocument/2006/relationships/notesSlide" Target="/ppt/notesSlides/notesSlide2.xml" Id="R9f13863a7b58453f"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8b1bbe5c2c2a46d0" /><Relationship Type="http://schemas.openxmlformats.org/officeDocument/2006/relationships/notesSlide" Target="/ppt/notesSlides/notesSlide3.xml" Id="R7d2568d97c4e4ef5"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a8fbb32706364f82" /><Relationship Type="http://schemas.openxmlformats.org/officeDocument/2006/relationships/notesSlide" Target="/ppt/notesSlides/notesSlide4.xml" Id="R4ee51570eb5440a0"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fec0763ed7334738" /><Relationship Type="http://schemas.openxmlformats.org/officeDocument/2006/relationships/notesSlide" Target="/ppt/notesSlides/notesSlide5.xml" Id="R91911cb7ea724465"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ae95b60a5a744cbf" /><Relationship Type="http://schemas.openxmlformats.org/officeDocument/2006/relationships/notesSlide" Target="/ppt/notesSlides/notesSlide6.xml" Id="R297f30a10c074e53"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977014e63d06419a" /><Relationship Type="http://schemas.openxmlformats.org/officeDocument/2006/relationships/notesSlide" Target="/ppt/notesSlides/notesSlide7.xml" Id="R285dd56fd2c44186"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8f97c75d72074da1" /><Relationship Type="http://schemas.openxmlformats.org/officeDocument/2006/relationships/notesSlide" Target="/ppt/notesSlides/notesSlide8.xml" Id="R0adb168a044548ff"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1902e1dc095746c3" /><Relationship Type="http://schemas.openxmlformats.org/officeDocument/2006/relationships/notesSlide" Target="/ppt/notesSlides/notesSlide9.xml" Id="Rb018f76a715e491f" /></Relationships>
</file>

<file path=ppt/slides/slide1.xml><?xml version="1.0" encoding="utf-8"?>
<p:sld xmlns:p="http://schemas.openxmlformats.org/presentationml/2006/main">
  <p:cSld>
    <p:bg>
      <p:bgPr>
        <a:solidFill xmlns:a="http://schemas.openxmlformats.org/drawingml/2006/main">
          <a:srgbClr val="FAFBFC"/>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40AF3F4A-AB46-4F81-A9E6-383F7A385464}"/>
              </a:ext>
            </a:extLst>
          </p:cNvPr>
          <p:cNvSpPr>
            <a:spLocks xmlns:a="http://schemas.openxmlformats.org/drawingml/2006/main" noGrp="1"/>
          </p:cNvSpPr>
          <p:nvPr/>
        </p:nvSpPr>
        <p:spPr>
          <a:xfrm xmlns:a="http://schemas.openxmlformats.org/drawingml/2006/main">
            <a:off x="619125" y="457200"/>
            <a:ext cx="10953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23E52"/>
                </a:solidFill>
                <a:latin typeface="Microsoft YaHei"/>
                <a:ea typeface="Microsoft YaHei"/>
                <a:cs typeface="Microsoft YaHei"/>
              </a:defRPr>
            </a:defPPr>
          </a:lstStyle>
          <a:p xmlns:a="http://schemas.openxmlformats.org/drawingml/2006/main">
            <a:pPr>
              <a:defRPr sz="3300" b="1">
                <a:solidFill>
                  <a:srgbClr val="123E52"/>
                </a:solidFill>
                <a:latin typeface="Microsoft YaHei"/>
                <a:ea typeface="Microsoft YaHei"/>
                <a:cs typeface="Microsoft YaHei"/>
              </a:defRPr>
            </a:pPr>
            <a:r>
              <a:rPr sz="3300" b="1">
                <a:solidFill>
                  <a:srgbClr val="123E52"/>
                </a:solidFill>
                <a:latin typeface="Microsoft YaHei"/>
                <a:ea typeface="Microsoft YaHei"/>
                <a:cs typeface="Microsoft YaHei"/>
              </a:rPr>
              <a:t>BridgeMind AI 项目月报</a:t>
            </a:r>
          </a:p>
        </p:txBody>
      </p:sp>
      <p:sp>
        <p:nvSpPr>
          <p:cNvPr id="2" name="">
            <a:extLst xmlns:a="http://schemas.openxmlformats.org/drawingml/2006/main">
              <a:ext uri="{FF2B5EF4-FFF2-40B4-BE49-F238E27FC236}">
                <a16:creationId xmlns:a16="http://schemas.microsoft.com/office/drawing/2014/main" id="{0FAEAA77-FA48-475C-A7BA-DB26A11E5B32}"/>
              </a:ext>
            </a:extLst>
          </p:cNvPr>
          <p:cNvSpPr>
            <a:spLocks xmlns:a="http://schemas.openxmlformats.org/drawingml/2006/main" noGrp="1"/>
          </p:cNvSpPr>
          <p:nvPr/>
        </p:nvSpPr>
        <p:spPr>
          <a:xfrm xmlns:a="http://schemas.openxmlformats.org/drawingml/2006/main">
            <a:off x="619125" y="1714500"/>
            <a:ext cx="10668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4650" b="1">
                <a:solidFill>
                  <a:srgbClr val="123E52"/>
                </a:solidFill>
                <a:latin typeface="Microsoft YaHei"/>
                <a:ea typeface="Microsoft YaHei"/>
                <a:cs typeface="Microsoft YaHei"/>
              </a:defRPr>
            </a:defPPr>
          </a:lstStyle>
          <a:p xmlns:a="http://schemas.openxmlformats.org/drawingml/2006/main">
            <a:pPr>
              <a:defRPr sz="4650" b="1">
                <a:solidFill>
                  <a:srgbClr val="123E52"/>
                </a:solidFill>
                <a:latin typeface="Microsoft YaHei"/>
                <a:ea typeface="Microsoft YaHei"/>
                <a:cs typeface="Microsoft YaHei"/>
              </a:defRPr>
            </a:pPr>
            <a:r>
              <a:rPr sz="4650" b="1">
                <a:solidFill>
                  <a:srgbClr val="123E52"/>
                </a:solidFill>
                <a:latin typeface="Microsoft YaHei"/>
                <a:ea typeface="Microsoft YaHei"/>
                <a:cs typeface="Microsoft YaHei"/>
              </a:rPr>
              <a:t>2025 年 10 月</a:t>
            </a:r>
          </a:p>
        </p:txBody>
      </p:sp>
      <p:sp>
        <p:nvSpPr>
          <p:cNvPr id="3" name="">
            <a:extLst xmlns:a="http://schemas.openxmlformats.org/drawingml/2006/main">
              <a:ext uri="{FF2B5EF4-FFF2-40B4-BE49-F238E27FC236}">
                <a16:creationId xmlns:a16="http://schemas.microsoft.com/office/drawing/2014/main" id="{654D5D12-0E83-4EA3-982E-C18380B586F9}"/>
              </a:ext>
            </a:extLst>
          </p:cNvPr>
          <p:cNvSpPr>
            <a:spLocks xmlns:a="http://schemas.openxmlformats.org/drawingml/2006/main" noGrp="1"/>
          </p:cNvSpPr>
          <p:nvPr/>
        </p:nvSpPr>
        <p:spPr>
          <a:xfrm xmlns:a="http://schemas.openxmlformats.org/drawingml/2006/main">
            <a:off x="619125" y="3048000"/>
            <a:ext cx="10668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172B3A"/>
                </a:solidFill>
                <a:latin typeface="Microsoft YaHei"/>
                <a:ea typeface="Microsoft YaHei"/>
                <a:cs typeface="Microsoft YaHei"/>
              </a:defRPr>
            </a:defPPr>
          </a:lstStyle>
          <a:p xmlns:a="http://schemas.openxmlformats.org/drawingml/2006/main">
            <a:pPr>
              <a:defRPr sz="2325" b="0">
                <a:solidFill>
                  <a:srgbClr val="172B3A"/>
                </a:solidFill>
                <a:latin typeface="Microsoft YaHei"/>
                <a:ea typeface="Microsoft YaHei"/>
                <a:cs typeface="Microsoft YaHei"/>
              </a:defRPr>
            </a:pPr>
            <a:r>
              <a:rPr sz="2325" b="0">
                <a:solidFill>
                  <a:srgbClr val="172B3A"/>
                </a:solidFill>
                <a:latin typeface="Microsoft YaHei"/>
                <a:ea typeface="Microsoft YaHei"/>
                <a:cs typeface="Microsoft YaHei"/>
              </a:rPr>
              <a:t>Bridge Mind</a:t>
            </a:r>
          </a:p>
          <a:p xmlns:a="http://schemas.openxmlformats.org/drawingml/2006/main">
            <a:pPr>
              <a:defRPr sz="2325" b="0">
                <a:solidFill>
                  <a:srgbClr val="172B3A"/>
                </a:solidFill>
                <a:latin typeface="Microsoft YaHei"/>
                <a:ea typeface="Microsoft YaHei"/>
                <a:cs typeface="Microsoft YaHei"/>
              </a:defRPr>
            </a:pPr>
            <a:r>
              <a:rPr sz="2325" b="0">
                <a:solidFill>
                  <a:srgbClr val="172B3A"/>
                </a:solidFill>
                <a:latin typeface="Microsoft YaHei"/>
                <a:ea typeface="Microsoft YaHei"/>
                <a:cs typeface="Microsoft YaHei"/>
              </a:rPr>
              <a:t>项目编号 IUK6060_BIKE</a:t>
            </a:r>
          </a:p>
        </p:txBody>
      </p:sp>
      <p:sp>
        <p:nvSpPr>
          <p:cNvPr id="4" name="">
            <a:extLst xmlns:a="http://schemas.openxmlformats.org/drawingml/2006/main">
              <a:ext uri="{FF2B5EF4-FFF2-40B4-BE49-F238E27FC236}">
                <a16:creationId xmlns:a16="http://schemas.microsoft.com/office/drawing/2014/main" id="{87F8F648-5D76-418D-B593-7AA6144F718A}"/>
              </a:ext>
            </a:extLst>
          </p:cNvPr>
          <p:cNvSpPr>
            <a:spLocks xmlns:a="http://schemas.openxmlformats.org/drawingml/2006/main" noGrp="1"/>
          </p:cNvSpPr>
          <p:nvPr/>
        </p:nvSpPr>
        <p:spPr>
          <a:xfrm xmlns:a="http://schemas.openxmlformats.org/drawingml/2006/main">
            <a:off x="619125" y="4810125"/>
            <a:ext cx="10668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475F6D"/>
                </a:solidFill>
                <a:latin typeface="Microsoft YaHei"/>
                <a:ea typeface="Microsoft YaHei"/>
                <a:cs typeface="Microsoft YaHei"/>
              </a:defRPr>
            </a:defPPr>
          </a:lstStyle>
          <a:p xmlns:a="http://schemas.openxmlformats.org/drawingml/2006/main">
            <a:pPr>
              <a:defRPr sz="2025" b="0">
                <a:solidFill>
                  <a:srgbClr val="475F6D"/>
                </a:solidFill>
                <a:latin typeface="Microsoft YaHei"/>
                <a:ea typeface="Microsoft YaHei"/>
                <a:cs typeface="Microsoft YaHei"/>
              </a:defRPr>
            </a:pPr>
            <a:r>
              <a:rPr sz="2025" b="0">
                <a:solidFill>
                  <a:srgbClr val="475F6D"/>
                </a:solidFill>
                <a:latin typeface="Microsoft YaHei"/>
                <a:ea typeface="Microsoft YaHei"/>
                <a:cs typeface="Microsoft YaHei"/>
              </a:rPr>
              <a:t>2025 年 10 月 30 日</a:t>
            </a:r>
          </a:p>
          <a:p xmlns:a="http://schemas.openxmlformats.org/drawingml/2006/main">
            <a:pPr>
              <a:defRPr sz="2025" b="0">
                <a:solidFill>
                  <a:srgbClr val="475F6D"/>
                </a:solidFill>
                <a:latin typeface="Microsoft YaHei"/>
                <a:ea typeface="Microsoft YaHei"/>
                <a:cs typeface="Microsoft YaHei"/>
              </a:defRPr>
            </a:pPr>
            <a:r>
              <a:rPr sz="2025" b="0">
                <a:solidFill>
                  <a:srgbClr val="475F6D"/>
                </a:solidFill>
                <a:latin typeface="Microsoft YaHei"/>
                <a:ea typeface="Microsoft YaHei"/>
                <a:cs typeface="Microsoft YaHei"/>
              </a:rPr>
              <a:t>六个月概念验证项目的第二个月，首次月度汇报</a:t>
            </a:r>
          </a:p>
        </p:txBody>
      </p:sp>
    </p:spTree>
    <p:extLst>
      <p:ext uri="{BB962C8B-B14F-4D97-AF65-F5344CB8AC3E}">
        <p14:creationId xmlns:p14="http://schemas.microsoft.com/office/powerpoint/2010/main" val="1222251255"/>
      </p:ext>
    </p:extLst>
  </p:cSld>
</p:sld>
</file>

<file path=ppt/slides/slide2.xml><?xml version="1.0" encoding="utf-8"?>
<p:sld xmlns:p="http://schemas.openxmlformats.org/presentationml/2006/main">
  <p:cSld>
    <p:bg>
      <p:bgPr>
        <a:solidFill xmlns:a="http://schemas.openxmlformats.org/drawingml/2006/main">
          <a:srgbClr val="FAFBFC"/>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19DED4AE-4976-4F51-9A4C-D979A3E708D0}"/>
              </a:ext>
            </a:extLst>
          </p:cNvPr>
          <p:cNvSpPr>
            <a:spLocks xmlns:a="http://schemas.openxmlformats.org/drawingml/2006/main" noGrp="1"/>
          </p:cNvSpPr>
          <p:nvPr/>
        </p:nvSpPr>
        <p:spPr>
          <a:xfrm xmlns:a="http://schemas.openxmlformats.org/drawingml/2006/main">
            <a:off x="619125" y="457200"/>
            <a:ext cx="10953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23E52"/>
                </a:solidFill>
                <a:latin typeface="Microsoft YaHei"/>
                <a:ea typeface="Microsoft YaHei"/>
                <a:cs typeface="Microsoft YaHei"/>
              </a:defRPr>
            </a:defPPr>
          </a:lstStyle>
          <a:p xmlns:a="http://schemas.openxmlformats.org/drawingml/2006/main">
            <a:pPr>
              <a:defRPr sz="3300" b="1">
                <a:solidFill>
                  <a:srgbClr val="123E52"/>
                </a:solidFill>
                <a:latin typeface="Microsoft YaHei"/>
                <a:ea typeface="Microsoft YaHei"/>
                <a:cs typeface="Microsoft YaHei"/>
              </a:defRPr>
            </a:pPr>
            <a:r>
              <a:rPr sz="3300" b="1">
                <a:solidFill>
                  <a:srgbClr val="123E52"/>
                </a:solidFill>
                <a:latin typeface="Microsoft YaHei"/>
                <a:ea typeface="Microsoft YaHei"/>
                <a:cs typeface="Microsoft YaHei"/>
              </a:rPr>
              <a:t>本月概览</a:t>
            </a:r>
          </a:p>
        </p:txBody>
      </p:sp>
      <p:sp>
        <p:nvSpPr>
          <p:cNvPr id="2" name="">
            <a:extLst xmlns:a="http://schemas.openxmlformats.org/drawingml/2006/main">
              <a:ext uri="{FF2B5EF4-FFF2-40B4-BE49-F238E27FC236}">
                <a16:creationId xmlns:a16="http://schemas.microsoft.com/office/drawing/2014/main" id="{4EA30C40-97C6-47FB-949D-7E8821F13E4C}"/>
              </a:ext>
            </a:extLst>
          </p:cNvPr>
          <p:cNvSpPr>
            <a:spLocks xmlns:a="http://schemas.openxmlformats.org/drawingml/2006/main" noGrp="1"/>
          </p:cNvSpPr>
          <p:nvPr/>
        </p:nvSpPr>
        <p:spPr>
          <a:xfrm xmlns:a="http://schemas.openxmlformats.org/drawingml/2006/main">
            <a:off x="619125" y="1504950"/>
            <a:ext cx="10858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1">
                <a:solidFill>
                  <a:srgbClr val="123E52"/>
                </a:solidFill>
                <a:latin typeface="Microsoft YaHei"/>
                <a:ea typeface="Microsoft YaHei"/>
                <a:cs typeface="Microsoft YaHei"/>
              </a:defRPr>
            </a:defPPr>
          </a:lstStyle>
          <a:p xmlns:a="http://schemas.openxmlformats.org/drawingml/2006/main">
            <a:pPr>
              <a:defRPr sz="2400" b="1">
                <a:solidFill>
                  <a:srgbClr val="123E52"/>
                </a:solidFill>
                <a:latin typeface="Microsoft YaHei"/>
                <a:ea typeface="Microsoft YaHei"/>
                <a:cs typeface="Microsoft YaHei"/>
              </a:defRPr>
            </a:pPr>
            <a:r>
              <a:rPr sz="2400" b="1">
                <a:solidFill>
                  <a:srgbClr val="123E52"/>
                </a:solidFill>
                <a:latin typeface="Microsoft YaHei"/>
                <a:ea typeface="Microsoft YaHei"/>
                <a:cs typeface="Microsoft YaHei"/>
              </a:rPr>
              <a:t>WP1 接近交付，最终安排仍需确认</a:t>
            </a:r>
          </a:p>
        </p:txBody>
      </p:sp>
      <p:sp>
        <p:nvSpPr>
          <p:cNvPr id="3" name="">
            <a:extLst xmlns:a="http://schemas.openxmlformats.org/drawingml/2006/main">
              <a:ext uri="{FF2B5EF4-FFF2-40B4-BE49-F238E27FC236}">
                <a16:creationId xmlns:a16="http://schemas.microsoft.com/office/drawing/2014/main" id="{AE25F572-4F46-4B86-AF1A-FF32E3FCFCC7}"/>
              </a:ext>
            </a:extLst>
          </p:cNvPr>
          <p:cNvSpPr>
            <a:spLocks xmlns:a="http://schemas.openxmlformats.org/drawingml/2006/main" noGrp="1"/>
          </p:cNvSpPr>
          <p:nvPr/>
        </p:nvSpPr>
        <p:spPr>
          <a:xfrm xmlns:a="http://schemas.openxmlformats.org/drawingml/2006/main">
            <a:off x="619125" y="2047875"/>
            <a:ext cx="10858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72B3A"/>
                </a:solidFill>
                <a:latin typeface="Microsoft YaHei"/>
                <a:ea typeface="Microsoft YaHei"/>
                <a:cs typeface="Microsoft YaHei"/>
              </a:defRPr>
            </a:defPPr>
          </a:lstStyle>
          <a:p xmlns:a="http://schemas.openxmlformats.org/drawingml/2006/main">
            <a:pPr>
              <a:defRPr sz="2100" b="0">
                <a:solidFill>
                  <a:srgbClr val="172B3A"/>
                </a:solidFill>
                <a:latin typeface="Microsoft YaHei"/>
                <a:ea typeface="Microsoft YaHei"/>
                <a:cs typeface="Microsoft YaHei"/>
              </a:defRPr>
            </a:pPr>
            <a:r>
              <a:rPr sz="2100" b="0">
                <a:solidFill>
                  <a:srgbClr val="172B3A"/>
                </a:solidFill>
                <a:latin typeface="Microsoft YaHei"/>
                <a:ea typeface="Microsoft YaHei"/>
                <a:cs typeface="Microsoft YaHei"/>
              </a:rPr>
              <a:t>Output 1 V1.0 的反馈已收齐，V2.0 仍在修订。日志中的 11 月 7 日交付与 11 月 9 日意见合入安排尚未协调。</a:t>
            </a:r>
          </a:p>
        </p:txBody>
      </p:sp>
      <p:sp>
        <p:nvSpPr>
          <p:cNvPr id="4" name="">
            <a:extLst xmlns:a="http://schemas.openxmlformats.org/drawingml/2006/main">
              <a:ext uri="{FF2B5EF4-FFF2-40B4-BE49-F238E27FC236}">
                <a16:creationId xmlns:a16="http://schemas.microsoft.com/office/drawing/2014/main" id="{8B7C4CCA-0E39-40BC-8A8B-79CFC7741780}"/>
              </a:ext>
            </a:extLst>
          </p:cNvPr>
          <p:cNvSpPr>
            <a:spLocks xmlns:a="http://schemas.openxmlformats.org/drawingml/2006/main" noGrp="1"/>
          </p:cNvSpPr>
          <p:nvPr/>
        </p:nvSpPr>
        <p:spPr>
          <a:xfrm xmlns:a="http://schemas.openxmlformats.org/drawingml/2006/main">
            <a:off x="619125" y="3381375"/>
            <a:ext cx="10858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1">
                <a:solidFill>
                  <a:srgbClr val="8B4B15"/>
                </a:solidFill>
                <a:latin typeface="Microsoft YaHei"/>
                <a:ea typeface="Microsoft YaHei"/>
                <a:cs typeface="Microsoft YaHei"/>
              </a:defRPr>
            </a:defPPr>
          </a:lstStyle>
          <a:p xmlns:a="http://schemas.openxmlformats.org/drawingml/2006/main">
            <a:pPr>
              <a:defRPr sz="2400" b="1">
                <a:solidFill>
                  <a:srgbClr val="8B4B15"/>
                </a:solidFill>
                <a:latin typeface="Microsoft YaHei"/>
                <a:ea typeface="Microsoft YaHei"/>
                <a:cs typeface="Microsoft YaHei"/>
              </a:defRPr>
            </a:pPr>
            <a:r>
              <a:rPr sz="2400" b="1">
                <a:solidFill>
                  <a:srgbClr val="8B4B15"/>
                </a:solidFill>
                <a:latin typeface="Microsoft YaHei"/>
                <a:ea typeface="Microsoft YaHei"/>
                <a:cs typeface="Microsoft YaHei"/>
              </a:rPr>
              <a:t>累计超支 £424.33，约高于同期预算 4.30%</a:t>
            </a:r>
          </a:p>
        </p:txBody>
      </p:sp>
      <p:sp>
        <p:nvSpPr>
          <p:cNvPr id="5" name="">
            <a:extLst xmlns:a="http://schemas.openxmlformats.org/drawingml/2006/main">
              <a:ext uri="{FF2B5EF4-FFF2-40B4-BE49-F238E27FC236}">
                <a16:creationId xmlns:a16="http://schemas.microsoft.com/office/drawing/2014/main" id="{CB5A5E26-833B-4437-939A-5CDB8E01A2AE}"/>
              </a:ext>
            </a:extLst>
          </p:cNvPr>
          <p:cNvSpPr>
            <a:spLocks xmlns:a="http://schemas.openxmlformats.org/drawingml/2006/main" noGrp="1"/>
          </p:cNvSpPr>
          <p:nvPr/>
        </p:nvSpPr>
        <p:spPr>
          <a:xfrm xmlns:a="http://schemas.openxmlformats.org/drawingml/2006/main">
            <a:off x="619125" y="390525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72B3A"/>
                </a:solidFill>
                <a:latin typeface="Microsoft YaHei"/>
                <a:ea typeface="Microsoft YaHei"/>
                <a:cs typeface="Microsoft YaHei"/>
              </a:defRPr>
            </a:defPPr>
          </a:lstStyle>
          <a:p xmlns:a="http://schemas.openxmlformats.org/drawingml/2006/main">
            <a:pPr>
              <a:defRPr sz="2100" b="0">
                <a:solidFill>
                  <a:srgbClr val="172B3A"/>
                </a:solidFill>
                <a:latin typeface="Microsoft YaHei"/>
                <a:ea typeface="Microsoft YaHei"/>
                <a:cs typeface="Microsoft YaHei"/>
              </a:defRPr>
            </a:pPr>
            <a:r>
              <a:rPr sz="2100" b="0">
                <a:solidFill>
                  <a:srgbClr val="172B3A"/>
                </a:solidFill>
                <a:latin typeface="Microsoft YaHei"/>
                <a:ea typeface="Microsoft YaHei"/>
                <a:cs typeface="Microsoft YaHei"/>
              </a:rPr>
              <a:t>第 2 月累计支出 £10,298.70，对比同期预算 £9,874.37。按全周期预算计算，剩余 £19,324.40。</a:t>
            </a:r>
          </a:p>
        </p:txBody>
      </p:sp>
      <p:sp>
        <p:nvSpPr>
          <p:cNvPr id="6" name="">
            <a:extLst xmlns:a="http://schemas.openxmlformats.org/drawingml/2006/main">
              <a:ext uri="{FF2B5EF4-FFF2-40B4-BE49-F238E27FC236}">
                <a16:creationId xmlns:a16="http://schemas.microsoft.com/office/drawing/2014/main" id="{876FADAF-F796-444C-8494-842CAF84BEF2}"/>
              </a:ext>
            </a:extLst>
          </p:cNvPr>
          <p:cNvSpPr>
            <a:spLocks xmlns:a="http://schemas.openxmlformats.org/drawingml/2006/main" noGrp="1"/>
          </p:cNvSpPr>
          <p:nvPr/>
        </p:nvSpPr>
        <p:spPr>
          <a:xfrm xmlns:a="http://schemas.openxmlformats.org/drawingml/2006/main">
            <a:off x="619125" y="5191125"/>
            <a:ext cx="1085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1">
                <a:solidFill>
                  <a:srgbClr val="123E52"/>
                </a:solidFill>
                <a:latin typeface="Microsoft YaHei"/>
                <a:ea typeface="Microsoft YaHei"/>
                <a:cs typeface="Microsoft YaHei"/>
              </a:defRPr>
            </a:defPPr>
          </a:lstStyle>
          <a:p xmlns:a="http://schemas.openxmlformats.org/drawingml/2006/main">
            <a:pPr>
              <a:defRPr sz="2400" b="1">
                <a:solidFill>
                  <a:srgbClr val="123E52"/>
                </a:solidFill>
                <a:latin typeface="Microsoft YaHei"/>
                <a:ea typeface="Microsoft YaHei"/>
                <a:cs typeface="Microsoft YaHei"/>
              </a:defRPr>
            </a:pPr>
            <a:r>
              <a:rPr sz="2400" b="1">
                <a:solidFill>
                  <a:srgbClr val="123E52"/>
                </a:solidFill>
                <a:latin typeface="Microsoft YaHei"/>
                <a:ea typeface="Microsoft YaHei"/>
                <a:cs typeface="Microsoft YaHei"/>
              </a:rPr>
              <a:t>风险继续跟踪</a:t>
            </a:r>
          </a:p>
        </p:txBody>
      </p:sp>
      <p:sp>
        <p:nvSpPr>
          <p:cNvPr id="7" name="">
            <a:extLst xmlns:a="http://schemas.openxmlformats.org/drawingml/2006/main">
              <a:ext uri="{FF2B5EF4-FFF2-40B4-BE49-F238E27FC236}">
                <a16:creationId xmlns:a16="http://schemas.microsoft.com/office/drawing/2014/main" id="{3B6D7903-3AA8-4C1A-BBB9-2D21A187F70D}"/>
              </a:ext>
            </a:extLst>
          </p:cNvPr>
          <p:cNvSpPr>
            <a:spLocks xmlns:a="http://schemas.openxmlformats.org/drawingml/2006/main" noGrp="1"/>
          </p:cNvSpPr>
          <p:nvPr/>
        </p:nvSpPr>
        <p:spPr>
          <a:xfrm xmlns:a="http://schemas.openxmlformats.org/drawingml/2006/main">
            <a:off x="619125" y="5695950"/>
            <a:ext cx="10858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72B3A"/>
                </a:solidFill>
                <a:latin typeface="Microsoft YaHei"/>
                <a:ea typeface="Microsoft YaHei"/>
                <a:cs typeface="Microsoft YaHei"/>
              </a:defRPr>
            </a:defPPr>
          </a:lstStyle>
          <a:p xmlns:a="http://schemas.openxmlformats.org/drawingml/2006/main">
            <a:pPr>
              <a:defRPr sz="1875" b="0">
                <a:solidFill>
                  <a:srgbClr val="172B3A"/>
                </a:solidFill>
                <a:latin typeface="Microsoft YaHei"/>
                <a:ea typeface="Microsoft YaHei"/>
                <a:cs typeface="Microsoft YaHei"/>
              </a:defRPr>
            </a:pPr>
            <a:r>
              <a:rPr sz="1875" b="0">
                <a:solidFill>
                  <a:srgbClr val="172B3A"/>
                </a:solidFill>
                <a:latin typeface="Microsoft YaHei"/>
                <a:ea typeface="Microsoft YaHei"/>
                <a:cs typeface="Microsoft YaHei"/>
              </a:rPr>
              <a:t>登记表仍列四项风险。SpinBits 测试已有进展，但日志“风险 4”与登记表的对应关系需确认，不能据此宣布风险关闭。</a:t>
            </a:r>
          </a:p>
        </p:txBody>
      </p:sp>
    </p:spTree>
    <p:extLst>
      <p:ext uri="{BB962C8B-B14F-4D97-AF65-F5344CB8AC3E}">
        <p14:creationId xmlns:p14="http://schemas.microsoft.com/office/powerpoint/2010/main" val="136820320"/>
      </p:ext>
    </p:extLst>
  </p:cSld>
</p:sld>
</file>

<file path=ppt/slides/slide3.xml><?xml version="1.0" encoding="utf-8"?>
<p:sld xmlns:p="http://schemas.openxmlformats.org/presentationml/2006/main">
  <p:cSld>
    <p:bg>
      <p:bgPr>
        <a:solidFill xmlns:a="http://schemas.openxmlformats.org/drawingml/2006/main">
          <a:srgbClr val="FAFBFC"/>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2A580CCE-9C94-4322-A434-3C376FC91289}"/>
              </a:ext>
            </a:extLst>
          </p:cNvPr>
          <p:cNvSpPr>
            <a:spLocks xmlns:a="http://schemas.openxmlformats.org/drawingml/2006/main" noGrp="1"/>
          </p:cNvSpPr>
          <p:nvPr/>
        </p:nvSpPr>
        <p:spPr>
          <a:xfrm xmlns:a="http://schemas.openxmlformats.org/drawingml/2006/main">
            <a:off x="619125" y="457200"/>
            <a:ext cx="10953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23E52"/>
                </a:solidFill>
                <a:latin typeface="Microsoft YaHei"/>
                <a:ea typeface="Microsoft YaHei"/>
                <a:cs typeface="Microsoft YaHei"/>
              </a:defRPr>
            </a:defPPr>
          </a:lstStyle>
          <a:p xmlns:a="http://schemas.openxmlformats.org/drawingml/2006/main">
            <a:pPr>
              <a:defRPr sz="3300" b="1">
                <a:solidFill>
                  <a:srgbClr val="123E52"/>
                </a:solidFill>
                <a:latin typeface="Microsoft YaHei"/>
                <a:ea typeface="Microsoft YaHei"/>
                <a:cs typeface="Microsoft YaHei"/>
              </a:defRPr>
            </a:pPr>
            <a:r>
              <a:rPr sz="3300" b="1">
                <a:solidFill>
                  <a:srgbClr val="123E52"/>
                </a:solidFill>
                <a:latin typeface="Microsoft YaHei"/>
                <a:ea typeface="Microsoft YaHei"/>
                <a:cs typeface="Microsoft YaHei"/>
              </a:rPr>
              <a:t>工作包进展</a:t>
            </a:r>
          </a:p>
        </p:txBody>
      </p:sp>
      <p:graphicFrame>
        <p:nvGraphicFramePr>
          <p:cNvPr id="2" name="">
            <a:extLst xmlns:a="http://schemas.openxmlformats.org/drawingml/2006/main">
              <a:ext uri="{FF2B5EF4-FFF2-40B4-BE49-F238E27FC236}">
                <a16:creationId xmlns:a16="http://schemas.microsoft.com/office/drawing/2014/main" id="{AB8EF529-F6DD-46F0-AFD5-81F4DB4644CA}"/>
              </a:ext>
            </a:extLst>
          </p:cNvPr>
          <p:cNvGraphicFramePr/>
          <p:nvPr/>
        </p:nvGraphicFramePr>
        <p:xfrm>
          <a:off xmlns:a="http://schemas.openxmlformats.org/drawingml/2006/main" x="619125" y="1428750"/>
          <a:ext xmlns:a="http://schemas.openxmlformats.org/drawingml/2006/main" cx="10953750" cy="3505200"/>
        </p:xfrm>
        <a:graphic xmlns:a="http://schemas.openxmlformats.org/drawingml/2006/main">
          <a:graphicData uri="http://schemas.openxmlformats.org/drawingml/2006/table">
            <a:tbl>
              <a:tblPr/>
              <a:tblGrid>
                <a:gridCol w="4810125"/>
                <a:gridCol w="2238375"/>
                <a:gridCol w="3905250"/>
              </a:tblGrid>
              <a:tr h="701040">
                <a:tc>
                  <a:txBody>
                    <a:bodyPr/>
                    <a:lstStyle/>
                    <a:p>
                      <a:r>
                        <a:rPr sz="1800" b="1">
                          <a:solidFill>
                            <a:srgbClr val="FFFFFF"/>
                          </a:solidFill>
                          <a:latin typeface="Microsoft YaHei"/>
                          <a:ea typeface="Microsoft YaHei"/>
                          <a:cs typeface="Microsoft YaHei"/>
                        </a:rPr>
                        <a:t>工作包与成果</a:t>
                      </a:r>
                    </a:p>
                  </a:txBody>
                  <a:tcPr marL="114300" marR="114300" marT="95250" marB="95250">
                    <a:lnL w="9525">
                      <a:solidFill>
                        <a:srgbClr val="CBD5DC"/>
                      </a:solidFill>
                      <a:prstDash val="solid"/>
                    </a:lnL>
                    <a:lnR w="9525">
                      <a:solidFill>
                        <a:srgbClr val="CBD5DC"/>
                      </a:solidFill>
                      <a:prstDash val="solid"/>
                    </a:lnR>
                    <a:lnT w="9525">
                      <a:solidFill>
                        <a:srgbClr val="CBD5DC"/>
                      </a:solidFill>
                      <a:prstDash val="solid"/>
                    </a:lnT>
                    <a:lnB w="9525">
                      <a:solidFill>
                        <a:srgbClr val="CBD5DC"/>
                      </a:solidFill>
                      <a:prstDash val="solid"/>
                    </a:lnB>
                    <a:solidFill>
                      <a:srgbClr val="123E52"/>
                    </a:solidFill>
                  </a:tcPr>
                </a:tc>
                <a:tc>
                  <a:txBody>
                    <a:bodyPr/>
                    <a:lstStyle/>
                    <a:p>
                      <a:r>
                        <a:rPr sz="1800" b="1">
                          <a:solidFill>
                            <a:srgbClr val="FFFFFF"/>
                          </a:solidFill>
                          <a:latin typeface="Microsoft YaHei"/>
                          <a:ea typeface="Microsoft YaHei"/>
                          <a:cs typeface="Microsoft YaHei"/>
                        </a:rPr>
                        <a:t>计划窗口</a:t>
                      </a:r>
                    </a:p>
                  </a:txBody>
                  <a:tcPr marL="114300" marR="114300" marT="95250" marB="95250">
                    <a:lnR w="9525">
                      <a:solidFill>
                        <a:srgbClr val="CBD5DC"/>
                      </a:solidFill>
                      <a:prstDash val="solid"/>
                    </a:lnR>
                    <a:lnT w="9525">
                      <a:solidFill>
                        <a:srgbClr val="CBD5DC"/>
                      </a:solidFill>
                      <a:prstDash val="solid"/>
                    </a:lnT>
                    <a:lnB w="9525">
                      <a:solidFill>
                        <a:srgbClr val="CBD5DC"/>
                      </a:solidFill>
                      <a:prstDash val="solid"/>
                    </a:lnB>
                    <a:solidFill>
                      <a:srgbClr val="123E52"/>
                    </a:solidFill>
                  </a:tcPr>
                </a:tc>
                <a:tc>
                  <a:txBody>
                    <a:bodyPr/>
                    <a:lstStyle/>
                    <a:p>
                      <a:r>
                        <a:rPr sz="1800" b="1">
                          <a:solidFill>
                            <a:srgbClr val="FFFFFF"/>
                          </a:solidFill>
                          <a:latin typeface="Microsoft YaHei"/>
                          <a:ea typeface="Microsoft YaHei"/>
                          <a:cs typeface="Microsoft YaHei"/>
                        </a:rPr>
                        <a:t>当前判断</a:t>
                      </a:r>
                    </a:p>
                  </a:txBody>
                  <a:tcPr marL="114300" marR="114300" marT="95250" marB="95250">
                    <a:lnR w="9525">
                      <a:solidFill>
                        <a:srgbClr val="CBD5DC"/>
                      </a:solidFill>
                      <a:prstDash val="solid"/>
                    </a:lnR>
                    <a:lnT w="9525">
                      <a:solidFill>
                        <a:srgbClr val="CBD5DC"/>
                      </a:solidFill>
                      <a:prstDash val="solid"/>
                    </a:lnT>
                    <a:lnB w="9525">
                      <a:solidFill>
                        <a:srgbClr val="CBD5DC"/>
                      </a:solidFill>
                      <a:prstDash val="solid"/>
                    </a:lnB>
                    <a:solidFill>
                      <a:srgbClr val="123E52"/>
                    </a:solidFill>
                  </a:tcPr>
                </a:tc>
              </a:tr>
              <a:tr h="701040">
                <a:tc>
                  <a:txBody>
                    <a:bodyPr/>
                    <a:lstStyle/>
                    <a:p>
                      <a:r>
                        <a:rPr sz="1800" b="0">
                          <a:solidFill>
                            <a:srgbClr val="172B3A"/>
                          </a:solidFill>
                          <a:latin typeface="Microsoft YaHei"/>
                          <a:ea typeface="Microsoft YaHei"/>
                          <a:cs typeface="Microsoft YaHei"/>
                        </a:rPr>
                        <a:t>WP1 用例、信息需求及架构</a:t>
                      </a:r>
                    </a:p>
                    <a:p>
                      <a:r>
                        <a:rPr sz="1800" b="0">
                          <a:solidFill>
                            <a:srgbClr val="172B3A"/>
                          </a:solidFill>
                          <a:latin typeface="Microsoft YaHei"/>
                          <a:ea typeface="Microsoft YaHei"/>
                          <a:cs typeface="Microsoft YaHei"/>
                        </a:rPr>
                        <a:t>Output 1 初始报告</a:t>
                      </a:r>
                    </a:p>
                  </a:txBody>
                  <a:tcPr marL="114300" marR="114300" marT="95250" marB="95250">
                    <a:lnL w="9525">
                      <a:solidFill>
                        <a:srgbClr val="CBD5DC"/>
                      </a:solidFill>
                      <a:prstDash val="solid"/>
                    </a:lnL>
                    <a:lnR w="9525">
                      <a:solidFill>
                        <a:srgbClr val="CBD5DC"/>
                      </a:solidFill>
                      <a:prstDash val="solid"/>
                    </a:lnR>
                    <a:lnB w="9525">
                      <a:solidFill>
                        <a:srgbClr val="CBD5DC"/>
                      </a:solidFill>
                      <a:prstDash val="solid"/>
                    </a:lnB>
                    <a:solidFill>
                      <a:srgbClr val="FFFFFF"/>
                    </a:solidFill>
                  </a:tcPr>
                </a:tc>
                <a:tc>
                  <a:txBody>
                    <a:bodyPr/>
                    <a:lstStyle/>
                    <a:p>
                      <a:r>
                        <a:rPr sz="1800" b="0">
                          <a:solidFill>
                            <a:srgbClr val="172B3A"/>
                          </a:solidFill>
                          <a:latin typeface="Microsoft YaHei"/>
                          <a:ea typeface="Microsoft YaHei"/>
                          <a:cs typeface="Microsoft YaHei"/>
                        </a:rPr>
                        <a:t>9 月至 10 月</a:t>
                      </a:r>
                    </a:p>
                    <a:p>
                      <a:r>
                        <a:rPr sz="1800" b="0">
                          <a:solidFill>
                            <a:srgbClr val="172B3A"/>
                          </a:solidFill>
                          <a:latin typeface="Microsoft YaHei"/>
                          <a:ea typeface="Microsoft YaHei"/>
                          <a:cs typeface="Microsoft YaHei"/>
                        </a:rPr>
                        <a:t>成果在 11 月初</a:t>
                      </a:r>
                    </a:p>
                  </a:txBody>
                  <a:tcPr marL="114300" marR="114300" marT="95250" marB="95250">
                    <a:lnR w="9525">
                      <a:solidFill>
                        <a:srgbClr val="CBD5DC"/>
                      </a:solidFill>
                      <a:prstDash val="solid"/>
                    </a:lnR>
                    <a:lnB w="9525">
                      <a:solidFill>
                        <a:srgbClr val="CBD5DC"/>
                      </a:solidFill>
                      <a:prstDash val="solid"/>
                    </a:lnB>
                    <a:solidFill>
                      <a:srgbClr val="FFFFFF"/>
                    </a:solidFill>
                  </a:tcPr>
                </a:tc>
                <a:tc>
                  <a:txBody>
                    <a:bodyPr/>
                    <a:lstStyle/>
                    <a:p>
                      <a:r>
                        <a:rPr sz="1800" b="0">
                          <a:solidFill>
                            <a:srgbClr val="172B3A"/>
                          </a:solidFill>
                          <a:latin typeface="Microsoft YaHei"/>
                          <a:ea typeface="Microsoft YaHei"/>
                          <a:cs typeface="Microsoft YaHei"/>
                        </a:rPr>
                        <a:t>V1.0 反馈已收齐</a:t>
                      </a:r>
                    </a:p>
                    <a:p>
                      <a:r>
                        <a:rPr sz="1800" b="0">
                          <a:solidFill>
                            <a:srgbClr val="172B3A"/>
                          </a:solidFill>
                          <a:latin typeface="Microsoft YaHei"/>
                          <a:ea typeface="Microsoft YaHei"/>
                          <a:cs typeface="Microsoft YaHei"/>
                        </a:rPr>
                        <a:t>V2.0 修订中</a:t>
                      </a:r>
                    </a:p>
                  </a:txBody>
                  <a:tcPr marL="114300" marR="114300" marT="95250" marB="95250">
                    <a:lnR w="9525">
                      <a:solidFill>
                        <a:srgbClr val="CBD5DC"/>
                      </a:solidFill>
                      <a:prstDash val="solid"/>
                    </a:lnR>
                    <a:lnB w="9525">
                      <a:solidFill>
                        <a:srgbClr val="CBD5DC"/>
                      </a:solidFill>
                      <a:prstDash val="solid"/>
                    </a:lnB>
                    <a:solidFill>
                      <a:srgbClr val="FFFFFF"/>
                    </a:solidFill>
                  </a:tcPr>
                </a:tc>
              </a:tr>
              <a:tr h="701040">
                <a:tc>
                  <a:txBody>
                    <a:bodyPr/>
                    <a:lstStyle/>
                    <a:p>
                      <a:r>
                        <a:rPr sz="1800" b="0">
                          <a:solidFill>
                            <a:srgbClr val="172B3A"/>
                          </a:solidFill>
                          <a:latin typeface="Microsoft YaHei"/>
                          <a:ea typeface="Microsoft YaHei"/>
                          <a:cs typeface="Microsoft YaHei"/>
                        </a:rPr>
                        <a:t>WP2 初始演示系统</a:t>
                      </a:r>
                    </a:p>
                    <a:p>
                      <a:r>
                        <a:rPr sz="1800" b="0">
                          <a:solidFill>
                            <a:srgbClr val="172B3A"/>
                          </a:solidFill>
                          <a:latin typeface="Microsoft YaHei"/>
                          <a:ea typeface="Microsoft YaHei"/>
                          <a:cs typeface="Microsoft YaHei"/>
                        </a:rPr>
                        <a:t>Output 2 用户工作流演示</a:t>
                      </a:r>
                    </a:p>
                  </a:txBody>
                  <a:tcPr marL="114300" marR="114300" marT="95250" marB="95250">
                    <a:lnL w="9525">
                      <a:solidFill>
                        <a:srgbClr val="CBD5DC"/>
                      </a:solidFill>
                      <a:prstDash val="solid"/>
                    </a:lnL>
                    <a:lnR w="9525">
                      <a:solidFill>
                        <a:srgbClr val="CBD5DC"/>
                      </a:solidFill>
                      <a:prstDash val="solid"/>
                    </a:lnR>
                    <a:lnB w="9525">
                      <a:solidFill>
                        <a:srgbClr val="CBD5DC"/>
                      </a:solidFill>
                      <a:prstDash val="solid"/>
                    </a:lnB>
                    <a:solidFill>
                      <a:srgbClr val="EFF3F5"/>
                    </a:solidFill>
                  </a:tcPr>
                </a:tc>
                <a:tc>
                  <a:txBody>
                    <a:bodyPr/>
                    <a:lstStyle/>
                    <a:p>
                      <a:r>
                        <a:rPr sz="1800" b="0">
                          <a:solidFill>
                            <a:srgbClr val="172B3A"/>
                          </a:solidFill>
                          <a:latin typeface="Microsoft YaHei"/>
                          <a:ea typeface="Microsoft YaHei"/>
                          <a:cs typeface="Microsoft YaHei"/>
                        </a:rPr>
                        <a:t>11 月至 12 月</a:t>
                      </a:r>
                    </a:p>
                  </a:txBody>
                  <a:tcPr marL="114300" marR="114300" marT="95250" marB="95250">
                    <a:lnR w="9525">
                      <a:solidFill>
                        <a:srgbClr val="CBD5DC"/>
                      </a:solidFill>
                      <a:prstDash val="solid"/>
                    </a:lnR>
                    <a:lnB w="9525">
                      <a:solidFill>
                        <a:srgbClr val="CBD5DC"/>
                      </a:solidFill>
                      <a:prstDash val="solid"/>
                    </a:lnB>
                    <a:solidFill>
                      <a:srgbClr val="EFF3F5"/>
                    </a:solidFill>
                  </a:tcPr>
                </a:tc>
                <a:tc>
                  <a:txBody>
                    <a:bodyPr/>
                    <a:lstStyle/>
                    <a:p>
                      <a:r>
                        <a:rPr sz="1800" b="0">
                          <a:solidFill>
                            <a:srgbClr val="172B3A"/>
                          </a:solidFill>
                          <a:latin typeface="Microsoft YaHei"/>
                          <a:ea typeface="Microsoft YaHei"/>
                          <a:cs typeface="Microsoft YaHei"/>
                        </a:rPr>
                        <a:t>后续计划，未见完成证据</a:t>
                      </a:r>
                    </a:p>
                  </a:txBody>
                  <a:tcPr marL="114300" marR="114300" marT="95250" marB="95250">
                    <a:lnR w="9525">
                      <a:solidFill>
                        <a:srgbClr val="CBD5DC"/>
                      </a:solidFill>
                      <a:prstDash val="solid"/>
                    </a:lnR>
                    <a:lnB w="9525">
                      <a:solidFill>
                        <a:srgbClr val="CBD5DC"/>
                      </a:solidFill>
                      <a:prstDash val="solid"/>
                    </a:lnB>
                    <a:solidFill>
                      <a:srgbClr val="EFF3F5"/>
                    </a:solidFill>
                  </a:tcPr>
                </a:tc>
              </a:tr>
              <a:tr h="701040">
                <a:tc>
                  <a:txBody>
                    <a:bodyPr/>
                    <a:lstStyle/>
                    <a:p>
                      <a:r>
                        <a:rPr sz="1800" b="0">
                          <a:solidFill>
                            <a:srgbClr val="172B3A"/>
                          </a:solidFill>
                          <a:latin typeface="Microsoft YaHei"/>
                          <a:ea typeface="Microsoft YaHei"/>
                          <a:cs typeface="Microsoft YaHei"/>
                        </a:rPr>
                        <a:t>WP3 可部署的概念验证</a:t>
                      </a:r>
                    </a:p>
                    <a:p>
                      <a:r>
                        <a:rPr sz="1800" b="0">
                          <a:solidFill>
                            <a:srgbClr val="172B3A"/>
                          </a:solidFill>
                          <a:latin typeface="Microsoft YaHei"/>
                          <a:ea typeface="Microsoft YaHei"/>
                          <a:cs typeface="Microsoft YaHei"/>
                        </a:rPr>
                        <a:t>Output 3 选定用户测试部署</a:t>
                      </a:r>
                    </a:p>
                  </a:txBody>
                  <a:tcPr marL="114300" marR="114300" marT="95250" marB="95250">
                    <a:lnL w="9525">
                      <a:solidFill>
                        <a:srgbClr val="CBD5DC"/>
                      </a:solidFill>
                      <a:prstDash val="solid"/>
                    </a:lnL>
                    <a:lnR w="9525">
                      <a:solidFill>
                        <a:srgbClr val="CBD5DC"/>
                      </a:solidFill>
                      <a:prstDash val="solid"/>
                    </a:lnR>
                    <a:lnB w="9525">
                      <a:solidFill>
                        <a:srgbClr val="CBD5DC"/>
                      </a:solidFill>
                      <a:prstDash val="solid"/>
                    </a:lnB>
                    <a:solidFill>
                      <a:srgbClr val="FFFFFF"/>
                    </a:solidFill>
                  </a:tcPr>
                </a:tc>
                <a:tc>
                  <a:txBody>
                    <a:bodyPr/>
                    <a:lstStyle/>
                    <a:p>
                      <a:r>
                        <a:rPr sz="1800" b="0">
                          <a:solidFill>
                            <a:srgbClr val="172B3A"/>
                          </a:solidFill>
                          <a:latin typeface="Microsoft YaHei"/>
                          <a:ea typeface="Microsoft YaHei"/>
                          <a:cs typeface="Microsoft YaHei"/>
                        </a:rPr>
                        <a:t>2026 年 1 月</a:t>
                      </a:r>
                    </a:p>
                  </a:txBody>
                  <a:tcPr marL="114300" marR="114300" marT="95250" marB="95250">
                    <a:lnR w="9525">
                      <a:solidFill>
                        <a:srgbClr val="CBD5DC"/>
                      </a:solidFill>
                      <a:prstDash val="solid"/>
                    </a:lnR>
                    <a:lnB w="9525">
                      <a:solidFill>
                        <a:srgbClr val="CBD5DC"/>
                      </a:solidFill>
                      <a:prstDash val="solid"/>
                    </a:lnB>
                    <a:solidFill>
                      <a:srgbClr val="FFFFFF"/>
                    </a:solidFill>
                  </a:tcPr>
                </a:tc>
                <a:tc>
                  <a:txBody>
                    <a:bodyPr/>
                    <a:lstStyle/>
                    <a:p>
                      <a:r>
                        <a:rPr sz="1800" b="0">
                          <a:solidFill>
                            <a:srgbClr val="172B3A"/>
                          </a:solidFill>
                          <a:latin typeface="Microsoft YaHei"/>
                          <a:ea typeface="Microsoft YaHei"/>
                          <a:cs typeface="Microsoft YaHei"/>
                        </a:rPr>
                        <a:t>后续计划，未见完成证据</a:t>
                      </a:r>
                    </a:p>
                  </a:txBody>
                  <a:tcPr marL="114300" marR="114300" marT="95250" marB="95250">
                    <a:lnR w="9525">
                      <a:solidFill>
                        <a:srgbClr val="CBD5DC"/>
                      </a:solidFill>
                      <a:prstDash val="solid"/>
                    </a:lnR>
                    <a:lnB w="9525">
                      <a:solidFill>
                        <a:srgbClr val="CBD5DC"/>
                      </a:solidFill>
                      <a:prstDash val="solid"/>
                    </a:lnB>
                    <a:solidFill>
                      <a:srgbClr val="FFFFFF"/>
                    </a:solidFill>
                  </a:tcPr>
                </a:tc>
              </a:tr>
              <a:tr h="701040">
                <a:tc>
                  <a:txBody>
                    <a:bodyPr/>
                    <a:lstStyle/>
                    <a:p>
                      <a:r>
                        <a:rPr sz="1800" b="0">
                          <a:solidFill>
                            <a:srgbClr val="172B3A"/>
                          </a:solidFill>
                          <a:latin typeface="Microsoft YaHei"/>
                          <a:ea typeface="Microsoft YaHei"/>
                          <a:cs typeface="Microsoft YaHei"/>
                        </a:rPr>
                        <a:t>WP4 试用反馈与最终交付</a:t>
                      </a:r>
                    </a:p>
                    <a:p>
                      <a:r>
                        <a:rPr sz="1800" b="0">
                          <a:solidFill>
                            <a:srgbClr val="172B3A"/>
                          </a:solidFill>
                          <a:latin typeface="Microsoft YaHei"/>
                          <a:ea typeface="Microsoft YaHei"/>
                          <a:cs typeface="Microsoft YaHei"/>
                        </a:rPr>
                        <a:t>Output 4 Beta 版推广</a:t>
                      </a:r>
                    </a:p>
                  </a:txBody>
                  <a:tcPr marL="114300" marR="114300" marT="95250" marB="95250">
                    <a:lnL w="9525">
                      <a:solidFill>
                        <a:srgbClr val="CBD5DC"/>
                      </a:solidFill>
                      <a:prstDash val="solid"/>
                    </a:lnL>
                    <a:lnR w="9525">
                      <a:solidFill>
                        <a:srgbClr val="CBD5DC"/>
                      </a:solidFill>
                      <a:prstDash val="solid"/>
                    </a:lnR>
                    <a:lnB w="9525">
                      <a:solidFill>
                        <a:srgbClr val="CBD5DC"/>
                      </a:solidFill>
                      <a:prstDash val="solid"/>
                    </a:lnB>
                    <a:solidFill>
                      <a:srgbClr val="EFF3F5"/>
                    </a:solidFill>
                  </a:tcPr>
                </a:tc>
                <a:tc>
                  <a:txBody>
                    <a:bodyPr/>
                    <a:lstStyle/>
                    <a:p>
                      <a:r>
                        <a:rPr sz="1800" b="0">
                          <a:solidFill>
                            <a:srgbClr val="172B3A"/>
                          </a:solidFill>
                          <a:latin typeface="Microsoft YaHei"/>
                          <a:ea typeface="Microsoft YaHei"/>
                          <a:cs typeface="Microsoft YaHei"/>
                        </a:rPr>
                        <a:t>2026 年 2 月</a:t>
                      </a:r>
                    </a:p>
                  </a:txBody>
                  <a:tcPr marL="114300" marR="114300" marT="95250" marB="95250">
                    <a:lnR w="9525">
                      <a:solidFill>
                        <a:srgbClr val="CBD5DC"/>
                      </a:solidFill>
                      <a:prstDash val="solid"/>
                    </a:lnR>
                    <a:lnB w="9525">
                      <a:solidFill>
                        <a:srgbClr val="CBD5DC"/>
                      </a:solidFill>
                      <a:prstDash val="solid"/>
                    </a:lnB>
                    <a:solidFill>
                      <a:srgbClr val="EFF3F5"/>
                    </a:solidFill>
                  </a:tcPr>
                </a:tc>
                <a:tc>
                  <a:txBody>
                    <a:bodyPr/>
                    <a:lstStyle/>
                    <a:p>
                      <a:r>
                        <a:rPr sz="1800" b="0">
                          <a:solidFill>
                            <a:srgbClr val="172B3A"/>
                          </a:solidFill>
                          <a:latin typeface="Microsoft YaHei"/>
                          <a:ea typeface="Microsoft YaHei"/>
                          <a:cs typeface="Microsoft YaHei"/>
                        </a:rPr>
                        <a:t>后续计划，未见完成证据</a:t>
                      </a:r>
                    </a:p>
                  </a:txBody>
                  <a:tcPr marL="114300" marR="114300" marT="95250" marB="95250">
                    <a:lnR w="9525">
                      <a:solidFill>
                        <a:srgbClr val="CBD5DC"/>
                      </a:solidFill>
                      <a:prstDash val="solid"/>
                    </a:lnR>
                    <a:lnB w="9525">
                      <a:solidFill>
                        <a:srgbClr val="CBD5DC"/>
                      </a:solidFill>
                      <a:prstDash val="solid"/>
                    </a:lnB>
                    <a:solidFill>
                      <a:srgbClr val="EFF3F5"/>
                    </a:solidFill>
                  </a:tcPr>
                </a:tc>
              </a:tr>
            </a:tbl>
          </a:graphicData>
        </a:graphic>
      </p:graphicFrame>
      <p:sp>
        <p:nvSpPr>
          <p:cNvPr id="3" name="">
            <a:extLst xmlns:a="http://schemas.openxmlformats.org/drawingml/2006/main">
              <a:ext uri="{FF2B5EF4-FFF2-40B4-BE49-F238E27FC236}">
                <a16:creationId xmlns:a16="http://schemas.microsoft.com/office/drawing/2014/main" id="{588B7FD1-0FDB-4E44-8DED-4A27E9B4F0DC}"/>
              </a:ext>
            </a:extLst>
          </p:cNvPr>
          <p:cNvSpPr>
            <a:spLocks xmlns:a="http://schemas.openxmlformats.org/drawingml/2006/main" noGrp="1"/>
          </p:cNvSpPr>
          <p:nvPr/>
        </p:nvSpPr>
        <p:spPr>
          <a:xfrm xmlns:a="http://schemas.openxmlformats.org/drawingml/2006/main">
            <a:off x="619125" y="5248275"/>
            <a:ext cx="108585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72B3A"/>
                </a:solidFill>
                <a:latin typeface="Microsoft YaHei"/>
                <a:ea typeface="Microsoft YaHei"/>
                <a:cs typeface="Microsoft YaHei"/>
              </a:defRPr>
            </a:defPPr>
          </a:lstStyle>
          <a:p xmlns:a="http://schemas.openxmlformats.org/drawingml/2006/main">
            <a:pPr>
              <a:defRPr sz="1875" b="0">
                <a:solidFill>
                  <a:srgbClr val="172B3A"/>
                </a:solidFill>
                <a:latin typeface="Microsoft YaHei"/>
                <a:ea typeface="Microsoft YaHei"/>
                <a:cs typeface="Microsoft YaHei"/>
              </a:defRPr>
            </a:pPr>
            <a:r>
              <a:rPr sz="1875" b="0">
                <a:solidFill>
                  <a:srgbClr val="172B3A"/>
                </a:solidFill>
                <a:latin typeface="Microsoft YaHei"/>
                <a:ea typeface="Microsoft YaHei"/>
                <a:cs typeface="Microsoft YaHei"/>
              </a:rPr>
              <a:t>10 月 6 日：SpinBits 虚拟数据已完成端到端处理。</a:t>
            </a:r>
          </a:p>
          <a:p xmlns:a="http://schemas.openxmlformats.org/drawingml/2006/main">
            <a:pPr>
              <a:defRPr sz="1875" b="0">
                <a:solidFill>
                  <a:srgbClr val="172B3A"/>
                </a:solidFill>
                <a:latin typeface="Microsoft YaHei"/>
                <a:ea typeface="Microsoft YaHei"/>
                <a:cs typeface="Microsoft YaHei"/>
              </a:defRPr>
            </a:pPr>
            <a:r>
              <a:rPr sz="1875" b="0">
                <a:solidFill>
                  <a:srgbClr val="172B3A"/>
                </a:solidFill>
                <a:latin typeface="Microsoft YaHei"/>
                <a:ea typeface="Microsoft YaHei"/>
                <a:cs typeface="Microsoft YaHei"/>
              </a:rPr>
              <a:t>10 月 20 日：Output 1 结构已同意，内容继续完善。</a:t>
            </a:r>
          </a:p>
          <a:p xmlns:a="http://schemas.openxmlformats.org/drawingml/2006/main">
            <a:pPr>
              <a:defRPr sz="1875" b="0">
                <a:solidFill>
                  <a:srgbClr val="172B3A"/>
                </a:solidFill>
                <a:latin typeface="Microsoft YaHei"/>
                <a:ea typeface="Microsoft YaHei"/>
                <a:cs typeface="Microsoft YaHei"/>
              </a:defRPr>
            </a:pPr>
            <a:r>
              <a:rPr sz="1875" b="0">
                <a:solidFill>
                  <a:srgbClr val="172B3A"/>
                </a:solidFill>
                <a:latin typeface="Microsoft YaHei"/>
                <a:ea typeface="Microsoft YaHei"/>
                <a:cs typeface="Microsoft YaHei"/>
              </a:rPr>
              <a:t>10 月 27 日：V1.0 反馈收齐，进入 V2.0 修订。</a:t>
            </a:r>
          </a:p>
        </p:txBody>
      </p:sp>
    </p:spTree>
    <p:extLst>
      <p:ext uri="{BB962C8B-B14F-4D97-AF65-F5344CB8AC3E}">
        <p14:creationId xmlns:p14="http://schemas.microsoft.com/office/powerpoint/2010/main" val="687012559"/>
      </p:ext>
    </p:extLst>
  </p:cSld>
</p:sld>
</file>

<file path=ppt/slides/slide4.xml><?xml version="1.0" encoding="utf-8"?>
<p:sld xmlns:p="http://schemas.openxmlformats.org/presentationml/2006/main">
  <p:cSld>
    <p:bg>
      <p:bgPr>
        <a:solidFill xmlns:a="http://schemas.openxmlformats.org/drawingml/2006/main">
          <a:srgbClr val="FAFBFC"/>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3F4C4566-ECD3-48F7-91D7-79D3EA49754D}"/>
              </a:ext>
            </a:extLst>
          </p:cNvPr>
          <p:cNvSpPr>
            <a:spLocks xmlns:a="http://schemas.openxmlformats.org/drawingml/2006/main" noGrp="1"/>
          </p:cNvSpPr>
          <p:nvPr/>
        </p:nvSpPr>
        <p:spPr>
          <a:xfrm xmlns:a="http://schemas.openxmlformats.org/drawingml/2006/main">
            <a:off x="619125" y="457200"/>
            <a:ext cx="10953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23E52"/>
                </a:solidFill>
                <a:latin typeface="Microsoft YaHei"/>
                <a:ea typeface="Microsoft YaHei"/>
                <a:cs typeface="Microsoft YaHei"/>
              </a:defRPr>
            </a:defPPr>
          </a:lstStyle>
          <a:p xmlns:a="http://schemas.openxmlformats.org/drawingml/2006/main">
            <a:pPr>
              <a:defRPr sz="3300" b="1">
                <a:solidFill>
                  <a:srgbClr val="123E52"/>
                </a:solidFill>
                <a:latin typeface="Microsoft YaHei"/>
                <a:ea typeface="Microsoft YaHei"/>
                <a:cs typeface="Microsoft YaHei"/>
              </a:defRPr>
            </a:pPr>
            <a:r>
              <a:rPr sz="3300" b="1">
                <a:solidFill>
                  <a:srgbClr val="123E52"/>
                </a:solidFill>
                <a:latin typeface="Microsoft YaHei"/>
                <a:ea typeface="Microsoft YaHei"/>
                <a:cs typeface="Microsoft YaHei"/>
              </a:rPr>
              <a:t>Output 1 的交付安排</a:t>
            </a:r>
          </a:p>
        </p:txBody>
      </p:sp>
      <p:graphicFrame>
        <p:nvGraphicFramePr>
          <p:cNvPr id="2" name="">
            <a:extLst xmlns:a="http://schemas.openxmlformats.org/drawingml/2006/main">
              <a:ext uri="{FF2B5EF4-FFF2-40B4-BE49-F238E27FC236}">
                <a16:creationId xmlns:a16="http://schemas.microsoft.com/office/drawing/2014/main" id="{A0AACE73-6A94-4529-8020-C3E7E66743AF}"/>
              </a:ext>
            </a:extLst>
          </p:cNvPr>
          <p:cNvGraphicFramePr/>
          <p:nvPr/>
        </p:nvGraphicFramePr>
        <p:xfrm>
          <a:off xmlns:a="http://schemas.openxmlformats.org/drawingml/2006/main" x="619125" y="1476375"/>
          <a:ext xmlns:a="http://schemas.openxmlformats.org/drawingml/2006/main" cx="10953750" cy="3333750"/>
        </p:xfrm>
        <a:graphic xmlns:a="http://schemas.openxmlformats.org/drawingml/2006/main">
          <a:graphicData uri="http://schemas.openxmlformats.org/drawingml/2006/table">
            <a:tbl>
              <a:tblPr/>
              <a:tblGrid>
                <a:gridCol w="2190750"/>
                <a:gridCol w="8763000"/>
              </a:tblGrid>
              <a:tr h="555625">
                <a:tc>
                  <a:txBody>
                    <a:bodyPr/>
                    <a:lstStyle/>
                    <a:p>
                      <a:r>
                        <a:rPr sz="1950" b="1">
                          <a:solidFill>
                            <a:srgbClr val="FFFFFF"/>
                          </a:solidFill>
                          <a:latin typeface="Microsoft YaHei"/>
                          <a:ea typeface="Microsoft YaHei"/>
                          <a:cs typeface="Microsoft YaHei"/>
                        </a:rPr>
                        <a:t>日期</a:t>
                      </a:r>
                    </a:p>
                  </a:txBody>
                  <a:tcPr marL="114300" marR="114300" marT="95250" marB="95250">
                    <a:lnL w="9525">
                      <a:solidFill>
                        <a:srgbClr val="CBD5DC"/>
                      </a:solidFill>
                      <a:prstDash val="solid"/>
                    </a:lnL>
                    <a:lnR w="9525">
                      <a:solidFill>
                        <a:srgbClr val="CBD5DC"/>
                      </a:solidFill>
                      <a:prstDash val="solid"/>
                    </a:lnR>
                    <a:lnT w="9525">
                      <a:solidFill>
                        <a:srgbClr val="CBD5DC"/>
                      </a:solidFill>
                      <a:prstDash val="solid"/>
                    </a:lnT>
                    <a:lnB w="9525">
                      <a:solidFill>
                        <a:srgbClr val="CBD5DC"/>
                      </a:solidFill>
                      <a:prstDash val="solid"/>
                    </a:lnB>
                    <a:solidFill>
                      <a:srgbClr val="123E52"/>
                    </a:solidFill>
                  </a:tcPr>
                </a:tc>
                <a:tc>
                  <a:txBody>
                    <a:bodyPr/>
                    <a:lstStyle/>
                    <a:p>
                      <a:r>
                        <a:rPr sz="1950" b="1">
                          <a:solidFill>
                            <a:srgbClr val="FFFFFF"/>
                          </a:solidFill>
                          <a:latin typeface="Microsoft YaHei"/>
                          <a:ea typeface="Microsoft YaHei"/>
                          <a:cs typeface="Microsoft YaHei"/>
                        </a:rPr>
                        <a:t>最新日志中的安排</a:t>
                      </a:r>
                    </a:p>
                  </a:txBody>
                  <a:tcPr marL="114300" marR="114300" marT="95250" marB="95250">
                    <a:lnR w="9525">
                      <a:solidFill>
                        <a:srgbClr val="CBD5DC"/>
                      </a:solidFill>
                      <a:prstDash val="solid"/>
                    </a:lnR>
                    <a:lnT w="9525">
                      <a:solidFill>
                        <a:srgbClr val="CBD5DC"/>
                      </a:solidFill>
                      <a:prstDash val="solid"/>
                    </a:lnT>
                    <a:lnB w="9525">
                      <a:solidFill>
                        <a:srgbClr val="CBD5DC"/>
                      </a:solidFill>
                      <a:prstDash val="solid"/>
                    </a:lnB>
                    <a:solidFill>
                      <a:srgbClr val="123E52"/>
                    </a:solidFill>
                  </a:tcPr>
                </a:tc>
              </a:tr>
              <a:tr h="555625">
                <a:tc>
                  <a:txBody>
                    <a:bodyPr/>
                    <a:lstStyle/>
                    <a:p>
                      <a:r>
                        <a:rPr sz="1950" b="0">
                          <a:solidFill>
                            <a:srgbClr val="172B3A"/>
                          </a:solidFill>
                          <a:latin typeface="Microsoft YaHei"/>
                          <a:ea typeface="Microsoft YaHei"/>
                          <a:cs typeface="Microsoft YaHei"/>
                        </a:rPr>
                        <a:t>10 月 30 日</a:t>
                      </a:r>
                    </a:p>
                  </a:txBody>
                  <a:tcPr marL="114300" marR="114300" marT="95250" marB="95250">
                    <a:lnL w="9525">
                      <a:solidFill>
                        <a:srgbClr val="CBD5DC"/>
                      </a:solidFill>
                      <a:prstDash val="solid"/>
                    </a:lnL>
                    <a:lnR w="9525">
                      <a:solidFill>
                        <a:srgbClr val="CBD5DC"/>
                      </a:solidFill>
                      <a:prstDash val="solid"/>
                    </a:lnR>
                    <a:lnB w="9525">
                      <a:solidFill>
                        <a:srgbClr val="CBD5DC"/>
                      </a:solidFill>
                      <a:prstDash val="solid"/>
                    </a:lnB>
                    <a:solidFill>
                      <a:srgbClr val="FFFFFF"/>
                    </a:solidFill>
                  </a:tcPr>
                </a:tc>
                <a:tc>
                  <a:txBody>
                    <a:bodyPr/>
                    <a:lstStyle/>
                    <a:p>
                      <a:r>
                        <a:rPr sz="1950" b="0">
                          <a:solidFill>
                            <a:srgbClr val="172B3A"/>
                          </a:solidFill>
                          <a:latin typeface="Microsoft YaHei"/>
                          <a:ea typeface="Microsoft YaHei"/>
                          <a:cs typeface="Microsoft YaHei"/>
                        </a:rPr>
                        <a:t>向相关方分享月报</a:t>
                      </a:r>
                    </a:p>
                  </a:txBody>
                  <a:tcPr marL="114300" marR="114300" marT="95250" marB="95250">
                    <a:lnR w="9525">
                      <a:solidFill>
                        <a:srgbClr val="CBD5DC"/>
                      </a:solidFill>
                      <a:prstDash val="solid"/>
                    </a:lnR>
                    <a:lnB w="9525">
                      <a:solidFill>
                        <a:srgbClr val="CBD5DC"/>
                      </a:solidFill>
                      <a:prstDash val="solid"/>
                    </a:lnB>
                    <a:solidFill>
                      <a:srgbClr val="FFFFFF"/>
                    </a:solidFill>
                  </a:tcPr>
                </a:tc>
              </a:tr>
              <a:tr h="555625">
                <a:tc>
                  <a:txBody>
                    <a:bodyPr/>
                    <a:lstStyle/>
                    <a:p>
                      <a:r>
                        <a:rPr sz="1950" b="0">
                          <a:solidFill>
                            <a:srgbClr val="172B3A"/>
                          </a:solidFill>
                          <a:latin typeface="Microsoft YaHei"/>
                          <a:ea typeface="Microsoft YaHei"/>
                          <a:cs typeface="Microsoft YaHei"/>
                        </a:rPr>
                        <a:t>11 月 3 日</a:t>
                      </a:r>
                    </a:p>
                  </a:txBody>
                  <a:tcPr marL="114300" marR="114300" marT="95250" marB="95250">
                    <a:lnL w="9525">
                      <a:solidFill>
                        <a:srgbClr val="CBD5DC"/>
                      </a:solidFill>
                      <a:prstDash val="solid"/>
                    </a:lnL>
                    <a:lnR w="9525">
                      <a:solidFill>
                        <a:srgbClr val="CBD5DC"/>
                      </a:solidFill>
                      <a:prstDash val="solid"/>
                    </a:lnR>
                    <a:lnB w="9525">
                      <a:solidFill>
                        <a:srgbClr val="CBD5DC"/>
                      </a:solidFill>
                      <a:prstDash val="solid"/>
                    </a:lnB>
                    <a:solidFill>
                      <a:srgbClr val="EFF3F5"/>
                    </a:solidFill>
                  </a:tcPr>
                </a:tc>
                <a:tc>
                  <a:txBody>
                    <a:bodyPr/>
                    <a:lstStyle/>
                    <a:p>
                      <a:r>
                        <a:rPr sz="1950" b="0">
                          <a:solidFill>
                            <a:srgbClr val="172B3A"/>
                          </a:solidFill>
                          <a:latin typeface="Microsoft YaHei"/>
                          <a:ea typeface="Microsoft YaHei"/>
                          <a:cs typeface="Microsoft YaHei"/>
                        </a:rPr>
                        <a:t>完成 Output 1 V2.0 的编辑和修订</a:t>
                      </a:r>
                    </a:p>
                  </a:txBody>
                  <a:tcPr marL="114300" marR="114300" marT="95250" marB="95250">
                    <a:lnR w="9525">
                      <a:solidFill>
                        <a:srgbClr val="CBD5DC"/>
                      </a:solidFill>
                      <a:prstDash val="solid"/>
                    </a:lnR>
                    <a:lnB w="9525">
                      <a:solidFill>
                        <a:srgbClr val="CBD5DC"/>
                      </a:solidFill>
                      <a:prstDash val="solid"/>
                    </a:lnB>
                    <a:solidFill>
                      <a:srgbClr val="EFF3F5"/>
                    </a:solidFill>
                  </a:tcPr>
                </a:tc>
              </a:tr>
              <a:tr h="555625">
                <a:tc>
                  <a:txBody>
                    <a:bodyPr/>
                    <a:lstStyle/>
                    <a:p>
                      <a:r>
                        <a:rPr sz="1950" b="0">
                          <a:solidFill>
                            <a:srgbClr val="172B3A"/>
                          </a:solidFill>
                          <a:latin typeface="Microsoft YaHei"/>
                          <a:ea typeface="Microsoft YaHei"/>
                          <a:cs typeface="Microsoft YaHei"/>
                        </a:rPr>
                        <a:t>11 月 5 日</a:t>
                      </a:r>
                    </a:p>
                  </a:txBody>
                  <a:tcPr marL="114300" marR="114300" marT="95250" marB="95250">
                    <a:lnL w="9525">
                      <a:solidFill>
                        <a:srgbClr val="CBD5DC"/>
                      </a:solidFill>
                      <a:prstDash val="solid"/>
                    </a:lnL>
                    <a:lnR w="9525">
                      <a:solidFill>
                        <a:srgbClr val="CBD5DC"/>
                      </a:solidFill>
                      <a:prstDash val="solid"/>
                    </a:lnR>
                    <a:lnB w="9525">
                      <a:solidFill>
                        <a:srgbClr val="CBD5DC"/>
                      </a:solidFill>
                      <a:prstDash val="solid"/>
                    </a:lnB>
                    <a:solidFill>
                      <a:srgbClr val="FFFFFF"/>
                    </a:solidFill>
                  </a:tcPr>
                </a:tc>
                <a:tc>
                  <a:txBody>
                    <a:bodyPr/>
                    <a:lstStyle/>
                    <a:p>
                      <a:r>
                        <a:rPr sz="1950" b="0">
                          <a:solidFill>
                            <a:srgbClr val="172B3A"/>
                          </a:solidFill>
                          <a:latin typeface="Microsoft YaHei"/>
                          <a:ea typeface="Microsoft YaHei"/>
                          <a:cs typeface="Microsoft YaHei"/>
                        </a:rPr>
                        <a:t>向相关方分发 V2.0 征求意见</a:t>
                      </a:r>
                    </a:p>
                  </a:txBody>
                  <a:tcPr marL="114300" marR="114300" marT="95250" marB="95250">
                    <a:lnR w="9525">
                      <a:solidFill>
                        <a:srgbClr val="CBD5DC"/>
                      </a:solidFill>
                      <a:prstDash val="solid"/>
                    </a:lnR>
                    <a:lnB w="9525">
                      <a:solidFill>
                        <a:srgbClr val="CBD5DC"/>
                      </a:solidFill>
                      <a:prstDash val="solid"/>
                    </a:lnB>
                    <a:solidFill>
                      <a:srgbClr val="FFFFFF"/>
                    </a:solidFill>
                  </a:tcPr>
                </a:tc>
              </a:tr>
              <a:tr h="555625">
                <a:tc>
                  <a:txBody>
                    <a:bodyPr/>
                    <a:lstStyle/>
                    <a:p>
                      <a:r>
                        <a:rPr sz="1950" b="0">
                          <a:solidFill>
                            <a:srgbClr val="172B3A"/>
                          </a:solidFill>
                          <a:latin typeface="Microsoft YaHei"/>
                          <a:ea typeface="Microsoft YaHei"/>
                          <a:cs typeface="Microsoft YaHei"/>
                        </a:rPr>
                        <a:t>11 月 7 日</a:t>
                      </a:r>
                    </a:p>
                  </a:txBody>
                  <a:tcPr marL="114300" marR="114300" marT="95250" marB="95250">
                    <a:lnL w="9525">
                      <a:solidFill>
                        <a:srgbClr val="CBD5DC"/>
                      </a:solidFill>
                      <a:prstDash val="solid"/>
                    </a:lnL>
                    <a:lnR w="9525">
                      <a:solidFill>
                        <a:srgbClr val="CBD5DC"/>
                      </a:solidFill>
                      <a:prstDash val="solid"/>
                    </a:lnR>
                    <a:lnB w="9525">
                      <a:solidFill>
                        <a:srgbClr val="CBD5DC"/>
                      </a:solidFill>
                      <a:prstDash val="solid"/>
                    </a:lnB>
                    <a:solidFill>
                      <a:srgbClr val="EFF3F5"/>
                    </a:solidFill>
                  </a:tcPr>
                </a:tc>
                <a:tc>
                  <a:txBody>
                    <a:bodyPr/>
                    <a:lstStyle/>
                    <a:p>
                      <a:r>
                        <a:rPr sz="1950" b="0">
                          <a:solidFill>
                            <a:srgbClr val="172B3A"/>
                          </a:solidFill>
                          <a:latin typeface="Microsoft YaHei"/>
                          <a:ea typeface="Microsoft YaHei"/>
                          <a:cs typeface="Microsoft YaHei"/>
                        </a:rPr>
                        <a:t>结束 WP1，向 Professor Dodge 分享 V2.0</a:t>
                      </a:r>
                    </a:p>
                  </a:txBody>
                  <a:tcPr marL="114300" marR="114300" marT="95250" marB="95250">
                    <a:lnR w="9525">
                      <a:solidFill>
                        <a:srgbClr val="CBD5DC"/>
                      </a:solidFill>
                      <a:prstDash val="solid"/>
                    </a:lnR>
                    <a:lnB w="9525">
                      <a:solidFill>
                        <a:srgbClr val="CBD5DC"/>
                      </a:solidFill>
                      <a:prstDash val="solid"/>
                    </a:lnB>
                    <a:solidFill>
                      <a:srgbClr val="EFF3F5"/>
                    </a:solidFill>
                  </a:tcPr>
                </a:tc>
              </a:tr>
              <a:tr h="555625">
                <a:tc>
                  <a:txBody>
                    <a:bodyPr/>
                    <a:lstStyle/>
                    <a:p>
                      <a:r>
                        <a:rPr sz="1950" b="0">
                          <a:solidFill>
                            <a:srgbClr val="172B3A"/>
                          </a:solidFill>
                          <a:latin typeface="Microsoft YaHei"/>
                          <a:ea typeface="Microsoft YaHei"/>
                          <a:cs typeface="Microsoft YaHei"/>
                        </a:rPr>
                        <a:t>11 月 9 日</a:t>
                      </a:r>
                    </a:p>
                  </a:txBody>
                  <a:tcPr marL="114300" marR="114300" marT="95250" marB="95250">
                    <a:lnL w="9525">
                      <a:solidFill>
                        <a:srgbClr val="CBD5DC"/>
                      </a:solidFill>
                      <a:prstDash val="solid"/>
                    </a:lnL>
                    <a:lnR w="9525">
                      <a:solidFill>
                        <a:srgbClr val="CBD5DC"/>
                      </a:solidFill>
                      <a:prstDash val="solid"/>
                    </a:lnR>
                    <a:lnB w="9525">
                      <a:solidFill>
                        <a:srgbClr val="CBD5DC"/>
                      </a:solidFill>
                      <a:prstDash val="solid"/>
                    </a:lnB>
                    <a:solidFill>
                      <a:srgbClr val="FFFFFF"/>
                    </a:solidFill>
                  </a:tcPr>
                </a:tc>
                <a:tc>
                  <a:txBody>
                    <a:bodyPr/>
                    <a:lstStyle/>
                    <a:p>
                      <a:r>
                        <a:rPr sz="1950" b="0">
                          <a:solidFill>
                            <a:srgbClr val="172B3A"/>
                          </a:solidFill>
                          <a:latin typeface="Microsoft YaHei"/>
                          <a:ea typeface="Microsoft YaHei"/>
                          <a:cs typeface="Microsoft YaHei"/>
                        </a:rPr>
                        <a:t>最终合入相关方意见</a:t>
                      </a:r>
                    </a:p>
                  </a:txBody>
                  <a:tcPr marL="114300" marR="114300" marT="95250" marB="95250">
                    <a:lnR w="9525">
                      <a:solidFill>
                        <a:srgbClr val="CBD5DC"/>
                      </a:solidFill>
                      <a:prstDash val="solid"/>
                    </a:lnR>
                    <a:lnB w="9525">
                      <a:solidFill>
                        <a:srgbClr val="CBD5DC"/>
                      </a:solidFill>
                      <a:prstDash val="solid"/>
                    </a:lnB>
                    <a:solidFill>
                      <a:srgbClr val="FFFFFF"/>
                    </a:solidFill>
                  </a:tcPr>
                </a:tc>
              </a:tr>
            </a:tbl>
          </a:graphicData>
        </a:graphic>
      </p:graphicFrame>
      <p:sp>
        <p:nvSpPr>
          <p:cNvPr id="3" name="">
            <a:extLst xmlns:a="http://schemas.openxmlformats.org/drawingml/2006/main">
              <a:ext uri="{FF2B5EF4-FFF2-40B4-BE49-F238E27FC236}">
                <a16:creationId xmlns:a16="http://schemas.microsoft.com/office/drawing/2014/main" id="{EC041920-591F-4937-B768-3E56AC662ED8}"/>
              </a:ext>
            </a:extLst>
          </p:cNvPr>
          <p:cNvSpPr>
            <a:spLocks xmlns:a="http://schemas.openxmlformats.org/drawingml/2006/main" noGrp="1"/>
          </p:cNvSpPr>
          <p:nvPr/>
        </p:nvSpPr>
        <p:spPr>
          <a:xfrm xmlns:a="http://schemas.openxmlformats.org/drawingml/2006/main">
            <a:off x="619125" y="5191125"/>
            <a:ext cx="10858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8B4B15"/>
                </a:solidFill>
                <a:latin typeface="Microsoft YaHei"/>
                <a:ea typeface="Microsoft YaHei"/>
                <a:cs typeface="Microsoft YaHei"/>
              </a:defRPr>
            </a:defPPr>
          </a:lstStyle>
          <a:p xmlns:a="http://schemas.openxmlformats.org/drawingml/2006/main">
            <a:pPr>
              <a:defRPr sz="2250" b="1">
                <a:solidFill>
                  <a:srgbClr val="8B4B15"/>
                </a:solidFill>
                <a:latin typeface="Microsoft YaHei"/>
                <a:ea typeface="Microsoft YaHei"/>
                <a:cs typeface="Microsoft YaHei"/>
              </a:defRPr>
            </a:pPr>
            <a:r>
              <a:rPr sz="2250" b="1">
                <a:solidFill>
                  <a:srgbClr val="8B4B15"/>
                </a:solidFill>
                <a:latin typeface="Microsoft YaHei"/>
                <a:ea typeface="Microsoft YaHei"/>
                <a:cs typeface="Microsoft YaHei"/>
              </a:rPr>
              <a:t>待确认：11 月 7 日提交的是评审稿还是最终稿？</a:t>
            </a:r>
          </a:p>
        </p:txBody>
      </p:sp>
      <p:sp>
        <p:nvSpPr>
          <p:cNvPr id="4" name="">
            <a:extLst xmlns:a="http://schemas.openxmlformats.org/drawingml/2006/main">
              <a:ext uri="{FF2B5EF4-FFF2-40B4-BE49-F238E27FC236}">
                <a16:creationId xmlns:a16="http://schemas.microsoft.com/office/drawing/2014/main" id="{38F37E30-91F7-48C0-AA0F-808DBF20EA50}"/>
              </a:ext>
            </a:extLst>
          </p:cNvPr>
          <p:cNvSpPr>
            <a:spLocks xmlns:a="http://schemas.openxmlformats.org/drawingml/2006/main" noGrp="1"/>
          </p:cNvSpPr>
          <p:nvPr/>
        </p:nvSpPr>
        <p:spPr>
          <a:xfrm xmlns:a="http://schemas.openxmlformats.org/drawingml/2006/main">
            <a:off x="619125" y="5772150"/>
            <a:ext cx="10858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172B3A"/>
                </a:solidFill>
                <a:latin typeface="Microsoft YaHei"/>
                <a:ea typeface="Microsoft YaHei"/>
                <a:cs typeface="Microsoft YaHei"/>
              </a:defRPr>
            </a:defPPr>
          </a:lstStyle>
          <a:p xmlns:a="http://schemas.openxmlformats.org/drawingml/2006/main">
            <a:pPr>
              <a:defRPr sz="1950" b="0">
                <a:solidFill>
                  <a:srgbClr val="172B3A"/>
                </a:solidFill>
                <a:latin typeface="Microsoft YaHei"/>
                <a:ea typeface="Microsoft YaHei"/>
                <a:cs typeface="Microsoft YaHei"/>
              </a:defRPr>
            </a:pPr>
            <a:r>
              <a:rPr sz="1950" b="0">
                <a:solidFill>
                  <a:srgbClr val="172B3A"/>
                </a:solidFill>
                <a:latin typeface="Microsoft YaHei"/>
                <a:ea typeface="Microsoft YaHei"/>
                <a:cs typeface="Microsoft YaHei"/>
              </a:rPr>
              <a:t>意见合入晚于交付日期。现有记录不足以确认同一最终版本的验收时间，也不足以判断整个项目必然延期。</a:t>
            </a:r>
          </a:p>
        </p:txBody>
      </p:sp>
    </p:spTree>
    <p:extLst>
      <p:ext uri="{BB962C8B-B14F-4D97-AF65-F5344CB8AC3E}">
        <p14:creationId xmlns:p14="http://schemas.microsoft.com/office/powerpoint/2010/main" val="576231172"/>
      </p:ext>
    </p:extLst>
  </p:cSld>
</p:sld>
</file>

<file path=ppt/slides/slide5.xml><?xml version="1.0" encoding="utf-8"?>
<p:sld xmlns:p="http://schemas.openxmlformats.org/presentationml/2006/main">
  <p:cSld>
    <p:bg>
      <p:bgPr>
        <a:solidFill xmlns:a="http://schemas.openxmlformats.org/drawingml/2006/main">
          <a:srgbClr val="FAFBFC"/>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D56FF0D0-B0F7-4878-811C-FAEEA117213A}"/>
              </a:ext>
            </a:extLst>
          </p:cNvPr>
          <p:cNvSpPr>
            <a:spLocks xmlns:a="http://schemas.openxmlformats.org/drawingml/2006/main" noGrp="1"/>
          </p:cNvSpPr>
          <p:nvPr/>
        </p:nvSpPr>
        <p:spPr>
          <a:xfrm xmlns:a="http://schemas.openxmlformats.org/drawingml/2006/main">
            <a:off x="619125" y="457200"/>
            <a:ext cx="10953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23E52"/>
                </a:solidFill>
                <a:latin typeface="Microsoft YaHei"/>
                <a:ea typeface="Microsoft YaHei"/>
                <a:cs typeface="Microsoft YaHei"/>
              </a:defRPr>
            </a:defPPr>
          </a:lstStyle>
          <a:p xmlns:a="http://schemas.openxmlformats.org/drawingml/2006/main">
            <a:pPr>
              <a:defRPr sz="3300" b="1">
                <a:solidFill>
                  <a:srgbClr val="123E52"/>
                </a:solidFill>
                <a:latin typeface="Microsoft YaHei"/>
                <a:ea typeface="Microsoft YaHei"/>
                <a:cs typeface="Microsoft YaHei"/>
              </a:defRPr>
            </a:pPr>
            <a:r>
              <a:rPr sz="3300" b="1">
                <a:solidFill>
                  <a:srgbClr val="123E52"/>
                </a:solidFill>
                <a:latin typeface="Microsoft YaHei"/>
                <a:ea typeface="Microsoft YaHei"/>
                <a:cs typeface="Microsoft YaHei"/>
              </a:rPr>
              <a:t>第 2 月累计资金使用</a:t>
            </a:r>
          </a:p>
        </p:txBody>
      </p:sp>
      <p:graphicFrame>
        <p:nvGraphicFramePr>
          <p:cNvPr id="2" name="">
            <a:extLst xmlns:a="http://schemas.openxmlformats.org/drawingml/2006/main">
              <a:ext uri="{FF2B5EF4-FFF2-40B4-BE49-F238E27FC236}">
                <a16:creationId xmlns:a16="http://schemas.microsoft.com/office/drawing/2014/main" id="{5E36AC03-7D04-4B46-9571-592EBFB17747}"/>
              </a:ext>
            </a:extLst>
          </p:cNvPr>
          <p:cNvGraphicFramePr/>
          <p:nvPr/>
        </p:nvGraphicFramePr>
        <p:xfrm>
          <a:off xmlns:a="http://schemas.openxmlformats.org/drawingml/2006/main" x="619125" y="1476375"/>
          <a:ext xmlns:a="http://schemas.openxmlformats.org/drawingml/2006/main" cx="5715000" cy="3429000"/>
        </p:xfrm>
        <a:graphic xmlns:a="http://schemas.openxmlformats.org/drawingml/2006/main">
          <a:graphicData uri="http://schemas.openxmlformats.org/drawingml/2006/table">
            <a:tbl>
              <a:tblPr/>
              <a:tblGrid>
                <a:gridCol w="3524250"/>
                <a:gridCol w="2190750"/>
              </a:tblGrid>
              <a:tr h="571500">
                <a:tc>
                  <a:txBody>
                    <a:bodyPr/>
                    <a:lstStyle/>
                    <a:p>
                      <a:r>
                        <a:rPr sz="1950" b="1">
                          <a:solidFill>
                            <a:srgbClr val="FFFFFF"/>
                          </a:solidFill>
                          <a:latin typeface="Microsoft YaHei"/>
                          <a:ea typeface="Microsoft YaHei"/>
                          <a:cs typeface="Microsoft YaHei"/>
                        </a:rPr>
                        <a:t>费用类别</a:t>
                      </a:r>
                    </a:p>
                  </a:txBody>
                  <a:tcPr marL="114300" marR="114300" marT="95250" marB="95250">
                    <a:lnL w="9525">
                      <a:solidFill>
                        <a:srgbClr val="CBD5DC"/>
                      </a:solidFill>
                      <a:prstDash val="solid"/>
                    </a:lnL>
                    <a:lnR w="9525">
                      <a:solidFill>
                        <a:srgbClr val="CBD5DC"/>
                      </a:solidFill>
                      <a:prstDash val="solid"/>
                    </a:lnR>
                    <a:lnT w="9525">
                      <a:solidFill>
                        <a:srgbClr val="CBD5DC"/>
                      </a:solidFill>
                      <a:prstDash val="solid"/>
                    </a:lnT>
                    <a:lnB w="9525">
                      <a:solidFill>
                        <a:srgbClr val="CBD5DC"/>
                      </a:solidFill>
                      <a:prstDash val="solid"/>
                    </a:lnB>
                    <a:solidFill>
                      <a:srgbClr val="123E52"/>
                    </a:solidFill>
                  </a:tcPr>
                </a:tc>
                <a:tc>
                  <a:txBody>
                    <a:bodyPr/>
                    <a:lstStyle/>
                    <a:p>
                      <a:r>
                        <a:rPr sz="1950" b="1">
                          <a:solidFill>
                            <a:srgbClr val="FFFFFF"/>
                          </a:solidFill>
                          <a:latin typeface="Microsoft YaHei"/>
                          <a:ea typeface="Microsoft YaHei"/>
                          <a:cs typeface="Microsoft YaHei"/>
                        </a:rPr>
                        <a:t>累计金额 GBP</a:t>
                      </a:r>
                    </a:p>
                  </a:txBody>
                  <a:tcPr marL="114300" marR="114300" marT="95250" marB="95250">
                    <a:lnR w="9525">
                      <a:solidFill>
                        <a:srgbClr val="CBD5DC"/>
                      </a:solidFill>
                      <a:prstDash val="solid"/>
                    </a:lnR>
                    <a:lnT w="9525">
                      <a:solidFill>
                        <a:srgbClr val="CBD5DC"/>
                      </a:solidFill>
                      <a:prstDash val="solid"/>
                    </a:lnT>
                    <a:lnB w="9525">
                      <a:solidFill>
                        <a:srgbClr val="CBD5DC"/>
                      </a:solidFill>
                      <a:prstDash val="solid"/>
                    </a:lnB>
                    <a:solidFill>
                      <a:srgbClr val="123E52"/>
                    </a:solidFill>
                  </a:tcPr>
                </a:tc>
              </a:tr>
              <a:tr h="571500">
                <a:tc>
                  <a:txBody>
                    <a:bodyPr/>
                    <a:lstStyle/>
                    <a:p>
                      <a:r>
                        <a:rPr sz="1950" b="0">
                          <a:solidFill>
                            <a:srgbClr val="172B3A"/>
                          </a:solidFill>
                          <a:latin typeface="Microsoft YaHei"/>
                          <a:ea typeface="Microsoft YaHei"/>
                          <a:cs typeface="Microsoft YaHei"/>
                        </a:rPr>
                        <a:t>人员费用</a:t>
                      </a:r>
                    </a:p>
                  </a:txBody>
                  <a:tcPr marL="114300" marR="114300" marT="95250" marB="95250">
                    <a:lnL w="9525">
                      <a:solidFill>
                        <a:srgbClr val="CBD5DC"/>
                      </a:solidFill>
                      <a:prstDash val="solid"/>
                    </a:lnL>
                    <a:lnR w="9525">
                      <a:solidFill>
                        <a:srgbClr val="CBD5DC"/>
                      </a:solidFill>
                      <a:prstDash val="solid"/>
                    </a:lnR>
                    <a:lnB w="9525">
                      <a:solidFill>
                        <a:srgbClr val="CBD5DC"/>
                      </a:solidFill>
                      <a:prstDash val="solid"/>
                    </a:lnB>
                    <a:solidFill>
                      <a:srgbClr val="FFFFFF"/>
                    </a:solidFill>
                  </a:tcPr>
                </a:tc>
                <a:tc>
                  <a:txBody>
                    <a:bodyPr/>
                    <a:lstStyle/>
                    <a:p>
                      <a:r>
                        <a:rPr sz="1950" b="0">
                          <a:solidFill>
                            <a:srgbClr val="172B3A"/>
                          </a:solidFill>
                          <a:latin typeface="Microsoft YaHei"/>
                          <a:ea typeface="Microsoft YaHei"/>
                          <a:cs typeface="Microsoft YaHei"/>
                        </a:rPr>
                        <a:t>7,850.00</a:t>
                      </a:r>
                    </a:p>
                  </a:txBody>
                  <a:tcPr marL="114300" marR="114300" marT="95250" marB="95250">
                    <a:lnR w="9525">
                      <a:solidFill>
                        <a:srgbClr val="CBD5DC"/>
                      </a:solidFill>
                      <a:prstDash val="solid"/>
                    </a:lnR>
                    <a:lnB w="9525">
                      <a:solidFill>
                        <a:srgbClr val="CBD5DC"/>
                      </a:solidFill>
                      <a:prstDash val="solid"/>
                    </a:lnB>
                    <a:solidFill>
                      <a:srgbClr val="FFFFFF"/>
                    </a:solidFill>
                  </a:tcPr>
                </a:tc>
              </a:tr>
              <a:tr h="571500">
                <a:tc>
                  <a:txBody>
                    <a:bodyPr/>
                    <a:lstStyle/>
                    <a:p>
                      <a:r>
                        <a:rPr sz="1950" b="0">
                          <a:solidFill>
                            <a:srgbClr val="172B3A"/>
                          </a:solidFill>
                          <a:latin typeface="Microsoft YaHei"/>
                          <a:ea typeface="Microsoft YaHei"/>
                          <a:cs typeface="Microsoft YaHei"/>
                        </a:rPr>
                        <a:t>材料与软件</a:t>
                      </a:r>
                    </a:p>
                  </a:txBody>
                  <a:tcPr marL="114300" marR="114300" marT="95250" marB="95250">
                    <a:lnL w="9525">
                      <a:solidFill>
                        <a:srgbClr val="CBD5DC"/>
                      </a:solidFill>
                      <a:prstDash val="solid"/>
                    </a:lnL>
                    <a:lnR w="9525">
                      <a:solidFill>
                        <a:srgbClr val="CBD5DC"/>
                      </a:solidFill>
                      <a:prstDash val="solid"/>
                    </a:lnR>
                    <a:lnB w="9525">
                      <a:solidFill>
                        <a:srgbClr val="CBD5DC"/>
                      </a:solidFill>
                      <a:prstDash val="solid"/>
                    </a:lnB>
                    <a:solidFill>
                      <a:srgbClr val="EFF3F5"/>
                    </a:solidFill>
                  </a:tcPr>
                </a:tc>
                <a:tc>
                  <a:txBody>
                    <a:bodyPr/>
                    <a:lstStyle/>
                    <a:p>
                      <a:r>
                        <a:rPr sz="1950" b="0">
                          <a:solidFill>
                            <a:srgbClr val="172B3A"/>
                          </a:solidFill>
                          <a:latin typeface="Microsoft YaHei"/>
                          <a:ea typeface="Microsoft YaHei"/>
                          <a:cs typeface="Microsoft YaHei"/>
                        </a:rPr>
                        <a:t>65.00</a:t>
                      </a:r>
                    </a:p>
                  </a:txBody>
                  <a:tcPr marL="114300" marR="114300" marT="95250" marB="95250">
                    <a:lnR w="9525">
                      <a:solidFill>
                        <a:srgbClr val="CBD5DC"/>
                      </a:solidFill>
                      <a:prstDash val="solid"/>
                    </a:lnR>
                    <a:lnB w="9525">
                      <a:solidFill>
                        <a:srgbClr val="CBD5DC"/>
                      </a:solidFill>
                      <a:prstDash val="solid"/>
                    </a:lnB>
                    <a:solidFill>
                      <a:srgbClr val="EFF3F5"/>
                    </a:solidFill>
                  </a:tcPr>
                </a:tc>
              </a:tr>
              <a:tr h="571500">
                <a:tc>
                  <a:txBody>
                    <a:bodyPr/>
                    <a:lstStyle/>
                    <a:p>
                      <a:r>
                        <a:rPr sz="1950" b="0">
                          <a:solidFill>
                            <a:srgbClr val="172B3A"/>
                          </a:solidFill>
                          <a:latin typeface="Microsoft YaHei"/>
                          <a:ea typeface="Microsoft YaHei"/>
                          <a:cs typeface="Microsoft YaHei"/>
                        </a:rPr>
                        <a:t>差旅及会议费用</a:t>
                      </a:r>
                    </a:p>
                  </a:txBody>
                  <a:tcPr marL="114300" marR="114300" marT="95250" marB="95250">
                    <a:lnL w="9525">
                      <a:solidFill>
                        <a:srgbClr val="CBD5DC"/>
                      </a:solidFill>
                      <a:prstDash val="solid"/>
                    </a:lnL>
                    <a:lnR w="9525">
                      <a:solidFill>
                        <a:srgbClr val="CBD5DC"/>
                      </a:solidFill>
                      <a:prstDash val="solid"/>
                    </a:lnR>
                    <a:lnB w="9525">
                      <a:solidFill>
                        <a:srgbClr val="CBD5DC"/>
                      </a:solidFill>
                      <a:prstDash val="solid"/>
                    </a:lnB>
                    <a:solidFill>
                      <a:srgbClr val="FFFFFF"/>
                    </a:solidFill>
                  </a:tcPr>
                </a:tc>
                <a:tc>
                  <a:txBody>
                    <a:bodyPr/>
                    <a:lstStyle/>
                    <a:p>
                      <a:r>
                        <a:rPr sz="1950" b="0">
                          <a:solidFill>
                            <a:srgbClr val="172B3A"/>
                          </a:solidFill>
                          <a:latin typeface="Microsoft YaHei"/>
                          <a:ea typeface="Microsoft YaHei"/>
                          <a:cs typeface="Microsoft YaHei"/>
                        </a:rPr>
                        <a:t>105.00</a:t>
                      </a:r>
                    </a:p>
                  </a:txBody>
                  <a:tcPr marL="114300" marR="114300" marT="95250" marB="95250">
                    <a:lnR w="9525">
                      <a:solidFill>
                        <a:srgbClr val="CBD5DC"/>
                      </a:solidFill>
                      <a:prstDash val="solid"/>
                    </a:lnR>
                    <a:lnB w="9525">
                      <a:solidFill>
                        <a:srgbClr val="CBD5DC"/>
                      </a:solidFill>
                      <a:prstDash val="solid"/>
                    </a:lnB>
                    <a:solidFill>
                      <a:srgbClr val="FFFFFF"/>
                    </a:solidFill>
                  </a:tcPr>
                </a:tc>
              </a:tr>
              <a:tr h="571500">
                <a:tc>
                  <a:txBody>
                    <a:bodyPr/>
                    <a:lstStyle/>
                    <a:p>
                      <a:r>
                        <a:rPr sz="1950" b="0">
                          <a:solidFill>
                            <a:srgbClr val="172B3A"/>
                          </a:solidFill>
                          <a:latin typeface="Microsoft YaHei"/>
                          <a:ea typeface="Microsoft YaHei"/>
                          <a:cs typeface="Microsoft YaHei"/>
                        </a:rPr>
                        <a:t>管理费分摊</a:t>
                      </a:r>
                    </a:p>
                  </a:txBody>
                  <a:tcPr marL="114300" marR="114300" marT="95250" marB="95250">
                    <a:lnL w="9525">
                      <a:solidFill>
                        <a:srgbClr val="CBD5DC"/>
                      </a:solidFill>
                      <a:prstDash val="solid"/>
                    </a:lnL>
                    <a:lnR w="9525">
                      <a:solidFill>
                        <a:srgbClr val="CBD5DC"/>
                      </a:solidFill>
                      <a:prstDash val="solid"/>
                    </a:lnR>
                    <a:lnB w="9525">
                      <a:solidFill>
                        <a:srgbClr val="CBD5DC"/>
                      </a:solidFill>
                      <a:prstDash val="solid"/>
                    </a:lnB>
                    <a:solidFill>
                      <a:srgbClr val="EFF3F5"/>
                    </a:solidFill>
                  </a:tcPr>
                </a:tc>
                <a:tc>
                  <a:txBody>
                    <a:bodyPr/>
                    <a:lstStyle/>
                    <a:p>
                      <a:r>
                        <a:rPr sz="1950" b="0">
                          <a:solidFill>
                            <a:srgbClr val="172B3A"/>
                          </a:solidFill>
                          <a:latin typeface="Microsoft YaHei"/>
                          <a:ea typeface="Microsoft YaHei"/>
                          <a:cs typeface="Microsoft YaHei"/>
                        </a:rPr>
                        <a:t>2,278.70</a:t>
                      </a:r>
                    </a:p>
                  </a:txBody>
                  <a:tcPr marL="114300" marR="114300" marT="95250" marB="95250">
                    <a:lnR w="9525">
                      <a:solidFill>
                        <a:srgbClr val="CBD5DC"/>
                      </a:solidFill>
                      <a:prstDash val="solid"/>
                    </a:lnR>
                    <a:lnB w="9525">
                      <a:solidFill>
                        <a:srgbClr val="CBD5DC"/>
                      </a:solidFill>
                      <a:prstDash val="solid"/>
                    </a:lnB>
                    <a:solidFill>
                      <a:srgbClr val="EFF3F5"/>
                    </a:solidFill>
                  </a:tcPr>
                </a:tc>
              </a:tr>
              <a:tr h="571500">
                <a:tc>
                  <a:txBody>
                    <a:bodyPr/>
                    <a:lstStyle/>
                    <a:p>
                      <a:r>
                        <a:rPr sz="1950" b="0">
                          <a:solidFill>
                            <a:srgbClr val="172B3A"/>
                          </a:solidFill>
                          <a:latin typeface="Microsoft YaHei"/>
                          <a:ea typeface="Microsoft YaHei"/>
                          <a:cs typeface="Microsoft YaHei"/>
                        </a:rPr>
                        <a:t>累计实际支出</a:t>
                      </a:r>
                    </a:p>
                  </a:txBody>
                  <a:tcPr marL="114300" marR="114300" marT="95250" marB="95250">
                    <a:lnL w="9525">
                      <a:solidFill>
                        <a:srgbClr val="CBD5DC"/>
                      </a:solidFill>
                      <a:prstDash val="solid"/>
                    </a:lnL>
                    <a:lnR w="9525">
                      <a:solidFill>
                        <a:srgbClr val="CBD5DC"/>
                      </a:solidFill>
                      <a:prstDash val="solid"/>
                    </a:lnR>
                    <a:lnB w="9525">
                      <a:solidFill>
                        <a:srgbClr val="CBD5DC"/>
                      </a:solidFill>
                      <a:prstDash val="solid"/>
                    </a:lnB>
                    <a:solidFill>
                      <a:srgbClr val="FFFFFF"/>
                    </a:solidFill>
                  </a:tcPr>
                </a:tc>
                <a:tc>
                  <a:txBody>
                    <a:bodyPr/>
                    <a:lstStyle/>
                    <a:p>
                      <a:r>
                        <a:rPr sz="1950" b="0">
                          <a:solidFill>
                            <a:srgbClr val="172B3A"/>
                          </a:solidFill>
                          <a:latin typeface="Microsoft YaHei"/>
                          <a:ea typeface="Microsoft YaHei"/>
                          <a:cs typeface="Microsoft YaHei"/>
                        </a:rPr>
                        <a:t>10,298.70</a:t>
                      </a:r>
                    </a:p>
                  </a:txBody>
                  <a:tcPr marL="114300" marR="114300" marT="95250" marB="95250">
                    <a:lnR w="9525">
                      <a:solidFill>
                        <a:srgbClr val="CBD5DC"/>
                      </a:solidFill>
                      <a:prstDash val="solid"/>
                    </a:lnR>
                    <a:lnB w="9525">
                      <a:solidFill>
                        <a:srgbClr val="CBD5DC"/>
                      </a:solidFill>
                      <a:prstDash val="solid"/>
                    </a:lnB>
                    <a:solidFill>
                      <a:srgbClr val="FFFFFF"/>
                    </a:solidFill>
                  </a:tcPr>
                </a:tc>
              </a:tr>
            </a:tbl>
          </a:graphicData>
        </a:graphic>
      </p:graphicFrame>
      <p:graphicFrame>
        <p:nvGraphicFramePr>
          <p:cNvPr id="3" name="">
            <a:extLst xmlns:a="http://schemas.openxmlformats.org/drawingml/2006/main">
              <a:ext uri="{FF2B5EF4-FFF2-40B4-BE49-F238E27FC236}">
                <a16:creationId xmlns:a16="http://schemas.microsoft.com/office/drawing/2014/main" id="{FC3D3FFB-8884-4185-9CEB-9F2FA0CCB0D0}"/>
              </a:ext>
            </a:extLst>
          </p:cNvPr>
          <p:cNvGraphicFramePr/>
          <p:nvPr/>
        </p:nvGraphicFramePr>
        <p:xfrm>
          <a:off xmlns:a="http://schemas.openxmlformats.org/drawingml/2006/main" x="6667500" y="1476375"/>
          <a:ext xmlns:a="http://schemas.openxmlformats.org/drawingml/2006/main" cx="4905375" cy="3429000"/>
        </p:xfrm>
        <a:graphic xmlns:a="http://schemas.openxmlformats.org/drawingml/2006/main">
          <a:graphicData uri="http://schemas.openxmlformats.org/drawingml/2006/table">
            <a:tbl>
              <a:tblPr/>
              <a:tblGrid>
                <a:gridCol w="2952750"/>
                <a:gridCol w="1952625"/>
              </a:tblGrid>
              <a:tr h="685800">
                <a:tc>
                  <a:txBody>
                    <a:bodyPr/>
                    <a:lstStyle/>
                    <a:p>
                      <a:r>
                        <a:rPr sz="1875" b="1">
                          <a:solidFill>
                            <a:srgbClr val="FFFFFF"/>
                          </a:solidFill>
                          <a:latin typeface="Microsoft YaHei"/>
                          <a:ea typeface="Microsoft YaHei"/>
                          <a:cs typeface="Microsoft YaHei"/>
                        </a:rPr>
                        <a:t>预算对照</a:t>
                      </a:r>
                    </a:p>
                  </a:txBody>
                  <a:tcPr marL="114300" marR="114300" marT="95250" marB="95250">
                    <a:lnL w="9525">
                      <a:solidFill>
                        <a:srgbClr val="CBD5DC"/>
                      </a:solidFill>
                      <a:prstDash val="solid"/>
                    </a:lnL>
                    <a:lnR w="9525">
                      <a:solidFill>
                        <a:srgbClr val="CBD5DC"/>
                      </a:solidFill>
                      <a:prstDash val="solid"/>
                    </a:lnR>
                    <a:lnT w="9525">
                      <a:solidFill>
                        <a:srgbClr val="CBD5DC"/>
                      </a:solidFill>
                      <a:prstDash val="solid"/>
                    </a:lnT>
                    <a:lnB w="9525">
                      <a:solidFill>
                        <a:srgbClr val="CBD5DC"/>
                      </a:solidFill>
                      <a:prstDash val="solid"/>
                    </a:lnB>
                    <a:solidFill>
                      <a:srgbClr val="123E52"/>
                    </a:solidFill>
                  </a:tcPr>
                </a:tc>
                <a:tc>
                  <a:txBody>
                    <a:bodyPr/>
                    <a:lstStyle/>
                    <a:p>
                      <a:r>
                        <a:rPr sz="1875" b="1">
                          <a:solidFill>
                            <a:srgbClr val="FFFFFF"/>
                          </a:solidFill>
                          <a:latin typeface="Microsoft YaHei"/>
                          <a:ea typeface="Microsoft YaHei"/>
                          <a:cs typeface="Microsoft YaHei"/>
                        </a:rPr>
                        <a:t>金额 GBP</a:t>
                      </a:r>
                    </a:p>
                  </a:txBody>
                  <a:tcPr marL="114300" marR="114300" marT="95250" marB="95250">
                    <a:lnR w="9525">
                      <a:solidFill>
                        <a:srgbClr val="CBD5DC"/>
                      </a:solidFill>
                      <a:prstDash val="solid"/>
                    </a:lnR>
                    <a:lnT w="9525">
                      <a:solidFill>
                        <a:srgbClr val="CBD5DC"/>
                      </a:solidFill>
                      <a:prstDash val="solid"/>
                    </a:lnT>
                    <a:lnB w="9525">
                      <a:solidFill>
                        <a:srgbClr val="CBD5DC"/>
                      </a:solidFill>
                      <a:prstDash val="solid"/>
                    </a:lnB>
                    <a:solidFill>
                      <a:srgbClr val="123E52"/>
                    </a:solidFill>
                  </a:tcPr>
                </a:tc>
              </a:tr>
              <a:tr h="685800">
                <a:tc>
                  <a:txBody>
                    <a:bodyPr/>
                    <a:lstStyle/>
                    <a:p>
                      <a:r>
                        <a:rPr sz="1875" b="0">
                          <a:solidFill>
                            <a:srgbClr val="172B3A"/>
                          </a:solidFill>
                          <a:latin typeface="Microsoft YaHei"/>
                          <a:ea typeface="Microsoft YaHei"/>
                          <a:cs typeface="Microsoft YaHei"/>
                        </a:rPr>
                        <a:t>同期累计预算</a:t>
                      </a:r>
                    </a:p>
                  </a:txBody>
                  <a:tcPr marL="114300" marR="114300" marT="95250" marB="95250">
                    <a:lnL w="9525">
                      <a:solidFill>
                        <a:srgbClr val="CBD5DC"/>
                      </a:solidFill>
                      <a:prstDash val="solid"/>
                    </a:lnL>
                    <a:lnR w="9525">
                      <a:solidFill>
                        <a:srgbClr val="CBD5DC"/>
                      </a:solidFill>
                      <a:prstDash val="solid"/>
                    </a:lnR>
                    <a:lnB w="9525">
                      <a:solidFill>
                        <a:srgbClr val="CBD5DC"/>
                      </a:solidFill>
                      <a:prstDash val="solid"/>
                    </a:lnB>
                    <a:solidFill>
                      <a:srgbClr val="FFFFFF"/>
                    </a:solidFill>
                  </a:tcPr>
                </a:tc>
                <a:tc>
                  <a:txBody>
                    <a:bodyPr/>
                    <a:lstStyle/>
                    <a:p>
                      <a:r>
                        <a:rPr sz="1875" b="0">
                          <a:solidFill>
                            <a:srgbClr val="172B3A"/>
                          </a:solidFill>
                          <a:latin typeface="Microsoft YaHei"/>
                          <a:ea typeface="Microsoft YaHei"/>
                          <a:cs typeface="Microsoft YaHei"/>
                        </a:rPr>
                        <a:t>9,874.37</a:t>
                      </a:r>
                    </a:p>
                  </a:txBody>
                  <a:tcPr marL="114300" marR="114300" marT="95250" marB="95250">
                    <a:lnR w="9525">
                      <a:solidFill>
                        <a:srgbClr val="CBD5DC"/>
                      </a:solidFill>
                      <a:prstDash val="solid"/>
                    </a:lnR>
                    <a:lnB w="9525">
                      <a:solidFill>
                        <a:srgbClr val="CBD5DC"/>
                      </a:solidFill>
                      <a:prstDash val="solid"/>
                    </a:lnB>
                    <a:solidFill>
                      <a:srgbClr val="FFFFFF"/>
                    </a:solidFill>
                  </a:tcPr>
                </a:tc>
              </a:tr>
              <a:tr h="685800">
                <a:tc>
                  <a:txBody>
                    <a:bodyPr/>
                    <a:lstStyle/>
                    <a:p>
                      <a:r>
                        <a:rPr sz="1875" b="0">
                          <a:solidFill>
                            <a:srgbClr val="172B3A"/>
                          </a:solidFill>
                          <a:latin typeface="Microsoft YaHei"/>
                          <a:ea typeface="Microsoft YaHei"/>
                          <a:cs typeface="Microsoft YaHei"/>
                        </a:rPr>
                        <a:t>累计超支</a:t>
                      </a:r>
                    </a:p>
                  </a:txBody>
                  <a:tcPr marL="114300" marR="114300" marT="95250" marB="95250">
                    <a:lnL w="9525">
                      <a:solidFill>
                        <a:srgbClr val="CBD5DC"/>
                      </a:solidFill>
                      <a:prstDash val="solid"/>
                    </a:lnL>
                    <a:lnR w="9525">
                      <a:solidFill>
                        <a:srgbClr val="CBD5DC"/>
                      </a:solidFill>
                      <a:prstDash val="solid"/>
                    </a:lnR>
                    <a:lnB w="9525">
                      <a:solidFill>
                        <a:srgbClr val="CBD5DC"/>
                      </a:solidFill>
                      <a:prstDash val="solid"/>
                    </a:lnB>
                    <a:solidFill>
                      <a:srgbClr val="EFF3F5"/>
                    </a:solidFill>
                  </a:tcPr>
                </a:tc>
                <a:tc>
                  <a:txBody>
                    <a:bodyPr/>
                    <a:lstStyle/>
                    <a:p>
                      <a:r>
                        <a:rPr sz="1875" b="0">
                          <a:solidFill>
                            <a:srgbClr val="172B3A"/>
                          </a:solidFill>
                          <a:latin typeface="Microsoft YaHei"/>
                          <a:ea typeface="Microsoft YaHei"/>
                          <a:cs typeface="Microsoft YaHei"/>
                        </a:rPr>
                        <a:t>424.33</a:t>
                      </a:r>
                    </a:p>
                  </a:txBody>
                  <a:tcPr marL="114300" marR="114300" marT="95250" marB="95250">
                    <a:lnR w="9525">
                      <a:solidFill>
                        <a:srgbClr val="CBD5DC"/>
                      </a:solidFill>
                      <a:prstDash val="solid"/>
                    </a:lnR>
                    <a:lnB w="9525">
                      <a:solidFill>
                        <a:srgbClr val="CBD5DC"/>
                      </a:solidFill>
                      <a:prstDash val="solid"/>
                    </a:lnB>
                    <a:solidFill>
                      <a:srgbClr val="EFF3F5"/>
                    </a:solidFill>
                  </a:tcPr>
                </a:tc>
              </a:tr>
              <a:tr h="685800">
                <a:tc>
                  <a:txBody>
                    <a:bodyPr/>
                    <a:lstStyle/>
                    <a:p>
                      <a:r>
                        <a:rPr sz="1875" b="0">
                          <a:solidFill>
                            <a:srgbClr val="172B3A"/>
                          </a:solidFill>
                          <a:latin typeface="Microsoft YaHei"/>
                          <a:ea typeface="Microsoft YaHei"/>
                          <a:cs typeface="Microsoft YaHei"/>
                        </a:rPr>
                        <a:t>全周期预算</a:t>
                      </a:r>
                    </a:p>
                  </a:txBody>
                  <a:tcPr marL="114300" marR="114300" marT="95250" marB="95250">
                    <a:lnL w="9525">
                      <a:solidFill>
                        <a:srgbClr val="CBD5DC"/>
                      </a:solidFill>
                      <a:prstDash val="solid"/>
                    </a:lnL>
                    <a:lnR w="9525">
                      <a:solidFill>
                        <a:srgbClr val="CBD5DC"/>
                      </a:solidFill>
                      <a:prstDash val="solid"/>
                    </a:lnR>
                    <a:lnB w="9525">
                      <a:solidFill>
                        <a:srgbClr val="CBD5DC"/>
                      </a:solidFill>
                      <a:prstDash val="solid"/>
                    </a:lnB>
                    <a:solidFill>
                      <a:srgbClr val="FFFFFF"/>
                    </a:solidFill>
                  </a:tcPr>
                </a:tc>
                <a:tc>
                  <a:txBody>
                    <a:bodyPr/>
                    <a:lstStyle/>
                    <a:p>
                      <a:r>
                        <a:rPr sz="1875" b="0">
                          <a:solidFill>
                            <a:srgbClr val="172B3A"/>
                          </a:solidFill>
                          <a:latin typeface="Microsoft YaHei"/>
                          <a:ea typeface="Microsoft YaHei"/>
                          <a:cs typeface="Microsoft YaHei"/>
                        </a:rPr>
                        <a:t>29,623.10</a:t>
                      </a:r>
                    </a:p>
                  </a:txBody>
                  <a:tcPr marL="114300" marR="114300" marT="95250" marB="95250">
                    <a:lnR w="9525">
                      <a:solidFill>
                        <a:srgbClr val="CBD5DC"/>
                      </a:solidFill>
                      <a:prstDash val="solid"/>
                    </a:lnR>
                    <a:lnB w="9525">
                      <a:solidFill>
                        <a:srgbClr val="CBD5DC"/>
                      </a:solidFill>
                      <a:prstDash val="solid"/>
                    </a:lnB>
                    <a:solidFill>
                      <a:srgbClr val="FFFFFF"/>
                    </a:solidFill>
                  </a:tcPr>
                </a:tc>
              </a:tr>
              <a:tr h="685800">
                <a:tc>
                  <a:txBody>
                    <a:bodyPr/>
                    <a:lstStyle/>
                    <a:p>
                      <a:r>
                        <a:rPr sz="1875" b="0">
                          <a:solidFill>
                            <a:srgbClr val="172B3A"/>
                          </a:solidFill>
                          <a:latin typeface="Microsoft YaHei"/>
                          <a:ea typeface="Microsoft YaHei"/>
                          <a:cs typeface="Microsoft YaHei"/>
                        </a:rPr>
                        <a:t>全周期剩余预算</a:t>
                      </a:r>
                    </a:p>
                  </a:txBody>
                  <a:tcPr marL="114300" marR="114300" marT="95250" marB="95250">
                    <a:lnL w="9525">
                      <a:solidFill>
                        <a:srgbClr val="CBD5DC"/>
                      </a:solidFill>
                      <a:prstDash val="solid"/>
                    </a:lnL>
                    <a:lnR w="9525">
                      <a:solidFill>
                        <a:srgbClr val="CBD5DC"/>
                      </a:solidFill>
                      <a:prstDash val="solid"/>
                    </a:lnR>
                    <a:lnB w="9525">
                      <a:solidFill>
                        <a:srgbClr val="CBD5DC"/>
                      </a:solidFill>
                      <a:prstDash val="solid"/>
                    </a:lnB>
                    <a:solidFill>
                      <a:srgbClr val="EFF3F5"/>
                    </a:solidFill>
                  </a:tcPr>
                </a:tc>
                <a:tc>
                  <a:txBody>
                    <a:bodyPr/>
                    <a:lstStyle/>
                    <a:p>
                      <a:r>
                        <a:rPr sz="1875" b="0">
                          <a:solidFill>
                            <a:srgbClr val="172B3A"/>
                          </a:solidFill>
                          <a:latin typeface="Microsoft YaHei"/>
                          <a:ea typeface="Microsoft YaHei"/>
                          <a:cs typeface="Microsoft YaHei"/>
                        </a:rPr>
                        <a:t>19,324.40</a:t>
                      </a:r>
                    </a:p>
                  </a:txBody>
                  <a:tcPr marL="114300" marR="114300" marT="95250" marB="95250">
                    <a:lnR w="9525">
                      <a:solidFill>
                        <a:srgbClr val="CBD5DC"/>
                      </a:solidFill>
                      <a:prstDash val="solid"/>
                    </a:lnR>
                    <a:lnB w="9525">
                      <a:solidFill>
                        <a:srgbClr val="CBD5DC"/>
                      </a:solidFill>
                      <a:prstDash val="solid"/>
                    </a:lnB>
                    <a:solidFill>
                      <a:srgbClr val="EFF3F5"/>
                    </a:solidFill>
                  </a:tcPr>
                </a:tc>
              </a:tr>
            </a:tbl>
          </a:graphicData>
        </a:graphic>
      </p:graphicFrame>
      <p:sp>
        <p:nvSpPr>
          <p:cNvPr id="4" name="">
            <a:extLst xmlns:a="http://schemas.openxmlformats.org/drawingml/2006/main">
              <a:ext uri="{FF2B5EF4-FFF2-40B4-BE49-F238E27FC236}">
                <a16:creationId xmlns:a16="http://schemas.microsoft.com/office/drawing/2014/main" id="{D46FA7F9-D395-4855-A6D8-C5BEC3B73DE9}"/>
              </a:ext>
            </a:extLst>
          </p:cNvPr>
          <p:cNvSpPr>
            <a:spLocks xmlns:a="http://schemas.openxmlformats.org/drawingml/2006/main" noGrp="1"/>
          </p:cNvSpPr>
          <p:nvPr/>
        </p:nvSpPr>
        <p:spPr>
          <a:xfrm xmlns:a="http://schemas.openxmlformats.org/drawingml/2006/main">
            <a:off x="619125" y="5238750"/>
            <a:ext cx="10858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8B4B15"/>
                </a:solidFill>
                <a:latin typeface="Microsoft YaHei"/>
                <a:ea typeface="Microsoft YaHei"/>
                <a:cs typeface="Microsoft YaHei"/>
              </a:defRPr>
            </a:defPPr>
          </a:lstStyle>
          <a:p xmlns:a="http://schemas.openxmlformats.org/drawingml/2006/main">
            <a:pPr>
              <a:defRPr sz="2175" b="1">
                <a:solidFill>
                  <a:srgbClr val="8B4B15"/>
                </a:solidFill>
                <a:latin typeface="Microsoft YaHei"/>
                <a:ea typeface="Microsoft YaHei"/>
                <a:cs typeface="Microsoft YaHei"/>
              </a:defRPr>
            </a:pPr>
            <a:r>
              <a:rPr sz="2175" b="1">
                <a:solidFill>
                  <a:srgbClr val="8B4B15"/>
                </a:solidFill>
                <a:latin typeface="Microsoft YaHei"/>
                <a:ea typeface="Microsoft YaHei"/>
                <a:cs typeface="Microsoft YaHei"/>
              </a:rPr>
              <a:t>同期超支约 4.30%，不能以仍有全周期余额判断为预算内。</a:t>
            </a:r>
          </a:p>
        </p:txBody>
      </p:sp>
      <p:sp>
        <p:nvSpPr>
          <p:cNvPr id="5" name="">
            <a:extLst xmlns:a="http://schemas.openxmlformats.org/drawingml/2006/main">
              <a:ext uri="{FF2B5EF4-FFF2-40B4-BE49-F238E27FC236}">
                <a16:creationId xmlns:a16="http://schemas.microsoft.com/office/drawing/2014/main" id="{F4832E92-FCD3-4621-8E72-8E449B825733}"/>
              </a:ext>
            </a:extLst>
          </p:cNvPr>
          <p:cNvSpPr>
            <a:spLocks xmlns:a="http://schemas.openxmlformats.org/drawingml/2006/main" noGrp="1"/>
          </p:cNvSpPr>
          <p:nvPr/>
        </p:nvSpPr>
        <p:spPr>
          <a:xfrm xmlns:a="http://schemas.openxmlformats.org/drawingml/2006/main">
            <a:off x="619125" y="5934075"/>
            <a:ext cx="10858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475F6D"/>
                </a:solidFill>
                <a:latin typeface="Microsoft YaHei"/>
                <a:ea typeface="Microsoft YaHei"/>
                <a:cs typeface="Microsoft YaHei"/>
              </a:defRPr>
            </a:defPPr>
          </a:lstStyle>
          <a:p xmlns:a="http://schemas.openxmlformats.org/drawingml/2006/main">
            <a:pPr>
              <a:defRPr sz="1725" b="0">
                <a:solidFill>
                  <a:srgbClr val="475F6D"/>
                </a:solidFill>
                <a:latin typeface="Microsoft YaHei"/>
                <a:ea typeface="Microsoft YaHei"/>
                <a:cs typeface="Microsoft YaHei"/>
              </a:defRPr>
            </a:pPr>
            <a:r>
              <a:rPr sz="1725" b="0">
                <a:solidFill>
                  <a:srgbClr val="475F6D"/>
                </a:solidFill>
                <a:latin typeface="Microsoft YaHei"/>
                <a:ea typeface="Microsoft YaHei"/>
                <a:cs typeface="Microsoft YaHei"/>
              </a:rPr>
              <a:t>采用费用进度表第 2 月累计列。费用材料编制日为 11 月 3 日，尚无逐日明细支持精确至 10 月 30 日的截点核算。</a:t>
            </a:r>
          </a:p>
        </p:txBody>
      </p:sp>
    </p:spTree>
    <p:extLst>
      <p:ext uri="{BB962C8B-B14F-4D97-AF65-F5344CB8AC3E}">
        <p14:creationId xmlns:p14="http://schemas.microsoft.com/office/powerpoint/2010/main" val="1526541727"/>
      </p:ext>
    </p:extLst>
  </p:cSld>
</p:sld>
</file>

<file path=ppt/slides/slide6.xml><?xml version="1.0" encoding="utf-8"?>
<p:sld xmlns:p="http://schemas.openxmlformats.org/presentationml/2006/main">
  <p:cSld>
    <p:bg>
      <p:bgPr>
        <a:solidFill xmlns:a="http://schemas.openxmlformats.org/drawingml/2006/main">
          <a:srgbClr val="FAFBFC"/>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8A76CE5B-0CE9-4CCF-A5F8-16DCAE9FDF93}"/>
              </a:ext>
            </a:extLst>
          </p:cNvPr>
          <p:cNvSpPr>
            <a:spLocks xmlns:a="http://schemas.openxmlformats.org/drawingml/2006/main" noGrp="1"/>
          </p:cNvSpPr>
          <p:nvPr/>
        </p:nvSpPr>
        <p:spPr>
          <a:xfrm xmlns:a="http://schemas.openxmlformats.org/drawingml/2006/main">
            <a:off x="619125" y="457200"/>
            <a:ext cx="10953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23E52"/>
                </a:solidFill>
                <a:latin typeface="Microsoft YaHei"/>
                <a:ea typeface="Microsoft YaHei"/>
                <a:cs typeface="Microsoft YaHei"/>
              </a:defRPr>
            </a:defPPr>
          </a:lstStyle>
          <a:p xmlns:a="http://schemas.openxmlformats.org/drawingml/2006/main">
            <a:pPr>
              <a:defRPr sz="3300" b="1">
                <a:solidFill>
                  <a:srgbClr val="123E52"/>
                </a:solidFill>
                <a:latin typeface="Microsoft YaHei"/>
                <a:ea typeface="Microsoft YaHei"/>
                <a:cs typeface="Microsoft YaHei"/>
              </a:defRPr>
            </a:pPr>
            <a:r>
              <a:rPr sz="3300" b="1">
                <a:solidFill>
                  <a:srgbClr val="123E52"/>
                </a:solidFill>
                <a:latin typeface="Microsoft YaHei"/>
                <a:ea typeface="Microsoft YaHei"/>
                <a:cs typeface="Microsoft YaHei"/>
              </a:rPr>
              <a:t>资金数据的口径与核对事项</a:t>
            </a:r>
          </a:p>
        </p:txBody>
      </p:sp>
      <p:graphicFrame>
        <p:nvGraphicFramePr>
          <p:cNvPr id="2" name="">
            <a:extLst xmlns:a="http://schemas.openxmlformats.org/drawingml/2006/main">
              <a:ext uri="{FF2B5EF4-FFF2-40B4-BE49-F238E27FC236}">
                <a16:creationId xmlns:a16="http://schemas.microsoft.com/office/drawing/2014/main" id="{5967DF57-ABDC-42A1-AF7B-B2CD0D510165}"/>
              </a:ext>
            </a:extLst>
          </p:cNvPr>
          <p:cNvGraphicFramePr/>
          <p:nvPr/>
        </p:nvGraphicFramePr>
        <p:xfrm>
          <a:off xmlns:a="http://schemas.openxmlformats.org/drawingml/2006/main" x="619125" y="1457325"/>
          <a:ext xmlns:a="http://schemas.openxmlformats.org/drawingml/2006/main" cx="10953750" cy="4000500"/>
        </p:xfrm>
        <a:graphic xmlns:a="http://schemas.openxmlformats.org/drawingml/2006/main">
          <a:graphicData uri="http://schemas.openxmlformats.org/drawingml/2006/table">
            <a:tbl>
              <a:tblPr/>
              <a:tblGrid>
                <a:gridCol w="4524375"/>
                <a:gridCol w="6429375"/>
              </a:tblGrid>
              <a:tr h="800100">
                <a:tc>
                  <a:txBody>
                    <a:bodyPr/>
                    <a:lstStyle/>
                    <a:p>
                      <a:r>
                        <a:rPr sz="1875" b="1">
                          <a:solidFill>
                            <a:srgbClr val="FFFFFF"/>
                          </a:solidFill>
                          <a:latin typeface="Microsoft YaHei"/>
                          <a:ea typeface="Microsoft YaHei"/>
                          <a:cs typeface="Microsoft YaHei"/>
                        </a:rPr>
                        <a:t>材料中的信息</a:t>
                      </a:r>
                    </a:p>
                  </a:txBody>
                  <a:tcPr marL="114300" marR="114300" marT="95250" marB="95250">
                    <a:lnL w="9525">
                      <a:solidFill>
                        <a:srgbClr val="CBD5DC"/>
                      </a:solidFill>
                      <a:prstDash val="solid"/>
                    </a:lnL>
                    <a:lnR w="9525">
                      <a:solidFill>
                        <a:srgbClr val="CBD5DC"/>
                      </a:solidFill>
                      <a:prstDash val="solid"/>
                    </a:lnR>
                    <a:lnT w="9525">
                      <a:solidFill>
                        <a:srgbClr val="CBD5DC"/>
                      </a:solidFill>
                      <a:prstDash val="solid"/>
                    </a:lnT>
                    <a:lnB w="9525">
                      <a:solidFill>
                        <a:srgbClr val="CBD5DC"/>
                      </a:solidFill>
                      <a:prstDash val="solid"/>
                    </a:lnB>
                    <a:solidFill>
                      <a:srgbClr val="123E52"/>
                    </a:solidFill>
                  </a:tcPr>
                </a:tc>
                <a:tc>
                  <a:txBody>
                    <a:bodyPr/>
                    <a:lstStyle/>
                    <a:p>
                      <a:r>
                        <a:rPr sz="1875" b="1">
                          <a:solidFill>
                            <a:srgbClr val="FFFFFF"/>
                          </a:solidFill>
                          <a:latin typeface="Microsoft YaHei"/>
                          <a:ea typeface="Microsoft YaHei"/>
                          <a:cs typeface="Microsoft YaHei"/>
                        </a:rPr>
                        <a:t>本次采用的处理</a:t>
                      </a:r>
                    </a:p>
                  </a:txBody>
                  <a:tcPr marL="114300" marR="114300" marT="95250" marB="95250">
                    <a:lnR w="9525">
                      <a:solidFill>
                        <a:srgbClr val="CBD5DC"/>
                      </a:solidFill>
                      <a:prstDash val="solid"/>
                    </a:lnR>
                    <a:lnT w="9525">
                      <a:solidFill>
                        <a:srgbClr val="CBD5DC"/>
                      </a:solidFill>
                      <a:prstDash val="solid"/>
                    </a:lnT>
                    <a:lnB w="9525">
                      <a:solidFill>
                        <a:srgbClr val="CBD5DC"/>
                      </a:solidFill>
                      <a:prstDash val="solid"/>
                    </a:lnB>
                    <a:solidFill>
                      <a:srgbClr val="123E52"/>
                    </a:solidFill>
                  </a:tcPr>
                </a:tc>
              </a:tr>
              <a:tr h="800100">
                <a:tc>
                  <a:txBody>
                    <a:bodyPr/>
                    <a:lstStyle/>
                    <a:p>
                      <a:r>
                        <a:rPr sz="1875" b="0">
                          <a:solidFill>
                            <a:srgbClr val="172B3A"/>
                          </a:solidFill>
                          <a:latin typeface="Microsoft YaHei"/>
                          <a:ea typeface="Microsoft YaHei"/>
                          <a:cs typeface="Microsoft YaHei"/>
                        </a:rPr>
                        <a:t>第 1 月累计 £5,981.35</a:t>
                      </a:r>
                    </a:p>
                    <a:p>
                      <a:r>
                        <a:rPr sz="1875" b="0">
                          <a:solidFill>
                            <a:srgbClr val="172B3A"/>
                          </a:solidFill>
                          <a:latin typeface="Microsoft YaHei"/>
                          <a:ea typeface="Microsoft YaHei"/>
                          <a:cs typeface="Microsoft YaHei"/>
                        </a:rPr>
                        <a:t>第 2 月累计 £10,298.70</a:t>
                      </a:r>
                    </a:p>
                  </a:txBody>
                  <a:tcPr marL="114300" marR="114300" marT="95250" marB="95250">
                    <a:lnL w="9525">
                      <a:solidFill>
                        <a:srgbClr val="CBD5DC"/>
                      </a:solidFill>
                      <a:prstDash val="solid"/>
                    </a:lnL>
                    <a:lnR w="9525">
                      <a:solidFill>
                        <a:srgbClr val="CBD5DC"/>
                      </a:solidFill>
                      <a:prstDash val="solid"/>
                    </a:lnR>
                    <a:lnB w="9525">
                      <a:solidFill>
                        <a:srgbClr val="CBD5DC"/>
                      </a:solidFill>
                      <a:prstDash val="solid"/>
                    </a:lnB>
                    <a:solidFill>
                      <a:srgbClr val="FFFFFF"/>
                    </a:solidFill>
                  </a:tcPr>
                </a:tc>
                <a:tc>
                  <a:txBody>
                    <a:bodyPr/>
                    <a:lstStyle/>
                    <a:p>
                      <a:r>
                        <a:rPr sz="1875" b="0">
                          <a:solidFill>
                            <a:srgbClr val="172B3A"/>
                          </a:solidFill>
                          <a:latin typeface="Microsoft YaHei"/>
                          <a:ea typeface="Microsoft YaHei"/>
                          <a:cs typeface="Microsoft YaHei"/>
                        </a:rPr>
                        <a:t>第 2 月增量为 £4,317.35</a:t>
                      </a:r>
                    </a:p>
                    <a:p>
                      <a:r>
                        <a:rPr sz="1875" b="0">
                          <a:solidFill>
                            <a:srgbClr val="172B3A"/>
                          </a:solidFill>
                          <a:latin typeface="Microsoft YaHei"/>
                          <a:ea typeface="Microsoft YaHei"/>
                          <a:cs typeface="Microsoft YaHei"/>
                        </a:rPr>
                        <a:t>原表“Monthly Burn”是累计预算差额</a:t>
                      </a:r>
                    </a:p>
                  </a:txBody>
                  <a:tcPr marL="114300" marR="114300" marT="95250" marB="95250">
                    <a:lnR w="9525">
                      <a:solidFill>
                        <a:srgbClr val="CBD5DC"/>
                      </a:solidFill>
                      <a:prstDash val="solid"/>
                    </a:lnR>
                    <a:lnB w="9525">
                      <a:solidFill>
                        <a:srgbClr val="CBD5DC"/>
                      </a:solidFill>
                      <a:prstDash val="solid"/>
                    </a:lnB>
                    <a:solidFill>
                      <a:srgbClr val="FFFFFF"/>
                    </a:solidFill>
                  </a:tcPr>
                </a:tc>
              </a:tr>
              <a:tr h="800100">
                <a:tc>
                  <a:txBody>
                    <a:bodyPr/>
                    <a:lstStyle/>
                    <a:p>
                      <a:r>
                        <a:rPr sz="1875" b="0">
                          <a:solidFill>
                            <a:srgbClr val="172B3A"/>
                          </a:solidFill>
                          <a:latin typeface="Microsoft YaHei"/>
                          <a:ea typeface="Microsoft YaHei"/>
                          <a:cs typeface="Microsoft YaHei"/>
                        </a:rPr>
                        <a:t>最右端合计 £14,856.10</a:t>
                      </a:r>
                    </a:p>
                  </a:txBody>
                  <a:tcPr marL="114300" marR="114300" marT="95250" marB="95250">
                    <a:lnL w="9525">
                      <a:solidFill>
                        <a:srgbClr val="CBD5DC"/>
                      </a:solidFill>
                      <a:prstDash val="solid"/>
                    </a:lnL>
                    <a:lnR w="9525">
                      <a:solidFill>
                        <a:srgbClr val="CBD5DC"/>
                      </a:solidFill>
                      <a:prstDash val="solid"/>
                    </a:lnR>
                    <a:lnB w="9525">
                      <a:solidFill>
                        <a:srgbClr val="CBD5DC"/>
                      </a:solidFill>
                      <a:prstDash val="solid"/>
                    </a:lnB>
                    <a:solidFill>
                      <a:srgbClr val="EFF3F5"/>
                    </a:solidFill>
                  </a:tcPr>
                </a:tc>
                <a:tc>
                  <a:txBody>
                    <a:bodyPr/>
                    <a:lstStyle/>
                    <a:p>
                      <a:r>
                        <a:rPr sz="1875" b="0">
                          <a:solidFill>
                            <a:srgbClr val="172B3A"/>
                          </a:solidFill>
                          <a:latin typeface="Microsoft YaHei"/>
                          <a:ea typeface="Microsoft YaHei"/>
                          <a:cs typeface="Microsoft YaHei"/>
                        </a:rPr>
                        <a:t>含后续月份预填管理费</a:t>
                      </a:r>
                    </a:p>
                    <a:p>
                      <a:r>
                        <a:rPr sz="1875" b="0">
                          <a:solidFill>
                            <a:srgbClr val="172B3A"/>
                          </a:solidFill>
                          <a:latin typeface="Microsoft YaHei"/>
                          <a:ea typeface="Microsoft YaHei"/>
                          <a:cs typeface="Microsoft YaHei"/>
                        </a:rPr>
                        <a:t>不作为第 2 月已发生支出</a:t>
                      </a:r>
                    </a:p>
                  </a:txBody>
                  <a:tcPr marL="114300" marR="114300" marT="95250" marB="95250">
                    <a:lnR w="9525">
                      <a:solidFill>
                        <a:srgbClr val="CBD5DC"/>
                      </a:solidFill>
                      <a:prstDash val="solid"/>
                    </a:lnR>
                    <a:lnB w="9525">
                      <a:solidFill>
                        <a:srgbClr val="CBD5DC"/>
                      </a:solidFill>
                      <a:prstDash val="solid"/>
                    </a:lnB>
                    <a:solidFill>
                      <a:srgbClr val="EFF3F5"/>
                    </a:solidFill>
                  </a:tcPr>
                </a:tc>
              </a:tr>
              <a:tr h="800100">
                <a:tc>
                  <a:txBody>
                    <a:bodyPr/>
                    <a:lstStyle/>
                    <a:p>
                      <a:r>
                        <a:rPr sz="1875" b="0">
                          <a:solidFill>
                            <a:srgbClr val="172B3A"/>
                          </a:solidFill>
                          <a:latin typeface="Microsoft YaHei"/>
                          <a:ea typeface="Microsoft YaHei"/>
                          <a:cs typeface="Microsoft YaHei"/>
                        </a:rPr>
                        <a:t>“CURRENT PROJECT COSTS”</a:t>
                      </a:r>
                    </a:p>
                    <a:p>
                      <a:r>
                        <a:rPr sz="1875" b="0">
                          <a:solidFill>
                            <a:srgbClr val="172B3A"/>
                          </a:solidFill>
                          <a:latin typeface="Microsoft YaHei"/>
                          <a:ea typeface="Microsoft YaHei"/>
                          <a:cs typeface="Microsoft YaHei"/>
                        </a:rPr>
                        <a:t>汇总为 £9,733.10</a:t>
                      </a:r>
                    </a:p>
                  </a:txBody>
                  <a:tcPr marL="114300" marR="114300" marT="95250" marB="95250">
                    <a:lnL w="9525">
                      <a:solidFill>
                        <a:srgbClr val="CBD5DC"/>
                      </a:solidFill>
                      <a:prstDash val="solid"/>
                    </a:lnL>
                    <a:lnR w="9525">
                      <a:solidFill>
                        <a:srgbClr val="CBD5DC"/>
                      </a:solidFill>
                      <a:prstDash val="solid"/>
                    </a:lnR>
                    <a:lnB w="9525">
                      <a:solidFill>
                        <a:srgbClr val="CBD5DC"/>
                      </a:solidFill>
                      <a:prstDash val="solid"/>
                    </a:lnB>
                    <a:solidFill>
                      <a:srgbClr val="FFFFFF"/>
                    </a:solidFill>
                  </a:tcPr>
                </a:tc>
                <a:tc>
                  <a:txBody>
                    <a:bodyPr/>
                    <a:lstStyle/>
                    <a:p>
                      <a:r>
                        <a:rPr sz="1875" b="0">
                          <a:solidFill>
                            <a:srgbClr val="172B3A"/>
                          </a:solidFill>
                          <a:latin typeface="Microsoft YaHei"/>
                          <a:ea typeface="Microsoft YaHei"/>
                          <a:cs typeface="Microsoft YaHei"/>
                        </a:rPr>
                        <a:t>人员工时引用发生错位，且含全周期费用</a:t>
                      </a:r>
                    </a:p>
                    <a:p>
                      <a:r>
                        <a:rPr sz="1875" b="0">
                          <a:solidFill>
                            <a:srgbClr val="172B3A"/>
                          </a:solidFill>
                          <a:latin typeface="Microsoft YaHei"/>
                          <a:ea typeface="Microsoft YaHei"/>
                          <a:cs typeface="Microsoft YaHei"/>
                        </a:rPr>
                        <a:t>不直接作为本月累计值</a:t>
                      </a:r>
                    </a:p>
                  </a:txBody>
                  <a:tcPr marL="114300" marR="114300" marT="95250" marB="95250">
                    <a:lnR w="9525">
                      <a:solidFill>
                        <a:srgbClr val="CBD5DC"/>
                      </a:solidFill>
                      <a:prstDash val="solid"/>
                    </a:lnR>
                    <a:lnB w="9525">
                      <a:solidFill>
                        <a:srgbClr val="CBD5DC"/>
                      </a:solidFill>
                      <a:prstDash val="solid"/>
                    </a:lnB>
                    <a:solidFill>
                      <a:srgbClr val="FFFFFF"/>
                    </a:solidFill>
                  </a:tcPr>
                </a:tc>
              </a:tr>
              <a:tr h="800100">
                <a:tc>
                  <a:txBody>
                    <a:bodyPr/>
                    <a:lstStyle/>
                    <a:p>
                      <a:r>
                        <a:rPr sz="1875" b="0">
                          <a:solidFill>
                            <a:srgbClr val="172B3A"/>
                          </a:solidFill>
                          <a:latin typeface="Microsoft YaHei"/>
                          <a:ea typeface="Microsoft YaHei"/>
                          <a:cs typeface="Microsoft YaHei"/>
                        </a:rPr>
                        <a:t>管理费行文字 6826.5/6</a:t>
                      </a:r>
                    </a:p>
                  </a:txBody>
                  <a:tcPr marL="114300" marR="114300" marT="95250" marB="95250">
                    <a:lnL w="9525">
                      <a:solidFill>
                        <a:srgbClr val="CBD5DC"/>
                      </a:solidFill>
                      <a:prstDash val="solid"/>
                    </a:lnL>
                    <a:lnR w="9525">
                      <a:solidFill>
                        <a:srgbClr val="CBD5DC"/>
                      </a:solidFill>
                      <a:prstDash val="solid"/>
                    </a:lnR>
                    <a:lnB w="9525">
                      <a:solidFill>
                        <a:srgbClr val="CBD5DC"/>
                      </a:solidFill>
                      <a:prstDash val="solid"/>
                    </a:lnB>
                    <a:solidFill>
                      <a:srgbClr val="EFF3F5"/>
                    </a:solidFill>
                  </a:tcPr>
                </a:tc>
                <a:tc>
                  <a:txBody>
                    <a:bodyPr/>
                    <a:lstStyle/>
                    <a:p>
                      <a:r>
                        <a:rPr sz="1875" b="0">
                          <a:solidFill>
                            <a:srgbClr val="172B3A"/>
                          </a:solidFill>
                          <a:latin typeface="Microsoft YaHei"/>
                          <a:ea typeface="Microsoft YaHei"/>
                          <a:cs typeface="Microsoft YaHei"/>
                        </a:rPr>
                        <a:t>实际公式引用全周期管理费 £6,836.10</a:t>
                      </a:r>
                    </a:p>
                    <a:p>
                      <a:r>
                        <a:rPr sz="1875" b="0">
                          <a:solidFill>
                            <a:srgbClr val="172B3A"/>
                          </a:solidFill>
                          <a:latin typeface="Microsoft YaHei"/>
                          <a:ea typeface="Microsoft YaHei"/>
                          <a:cs typeface="Microsoft YaHei"/>
                        </a:rPr>
                        <a:t>每月 £1,139.35，文字说明待修正</a:t>
                      </a:r>
                    </a:p>
                  </a:txBody>
                  <a:tcPr marL="114300" marR="114300" marT="95250" marB="95250">
                    <a:lnR w="9525">
                      <a:solidFill>
                        <a:srgbClr val="CBD5DC"/>
                      </a:solidFill>
                      <a:prstDash val="solid"/>
                    </a:lnR>
                    <a:lnB w="9525">
                      <a:solidFill>
                        <a:srgbClr val="CBD5DC"/>
                      </a:solidFill>
                      <a:prstDash val="solid"/>
                    </a:lnB>
                    <a:solidFill>
                      <a:srgbClr val="EFF3F5"/>
                    </a:solidFill>
                  </a:tcPr>
                </a:tc>
              </a:tr>
            </a:tbl>
          </a:graphicData>
        </a:graphic>
      </p:graphicFrame>
      <p:sp>
        <p:nvSpPr>
          <p:cNvPr id="3" name="">
            <a:extLst xmlns:a="http://schemas.openxmlformats.org/drawingml/2006/main">
              <a:ext uri="{FF2B5EF4-FFF2-40B4-BE49-F238E27FC236}">
                <a16:creationId xmlns:a16="http://schemas.microsoft.com/office/drawing/2014/main" id="{53C87276-E3A2-45B7-9F06-662CD8BBFBA1}"/>
              </a:ext>
            </a:extLst>
          </p:cNvPr>
          <p:cNvSpPr>
            <a:spLocks xmlns:a="http://schemas.openxmlformats.org/drawingml/2006/main" noGrp="1"/>
          </p:cNvSpPr>
          <p:nvPr/>
        </p:nvSpPr>
        <p:spPr>
          <a:xfrm xmlns:a="http://schemas.openxmlformats.org/drawingml/2006/main">
            <a:off x="619125" y="575310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72B3A"/>
                </a:solidFill>
                <a:latin typeface="Microsoft YaHei"/>
                <a:ea typeface="Microsoft YaHei"/>
                <a:cs typeface="Microsoft YaHei"/>
              </a:defRPr>
            </a:defPPr>
          </a:lstStyle>
          <a:p xmlns:a="http://schemas.openxmlformats.org/drawingml/2006/main">
            <a:pPr>
              <a:defRPr sz="1875" b="0">
                <a:solidFill>
                  <a:srgbClr val="172B3A"/>
                </a:solidFill>
                <a:latin typeface="Microsoft YaHei"/>
                <a:ea typeface="Microsoft YaHei"/>
                <a:cs typeface="Microsoft YaHei"/>
              </a:defRPr>
            </a:pPr>
            <a:r>
              <a:rPr sz="1875" b="0">
                <a:solidFill>
                  <a:srgbClr val="172B3A"/>
                </a:solidFill>
                <a:latin typeface="Microsoft YaHei"/>
                <a:ea typeface="Microsoft YaHei"/>
                <a:cs typeface="Microsoft YaHei"/>
              </a:rPr>
              <a:t>材料仍需财务确认，但已有明细足以形成上述暂定月度口径。</a:t>
            </a:r>
          </a:p>
          <a:p xmlns:a="http://schemas.openxmlformats.org/drawingml/2006/main">
            <a:pPr>
              <a:defRPr sz="1875" b="0">
                <a:solidFill>
                  <a:srgbClr val="172B3A"/>
                </a:solidFill>
                <a:latin typeface="Microsoft YaHei"/>
                <a:ea typeface="Microsoft YaHei"/>
                <a:cs typeface="Microsoft YaHei"/>
              </a:defRPr>
            </a:pPr>
            <a:r>
              <a:rPr sz="1875" b="0">
                <a:solidFill>
                  <a:srgbClr val="172B3A"/>
                </a:solidFill>
                <a:latin typeface="Microsoft YaHei"/>
                <a:ea typeface="Microsoft YaHei"/>
                <a:cs typeface="Microsoft YaHei"/>
              </a:rPr>
              <a:t>不将全周期预算解释为已到账资助，也不据此判断最终预算必然超支。</a:t>
            </a:r>
          </a:p>
        </p:txBody>
      </p:sp>
    </p:spTree>
    <p:extLst>
      <p:ext uri="{BB962C8B-B14F-4D97-AF65-F5344CB8AC3E}">
        <p14:creationId xmlns:p14="http://schemas.microsoft.com/office/powerpoint/2010/main" val="368883162"/>
      </p:ext>
    </p:extLst>
  </p:cSld>
</p:sld>
</file>

<file path=ppt/slides/slide7.xml><?xml version="1.0" encoding="utf-8"?>
<p:sld xmlns:p="http://schemas.openxmlformats.org/presentationml/2006/main">
  <p:cSld>
    <p:bg>
      <p:bgPr>
        <a:solidFill xmlns:a="http://schemas.openxmlformats.org/drawingml/2006/main">
          <a:srgbClr val="FAFBFC"/>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033CBB55-11EC-43E7-BB8E-67805412F053}"/>
              </a:ext>
            </a:extLst>
          </p:cNvPr>
          <p:cNvSpPr>
            <a:spLocks xmlns:a="http://schemas.openxmlformats.org/drawingml/2006/main" noGrp="1"/>
          </p:cNvSpPr>
          <p:nvPr/>
        </p:nvSpPr>
        <p:spPr>
          <a:xfrm xmlns:a="http://schemas.openxmlformats.org/drawingml/2006/main">
            <a:off x="619125" y="457200"/>
            <a:ext cx="10953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23E52"/>
                </a:solidFill>
                <a:latin typeface="Microsoft YaHei"/>
                <a:ea typeface="Microsoft YaHei"/>
                <a:cs typeface="Microsoft YaHei"/>
              </a:defRPr>
            </a:defPPr>
          </a:lstStyle>
          <a:p xmlns:a="http://schemas.openxmlformats.org/drawingml/2006/main">
            <a:pPr>
              <a:defRPr sz="3300" b="1">
                <a:solidFill>
                  <a:srgbClr val="123E52"/>
                </a:solidFill>
                <a:latin typeface="Microsoft YaHei"/>
                <a:ea typeface="Microsoft YaHei"/>
                <a:cs typeface="Microsoft YaHei"/>
              </a:defRPr>
            </a:pPr>
            <a:r>
              <a:rPr sz="3300" b="1">
                <a:solidFill>
                  <a:srgbClr val="123E52"/>
                </a:solidFill>
                <a:latin typeface="Microsoft YaHei"/>
                <a:ea typeface="Microsoft YaHei"/>
                <a:cs typeface="Microsoft YaHei"/>
              </a:rPr>
              <a:t>风险回顾</a:t>
            </a:r>
          </a:p>
        </p:txBody>
      </p:sp>
      <p:graphicFrame>
        <p:nvGraphicFramePr>
          <p:cNvPr id="2" name="">
            <a:extLst xmlns:a="http://schemas.openxmlformats.org/drawingml/2006/main">
              <a:ext uri="{FF2B5EF4-FFF2-40B4-BE49-F238E27FC236}">
                <a16:creationId xmlns:a16="http://schemas.microsoft.com/office/drawing/2014/main" id="{63BEC609-E543-47B3-986A-CB2566E239DF}"/>
              </a:ext>
            </a:extLst>
          </p:cNvPr>
          <p:cNvGraphicFramePr/>
          <p:nvPr/>
        </p:nvGraphicFramePr>
        <p:xfrm>
          <a:off xmlns:a="http://schemas.openxmlformats.org/drawingml/2006/main" x="619125" y="1428750"/>
          <a:ext xmlns:a="http://schemas.openxmlformats.org/drawingml/2006/main" cx="10953750" cy="3333750"/>
        </p:xfrm>
        <a:graphic xmlns:a="http://schemas.openxmlformats.org/drawingml/2006/main">
          <a:graphicData uri="http://schemas.openxmlformats.org/drawingml/2006/table">
            <a:tbl>
              <a:tblPr/>
              <a:tblGrid>
                <a:gridCol w="3429000"/>
                <a:gridCol w="2190750"/>
                <a:gridCol w="2286000"/>
                <a:gridCol w="3048000"/>
              </a:tblGrid>
              <a:tr h="666750">
                <a:tc>
                  <a:txBody>
                    <a:bodyPr/>
                    <a:lstStyle/>
                    <a:p>
                      <a:r>
                        <a:rPr sz="1725" b="1">
                          <a:solidFill>
                            <a:srgbClr val="FFFFFF"/>
                          </a:solidFill>
                          <a:latin typeface="Microsoft YaHei"/>
                          <a:ea typeface="Microsoft YaHei"/>
                          <a:cs typeface="Microsoft YaHei"/>
                        </a:rPr>
                        <a:t>风险</a:t>
                      </a:r>
                    </a:p>
                  </a:txBody>
                  <a:tcPr marL="114300" marR="114300" marT="95250" marB="95250">
                    <a:lnL w="9525">
                      <a:solidFill>
                        <a:srgbClr val="CBD5DC"/>
                      </a:solidFill>
                      <a:prstDash val="solid"/>
                    </a:lnL>
                    <a:lnR w="9525">
                      <a:solidFill>
                        <a:srgbClr val="CBD5DC"/>
                      </a:solidFill>
                      <a:prstDash val="solid"/>
                    </a:lnR>
                    <a:lnT w="9525">
                      <a:solidFill>
                        <a:srgbClr val="CBD5DC"/>
                      </a:solidFill>
                      <a:prstDash val="solid"/>
                    </a:lnT>
                    <a:lnB w="9525">
                      <a:solidFill>
                        <a:srgbClr val="CBD5DC"/>
                      </a:solidFill>
                      <a:prstDash val="solid"/>
                    </a:lnB>
                    <a:solidFill>
                      <a:srgbClr val="123E52"/>
                    </a:solidFill>
                  </a:tcPr>
                </a:tc>
                <a:tc>
                  <a:txBody>
                    <a:bodyPr/>
                    <a:lstStyle/>
                    <a:p>
                      <a:r>
                        <a:rPr sz="1725" b="1">
                          <a:solidFill>
                            <a:srgbClr val="FFFFFF"/>
                          </a:solidFill>
                          <a:latin typeface="Microsoft YaHei"/>
                          <a:ea typeface="Microsoft YaHei"/>
                          <a:cs typeface="Microsoft YaHei"/>
                        </a:rPr>
                        <a:t>初始可能性／影响</a:t>
                      </a:r>
                    </a:p>
                  </a:txBody>
                  <a:tcPr marL="114300" marR="114300" marT="95250" marB="95250">
                    <a:lnR w="9525">
                      <a:solidFill>
                        <a:srgbClr val="CBD5DC"/>
                      </a:solidFill>
                      <a:prstDash val="solid"/>
                    </a:lnR>
                    <a:lnT w="9525">
                      <a:solidFill>
                        <a:srgbClr val="CBD5DC"/>
                      </a:solidFill>
                      <a:prstDash val="solid"/>
                    </a:lnT>
                    <a:lnB w="9525">
                      <a:solidFill>
                        <a:srgbClr val="CBD5DC"/>
                      </a:solidFill>
                      <a:prstDash val="solid"/>
                    </a:lnB>
                    <a:solidFill>
                      <a:srgbClr val="123E52"/>
                    </a:solidFill>
                  </a:tcPr>
                </a:tc>
                <a:tc>
                  <a:txBody>
                    <a:bodyPr/>
                    <a:lstStyle/>
                    <a:p>
                      <a:r>
                        <a:rPr sz="1725" b="1">
                          <a:solidFill>
                            <a:srgbClr val="FFFFFF"/>
                          </a:solidFill>
                          <a:latin typeface="Microsoft YaHei"/>
                          <a:ea typeface="Microsoft YaHei"/>
                          <a:cs typeface="Microsoft YaHei"/>
                        </a:rPr>
                        <a:t>缓解后可能性／影响</a:t>
                      </a:r>
                    </a:p>
                  </a:txBody>
                  <a:tcPr marL="114300" marR="114300" marT="95250" marB="95250">
                    <a:lnR w="9525">
                      <a:solidFill>
                        <a:srgbClr val="CBD5DC"/>
                      </a:solidFill>
                      <a:prstDash val="solid"/>
                    </a:lnR>
                    <a:lnT w="9525">
                      <a:solidFill>
                        <a:srgbClr val="CBD5DC"/>
                      </a:solidFill>
                      <a:prstDash val="solid"/>
                    </a:lnT>
                    <a:lnB w="9525">
                      <a:solidFill>
                        <a:srgbClr val="CBD5DC"/>
                      </a:solidFill>
                      <a:prstDash val="solid"/>
                    </a:lnB>
                    <a:solidFill>
                      <a:srgbClr val="123E52"/>
                    </a:solidFill>
                  </a:tcPr>
                </a:tc>
                <a:tc>
                  <a:txBody>
                    <a:bodyPr/>
                    <a:lstStyle/>
                    <a:p>
                      <a:r>
                        <a:rPr sz="1725" b="1">
                          <a:solidFill>
                            <a:srgbClr val="FFFFFF"/>
                          </a:solidFill>
                          <a:latin typeface="Microsoft YaHei"/>
                          <a:ea typeface="Microsoft YaHei"/>
                          <a:cs typeface="Microsoft YaHei"/>
                        </a:rPr>
                        <a:t>现有缓解措施</a:t>
                      </a:r>
                    </a:p>
                  </a:txBody>
                  <a:tcPr marL="114300" marR="114300" marT="95250" marB="95250">
                    <a:lnR w="9525">
                      <a:solidFill>
                        <a:srgbClr val="CBD5DC"/>
                      </a:solidFill>
                      <a:prstDash val="solid"/>
                    </a:lnR>
                    <a:lnT w="9525">
                      <a:solidFill>
                        <a:srgbClr val="CBD5DC"/>
                      </a:solidFill>
                      <a:prstDash val="solid"/>
                    </a:lnT>
                    <a:lnB w="9525">
                      <a:solidFill>
                        <a:srgbClr val="CBD5DC"/>
                      </a:solidFill>
                      <a:prstDash val="solid"/>
                    </a:lnB>
                    <a:solidFill>
                      <a:srgbClr val="123E52"/>
                    </a:solidFill>
                  </a:tcPr>
                </a:tc>
              </a:tr>
              <a:tr h="666750">
                <a:tc>
                  <a:txBody>
                    <a:bodyPr/>
                    <a:lstStyle/>
                    <a:p>
                      <a:r>
                        <a:rPr sz="1725" b="0">
                          <a:solidFill>
                            <a:srgbClr val="172B3A"/>
                          </a:solidFill>
                          <a:latin typeface="Microsoft YaHei"/>
                          <a:ea typeface="Microsoft YaHei"/>
                          <a:cs typeface="Microsoft YaHei"/>
                        </a:rPr>
                        <a:t>1 本地信息系统适配</a:t>
                      </a:r>
                    </a:p>
                  </a:txBody>
                  <a:tcPr marL="114300" marR="114300" marT="95250" marB="95250">
                    <a:lnL w="9525">
                      <a:solidFill>
                        <a:srgbClr val="CBD5DC"/>
                      </a:solidFill>
                      <a:prstDash val="solid"/>
                    </a:lnL>
                    <a:lnR w="9525">
                      <a:solidFill>
                        <a:srgbClr val="CBD5DC"/>
                      </a:solidFill>
                      <a:prstDash val="solid"/>
                    </a:lnR>
                    <a:lnB w="9525">
                      <a:solidFill>
                        <a:srgbClr val="CBD5DC"/>
                      </a:solidFill>
                      <a:prstDash val="solid"/>
                    </a:lnB>
                    <a:solidFill>
                      <a:srgbClr val="FFFFFF"/>
                    </a:solidFill>
                  </a:tcPr>
                </a:tc>
                <a:tc>
                  <a:txBody>
                    <a:bodyPr/>
                    <a:lstStyle/>
                    <a:p>
                      <a:r>
                        <a:rPr sz="1725" b="0">
                          <a:solidFill>
                            <a:srgbClr val="172B3A"/>
                          </a:solidFill>
                          <a:latin typeface="Microsoft YaHei"/>
                          <a:ea typeface="Microsoft YaHei"/>
                          <a:cs typeface="Microsoft YaHei"/>
                        </a:rPr>
                        <a:t>中／高</a:t>
                      </a:r>
                    </a:p>
                  </a:txBody>
                  <a:tcPr marL="114300" marR="114300" marT="95250" marB="95250">
                    <a:lnR w="9525">
                      <a:solidFill>
                        <a:srgbClr val="CBD5DC"/>
                      </a:solidFill>
                      <a:prstDash val="solid"/>
                    </a:lnR>
                    <a:lnB w="9525">
                      <a:solidFill>
                        <a:srgbClr val="CBD5DC"/>
                      </a:solidFill>
                      <a:prstDash val="solid"/>
                    </a:lnB>
                    <a:solidFill>
                      <a:srgbClr val="FFFFFF"/>
                    </a:solidFill>
                  </a:tcPr>
                </a:tc>
                <a:tc>
                  <a:txBody>
                    <a:bodyPr/>
                    <a:lstStyle/>
                    <a:p>
                      <a:r>
                        <a:rPr sz="1725" b="0">
                          <a:solidFill>
                            <a:srgbClr val="172B3A"/>
                          </a:solidFill>
                          <a:latin typeface="Microsoft YaHei"/>
                          <a:ea typeface="Microsoft YaHei"/>
                          <a:cs typeface="Microsoft YaHei"/>
                        </a:rPr>
                        <a:t>低／中</a:t>
                      </a:r>
                    </a:p>
                  </a:txBody>
                  <a:tcPr marL="114300" marR="114300" marT="95250" marB="95250">
                    <a:lnR w="9525">
                      <a:solidFill>
                        <a:srgbClr val="CBD5DC"/>
                      </a:solidFill>
                      <a:prstDash val="solid"/>
                    </a:lnR>
                    <a:lnB w="9525">
                      <a:solidFill>
                        <a:srgbClr val="CBD5DC"/>
                      </a:solidFill>
                      <a:prstDash val="solid"/>
                    </a:lnB>
                    <a:solidFill>
                      <a:srgbClr val="FFFFFF"/>
                    </a:solidFill>
                  </a:tcPr>
                </a:tc>
                <a:tc>
                  <a:txBody>
                    <a:bodyPr/>
                    <a:lstStyle/>
                    <a:p>
                      <a:r>
                        <a:rPr sz="1725" b="0">
                          <a:solidFill>
                            <a:srgbClr val="172B3A"/>
                          </a:solidFill>
                          <a:latin typeface="Microsoft YaHei"/>
                          <a:ea typeface="Microsoft YaHei"/>
                          <a:cs typeface="Microsoft YaHei"/>
                        </a:rPr>
                        <a:t>迭代反馈、前期系统调研</a:t>
                      </a:r>
                    </a:p>
                    <a:p>
                      <a:r>
                        <a:rPr sz="1725" b="0">
                          <a:solidFill>
                            <a:srgbClr val="172B3A"/>
                          </a:solidFill>
                          <a:latin typeface="Microsoft YaHei"/>
                          <a:ea typeface="Microsoft YaHei"/>
                          <a:cs typeface="Microsoft YaHei"/>
                        </a:rPr>
                        <a:t>必要时调整平台复杂度</a:t>
                      </a:r>
                    </a:p>
                  </a:txBody>
                  <a:tcPr marL="114300" marR="114300" marT="95250" marB="95250">
                    <a:lnR w="9525">
                      <a:solidFill>
                        <a:srgbClr val="CBD5DC"/>
                      </a:solidFill>
                      <a:prstDash val="solid"/>
                    </a:lnR>
                    <a:lnB w="9525">
                      <a:solidFill>
                        <a:srgbClr val="CBD5DC"/>
                      </a:solidFill>
                      <a:prstDash val="solid"/>
                    </a:lnB>
                    <a:solidFill>
                      <a:srgbClr val="FFFFFF"/>
                    </a:solidFill>
                  </a:tcPr>
                </a:tc>
              </a:tr>
              <a:tr h="666750">
                <a:tc>
                  <a:txBody>
                    <a:bodyPr/>
                    <a:lstStyle/>
                    <a:p>
                      <a:r>
                        <a:rPr sz="1725" b="0">
                          <a:solidFill>
                            <a:srgbClr val="172B3A"/>
                          </a:solidFill>
                          <a:latin typeface="Microsoft YaHei"/>
                          <a:ea typeface="Microsoft YaHei"/>
                          <a:cs typeface="Microsoft YaHei"/>
                        </a:rPr>
                        <a:t>2 人员可用性下降</a:t>
                      </a:r>
                    </a:p>
                  </a:txBody>
                  <a:tcPr marL="114300" marR="114300" marT="95250" marB="95250">
                    <a:lnL w="9525">
                      <a:solidFill>
                        <a:srgbClr val="CBD5DC"/>
                      </a:solidFill>
                      <a:prstDash val="solid"/>
                    </a:lnL>
                    <a:lnR w="9525">
                      <a:solidFill>
                        <a:srgbClr val="CBD5DC"/>
                      </a:solidFill>
                      <a:prstDash val="solid"/>
                    </a:lnR>
                    <a:lnB w="9525">
                      <a:solidFill>
                        <a:srgbClr val="CBD5DC"/>
                      </a:solidFill>
                      <a:prstDash val="solid"/>
                    </a:lnB>
                    <a:solidFill>
                      <a:srgbClr val="EFF3F5"/>
                    </a:solidFill>
                  </a:tcPr>
                </a:tc>
                <a:tc>
                  <a:txBody>
                    <a:bodyPr/>
                    <a:lstStyle/>
                    <a:p>
                      <a:r>
                        <a:rPr sz="1725" b="0">
                          <a:solidFill>
                            <a:srgbClr val="172B3A"/>
                          </a:solidFill>
                          <a:latin typeface="Microsoft YaHei"/>
                          <a:ea typeface="Microsoft YaHei"/>
                          <a:cs typeface="Microsoft YaHei"/>
                        </a:rPr>
                        <a:t>中／中</a:t>
                      </a:r>
                    </a:p>
                  </a:txBody>
                  <a:tcPr marL="114300" marR="114300" marT="95250" marB="95250">
                    <a:lnR w="9525">
                      <a:solidFill>
                        <a:srgbClr val="CBD5DC"/>
                      </a:solidFill>
                      <a:prstDash val="solid"/>
                    </a:lnR>
                    <a:lnB w="9525">
                      <a:solidFill>
                        <a:srgbClr val="CBD5DC"/>
                      </a:solidFill>
                      <a:prstDash val="solid"/>
                    </a:lnB>
                    <a:solidFill>
                      <a:srgbClr val="EFF3F5"/>
                    </a:solidFill>
                  </a:tcPr>
                </a:tc>
                <a:tc>
                  <a:txBody>
                    <a:bodyPr/>
                    <a:lstStyle/>
                    <a:p>
                      <a:r>
                        <a:rPr sz="1725" b="0">
                          <a:solidFill>
                            <a:srgbClr val="172B3A"/>
                          </a:solidFill>
                          <a:latin typeface="Microsoft YaHei"/>
                          <a:ea typeface="Microsoft YaHei"/>
                          <a:cs typeface="Microsoft YaHei"/>
                        </a:rPr>
                        <a:t>低／低</a:t>
                      </a:r>
                    </a:p>
                  </a:txBody>
                  <a:tcPr marL="114300" marR="114300" marT="95250" marB="95250">
                    <a:lnR w="9525">
                      <a:solidFill>
                        <a:srgbClr val="CBD5DC"/>
                      </a:solidFill>
                      <a:prstDash val="solid"/>
                    </a:lnR>
                    <a:lnB w="9525">
                      <a:solidFill>
                        <a:srgbClr val="CBD5DC"/>
                      </a:solidFill>
                      <a:prstDash val="solid"/>
                    </a:lnB>
                    <a:solidFill>
                      <a:srgbClr val="EFF3F5"/>
                    </a:solidFill>
                  </a:tcPr>
                </a:tc>
                <a:tc>
                  <a:txBody>
                    <a:bodyPr/>
                    <a:lstStyle/>
                    <a:p>
                      <a:r>
                        <a:rPr sz="1725" b="0">
                          <a:solidFill>
                            <a:srgbClr val="172B3A"/>
                          </a:solidFill>
                          <a:latin typeface="Microsoft YaHei"/>
                          <a:ea typeface="Microsoft YaHei"/>
                          <a:cs typeface="Microsoft YaHei"/>
                        </a:rPr>
                        <a:t>远程协作及团队资源冗余</a:t>
                      </a:r>
                    </a:p>
                  </a:txBody>
                  <a:tcPr marL="114300" marR="114300" marT="95250" marB="95250">
                    <a:lnR w="9525">
                      <a:solidFill>
                        <a:srgbClr val="CBD5DC"/>
                      </a:solidFill>
                      <a:prstDash val="solid"/>
                    </a:lnR>
                    <a:lnB w="9525">
                      <a:solidFill>
                        <a:srgbClr val="CBD5DC"/>
                      </a:solidFill>
                      <a:prstDash val="solid"/>
                    </a:lnB>
                    <a:solidFill>
                      <a:srgbClr val="EFF3F5"/>
                    </a:solidFill>
                  </a:tcPr>
                </a:tc>
              </a:tr>
              <a:tr h="666750">
                <a:tc>
                  <a:txBody>
                    <a:bodyPr/>
                    <a:lstStyle/>
                    <a:p>
                      <a:r>
                        <a:rPr sz="1725" b="0">
                          <a:solidFill>
                            <a:srgbClr val="172B3A"/>
                          </a:solidFill>
                          <a:latin typeface="Microsoft YaHei"/>
                          <a:ea typeface="Microsoft YaHei"/>
                          <a:cs typeface="Microsoft YaHei"/>
                        </a:rPr>
                        <a:t>3 相关方参与或数据不足</a:t>
                      </a:r>
                    </a:p>
                  </a:txBody>
                  <a:tcPr marL="114300" marR="114300" marT="95250" marB="95250">
                    <a:lnL w="9525">
                      <a:solidFill>
                        <a:srgbClr val="CBD5DC"/>
                      </a:solidFill>
                      <a:prstDash val="solid"/>
                    </a:lnL>
                    <a:lnR w="9525">
                      <a:solidFill>
                        <a:srgbClr val="CBD5DC"/>
                      </a:solidFill>
                      <a:prstDash val="solid"/>
                    </a:lnR>
                    <a:lnB w="9525">
                      <a:solidFill>
                        <a:srgbClr val="CBD5DC"/>
                      </a:solidFill>
                      <a:prstDash val="solid"/>
                    </a:lnB>
                    <a:solidFill>
                      <a:srgbClr val="FFFFFF"/>
                    </a:solidFill>
                  </a:tcPr>
                </a:tc>
                <a:tc>
                  <a:txBody>
                    <a:bodyPr/>
                    <a:lstStyle/>
                    <a:p>
                      <a:r>
                        <a:rPr sz="1725" b="0">
                          <a:solidFill>
                            <a:srgbClr val="172B3A"/>
                          </a:solidFill>
                          <a:latin typeface="Microsoft YaHei"/>
                          <a:ea typeface="Microsoft YaHei"/>
                          <a:cs typeface="Microsoft YaHei"/>
                        </a:rPr>
                        <a:t>中／高</a:t>
                      </a:r>
                    </a:p>
                  </a:txBody>
                  <a:tcPr marL="114300" marR="114300" marT="95250" marB="95250">
                    <a:lnR w="9525">
                      <a:solidFill>
                        <a:srgbClr val="CBD5DC"/>
                      </a:solidFill>
                      <a:prstDash val="solid"/>
                    </a:lnR>
                    <a:lnB w="9525">
                      <a:solidFill>
                        <a:srgbClr val="CBD5DC"/>
                      </a:solidFill>
                      <a:prstDash val="solid"/>
                    </a:lnB>
                    <a:solidFill>
                      <a:srgbClr val="FFFFFF"/>
                    </a:solidFill>
                  </a:tcPr>
                </a:tc>
                <a:tc>
                  <a:txBody>
                    <a:bodyPr/>
                    <a:lstStyle/>
                    <a:p>
                      <a:r>
                        <a:rPr sz="1725" b="0">
                          <a:solidFill>
                            <a:srgbClr val="172B3A"/>
                          </a:solidFill>
                          <a:latin typeface="Microsoft YaHei"/>
                          <a:ea typeface="Microsoft YaHei"/>
                          <a:cs typeface="Microsoft YaHei"/>
                        </a:rPr>
                        <a:t>低／中</a:t>
                      </a:r>
                    </a:p>
                  </a:txBody>
                  <a:tcPr marL="114300" marR="114300" marT="95250" marB="95250">
                    <a:lnR w="9525">
                      <a:solidFill>
                        <a:srgbClr val="CBD5DC"/>
                      </a:solidFill>
                      <a:prstDash val="solid"/>
                    </a:lnR>
                    <a:lnB w="9525">
                      <a:solidFill>
                        <a:srgbClr val="CBD5DC"/>
                      </a:solidFill>
                      <a:prstDash val="solid"/>
                    </a:lnB>
                    <a:solidFill>
                      <a:srgbClr val="FFFFFF"/>
                    </a:solidFill>
                  </a:tcPr>
                </a:tc>
                <a:tc>
                  <a:txBody>
                    <a:bodyPr/>
                    <a:lstStyle/>
                    <a:p>
                      <a:r>
                        <a:rPr sz="1725" b="0">
                          <a:solidFill>
                            <a:srgbClr val="172B3A"/>
                          </a:solidFill>
                          <a:latin typeface="Microsoft YaHei"/>
                          <a:ea typeface="Microsoft YaHei"/>
                          <a:cs typeface="Microsoft YaHei"/>
                        </a:rPr>
                        <a:t>保持试点参与</a:t>
                      </a:r>
                    </a:p>
                    <a:p>
                      <a:r>
                        <a:rPr sz="1725" b="0">
                          <a:solidFill>
                            <a:srgbClr val="172B3A"/>
                          </a:solidFill>
                          <a:latin typeface="Microsoft YaHei"/>
                          <a:ea typeface="Microsoft YaHei"/>
                          <a:cs typeface="Microsoft YaHei"/>
                        </a:rPr>
                        <a:t>必要时引入网络内其他用户</a:t>
                      </a:r>
                    </a:p>
                  </a:txBody>
                  <a:tcPr marL="114300" marR="114300" marT="95250" marB="95250">
                    <a:lnR w="9525">
                      <a:solidFill>
                        <a:srgbClr val="CBD5DC"/>
                      </a:solidFill>
                      <a:prstDash val="solid"/>
                    </a:lnR>
                    <a:lnB w="9525">
                      <a:solidFill>
                        <a:srgbClr val="CBD5DC"/>
                      </a:solidFill>
                      <a:prstDash val="solid"/>
                    </a:lnB>
                    <a:solidFill>
                      <a:srgbClr val="FFFFFF"/>
                    </a:solidFill>
                  </a:tcPr>
                </a:tc>
              </a:tr>
              <a:tr h="666750">
                <a:tc>
                  <a:txBody>
                    <a:bodyPr/>
                    <a:lstStyle/>
                    <a:p>
                      <a:r>
                        <a:rPr sz="1725" b="0">
                          <a:solidFill>
                            <a:srgbClr val="172B3A"/>
                          </a:solidFill>
                          <a:latin typeface="Microsoft YaHei"/>
                          <a:ea typeface="Microsoft YaHei"/>
                          <a:cs typeface="Microsoft YaHei"/>
                        </a:rPr>
                        <a:t>4 POC 能力与用户预期差距</a:t>
                      </a:r>
                    </a:p>
                  </a:txBody>
                  <a:tcPr marL="114300" marR="114300" marT="95250" marB="95250">
                    <a:lnL w="9525">
                      <a:solidFill>
                        <a:srgbClr val="CBD5DC"/>
                      </a:solidFill>
                      <a:prstDash val="solid"/>
                    </a:lnL>
                    <a:lnR w="9525">
                      <a:solidFill>
                        <a:srgbClr val="CBD5DC"/>
                      </a:solidFill>
                      <a:prstDash val="solid"/>
                    </a:lnR>
                    <a:lnB w="9525">
                      <a:solidFill>
                        <a:srgbClr val="CBD5DC"/>
                      </a:solidFill>
                      <a:prstDash val="solid"/>
                    </a:lnB>
                    <a:solidFill>
                      <a:srgbClr val="EFF3F5"/>
                    </a:solidFill>
                  </a:tcPr>
                </a:tc>
                <a:tc>
                  <a:txBody>
                    <a:bodyPr/>
                    <a:lstStyle/>
                    <a:p>
                      <a:r>
                        <a:rPr sz="1725" b="0">
                          <a:solidFill>
                            <a:srgbClr val="172B3A"/>
                          </a:solidFill>
                          <a:latin typeface="Microsoft YaHei"/>
                          <a:ea typeface="Microsoft YaHei"/>
                          <a:cs typeface="Microsoft YaHei"/>
                        </a:rPr>
                        <a:t>中／中</a:t>
                      </a:r>
                    </a:p>
                  </a:txBody>
                  <a:tcPr marL="114300" marR="114300" marT="95250" marB="95250">
                    <a:lnR w="9525">
                      <a:solidFill>
                        <a:srgbClr val="CBD5DC"/>
                      </a:solidFill>
                      <a:prstDash val="solid"/>
                    </a:lnR>
                    <a:lnB w="9525">
                      <a:solidFill>
                        <a:srgbClr val="CBD5DC"/>
                      </a:solidFill>
                      <a:prstDash val="solid"/>
                    </a:lnB>
                    <a:solidFill>
                      <a:srgbClr val="EFF3F5"/>
                    </a:solidFill>
                  </a:tcPr>
                </a:tc>
                <a:tc>
                  <a:txBody>
                    <a:bodyPr/>
                    <a:lstStyle/>
                    <a:p>
                      <a:r>
                        <a:rPr sz="1725" b="0">
                          <a:solidFill>
                            <a:srgbClr val="172B3A"/>
                          </a:solidFill>
                          <a:latin typeface="Microsoft YaHei"/>
                          <a:ea typeface="Microsoft YaHei"/>
                          <a:cs typeface="Microsoft YaHei"/>
                        </a:rPr>
                        <a:t>低／低</a:t>
                      </a:r>
                    </a:p>
                  </a:txBody>
                  <a:tcPr marL="114300" marR="114300" marT="95250" marB="95250">
                    <a:lnR w="9525">
                      <a:solidFill>
                        <a:srgbClr val="CBD5DC"/>
                      </a:solidFill>
                      <a:prstDash val="solid"/>
                    </a:lnR>
                    <a:lnB w="9525">
                      <a:solidFill>
                        <a:srgbClr val="CBD5DC"/>
                      </a:solidFill>
                      <a:prstDash val="solid"/>
                    </a:lnB>
                    <a:solidFill>
                      <a:srgbClr val="EFF3F5"/>
                    </a:solidFill>
                  </a:tcPr>
                </a:tc>
                <a:tc>
                  <a:txBody>
                    <a:bodyPr/>
                    <a:lstStyle/>
                    <a:p>
                      <a:r>
                        <a:rPr sz="1725" b="0">
                          <a:solidFill>
                            <a:srgbClr val="172B3A"/>
                          </a:solidFill>
                          <a:latin typeface="Microsoft YaHei"/>
                          <a:ea typeface="Microsoft YaHei"/>
                          <a:cs typeface="Microsoft YaHei"/>
                        </a:rPr>
                        <a:t>持续反馈，说明概念验证边界</a:t>
                      </a:r>
                    </a:p>
                  </a:txBody>
                  <a:tcPr marL="114300" marR="114300" marT="95250" marB="95250">
                    <a:lnR w="9525">
                      <a:solidFill>
                        <a:srgbClr val="CBD5DC"/>
                      </a:solidFill>
                      <a:prstDash val="solid"/>
                    </a:lnR>
                    <a:lnB w="9525">
                      <a:solidFill>
                        <a:srgbClr val="CBD5DC"/>
                      </a:solidFill>
                      <a:prstDash val="solid"/>
                    </a:lnB>
                    <a:solidFill>
                      <a:srgbClr val="EFF3F5"/>
                    </a:solidFill>
                  </a:tcPr>
                </a:tc>
              </a:tr>
            </a:tbl>
          </a:graphicData>
        </a:graphic>
      </p:graphicFrame>
      <p:sp>
        <p:nvSpPr>
          <p:cNvPr id="3" name="">
            <a:extLst xmlns:a="http://schemas.openxmlformats.org/drawingml/2006/main">
              <a:ext uri="{FF2B5EF4-FFF2-40B4-BE49-F238E27FC236}">
                <a16:creationId xmlns:a16="http://schemas.microsoft.com/office/drawing/2014/main" id="{DCB9FF69-5920-4658-BD4A-6DB9075A3EAB}"/>
              </a:ext>
            </a:extLst>
          </p:cNvPr>
          <p:cNvSpPr>
            <a:spLocks xmlns:a="http://schemas.openxmlformats.org/drawingml/2006/main" noGrp="1"/>
          </p:cNvSpPr>
          <p:nvPr/>
        </p:nvSpPr>
        <p:spPr>
          <a:xfrm xmlns:a="http://schemas.openxmlformats.org/drawingml/2006/main">
            <a:off x="619125" y="518160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8B4B15"/>
                </a:solidFill>
                <a:latin typeface="Microsoft YaHei"/>
                <a:ea typeface="Microsoft YaHei"/>
                <a:cs typeface="Microsoft YaHei"/>
              </a:defRPr>
            </a:defPPr>
          </a:lstStyle>
          <a:p xmlns:a="http://schemas.openxmlformats.org/drawingml/2006/main">
            <a:pPr>
              <a:defRPr sz="1875" b="0">
                <a:solidFill>
                  <a:srgbClr val="8B4B15"/>
                </a:solidFill>
                <a:latin typeface="Microsoft YaHei"/>
                <a:ea typeface="Microsoft YaHei"/>
                <a:cs typeface="Microsoft YaHei"/>
              </a:defRPr>
            </a:pPr>
            <a:r>
              <a:rPr sz="1875" b="0">
                <a:solidFill>
                  <a:srgbClr val="8B4B15"/>
                </a:solidFill>
                <a:latin typeface="Microsoft YaHei"/>
                <a:ea typeface="Microsoft YaHei"/>
                <a:cs typeface="Microsoft YaHei"/>
              </a:rPr>
              <a:t>9 月的 SpinBits 数据提取顾虑，在 10 月虚拟数据端到端测试后已有缓解证据。</a:t>
            </a:r>
          </a:p>
          <a:p xmlns:a="http://schemas.openxmlformats.org/drawingml/2006/main">
            <a:pPr>
              <a:defRPr sz="1875" b="0">
                <a:solidFill>
                  <a:srgbClr val="8B4B15"/>
                </a:solidFill>
                <a:latin typeface="Microsoft YaHei"/>
                <a:ea typeface="Microsoft YaHei"/>
                <a:cs typeface="Microsoft YaHei"/>
              </a:defRPr>
            </a:pPr>
            <a:r>
              <a:rPr sz="1875" b="0">
                <a:solidFill>
                  <a:srgbClr val="8B4B15"/>
                </a:solidFill>
                <a:latin typeface="Microsoft YaHei"/>
                <a:ea typeface="Microsoft YaHei"/>
                <a:cs typeface="Microsoft YaHei"/>
              </a:rPr>
              <a:t>日志“风险 4”与登记表第 4 项描述不完全一致，关联及关闭状态仍待确认。</a:t>
            </a:r>
          </a:p>
        </p:txBody>
      </p:sp>
      <p:sp>
        <p:nvSpPr>
          <p:cNvPr id="4" name="">
            <a:extLst xmlns:a="http://schemas.openxmlformats.org/drawingml/2006/main">
              <a:ext uri="{FF2B5EF4-FFF2-40B4-BE49-F238E27FC236}">
                <a16:creationId xmlns:a16="http://schemas.microsoft.com/office/drawing/2014/main" id="{6A5A6364-166C-47F6-9508-808A3FDC761D}"/>
              </a:ext>
            </a:extLst>
          </p:cNvPr>
          <p:cNvSpPr>
            <a:spLocks xmlns:a="http://schemas.openxmlformats.org/drawingml/2006/main" noGrp="1"/>
          </p:cNvSpPr>
          <p:nvPr/>
        </p:nvSpPr>
        <p:spPr>
          <a:xfrm xmlns:a="http://schemas.openxmlformats.org/drawingml/2006/main">
            <a:off x="619125" y="6153150"/>
            <a:ext cx="1085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475F6D"/>
                </a:solidFill>
                <a:latin typeface="Microsoft YaHei"/>
                <a:ea typeface="Microsoft YaHei"/>
                <a:cs typeface="Microsoft YaHei"/>
              </a:defRPr>
            </a:defPPr>
          </a:lstStyle>
          <a:p xmlns:a="http://schemas.openxmlformats.org/drawingml/2006/main">
            <a:pPr>
              <a:defRPr sz="1800" b="0">
                <a:solidFill>
                  <a:srgbClr val="475F6D"/>
                </a:solidFill>
                <a:latin typeface="Microsoft YaHei"/>
                <a:ea typeface="Microsoft YaHei"/>
                <a:cs typeface="Microsoft YaHei"/>
              </a:defRPr>
            </a:pPr>
            <a:r>
              <a:rPr sz="1800" b="0">
                <a:solidFill>
                  <a:srgbClr val="475F6D"/>
                </a:solidFill>
                <a:latin typeface="Microsoft YaHei"/>
                <a:ea typeface="Microsoft YaHei"/>
                <a:cs typeface="Microsoft YaHei"/>
              </a:rPr>
              <a:t>登记表未提供负责人，不据此补写已确认的责任分配。</a:t>
            </a:r>
          </a:p>
        </p:txBody>
      </p:sp>
    </p:spTree>
    <p:extLst>
      <p:ext uri="{BB962C8B-B14F-4D97-AF65-F5344CB8AC3E}">
        <p14:creationId xmlns:p14="http://schemas.microsoft.com/office/powerpoint/2010/main" val="323625144"/>
      </p:ext>
    </p:extLst>
  </p:cSld>
</p:sld>
</file>

<file path=ppt/slides/slide8.xml><?xml version="1.0" encoding="utf-8"?>
<p:sld xmlns:p="http://schemas.openxmlformats.org/presentationml/2006/main">
  <p:cSld>
    <p:bg>
      <p:bgPr>
        <a:solidFill xmlns:a="http://schemas.openxmlformats.org/drawingml/2006/main">
          <a:srgbClr val="FAFBFC"/>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8CCCBC5E-0B07-47BA-B29D-DC9641709C1D}"/>
              </a:ext>
            </a:extLst>
          </p:cNvPr>
          <p:cNvSpPr>
            <a:spLocks xmlns:a="http://schemas.openxmlformats.org/drawingml/2006/main" noGrp="1"/>
          </p:cNvSpPr>
          <p:nvPr/>
        </p:nvSpPr>
        <p:spPr>
          <a:xfrm xmlns:a="http://schemas.openxmlformats.org/drawingml/2006/main">
            <a:off x="619125" y="457200"/>
            <a:ext cx="10953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23E52"/>
                </a:solidFill>
                <a:latin typeface="Microsoft YaHei"/>
                <a:ea typeface="Microsoft YaHei"/>
                <a:cs typeface="Microsoft YaHei"/>
              </a:defRPr>
            </a:defPPr>
          </a:lstStyle>
          <a:p xmlns:a="http://schemas.openxmlformats.org/drawingml/2006/main">
            <a:pPr>
              <a:defRPr sz="3300" b="1">
                <a:solidFill>
                  <a:srgbClr val="123E52"/>
                </a:solidFill>
                <a:latin typeface="Microsoft YaHei"/>
                <a:ea typeface="Microsoft YaHei"/>
                <a:cs typeface="Microsoft YaHei"/>
              </a:defRPr>
            </a:pPr>
            <a:r>
              <a:rPr sz="3300" b="1">
                <a:solidFill>
                  <a:srgbClr val="123E52"/>
                </a:solidFill>
                <a:latin typeface="Microsoft YaHei"/>
                <a:ea typeface="Microsoft YaHei"/>
                <a:cs typeface="Microsoft YaHei"/>
              </a:rPr>
              <a:t>下一步重点与审查讨论</a:t>
            </a:r>
          </a:p>
        </p:txBody>
      </p:sp>
      <p:sp>
        <p:nvSpPr>
          <p:cNvPr id="2" name="">
            <a:extLst xmlns:a="http://schemas.openxmlformats.org/drawingml/2006/main">
              <a:ext uri="{FF2B5EF4-FFF2-40B4-BE49-F238E27FC236}">
                <a16:creationId xmlns:a16="http://schemas.microsoft.com/office/drawing/2014/main" id="{E95E9254-1E28-4A6F-B845-46CAAFAA4889}"/>
              </a:ext>
            </a:extLst>
          </p:cNvPr>
          <p:cNvSpPr>
            <a:spLocks xmlns:a="http://schemas.openxmlformats.org/drawingml/2006/main" noGrp="1"/>
          </p:cNvSpPr>
          <p:nvPr/>
        </p:nvSpPr>
        <p:spPr>
          <a:xfrm xmlns:a="http://schemas.openxmlformats.org/drawingml/2006/main">
            <a:off x="619125" y="1476375"/>
            <a:ext cx="50006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1">
                <a:solidFill>
                  <a:srgbClr val="123E52"/>
                </a:solidFill>
                <a:latin typeface="Microsoft YaHei"/>
                <a:ea typeface="Microsoft YaHei"/>
                <a:cs typeface="Microsoft YaHei"/>
              </a:defRPr>
            </a:defPPr>
          </a:lstStyle>
          <a:p xmlns:a="http://schemas.openxmlformats.org/drawingml/2006/main">
            <a:pPr>
              <a:defRPr sz="2400" b="1">
                <a:solidFill>
                  <a:srgbClr val="123E52"/>
                </a:solidFill>
                <a:latin typeface="Microsoft YaHei"/>
                <a:ea typeface="Microsoft YaHei"/>
                <a:cs typeface="Microsoft YaHei"/>
              </a:defRPr>
            </a:pPr>
            <a:r>
              <a:rPr sz="2400" b="1">
                <a:solidFill>
                  <a:srgbClr val="123E52"/>
                </a:solidFill>
                <a:latin typeface="Microsoft YaHei"/>
                <a:ea typeface="Microsoft YaHei"/>
                <a:cs typeface="Microsoft YaHei"/>
              </a:rPr>
              <a:t>当前重点</a:t>
            </a:r>
          </a:p>
        </p:txBody>
      </p:sp>
      <p:sp>
        <p:nvSpPr>
          <p:cNvPr id="3" name="">
            <a:extLst xmlns:a="http://schemas.openxmlformats.org/drawingml/2006/main">
              <a:ext uri="{FF2B5EF4-FFF2-40B4-BE49-F238E27FC236}">
                <a16:creationId xmlns:a16="http://schemas.microsoft.com/office/drawing/2014/main" id="{395E54E8-27A9-4D3A-8001-8D8828A07D2B}"/>
              </a:ext>
            </a:extLst>
          </p:cNvPr>
          <p:cNvSpPr>
            <a:spLocks xmlns:a="http://schemas.openxmlformats.org/drawingml/2006/main" noGrp="1"/>
          </p:cNvSpPr>
          <p:nvPr/>
        </p:nvSpPr>
        <p:spPr>
          <a:xfrm xmlns:a="http://schemas.openxmlformats.org/drawingml/2006/main">
            <a:off x="619125" y="2124075"/>
            <a:ext cx="5095875" cy="3524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172B3A"/>
                </a:solidFill>
                <a:latin typeface="Microsoft YaHei"/>
                <a:ea typeface="Microsoft YaHei"/>
                <a:cs typeface="Microsoft YaHei"/>
              </a:defRPr>
            </a:defPPr>
          </a:lstStyle>
          <a:p xmlns:a="http://schemas.openxmlformats.org/drawingml/2006/main">
            <a:pPr>
              <a:defRPr sz="1950" b="0">
                <a:solidFill>
                  <a:srgbClr val="172B3A"/>
                </a:solidFill>
                <a:latin typeface="Microsoft YaHei"/>
                <a:ea typeface="Microsoft YaHei"/>
                <a:cs typeface="Microsoft YaHei"/>
              </a:defRPr>
            </a:pPr>
            <a:r>
              <a:rPr sz="1950" b="0">
                <a:solidFill>
                  <a:srgbClr val="172B3A"/>
                </a:solidFill>
                <a:latin typeface="Microsoft YaHei"/>
                <a:ea typeface="Microsoft YaHei"/>
                <a:cs typeface="Microsoft YaHei"/>
              </a:rPr>
              <a:t>完成 Output 1 V2.0 修订及相关方评审。</a:t>
            </a:r>
          </a:p>
          <a:p xmlns:a="http://schemas.openxmlformats.org/drawingml/2006/main">
            <a:r>
              <a:t/>
            </a:r>
          </a:p>
          <a:p xmlns:a="http://schemas.openxmlformats.org/drawingml/2006/main">
            <a:pPr>
              <a:defRPr sz="1950" b="0">
                <a:solidFill>
                  <a:srgbClr val="172B3A"/>
                </a:solidFill>
                <a:latin typeface="Microsoft YaHei"/>
                <a:ea typeface="Microsoft YaHei"/>
                <a:cs typeface="Microsoft YaHei"/>
              </a:defRPr>
            </a:pPr>
            <a:r>
              <a:rPr sz="1950" b="0">
                <a:solidFill>
                  <a:srgbClr val="172B3A"/>
                </a:solidFill>
                <a:latin typeface="Microsoft YaHei"/>
                <a:ea typeface="Microsoft YaHei"/>
                <a:cs typeface="Microsoft YaHei"/>
              </a:rPr>
              <a:t>确认 11 月 7 日与 9 日分别对应的版本和验收节点。</a:t>
            </a:r>
          </a:p>
          <a:p xmlns:a="http://schemas.openxmlformats.org/drawingml/2006/main">
            <a:r>
              <a:t/>
            </a:r>
          </a:p>
          <a:p xmlns:a="http://schemas.openxmlformats.org/drawingml/2006/main">
            <a:pPr>
              <a:defRPr sz="1950" b="0">
                <a:solidFill>
                  <a:srgbClr val="172B3A"/>
                </a:solidFill>
                <a:latin typeface="Microsoft YaHei"/>
                <a:ea typeface="Microsoft YaHei"/>
                <a:cs typeface="Microsoft YaHei"/>
              </a:defRPr>
            </a:pPr>
            <a:r>
              <a:rPr sz="1950" b="0">
                <a:solidFill>
                  <a:srgbClr val="172B3A"/>
                </a:solidFill>
                <a:latin typeface="Microsoft YaHei"/>
                <a:ea typeface="Microsoft YaHei"/>
                <a:cs typeface="Microsoft YaHei"/>
              </a:rPr>
              <a:t>分享月报并核对财务汇总差异。</a:t>
            </a:r>
          </a:p>
          <a:p xmlns:a="http://schemas.openxmlformats.org/drawingml/2006/main">
            <a:r>
              <a:t/>
            </a:r>
          </a:p>
          <a:p xmlns:a="http://schemas.openxmlformats.org/drawingml/2006/main">
            <a:pPr>
              <a:defRPr sz="1950" b="0">
                <a:solidFill>
                  <a:srgbClr val="172B3A"/>
                </a:solidFill>
                <a:latin typeface="Microsoft YaHei"/>
                <a:ea typeface="Microsoft YaHei"/>
                <a:cs typeface="Microsoft YaHei"/>
              </a:defRPr>
            </a:pPr>
            <a:r>
              <a:rPr sz="1950" b="0">
                <a:solidFill>
                  <a:srgbClr val="172B3A"/>
                </a:solidFill>
                <a:latin typeface="Microsoft YaHei"/>
                <a:ea typeface="Microsoft YaHei"/>
                <a:cs typeface="Microsoft YaHei"/>
              </a:rPr>
              <a:t>核实 SpinBits 问题与风险登记项的对应关系。</a:t>
            </a:r>
          </a:p>
        </p:txBody>
      </p:sp>
      <p:sp>
        <p:nvSpPr>
          <p:cNvPr id="4" name="">
            <a:extLst xmlns:a="http://schemas.openxmlformats.org/drawingml/2006/main">
              <a:ext uri="{FF2B5EF4-FFF2-40B4-BE49-F238E27FC236}">
                <a16:creationId xmlns:a16="http://schemas.microsoft.com/office/drawing/2014/main" id="{5A4A05F8-34E9-44C1-81E5-0C48065DD5B3}"/>
              </a:ext>
            </a:extLst>
          </p:cNvPr>
          <p:cNvSpPr>
            <a:spLocks xmlns:a="http://schemas.openxmlformats.org/drawingml/2006/main" noGrp="1"/>
          </p:cNvSpPr>
          <p:nvPr/>
        </p:nvSpPr>
        <p:spPr>
          <a:xfrm xmlns:a="http://schemas.openxmlformats.org/drawingml/2006/main">
            <a:off x="6524625" y="1476375"/>
            <a:ext cx="50006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1">
                <a:solidFill>
                  <a:srgbClr val="123E52"/>
                </a:solidFill>
                <a:latin typeface="Microsoft YaHei"/>
                <a:ea typeface="Microsoft YaHei"/>
                <a:cs typeface="Microsoft YaHei"/>
              </a:defRPr>
            </a:defPPr>
          </a:lstStyle>
          <a:p xmlns:a="http://schemas.openxmlformats.org/drawingml/2006/main">
            <a:pPr>
              <a:defRPr sz="2400" b="1">
                <a:solidFill>
                  <a:srgbClr val="123E52"/>
                </a:solidFill>
                <a:latin typeface="Microsoft YaHei"/>
                <a:ea typeface="Microsoft YaHei"/>
                <a:cs typeface="Microsoft YaHei"/>
              </a:defRPr>
            </a:pPr>
            <a:r>
              <a:rPr sz="2400" b="1">
                <a:solidFill>
                  <a:srgbClr val="123E52"/>
                </a:solidFill>
                <a:latin typeface="Microsoft YaHei"/>
                <a:ea typeface="Microsoft YaHei"/>
                <a:cs typeface="Microsoft YaHei"/>
              </a:rPr>
              <a:t>双向问答</a:t>
            </a:r>
          </a:p>
        </p:txBody>
      </p:sp>
      <p:sp>
        <p:nvSpPr>
          <p:cNvPr id="5" name="">
            <a:extLst xmlns:a="http://schemas.openxmlformats.org/drawingml/2006/main">
              <a:ext uri="{FF2B5EF4-FFF2-40B4-BE49-F238E27FC236}">
                <a16:creationId xmlns:a16="http://schemas.microsoft.com/office/drawing/2014/main" id="{249328D9-BD36-43FB-B3FB-A6022CF312D2}"/>
              </a:ext>
            </a:extLst>
          </p:cNvPr>
          <p:cNvSpPr>
            <a:spLocks xmlns:a="http://schemas.openxmlformats.org/drawingml/2006/main" noGrp="1"/>
          </p:cNvSpPr>
          <p:nvPr/>
        </p:nvSpPr>
        <p:spPr>
          <a:xfrm xmlns:a="http://schemas.openxmlformats.org/drawingml/2006/main">
            <a:off x="6524625" y="2124075"/>
            <a:ext cx="5000625" cy="3524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172B3A"/>
                </a:solidFill>
                <a:latin typeface="Microsoft YaHei"/>
                <a:ea typeface="Microsoft YaHei"/>
                <a:cs typeface="Microsoft YaHei"/>
              </a:defRPr>
            </a:defPPr>
          </a:lstStyle>
          <a:p xmlns:a="http://schemas.openxmlformats.org/drawingml/2006/main">
            <a:pPr>
              <a:defRPr sz="1950" b="0">
                <a:solidFill>
                  <a:srgbClr val="172B3A"/>
                </a:solidFill>
                <a:latin typeface="Microsoft YaHei"/>
                <a:ea typeface="Microsoft YaHei"/>
                <a:cs typeface="Microsoft YaHei"/>
              </a:defRPr>
            </a:pPr>
            <a:r>
              <a:rPr sz="1950" b="0">
                <a:solidFill>
                  <a:srgbClr val="172B3A"/>
                </a:solidFill>
                <a:latin typeface="Microsoft YaHei"/>
                <a:ea typeface="Microsoft YaHei"/>
                <a:cs typeface="Microsoft YaHei"/>
              </a:rPr>
              <a:t>资助方可就阶段成果、同期超支及风险证据向团队提问。</a:t>
            </a:r>
          </a:p>
          <a:p xmlns:a="http://schemas.openxmlformats.org/drawingml/2006/main">
            <a:r>
              <a:t/>
            </a:r>
          </a:p>
          <a:p xmlns:a="http://schemas.openxmlformats.org/drawingml/2006/main">
            <a:pPr>
              <a:defRPr sz="1950" b="0">
                <a:solidFill>
                  <a:srgbClr val="172B3A"/>
                </a:solidFill>
                <a:latin typeface="Microsoft YaHei"/>
                <a:ea typeface="Microsoft YaHei"/>
                <a:cs typeface="Microsoft YaHei"/>
              </a:defRPr>
            </a:pPr>
            <a:r>
              <a:rPr sz="1950" b="0">
                <a:solidFill>
                  <a:srgbClr val="172B3A"/>
                </a:solidFill>
                <a:latin typeface="Microsoft YaHei"/>
                <a:ea typeface="Microsoft YaHei"/>
                <a:cs typeface="Microsoft YaHei"/>
              </a:rPr>
              <a:t>团队拟确认：Output 1 的验收版本与交付节点。</a:t>
            </a:r>
          </a:p>
          <a:p xmlns:a="http://schemas.openxmlformats.org/drawingml/2006/main">
            <a:r>
              <a:t/>
            </a:r>
          </a:p>
          <a:p xmlns:a="http://schemas.openxmlformats.org/drawingml/2006/main">
            <a:pPr>
              <a:defRPr sz="1950" b="0">
                <a:solidFill>
                  <a:srgbClr val="172B3A"/>
                </a:solidFill>
                <a:latin typeface="Microsoft YaHei"/>
                <a:ea typeface="Microsoft YaHei"/>
                <a:cs typeface="Microsoft YaHei"/>
              </a:defRPr>
            </a:pPr>
            <a:r>
              <a:rPr sz="1950" b="0">
                <a:solidFill>
                  <a:srgbClr val="172B3A"/>
                </a:solidFill>
                <a:latin typeface="Microsoft YaHei"/>
                <a:ea typeface="Microsoft YaHei"/>
                <a:cs typeface="Microsoft YaHei"/>
              </a:rPr>
              <a:t>团队拟讨论：如何说明月度财务口径，以及风险更新所需的证明材料。</a:t>
            </a:r>
          </a:p>
        </p:txBody>
      </p:sp>
      <p:sp>
        <p:nvSpPr>
          <p:cNvPr id="6" name="">
            <a:extLst xmlns:a="http://schemas.openxmlformats.org/drawingml/2006/main">
              <a:ext uri="{FF2B5EF4-FFF2-40B4-BE49-F238E27FC236}">
                <a16:creationId xmlns:a16="http://schemas.microsoft.com/office/drawing/2014/main" id="{CBAAA3C7-97B8-4D5B-8F48-DD175EF489B8}"/>
              </a:ext>
            </a:extLst>
          </p:cNvPr>
          <p:cNvSpPr>
            <a:spLocks xmlns:a="http://schemas.openxmlformats.org/drawingml/2006/main" noGrp="1"/>
          </p:cNvSpPr>
          <p:nvPr/>
        </p:nvSpPr>
        <p:spPr>
          <a:xfrm xmlns:a="http://schemas.openxmlformats.org/drawingml/2006/main">
            <a:off x="619125" y="6153150"/>
            <a:ext cx="1085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475F6D"/>
                </a:solidFill>
                <a:latin typeface="Microsoft YaHei"/>
                <a:ea typeface="Microsoft YaHei"/>
                <a:cs typeface="Microsoft YaHei"/>
              </a:defRPr>
            </a:defPPr>
          </a:lstStyle>
          <a:p xmlns:a="http://schemas.openxmlformats.org/drawingml/2006/main">
            <a:pPr>
              <a:defRPr sz="1725" b="0">
                <a:solidFill>
                  <a:srgbClr val="475F6D"/>
                </a:solidFill>
                <a:latin typeface="Microsoft YaHei"/>
                <a:ea typeface="Microsoft YaHei"/>
                <a:cs typeface="Microsoft YaHei"/>
              </a:defRPr>
            </a:pPr>
            <a:r>
              <a:rPr sz="1725" b="0">
                <a:solidFill>
                  <a:srgbClr val="475F6D"/>
                </a:solidFill>
                <a:latin typeface="Microsoft YaHei"/>
                <a:ea typeface="Microsoft YaHei"/>
                <a:cs typeface="Microsoft YaHei"/>
              </a:rPr>
              <a:t>新增核对事项属于建议后续工作，尚未形成已确认的负责人和期限。</a:t>
            </a:r>
          </a:p>
        </p:txBody>
      </p:sp>
    </p:spTree>
    <p:extLst>
      <p:ext uri="{BB962C8B-B14F-4D97-AF65-F5344CB8AC3E}">
        <p14:creationId xmlns:p14="http://schemas.microsoft.com/office/powerpoint/2010/main" val="441479481"/>
      </p:ext>
    </p:extLst>
  </p:cSld>
</p:sld>
</file>

<file path=ppt/slides/slide9.xml><?xml version="1.0" encoding="utf-8"?>
<p:sld xmlns:p="http://schemas.openxmlformats.org/presentationml/2006/main">
  <p:cSld>
    <p:bg>
      <p:bgPr>
        <a:solidFill xmlns:a="http://schemas.openxmlformats.org/drawingml/2006/main">
          <a:srgbClr val="FAFBFC"/>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264CD362-7F08-4CF9-AB0D-5B6972BB0439}"/>
              </a:ext>
            </a:extLst>
          </p:cNvPr>
          <p:cNvSpPr>
            <a:spLocks xmlns:a="http://schemas.openxmlformats.org/drawingml/2006/main" noGrp="1"/>
          </p:cNvSpPr>
          <p:nvPr/>
        </p:nvSpPr>
        <p:spPr>
          <a:xfrm xmlns:a="http://schemas.openxmlformats.org/drawingml/2006/main">
            <a:off x="619125" y="457200"/>
            <a:ext cx="10953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23E52"/>
                </a:solidFill>
                <a:latin typeface="Microsoft YaHei"/>
                <a:ea typeface="Microsoft YaHei"/>
                <a:cs typeface="Microsoft YaHei"/>
              </a:defRPr>
            </a:defPPr>
          </a:lstStyle>
          <a:p xmlns:a="http://schemas.openxmlformats.org/drawingml/2006/main">
            <a:pPr>
              <a:defRPr sz="3300" b="1">
                <a:solidFill>
                  <a:srgbClr val="123E52"/>
                </a:solidFill>
                <a:latin typeface="Microsoft YaHei"/>
                <a:ea typeface="Microsoft YaHei"/>
                <a:cs typeface="Microsoft YaHei"/>
              </a:defRPr>
            </a:pPr>
            <a:r>
              <a:rPr sz="3300" b="1">
                <a:solidFill>
                  <a:srgbClr val="123E52"/>
                </a:solidFill>
                <a:latin typeface="Microsoft YaHei"/>
                <a:ea typeface="Microsoft YaHei"/>
                <a:cs typeface="Microsoft YaHei"/>
              </a:rPr>
              <a:t>项目背景与范围</a:t>
            </a:r>
          </a:p>
        </p:txBody>
      </p:sp>
      <p:sp>
        <p:nvSpPr>
          <p:cNvPr id="2" name="">
            <a:extLst xmlns:a="http://schemas.openxmlformats.org/drawingml/2006/main">
              <a:ext uri="{FF2B5EF4-FFF2-40B4-BE49-F238E27FC236}">
                <a16:creationId xmlns:a16="http://schemas.microsoft.com/office/drawing/2014/main" id="{87D0F366-53B6-4697-BA23-4A2C64A67443}"/>
              </a:ext>
            </a:extLst>
          </p:cNvPr>
          <p:cNvSpPr>
            <a:spLocks xmlns:a="http://schemas.openxmlformats.org/drawingml/2006/main" noGrp="1"/>
          </p:cNvSpPr>
          <p:nvPr/>
        </p:nvSpPr>
        <p:spPr>
          <a:xfrm xmlns:a="http://schemas.openxmlformats.org/drawingml/2006/main">
            <a:off x="619125" y="1476375"/>
            <a:ext cx="10858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1">
                <a:solidFill>
                  <a:srgbClr val="123E52"/>
                </a:solidFill>
                <a:latin typeface="Microsoft YaHei"/>
                <a:ea typeface="Microsoft YaHei"/>
                <a:cs typeface="Microsoft YaHei"/>
              </a:defRPr>
            </a:defPPr>
          </a:lstStyle>
          <a:p xmlns:a="http://schemas.openxmlformats.org/drawingml/2006/main">
            <a:pPr>
              <a:defRPr sz="2400" b="1">
                <a:solidFill>
                  <a:srgbClr val="123E52"/>
                </a:solidFill>
                <a:latin typeface="Microsoft YaHei"/>
                <a:ea typeface="Microsoft YaHei"/>
                <a:cs typeface="Microsoft YaHei"/>
              </a:defRPr>
            </a:pPr>
            <a:r>
              <a:rPr sz="2400" b="1">
                <a:solidFill>
                  <a:srgbClr val="123E52"/>
                </a:solidFill>
                <a:latin typeface="Microsoft YaHei"/>
                <a:ea typeface="Microsoft YaHei"/>
                <a:cs typeface="Microsoft YaHei"/>
              </a:rPr>
              <a:t>六个月的真实场景概念验证</a:t>
            </a:r>
          </a:p>
        </p:txBody>
      </p:sp>
      <p:sp>
        <p:nvSpPr>
          <p:cNvPr id="3" name="">
            <a:extLst xmlns:a="http://schemas.openxmlformats.org/drawingml/2006/main">
              <a:ext uri="{FF2B5EF4-FFF2-40B4-BE49-F238E27FC236}">
                <a16:creationId xmlns:a16="http://schemas.microsoft.com/office/drawing/2014/main" id="{B7FC32FA-ECD3-4B31-BF73-ACD91D1C4AC2}"/>
              </a:ext>
            </a:extLst>
          </p:cNvPr>
          <p:cNvSpPr>
            <a:spLocks xmlns:a="http://schemas.openxmlformats.org/drawingml/2006/main" noGrp="1"/>
          </p:cNvSpPr>
          <p:nvPr/>
        </p:nvSpPr>
        <p:spPr>
          <a:xfrm xmlns:a="http://schemas.openxmlformats.org/drawingml/2006/main">
            <a:off x="619125" y="2095500"/>
            <a:ext cx="10858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72B3A"/>
                </a:solidFill>
                <a:latin typeface="Microsoft YaHei"/>
                <a:ea typeface="Microsoft YaHei"/>
                <a:cs typeface="Microsoft YaHei"/>
              </a:defRPr>
            </a:defPPr>
          </a:lstStyle>
          <a:p xmlns:a="http://schemas.openxmlformats.org/drawingml/2006/main">
            <a:pPr>
              <a:defRPr sz="2100" b="0">
                <a:solidFill>
                  <a:srgbClr val="172B3A"/>
                </a:solidFill>
                <a:latin typeface="Microsoft YaHei"/>
                <a:ea typeface="Microsoft YaHei"/>
                <a:cs typeface="Microsoft YaHei"/>
              </a:defRPr>
            </a:pPr>
            <a:r>
              <a:rPr sz="2100" b="0">
                <a:solidFill>
                  <a:srgbClr val="172B3A"/>
                </a:solidFill>
                <a:latin typeface="Microsoft YaHei"/>
                <a:ea typeface="Microsoft YaHei"/>
                <a:cs typeface="Microsoft YaHei"/>
              </a:rPr>
              <a:t>Bridge Mind 与英国牛津的 Common Ground Bikes 合作，探索用 BridgeMind AI 改善自行车维修企业的库存和信息处理。</a:t>
            </a:r>
          </a:p>
        </p:txBody>
      </p:sp>
      <p:sp>
        <p:nvSpPr>
          <p:cNvPr id="4" name="">
            <a:extLst xmlns:a="http://schemas.openxmlformats.org/drawingml/2006/main">
              <a:ext uri="{FF2B5EF4-FFF2-40B4-BE49-F238E27FC236}">
                <a16:creationId xmlns:a16="http://schemas.microsoft.com/office/drawing/2014/main" id="{CE5663A4-5A74-40BB-BB20-A0F9C8BAAF04}"/>
              </a:ext>
            </a:extLst>
          </p:cNvPr>
          <p:cNvSpPr>
            <a:spLocks xmlns:a="http://schemas.openxmlformats.org/drawingml/2006/main" noGrp="1"/>
          </p:cNvSpPr>
          <p:nvPr/>
        </p:nvSpPr>
        <p:spPr>
          <a:xfrm xmlns:a="http://schemas.openxmlformats.org/drawingml/2006/main">
            <a:off x="619125" y="3333750"/>
            <a:ext cx="10858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1">
                <a:solidFill>
                  <a:srgbClr val="123E52"/>
                </a:solidFill>
                <a:latin typeface="Microsoft YaHei"/>
                <a:ea typeface="Microsoft YaHei"/>
                <a:cs typeface="Microsoft YaHei"/>
              </a:defRPr>
            </a:defPPr>
          </a:lstStyle>
          <a:p xmlns:a="http://schemas.openxmlformats.org/drawingml/2006/main">
            <a:pPr>
              <a:defRPr sz="2400" b="1">
                <a:solidFill>
                  <a:srgbClr val="123E52"/>
                </a:solidFill>
                <a:latin typeface="Microsoft YaHei"/>
                <a:ea typeface="Microsoft YaHei"/>
                <a:cs typeface="Microsoft YaHei"/>
              </a:defRPr>
            </a:pPr>
            <a:r>
              <a:rPr sz="2400" b="1">
                <a:solidFill>
                  <a:srgbClr val="123E52"/>
                </a:solidFill>
                <a:latin typeface="Microsoft YaHei"/>
                <a:ea typeface="Microsoft YaHei"/>
                <a:cs typeface="Microsoft YaHei"/>
              </a:rPr>
              <a:t>目标与方式</a:t>
            </a:r>
          </a:p>
        </p:txBody>
      </p:sp>
      <p:sp>
        <p:nvSpPr>
          <p:cNvPr id="5" name="">
            <a:extLst xmlns:a="http://schemas.openxmlformats.org/drawingml/2006/main">
              <a:ext uri="{FF2B5EF4-FFF2-40B4-BE49-F238E27FC236}">
                <a16:creationId xmlns:a16="http://schemas.microsoft.com/office/drawing/2014/main" id="{6C9FC3EE-F11D-404A-8309-ADD477AF3C53}"/>
              </a:ext>
            </a:extLst>
          </p:cNvPr>
          <p:cNvSpPr>
            <a:spLocks xmlns:a="http://schemas.openxmlformats.org/drawingml/2006/main" noGrp="1"/>
          </p:cNvSpPr>
          <p:nvPr/>
        </p:nvSpPr>
        <p:spPr>
          <a:xfrm xmlns:a="http://schemas.openxmlformats.org/drawingml/2006/main">
            <a:off x="619125" y="3933825"/>
            <a:ext cx="108585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72B3A"/>
                </a:solidFill>
                <a:latin typeface="Microsoft YaHei"/>
                <a:ea typeface="Microsoft YaHei"/>
                <a:cs typeface="Microsoft YaHei"/>
              </a:defRPr>
            </a:defPPr>
          </a:lstStyle>
          <a:p xmlns:a="http://schemas.openxmlformats.org/drawingml/2006/main">
            <a:pPr>
              <a:defRPr sz="2025" b="0">
                <a:solidFill>
                  <a:srgbClr val="172B3A"/>
                </a:solidFill>
                <a:latin typeface="Microsoft YaHei"/>
                <a:ea typeface="Microsoft YaHei"/>
                <a:cs typeface="Microsoft YaHei"/>
              </a:defRPr>
            </a:pPr>
            <a:r>
              <a:rPr sz="2025" b="0">
                <a:solidFill>
                  <a:srgbClr val="172B3A"/>
                </a:solidFill>
                <a:latin typeface="Microsoft YaHei"/>
                <a:ea typeface="Microsoft YaHei"/>
                <a:cs typeface="Microsoft YaHei"/>
              </a:rPr>
              <a:t>通过易用的 AI 查询界面帮助理解供应链、订单和零件数据。</a:t>
            </a:r>
          </a:p>
          <a:p xmlns:a="http://schemas.openxmlformats.org/drawingml/2006/main">
            <a:pPr>
              <a:defRPr sz="2025" b="0">
                <a:solidFill>
                  <a:srgbClr val="172B3A"/>
                </a:solidFill>
                <a:latin typeface="Microsoft YaHei"/>
                <a:ea typeface="Microsoft YaHei"/>
                <a:cs typeface="Microsoft YaHei"/>
              </a:defRPr>
            </a:pPr>
            <a:r>
              <a:rPr sz="2025" b="0">
                <a:solidFill>
                  <a:srgbClr val="172B3A"/>
                </a:solidFill>
                <a:latin typeface="Microsoft YaHei"/>
                <a:ea typeface="Microsoft YaHei"/>
                <a:cs typeface="Microsoft YaHei"/>
              </a:rPr>
              <a:t>使用 LLM、RAG 与数据模型支撑信息关联及追踪。</a:t>
            </a:r>
          </a:p>
          <a:p xmlns:a="http://schemas.openxmlformats.org/drawingml/2006/main">
            <a:pPr>
              <a:defRPr sz="2025" b="0">
                <a:solidFill>
                  <a:srgbClr val="172B3A"/>
                </a:solidFill>
                <a:latin typeface="Microsoft YaHei"/>
                <a:ea typeface="Microsoft YaHei"/>
                <a:cs typeface="Microsoft YaHei"/>
              </a:defRPr>
            </a:pPr>
            <a:r>
              <a:rPr sz="2025" b="0">
                <a:solidFill>
                  <a:srgbClr val="172B3A"/>
                </a:solidFill>
                <a:latin typeface="Microsoft YaHei"/>
                <a:ea typeface="Microsoft YaHei"/>
                <a:cs typeface="Microsoft YaHei"/>
              </a:rPr>
              <a:t>结合用户反馈迭代演示系统、部署测试和 Beta 版本。</a:t>
            </a:r>
          </a:p>
        </p:txBody>
      </p:sp>
      <p:sp>
        <p:nvSpPr>
          <p:cNvPr id="6" name="">
            <a:extLst xmlns:a="http://schemas.openxmlformats.org/drawingml/2006/main">
              <a:ext uri="{FF2B5EF4-FFF2-40B4-BE49-F238E27FC236}">
                <a16:creationId xmlns:a16="http://schemas.microsoft.com/office/drawing/2014/main" id="{AE139504-C542-49F4-9D3E-E74A01C88927}"/>
              </a:ext>
            </a:extLst>
          </p:cNvPr>
          <p:cNvSpPr>
            <a:spLocks xmlns:a="http://schemas.openxmlformats.org/drawingml/2006/main" noGrp="1"/>
          </p:cNvSpPr>
          <p:nvPr/>
        </p:nvSpPr>
        <p:spPr>
          <a:xfrm xmlns:a="http://schemas.openxmlformats.org/drawingml/2006/main">
            <a:off x="619125" y="5734050"/>
            <a:ext cx="10858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475F6D"/>
                </a:solidFill>
                <a:latin typeface="Microsoft YaHei"/>
                <a:ea typeface="Microsoft YaHei"/>
                <a:cs typeface="Microsoft YaHei"/>
              </a:defRPr>
            </a:defPPr>
          </a:lstStyle>
          <a:p xmlns:a="http://schemas.openxmlformats.org/drawingml/2006/main">
            <a:pPr>
              <a:defRPr sz="1875" b="0">
                <a:solidFill>
                  <a:srgbClr val="475F6D"/>
                </a:solidFill>
                <a:latin typeface="Microsoft YaHei"/>
                <a:ea typeface="Microsoft YaHei"/>
                <a:cs typeface="Microsoft YaHei"/>
              </a:defRPr>
            </a:pPr>
            <a:r>
              <a:rPr sz="1875" b="0">
                <a:solidFill>
                  <a:srgbClr val="475F6D"/>
                </a:solidFill>
                <a:latin typeface="Microsoft YaHei"/>
                <a:ea typeface="Microsoft YaHei"/>
                <a:cs typeface="Microsoft YaHei"/>
              </a:rPr>
              <a:t>预期收益包括减少信息处理负担、提高对数据的信心。</a:t>
            </a:r>
          </a:p>
          <a:p xmlns:a="http://schemas.openxmlformats.org/drawingml/2006/main">
            <a:pPr>
              <a:defRPr sz="1875" b="0">
                <a:solidFill>
                  <a:srgbClr val="475F6D"/>
                </a:solidFill>
                <a:latin typeface="Microsoft YaHei"/>
                <a:ea typeface="Microsoft YaHei"/>
                <a:cs typeface="Microsoft YaHei"/>
              </a:defRPr>
            </a:pPr>
            <a:r>
              <a:rPr sz="1875" b="0">
                <a:solidFill>
                  <a:srgbClr val="475F6D"/>
                </a:solidFill>
                <a:latin typeface="Microsoft YaHei"/>
                <a:ea typeface="Microsoft YaHei"/>
                <a:cs typeface="Microsoft YaHei"/>
              </a:rPr>
              <a:t>本项目尚未给出量化收益验证，也不是已成熟的商业化产品。</a:t>
            </a:r>
          </a:p>
        </p:txBody>
      </p:sp>
    </p:spTree>
    <p:extLst>
      <p:ext uri="{BB962C8B-B14F-4D97-AF65-F5344CB8AC3E}">
        <p14:creationId xmlns:p14="http://schemas.microsoft.com/office/powerpoint/2010/main" val="165809403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Microsoft YaHei"/>
        <a:ea typeface=""/>
        <a:cs typeface=""/>
      </a:majorFont>
      <a:minorFont>
        <a:latin typeface="Microsoft YaHei"/>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2026-10-15T07:05:51.9720000Z</dcterms:created>
  <dcterms:modified xsi:type="dcterms:W3CDTF">2026-10-15T07:05:51.9720000Z</dcterms:modified>
</coreProperties>
</file>