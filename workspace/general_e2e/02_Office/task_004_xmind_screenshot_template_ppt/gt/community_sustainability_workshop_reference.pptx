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a0898730484a35" /><Relationship Type="http://schemas.openxmlformats.org/officeDocument/2006/relationships/extended-properties" Target="/docProps/app.xml" Id="Ra22cfac0611949a5" /><Relationship Type="http://schemas.openxmlformats.org/officeDocument/2006/relationships/officeDocument" Target="/ppt/presentation.xml" Id="R1a2e321e34b548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6424802af3405a"/>
  </p:sldMasterIdLst>
  <p:notesMasterIdLst>
    <p:notesMasterId xmlns:r="http://schemas.openxmlformats.org/officeDocument/2006/relationships" r:id="R7e1b8cf4e45a4d2f"/>
  </p:notesMasterIdLst>
  <p:sldIdLst>
    <p:sldId xmlns:r="http://schemas.openxmlformats.org/officeDocument/2006/relationships" id="256" r:id="R9335dd1206c5482c"/>
    <p:sldId xmlns:r="http://schemas.openxmlformats.org/officeDocument/2006/relationships" id="257" r:id="R27f215c939274e6c"/>
    <p:sldId xmlns:r="http://schemas.openxmlformats.org/officeDocument/2006/relationships" id="258" r:id="R389214c04fc14379"/>
    <p:sldId xmlns:r="http://schemas.openxmlformats.org/officeDocument/2006/relationships" id="259" r:id="R80ec5ada784740c3"/>
    <p:sldId xmlns:r="http://schemas.openxmlformats.org/officeDocument/2006/relationships" id="260" r:id="Rb8c22716d55f4457"/>
    <p:sldId xmlns:r="http://schemas.openxmlformats.org/officeDocument/2006/relationships" id="261" r:id="Rf0b3f6fc57c14013"/>
    <p:sldId xmlns:r="http://schemas.openxmlformats.org/officeDocument/2006/relationships" id="262" r:id="R0fe6f895f76d4393"/>
    <p:sldId xmlns:r="http://schemas.openxmlformats.org/officeDocument/2006/relationships" id="263" r:id="R8df3d97f83c54d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35cf25249e4aeb" /><Relationship Type="http://schemas.openxmlformats.org/officeDocument/2006/relationships/slideMaster" Target="/ppt/slideMasters/slideMaster1.xml" Id="R176424802af3405a" /><Relationship Type="http://schemas.openxmlformats.org/officeDocument/2006/relationships/notesMaster" Target="/ppt/notesMasters/notesMaster1.xml" Id="R7e1b8cf4e45a4d2f" /><Relationship Type="http://schemas.openxmlformats.org/officeDocument/2006/relationships/presProps" Target="/ppt/presProps.xml" Id="Rd5ac8b210cb54545" /><Relationship Type="http://schemas.openxmlformats.org/officeDocument/2006/relationships/tableStyles" Target="/ppt/tableStyles.xml" Id="Ra0c9c033814047f1" /><Relationship Type="http://schemas.openxmlformats.org/officeDocument/2006/relationships/slide" Target="/ppt/slides/slide1.xml" Id="R9335dd1206c5482c" /><Relationship Type="http://schemas.openxmlformats.org/officeDocument/2006/relationships/slide" Target="/ppt/slides/slide2.xml" Id="R27f215c939274e6c" /><Relationship Type="http://schemas.openxmlformats.org/officeDocument/2006/relationships/slide" Target="/ppt/slides/slide3.xml" Id="R389214c04fc14379" /><Relationship Type="http://schemas.openxmlformats.org/officeDocument/2006/relationships/slide" Target="/ppt/slides/slide4.xml" Id="R80ec5ada784740c3" /><Relationship Type="http://schemas.openxmlformats.org/officeDocument/2006/relationships/slide" Target="/ppt/slides/slide5.xml" Id="Rb8c22716d55f4457" /><Relationship Type="http://schemas.openxmlformats.org/officeDocument/2006/relationships/slide" Target="/ppt/slides/slide6.xml" Id="Rf0b3f6fc57c14013" /><Relationship Type="http://schemas.openxmlformats.org/officeDocument/2006/relationships/slide" Target="/ppt/slides/slide7.xml" Id="R0fe6f895f76d4393" /><Relationship Type="http://schemas.openxmlformats.org/officeDocument/2006/relationships/slide" Target="/ppt/slides/slide8.xml" Id="R8df3d97f83c5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a28eb12786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mmunity Green">
  <a:themeElements>
    <a:clrScheme name="Community Green">
      <a:dk1>
        <a:srgbClr val="24342B"/>
      </a:dk1>
      <a:lt1>
        <a:srgbClr val="FFFDF7"/>
      </a:lt1>
      <a:dk2>
        <a:srgbClr val="35523F"/>
      </a:dk2>
      <a:lt2>
        <a:srgbClr val="F6F1E6"/>
      </a:lt2>
      <a:accent1>
        <a:srgbClr val="6AA56B"/>
      </a:accent1>
      <a:accent2>
        <a:srgbClr val="2F6472"/>
      </a:accent2>
      <a:accent3>
        <a:srgbClr val="A0642E"/>
      </a:accent3>
      <a:accent4>
        <a:srgbClr val="5A4C7D"/>
      </a:accent4>
      <a:accent5>
        <a:srgbClr val="B65B4A"/>
      </a:accent5>
      <a:accent6>
        <a:srgbClr val="7A776E"/>
      </a:accent6>
      <a:hlink>
        <a:srgbClr val="2F6472"/>
      </a:hlink>
      <a:folHlink>
        <a:srgbClr val="5A4C7D"/>
      </a:folHlink>
    </a:clrScheme>
    <a:fontScheme name="Local San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ommunity Green">
      <a:fillStyleLst>
        <a:solidFill>
          <a:schemeClr val="lt1"/>
        </a:solidFill>
      </a:fillStyleLst>
      <a:lnStyleLst>
        <a:ln w="12700">
          <a:solidFill>
            <a:schemeClr val="accent1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cd6be142e4ffd" /><Relationship Type="http://schemas.openxmlformats.org/officeDocument/2006/relationships/notesMaster" Target="/ppt/notesMasters/notesMaster1.xml" Id="R5441dfa7321e49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bec1f095d5496f" /><Relationship Type="http://schemas.openxmlformats.org/officeDocument/2006/relationships/notesMaster" Target="/ppt/notesMasters/notesMaster1.xml" Id="R3f952b4872e64b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8cea4d022c45dc" /><Relationship Type="http://schemas.openxmlformats.org/officeDocument/2006/relationships/notesMaster" Target="/ppt/notesMasters/notesMaster1.xml" Id="R1a67b55a917747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01508d023742cb" /><Relationship Type="http://schemas.openxmlformats.org/officeDocument/2006/relationships/notesMaster" Target="/ppt/notesMasters/notesMaster1.xml" Id="R7af9bef6a97a4e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8e8ee61cc4c0f" /><Relationship Type="http://schemas.openxmlformats.org/officeDocument/2006/relationships/notesMaster" Target="/ppt/notesMasters/notesMaster1.xml" Id="Re145adcb9c78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9f8d67183c4406" /><Relationship Type="http://schemas.openxmlformats.org/officeDocument/2006/relationships/notesMaster" Target="/ppt/notesMasters/notesMaster1.xml" Id="Ra2b273933443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2ba7107b24c4e" /><Relationship Type="http://schemas.openxmlformats.org/officeDocument/2006/relationships/notesMaster" Target="/ppt/notesMasters/notesMaster1.xml" Id="R5f465a0474eb49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33c9b3f1324dbd" /><Relationship Type="http://schemas.openxmlformats.org/officeDocument/2006/relationships/notesMaster" Target="/ppt/notesMasters/notesMaster1.xml" Id="Rd8e50c53d9e5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问“本周哪件小事最耗电？”，让居民从楼道灯、快递包装或雨天绕行举例。材料为本地模拟工作坊样例，不代表真实活动公告。材料出处：content.json/root、branch_opening；attachments/主持人纸条/旧模板口号替换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观察、行动与承诺相连；不要把受众轴当成额外站点。外带杯押金试点可并入旧物循环，不另加主站。材料出处：relationships/cross-links.json；content.json/energy_cup_link、followup_loop_back。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被追问节省多少钱，承认关心成本，但没有测量就不编金额。讨论转成物业投诉时，写到白板右下角“会后跟进”，再回到今天的小行动。冰箱温度贴纸可作为小例子，过细电费折算只供问答备份。材料出处：attachments/活动手卡/节能行动站_5分钟检查.txt、公共照明观察卡.txt；attachments/主持人纸条/提问与降温处理.txt、讨论跑偏白板角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签到拖延超过8分钟，缩短开场问题，保留两个行动站和承诺卡。亲子观察卡在时间不足或儿童较少时移到最后，或只留一句提醒。茶歇与材料补给按现场节奏安排，不另设固定时刻。材料出处：content.json/branch_timing；attachments/主持人纸条/签到拖延时怎么改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志愿者只检查袋子，不拍照上传。带隐私信息的文件及旧手机不要放上交换桌。收尾时协商无人领取物品的去向，不擅自保证清运，不让小店被动承担。外带杯押金试点可与本环节一起讨论。材料出处：attachments/活动手卡/旧物循环_不能收清单.txt、attachments/空白卡片/物品卡空白模板.txt；content.json/circular_cleanup、audience_sh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居民主动拿出账单，提醒遮住姓名和住址。雨天改室内路线。纸板屋檐、透明瓶与量杯可用于解释雨水路径，不自行改造公共排水。物料箱在门口右侧，演示靠窗，承诺墙靠近出口；现场口头确认志愿者站位。会后清点空瓶、量杯、纸板屋檐、物品卡和剩余贴纸。材料出处：attachments/场地便签/雨天室内路线.txt、门口右侧摆放.txt；attachments/可选附录/纸板屋檐演示_替代.txt；attachments/物料清单/物料箱清点.txt；comments/c_safety_bi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给老年居民更少步骤，不把扫码作为唯一入口。亲子任务以观察为主，不设指标或拍照留存要求；儿童较少或时间紧时可省略。物品卡只登记类别、状态和交换/维修意向。材料出处：content.json/branch_audience；attachments/可选附录/亲子观察卡_雨天版.txt、attachments/空白卡片/物品卡空白模板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诺卡记录现在愿意继续做的行动和困难，回访问句了解30天后是否继续，不能混成一次报名登记。公告栏只放三条变化：一次性杯、旧物去向、下次活动；不用个人姓名、门牌或排名。会后志愿者复盘：哪站拥挤、哪句话听不懂、哪些物料未用上。材料出处：attachments/活动手卡/承诺卡_居民版.txt；attachments/跟进记录/30天回访问句_草稿.txt、公告栏三条变化_样例.txt、志愿者复盘会_问题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9fba78f9345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3c0dd7ada4a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6acc70dd547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f5efd724940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c65058ed544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6d101f02043b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01cea0ac541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d41d2cb224b55" /></Relationships>
</file>

<file path=ppt/slideLayouts/slideLayout1.xml><?xml version="1.0" encoding="utf-8"?>
<p:sldLayout xmlns:p="http://schemas.openxmlformats.org/presentationml/2006/main" type="obj" preserve="1">
  <p:cSld name="布局族 A：入口页与旧稿清理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AA4828F0-04AF-4F0F-9C35-6AB7E1E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A：入口页与旧稿清理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FCADCF33-6DA3-43B9-8BCE-C4B0FEB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4" name="cover_title_slot">
            <a:extLst xmlns:a="http://schemas.openxmlformats.org/drawingml/2006/main">
              <a:ext uri="{FF2B5EF4-FFF2-40B4-BE49-F238E27FC236}">
                <a16:creationId xmlns:a16="http://schemas.microsoft.com/office/drawing/2014/main" id="{834E4F3A-4819-4ABB-B466-48EC26F7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" y="1320000"/>
            <a:ext cx="4200000" cy="8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700" b="1"/>
              <a:t>标题占位</a:t>
            </a:r>
          </a:p>
        </p:txBody>
      </p:sp>
      <p:sp>
        <p:nvSpPr>
          <p:cNvPr id="5" name="cover_image_slot">
            <a:extLst xmlns:a="http://schemas.openxmlformats.org/drawingml/2006/main">
              <a:ext uri="{FF2B5EF4-FFF2-40B4-BE49-F238E27FC236}">
                <a16:creationId xmlns:a16="http://schemas.microsoft.com/office/drawing/2014/main" id="{992B30C9-35DA-4952-A9DA-6ED256E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0" y="1220000"/>
            <a:ext cx="3900000" cy="2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6AA56B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/>
              <a:t>自绘纹理/局部图占位</a:t>
            </a:r>
          </a:p>
        </p:txBody>
      </p:sp>
      <p:sp>
        <p:nvSpPr>
          <p:cNvPr id="6" name="cover_cleanup_slot">
            <a:extLst xmlns:a="http://schemas.openxmlformats.org/drawingml/2006/main">
              <a:ext uri="{FF2B5EF4-FFF2-40B4-BE49-F238E27FC236}">
                <a16:creationId xmlns:a16="http://schemas.microsoft.com/office/drawing/2014/main" id="{24C2D7A1-AEB0-4292-86C6-A6F25D2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0" y="4000000"/>
            <a:ext cx="33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旧稿清理提示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布局族 C：路径地图与非线性导航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F3041E06-8C49-4AFA-9457-D85E5B8A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C：路径地图与非线性导航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7557C580-F8B9-495F-86B7-7B565FE0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10" name="layout_path_1">
            <a:extLst xmlns:a="http://schemas.openxmlformats.org/drawingml/2006/main">
              <a:ext uri="{FF2B5EF4-FFF2-40B4-BE49-F238E27FC236}">
                <a16:creationId xmlns:a16="http://schemas.microsoft.com/office/drawing/2014/main" id="{060F6E89-5E17-4895-AA11-4293A565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00" y="2500000"/>
            <a:ext cx="260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6AA56B"/>
            </a:solidFill>
            <a:tailEnd type="triangle"/>
          </a:ln>
        </p:spPr>
      </p:sp>
      <p:sp>
        <p:nvSpPr>
          <p:cNvPr id="11" name="layout_path_2">
            <a:extLst xmlns:a="http://schemas.openxmlformats.org/drawingml/2006/main">
              <a:ext uri="{FF2B5EF4-FFF2-40B4-BE49-F238E27FC236}">
                <a16:creationId xmlns:a16="http://schemas.microsoft.com/office/drawing/2014/main" id="{EEBBBA78-48F0-42F5-81D8-A9DD7DBE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0" y="2500000"/>
            <a:ext cx="2600000" cy="12000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6472"/>
            </a:solidFill>
            <a:tailEnd type="triangle"/>
          </a:ln>
        </p:spPr>
      </p:sp>
      <p:sp>
        <p:nvSpPr>
          <p:cNvPr id="4" name="path_node_a">
            <a:extLst xmlns:a="http://schemas.openxmlformats.org/drawingml/2006/main">
              <a:ext uri="{FF2B5EF4-FFF2-40B4-BE49-F238E27FC236}">
                <a16:creationId xmlns:a16="http://schemas.microsoft.com/office/drawing/2014/main" id="{EC514805-BBB6-448D-ACFD-5C1B013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0" y="2100000"/>
            <a:ext cx="1200000" cy="6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  <p:sp>
        <p:nvSpPr>
          <p:cNvPr id="5" name="path_node_b">
            <a:extLst xmlns:a="http://schemas.openxmlformats.org/drawingml/2006/main">
              <a:ext uri="{FF2B5EF4-FFF2-40B4-BE49-F238E27FC236}">
                <a16:creationId xmlns:a16="http://schemas.microsoft.com/office/drawing/2014/main" id="{E03716F5-0D8C-40F9-840A-02D47681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00" y="2100000"/>
            <a:ext cx="1200000" cy="6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  <p:sp>
        <p:nvSpPr>
          <p:cNvPr id="6" name="path_node_c">
            <a:extLst xmlns:a="http://schemas.openxmlformats.org/drawingml/2006/main">
              <a:ext uri="{FF2B5EF4-FFF2-40B4-BE49-F238E27FC236}">
                <a16:creationId xmlns:a16="http://schemas.microsoft.com/office/drawing/2014/main" id="{1E9A3752-A013-4041-B205-41E013A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0" y="3300000"/>
            <a:ext cx="1200000" cy="6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布局族 F：行动站对照卡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3FEF0917-4E90-4128-BEBE-09E17E2C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F：行动站对照卡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AC5D2731-7775-43D7-8AF0-04A8FD5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4" name="compare_col_4">
            <a:extLst xmlns:a="http://schemas.openxmlformats.org/drawingml/2006/main">
              <a:ext uri="{FF2B5EF4-FFF2-40B4-BE49-F238E27FC236}">
                <a16:creationId xmlns:a16="http://schemas.microsoft.com/office/drawing/2014/main" id="{0C38AB66-3266-4063-BC0B-4826679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0000"/>
            <a:ext cx="2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对照列</a:t>
            </a:r>
          </a:p>
        </p:txBody>
      </p:sp>
      <p:sp>
        <p:nvSpPr>
          <p:cNvPr id="5" name="compare_col_5">
            <a:extLst xmlns:a="http://schemas.openxmlformats.org/drawingml/2006/main">
              <a:ext uri="{FF2B5EF4-FFF2-40B4-BE49-F238E27FC236}">
                <a16:creationId xmlns:a16="http://schemas.microsoft.com/office/drawing/2014/main" id="{78435520-0C42-40A6-9516-6C926F82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00" y="1400000"/>
            <a:ext cx="2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对照列</a:t>
            </a:r>
          </a:p>
        </p:txBody>
      </p:sp>
      <p:sp>
        <p:nvSpPr>
          <p:cNvPr id="6" name="compare_col_6">
            <a:extLst xmlns:a="http://schemas.openxmlformats.org/drawingml/2006/main">
              <a:ext uri="{FF2B5EF4-FFF2-40B4-BE49-F238E27FC236}">
                <a16:creationId xmlns:a16="http://schemas.microsoft.com/office/drawing/2014/main" id="{70625C1B-ECBE-42B5-9D21-15DA638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0" y="1400000"/>
            <a:ext cx="2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对照列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布局族 D：双轨时间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BD231D68-3288-46E7-BBEE-9E3DED7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D：双轨时间尺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327F6843-7ED8-4E8A-91DC-87CCFA7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10" name="lane_one">
            <a:extLst xmlns:a="http://schemas.openxmlformats.org/drawingml/2006/main">
              <a:ext uri="{FF2B5EF4-FFF2-40B4-BE49-F238E27FC236}">
                <a16:creationId xmlns:a16="http://schemas.microsoft.com/office/drawing/2014/main" id="{FB5258D7-2C48-4764-A8E1-E39215A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2200000"/>
            <a:ext cx="820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0642E"/>
            </a:solidFill>
            <a:tailEnd type="triangle"/>
          </a:ln>
        </p:spPr>
      </p:sp>
      <p:sp>
        <p:nvSpPr>
          <p:cNvPr id="11" name="lane_two">
            <a:extLst xmlns:a="http://schemas.openxmlformats.org/drawingml/2006/main">
              <a:ext uri="{FF2B5EF4-FFF2-40B4-BE49-F238E27FC236}">
                <a16:creationId xmlns:a16="http://schemas.microsoft.com/office/drawing/2014/main" id="{D6AF6087-3ED5-445C-97F5-9FABE197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3900000"/>
            <a:ext cx="820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3F6B4A"/>
            </a:solidFill>
            <a:tailEnd type="triangle"/>
          </a:ln>
        </p:spPr>
      </p:sp>
      <p:sp>
        <p:nvSpPr>
          <p:cNvPr id="4" name="lane_label_a">
            <a:extLst xmlns:a="http://schemas.openxmlformats.org/drawingml/2006/main">
              <a:ext uri="{FF2B5EF4-FFF2-40B4-BE49-F238E27FC236}">
                <a16:creationId xmlns:a16="http://schemas.microsoft.com/office/drawing/2014/main" id="{0E11935C-7B6E-4EBD-BBD6-AFDBD68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0" y="1900000"/>
            <a:ext cx="86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50"/>
              <a:t>轨道一</a:t>
            </a:r>
          </a:p>
        </p:txBody>
      </p:sp>
      <p:sp>
        <p:nvSpPr>
          <p:cNvPr id="5" name="lane_label_b">
            <a:extLst xmlns:a="http://schemas.openxmlformats.org/drawingml/2006/main">
              <a:ext uri="{FF2B5EF4-FFF2-40B4-BE49-F238E27FC236}">
                <a16:creationId xmlns:a16="http://schemas.microsoft.com/office/drawing/2014/main" id="{231EED5C-4AF1-427A-9909-2C2A56C4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00" y="3600000"/>
            <a:ext cx="86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50"/>
              <a:t>轨道二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布局族 B：边界矩阵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6132F55D-0BA2-4ECD-9FF5-F3375F39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B：边界矩阵表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67FF2886-7B01-454E-A283-E9F4A1A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graphicFrame>
        <p:nvGraphicFramePr>
          <p:cNvPr id="7" name="layout_table_placeholder"/>
          <p:cNvGraphicFramePr/>
          <p:nvPr/>
        </p:nvGraphicFramePr>
        <p:xfrm>
          <a:off xmlns:a="http://schemas.openxmlformats.org/drawingml/2006/main" x="820000" y="1420000"/>
          <a:ext xmlns:a="http://schemas.openxmlformats.org/drawingml/2006/main" cx="7600000" cy="26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3333"/>
                <a:gridCol w="2533333"/>
                <a:gridCol w="2533333"/>
              </a:tblGrid>
              <a:tr h="866666">
                <a:tc>
                  <a:txBody>
                    <a:bodyPr wrap="square"/>
                    <a:lstStyle/>
                    <a:p>
                      <a:r>
                        <a:rPr sz="1450" b="1"/>
                        <a:t>前台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/>
                        <a:t>备注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/>
                        <a:t>避开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</a:tr>
              <a:tr h="866666">
                <a:tc>
                  <a:txBody>
                    <a:bodyPr wrap="square"/>
                    <a:lstStyle/>
                    <a:p>
                      <a:r>
                        <a:rPr sz="1450"/>
                        <a:t>公开说法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/>
                        <a:t>后台判断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/>
                        <a:t>隐私风险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  <a:tr h="866666">
                <a:tc>
                  <a:txBody>
                    <a:bodyPr wrap="square"/>
                    <a:lstStyle/>
                    <a:p>
                      <a:r>
                        <a:rPr sz="1450"/>
                        <a:t>行动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/>
                        <a:t>物料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/>
                        <a:t>排名/电话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</a:tbl>
          </a:graphicData>
        </a:graphic>
      </p:graphicFrame>
    </p:spTree>
  </p:cSld>
</p:sldLayout>
</file>

<file path=ppt/slideLayouts/slideLayout6.xml><?xml version="1.0" encoding="utf-8"?>
<p:sldLayout xmlns:p="http://schemas.openxmlformats.org/presentationml/2006/main" type="obj" preserve="1">
  <p:cSld name="布局族 H：讲者后台备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BD658EAD-9763-417B-917D-D45AF4A8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H：讲者后台备注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1A9A0573-D8B0-43F6-94D6-F9E5476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4" name="notes_panel">
            <a:extLst xmlns:a="http://schemas.openxmlformats.org/drawingml/2006/main">
              <a:ext uri="{FF2B5EF4-FFF2-40B4-BE49-F238E27FC236}">
                <a16:creationId xmlns:a16="http://schemas.microsoft.com/office/drawing/2014/main" id="{7FFDD30B-0382-4EA2-83C4-F302E3E4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" y="1340000"/>
            <a:ext cx="42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/>
              <a:t>讲者备注面板</a:t>
            </a:r>
          </a:p>
        </p:txBody>
      </p:sp>
      <p:sp>
        <p:nvSpPr>
          <p:cNvPr id="5" name="sticky_one">
            <a:extLst xmlns:a="http://schemas.openxmlformats.org/drawingml/2006/main">
              <a:ext uri="{FF2B5EF4-FFF2-40B4-BE49-F238E27FC236}">
                <a16:creationId xmlns:a16="http://schemas.microsoft.com/office/drawing/2014/main" id="{C465F1C0-97E2-49E0-8D53-C65B237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00" y="3300000"/>
            <a:ext cx="1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便签</a:t>
            </a:r>
          </a:p>
        </p:txBody>
      </p:sp>
      <p:sp>
        <p:nvSpPr>
          <p:cNvPr id="6" name="sticky_two">
            <a:extLst xmlns:a="http://schemas.openxmlformats.org/drawingml/2006/main">
              <a:ext uri="{FF2B5EF4-FFF2-40B4-BE49-F238E27FC236}">
                <a16:creationId xmlns:a16="http://schemas.microsoft.com/office/drawing/2014/main" id="{1BEDEB8D-9A1A-447F-9AA8-29F5BEB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000" y="3300000"/>
            <a:ext cx="1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便签</a:t>
            </a:r>
          </a:p>
        </p:txBody>
      </p:sp>
      <p:sp>
        <p:nvSpPr>
          <p:cNvPr id="7" name="margin">
            <a:extLst xmlns:a="http://schemas.openxmlformats.org/drawingml/2006/main">
              <a:ext uri="{FF2B5EF4-FFF2-40B4-BE49-F238E27FC236}">
                <a16:creationId xmlns:a16="http://schemas.microsoft.com/office/drawing/2014/main" id="{C2882A39-E39A-4BA9-BC4A-2713CD5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00" y="1320000"/>
            <a:ext cx="18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7A776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旁注栏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布局族 E：附录卡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2347CD45-7BBD-4B49-8F07-5B98B2F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E：附录卡池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1D7BB30A-7990-43B2-AC69-75DE1D2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4" name="appendix_placeholder_4">
            <a:extLst xmlns:a="http://schemas.openxmlformats.org/drawingml/2006/main">
              <a:ext uri="{FF2B5EF4-FFF2-40B4-BE49-F238E27FC236}">
                <a16:creationId xmlns:a16="http://schemas.microsoft.com/office/drawing/2014/main" id="{1C8E1143-E2C1-4C38-A41E-276A3B7A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145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  <p:sp>
        <p:nvSpPr>
          <p:cNvPr id="5" name="appendix_placeholder_5">
            <a:extLst xmlns:a="http://schemas.openxmlformats.org/drawingml/2006/main">
              <a:ext uri="{FF2B5EF4-FFF2-40B4-BE49-F238E27FC236}">
                <a16:creationId xmlns:a16="http://schemas.microsoft.com/office/drawing/2014/main" id="{8EF3A4D1-BB45-49F1-9C6A-97221BC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00" y="130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  <p:sp>
        <p:nvSpPr>
          <p:cNvPr id="6" name="appendix_placeholder_6">
            <a:extLst xmlns:a="http://schemas.openxmlformats.org/drawingml/2006/main">
              <a:ext uri="{FF2B5EF4-FFF2-40B4-BE49-F238E27FC236}">
                <a16:creationId xmlns:a16="http://schemas.microsoft.com/office/drawing/2014/main" id="{E44F1A51-795C-49CD-9912-86B7AB30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000" y="155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  <p:sp>
        <p:nvSpPr>
          <p:cNvPr id="7" name="appendix_placeholder_7">
            <a:extLst xmlns:a="http://schemas.openxmlformats.org/drawingml/2006/main">
              <a:ext uri="{FF2B5EF4-FFF2-40B4-BE49-F238E27FC236}">
                <a16:creationId xmlns:a16="http://schemas.microsoft.com/office/drawing/2014/main" id="{5A90F920-F636-4280-A8D1-B069D384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00" y="136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  <p:sp>
        <p:nvSpPr>
          <p:cNvPr id="8" name="appendix_placeholder_8">
            <a:extLst xmlns:a="http://schemas.openxmlformats.org/drawingml/2006/main">
              <a:ext uri="{FF2B5EF4-FFF2-40B4-BE49-F238E27FC236}">
                <a16:creationId xmlns:a16="http://schemas.microsoft.com/office/drawing/2014/main" id="{250BF754-47FB-4422-8A20-D806C09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000" y="360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  <p:sp>
        <p:nvSpPr>
          <p:cNvPr id="9" name="appendix_placeholder_9">
            <a:extLst xmlns:a="http://schemas.openxmlformats.org/drawingml/2006/main">
              <a:ext uri="{FF2B5EF4-FFF2-40B4-BE49-F238E27FC236}">
                <a16:creationId xmlns:a16="http://schemas.microsoft.com/office/drawing/2014/main" id="{3D2C3953-EA5B-46FC-B3AF-2A604BD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00" y="3800000"/>
            <a:ext cx="1900000" cy="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附录卡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布局族 G：承诺回访闭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ayout_name">
            <a:extLst xmlns:a="http://schemas.openxmlformats.org/drawingml/2006/main">
              <a:ext uri="{FF2B5EF4-FFF2-40B4-BE49-F238E27FC236}">
                <a16:creationId xmlns:a16="http://schemas.microsoft.com/office/drawing/2014/main" id="{8EF59267-23B2-4A77-8314-B922C117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00" y="300000"/>
            <a:ext cx="4300000" cy="4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E6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版式：布局族 G：承诺回访闭环</a:t>
            </a:r>
          </a:p>
        </p:txBody>
      </p:sp>
      <p:sp>
        <p:nvSpPr>
          <p:cNvPr id="3" name="layout_boundary">
            <a:extLst xmlns:a="http://schemas.openxmlformats.org/drawingml/2006/main">
              <a:ext uri="{FF2B5EF4-FFF2-40B4-BE49-F238E27FC236}">
                <a16:creationId xmlns:a16="http://schemas.microsoft.com/office/drawing/2014/main" id="{36C4C505-0393-40D2-9603-9B3277EC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300000"/>
            <a:ext cx="26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00"/>
              <a:t>可复用版式，不是最终页序</a:t>
            </a:r>
          </a:p>
        </p:txBody>
      </p:sp>
      <p:sp>
        <p:nvSpPr>
          <p:cNvPr id="4" name="loop_a">
            <a:extLst xmlns:a="http://schemas.openxmlformats.org/drawingml/2006/main">
              <a:ext uri="{FF2B5EF4-FFF2-40B4-BE49-F238E27FC236}">
                <a16:creationId xmlns:a16="http://schemas.microsoft.com/office/drawing/2014/main" id="{593AC38B-88CF-464D-B7E8-3FD48C32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00" y="2200000"/>
            <a:ext cx="16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  <p:sp>
        <p:nvSpPr>
          <p:cNvPr id="5" name="loop_b">
            <a:extLst xmlns:a="http://schemas.openxmlformats.org/drawingml/2006/main">
              <a:ext uri="{FF2B5EF4-FFF2-40B4-BE49-F238E27FC236}">
                <a16:creationId xmlns:a16="http://schemas.microsoft.com/office/drawing/2014/main" id="{A5ECA205-8870-49A4-848A-D1FB611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00" y="2200000"/>
            <a:ext cx="16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  <p:sp>
        <p:nvSpPr>
          <p:cNvPr id="6" name="loop_c">
            <a:extLst xmlns:a="http://schemas.openxmlformats.org/drawingml/2006/main">
              <a:ext uri="{FF2B5EF4-FFF2-40B4-BE49-F238E27FC236}">
                <a16:creationId xmlns:a16="http://schemas.microsoft.com/office/drawing/2014/main" id="{70274442-6292-4927-A60B-256C7184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00" y="2200000"/>
            <a:ext cx="16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300"/>
              <a:t>节点</a:t>
            </a:r>
          </a:p>
        </p:txBody>
      </p:sp>
      <p:sp>
        <p:nvSpPr>
          <p:cNvPr id="10" name="loop_a_b">
            <a:extLst xmlns:a="http://schemas.openxmlformats.org/drawingml/2006/main">
              <a:ext uri="{FF2B5EF4-FFF2-40B4-BE49-F238E27FC236}">
                <a16:creationId xmlns:a16="http://schemas.microsoft.com/office/drawing/2014/main" id="{91111274-5839-4889-BE91-A4E7988C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000" y="2570000"/>
            <a:ext cx="190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6472"/>
            </a:solidFill>
            <a:tailEnd type="triangle"/>
          </a:ln>
        </p:spPr>
      </p:sp>
      <p:sp>
        <p:nvSpPr>
          <p:cNvPr id="11" name="loop_b_c">
            <a:extLst xmlns:a="http://schemas.openxmlformats.org/drawingml/2006/main">
              <a:ext uri="{FF2B5EF4-FFF2-40B4-BE49-F238E27FC236}">
                <a16:creationId xmlns:a16="http://schemas.microsoft.com/office/drawing/2014/main" id="{69C4964E-847C-4009-8BD1-BB3A2A6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0" y="2570000"/>
            <a:ext cx="190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5A4C7D"/>
            </a:solidFill>
            <a:tailEnd type="triangle"/>
          </a:ln>
        </p:spPr>
      </p:sp>
      <p:sp>
        <p:nvSpPr>
          <p:cNvPr id="12" name="loop_back">
            <a:extLst xmlns:a="http://schemas.openxmlformats.org/drawingml/2006/main">
              <a:ext uri="{FF2B5EF4-FFF2-40B4-BE49-F238E27FC236}">
                <a16:creationId xmlns:a16="http://schemas.microsoft.com/office/drawing/2014/main" id="{48F4E195-F571-444E-B3C8-68B98DF5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000" y="3160000"/>
            <a:ext cx="6950000" cy="12400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6AA56B"/>
            </a:solidFill>
            <a:tailEnd type="triangle"/>
          </a:ln>
        </p:spPr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ba88dd48d4d0f" /><Relationship Type="http://schemas.openxmlformats.org/officeDocument/2006/relationships/slideLayout" Target="/ppt/slideLayouts/slideLayout1.xml" Id="R973c2e78e4c9401f" /><Relationship Type="http://schemas.openxmlformats.org/officeDocument/2006/relationships/slideLayout" Target="/ppt/slideLayouts/slideLayout2.xml" Id="R533804c091f2489a" /><Relationship Type="http://schemas.openxmlformats.org/officeDocument/2006/relationships/slideLayout" Target="/ppt/slideLayouts/slideLayout3.xml" Id="Reea3c39951fa48a4" /><Relationship Type="http://schemas.openxmlformats.org/officeDocument/2006/relationships/slideLayout" Target="/ppt/slideLayouts/slideLayout4.xml" Id="Rb20030d3b08047ae" /><Relationship Type="http://schemas.openxmlformats.org/officeDocument/2006/relationships/slideLayout" Target="/ppt/slideLayouts/slideLayout5.xml" Id="Rc5efde6566d64a87" /><Relationship Type="http://schemas.openxmlformats.org/officeDocument/2006/relationships/slideLayout" Target="/ppt/slideLayouts/slideLayout6.xml" Id="R3bdc50e8a8c74954" /><Relationship Type="http://schemas.openxmlformats.org/officeDocument/2006/relationships/slideLayout" Target="/ppt/slideLayouts/slideLayout7.xml" Id="Rd4ed72e355ab4d8b" /><Relationship Type="http://schemas.openxmlformats.org/officeDocument/2006/relationships/slideLayout" Target="/ppt/slideLayouts/slideLayout8.xml" Id="R2bed86dc8ca9483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c2e78e4c9401f"/>
    <p:sldLayoutId xmlns:r="http://schemas.openxmlformats.org/officeDocument/2006/relationships" id="2147483650" r:id="R533804c091f2489a"/>
    <p:sldLayoutId xmlns:r="http://schemas.openxmlformats.org/officeDocument/2006/relationships" id="2147483651" r:id="Reea3c39951fa48a4"/>
    <p:sldLayoutId xmlns:r="http://schemas.openxmlformats.org/officeDocument/2006/relationships" id="2147483652" r:id="Rb20030d3b08047ae"/>
    <p:sldLayoutId xmlns:r="http://schemas.openxmlformats.org/officeDocument/2006/relationships" id="2147483653" r:id="Rc5efde6566d64a87"/>
    <p:sldLayoutId xmlns:r="http://schemas.openxmlformats.org/officeDocument/2006/relationships" id="2147483654" r:id="R3bdc50e8a8c74954"/>
    <p:sldLayoutId xmlns:r="http://schemas.openxmlformats.org/officeDocument/2006/relationships" id="2147483655" r:id="Rd4ed72e355ab4d8b"/>
    <p:sldLayoutId xmlns:r="http://schemas.openxmlformats.org/officeDocument/2006/relationships" id="2147483656" r:id="R2bed86dc8ca9483a"/>
  </p:sldLayoutIdLst>
</p:sldMaster>
</file>

<file path=ppt/slideMasters/theme/theme2.xml><?xml version="1.0" encoding="utf-8"?>
<a:theme xmlns:a="http://schemas.openxmlformats.org/drawingml/2006/main" name="Community Green">
  <a:themeElements>
    <a:clrScheme name="Community Green">
      <a:dk1>
        <a:srgbClr val="24342B"/>
      </a:dk1>
      <a:lt1>
        <a:srgbClr val="FFFDF7"/>
      </a:lt1>
      <a:dk2>
        <a:srgbClr val="35523F"/>
      </a:dk2>
      <a:lt2>
        <a:srgbClr val="F6F1E6"/>
      </a:lt2>
      <a:accent1>
        <a:srgbClr val="6AA56B"/>
      </a:accent1>
      <a:accent2>
        <a:srgbClr val="2F6472"/>
      </a:accent2>
      <a:accent3>
        <a:srgbClr val="A0642E"/>
      </a:accent3>
      <a:accent4>
        <a:srgbClr val="5A4C7D"/>
      </a:accent4>
      <a:accent5>
        <a:srgbClr val="B65B4A"/>
      </a:accent5>
      <a:accent6>
        <a:srgbClr val="7A776E"/>
      </a:accent6>
      <a:hlink>
        <a:srgbClr val="2F6472"/>
      </a:hlink>
      <a:folHlink>
        <a:srgbClr val="5A4C7D"/>
      </a:folHlink>
    </a:clrScheme>
    <a:fontScheme name="Local San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ommunity Green">
      <a:fillStyleLst>
        <a:solidFill>
          <a:schemeClr val="lt1"/>
        </a:solidFill>
      </a:fillStyleLst>
      <a:lnStyleLst>
        <a:ln w="12700">
          <a:solidFill>
            <a:schemeClr val="accent1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24de17cfc42be" /><Relationship Type="http://schemas.openxmlformats.org/officeDocument/2006/relationships/notesSlide" Target="/ppt/notesSlides/notesSlide1.xml" Id="R47f9e33111ce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e4830c9114613" /><Relationship Type="http://schemas.openxmlformats.org/officeDocument/2006/relationships/notesSlide" Target="/ppt/notesSlides/notesSlide2.xml" Id="Ra8ec39198bf74c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5a3ecc76e14a11" /><Relationship Type="http://schemas.openxmlformats.org/officeDocument/2006/relationships/notesSlide" Target="/ppt/notesSlides/notesSlide3.xml" Id="R19e787c38510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506801fa0d641ef" /><Relationship Type="http://schemas.openxmlformats.org/officeDocument/2006/relationships/notesSlide" Target="/ppt/notesSlides/notesSlide4.xml" Id="R78d7e819c6e84f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398c28ea944b3c" /><Relationship Type="http://schemas.openxmlformats.org/officeDocument/2006/relationships/notesSlide" Target="/ppt/notesSlides/notesSlide5.xml" Id="Rad95a990ef59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7e9f306ed47b9" /><Relationship Type="http://schemas.openxmlformats.org/officeDocument/2006/relationships/notesSlide" Target="/ppt/notesSlides/notesSlide6.xml" Id="R49f2a5fb4ea6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39b165db2f4297" /><Relationship Type="http://schemas.openxmlformats.org/officeDocument/2006/relationships/notesSlide" Target="/ppt/notesSlides/notesSlide7.xml" Id="R62c7b05d77d549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f357c039714c41" /><Relationship Type="http://schemas.openxmlformats.org/officeDocument/2006/relationships/notesSlide" Target="/ppt/notesSlides/notesSlide8.xml" Id="R59531161b7ad466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D4486BBA-AFF3-42E4-B64F-1557EAE8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cover_deep_green_band">
            <a:extLst xmlns:a="http://schemas.openxmlformats.org/drawingml/2006/main">
              <a:ext uri="{FF2B5EF4-FFF2-40B4-BE49-F238E27FC236}">
                <a16:creationId xmlns:a16="http://schemas.microsoft.com/office/drawing/2014/main" id="{ABE98D47-E24A-48AF-BF36-3D8A6DA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3F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4" name="layout_family_label">
            <a:extLst xmlns:a="http://schemas.openxmlformats.org/drawingml/2006/main">
              <a:ext uri="{FF2B5EF4-FFF2-40B4-BE49-F238E27FC236}">
                <a16:creationId xmlns:a16="http://schemas.microsoft.com/office/drawing/2014/main" id="{8BF42635-25D5-4B41-B655-5E8CA2F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" y="300000"/>
            <a:ext cx="4300000" cy="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社区居民周末工作坊</a:t>
            </a:r>
          </a:p>
        </p:txBody>
      </p:sp>
      <p:sp>
        <p:nvSpPr>
          <p:cNvPr id="5" name="cover_title_placeholder">
            <a:extLst xmlns:a="http://schemas.openxmlformats.org/drawingml/2006/main">
              <a:ext uri="{FF2B5EF4-FFF2-40B4-BE49-F238E27FC236}">
                <a16:creationId xmlns:a16="http://schemas.microsoft.com/office/drawing/2014/main" id="{1C47B293-B70D-4A8C-BAFB-4E99A581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0" y="1340000"/>
            <a:ext cx="5600000" cy="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3000" b="1"/>
              <a:t>社区低碳共创坊</a:t>
            </a:r>
          </a:p>
        </p:txBody>
      </p:sp>
      <p:sp>
        <p:nvSpPr>
          <p:cNvPr id="6" name="cover_subtitle_placeholder">
            <a:extLst xmlns:a="http://schemas.openxmlformats.org/drawingml/2006/main">
              <a:ext uri="{FF2B5EF4-FFF2-40B4-BE49-F238E27FC236}">
                <a16:creationId xmlns:a16="http://schemas.microsoft.com/office/drawing/2014/main" id="{B83DE845-A51A-486F-B5CC-D4B5791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0" y="2500000"/>
            <a:ext cx="4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6AA56B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650"/>
              <a:t>从本小区的观察开始</a:t>
            </a:r>
          </a:p>
          <a:p xmlns:a="http://schemas.openxmlformats.org/drawingml/2006/main">
            <a:r>
              <a:rPr sz="1650"/>
              <a:t>一起试一件能继续的小事</a:t>
            </a:r>
          </a:p>
        </p:txBody>
      </p:sp>
      <p:sp>
        <p:nvSpPr>
          <p:cNvPr id="8" name="stale_footer_cleanup_box">
            <a:extLst xmlns:a="http://schemas.openxmlformats.org/drawingml/2006/main">
              <a:ext uri="{FF2B5EF4-FFF2-40B4-BE49-F238E27FC236}">
                <a16:creationId xmlns:a16="http://schemas.microsoft.com/office/drawing/2014/main" id="{FEFE6D71-8E06-42CA-8080-F1A0E8C0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" y="4100000"/>
            <a:ext cx="3200000" cy="9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50"/>
              <a:t>楼道灯常亮</a:t>
            </a:r>
          </a:p>
          <a:p xmlns:a="http://schemas.openxmlformats.org/drawingml/2006/main">
            <a:r>
              <a:rPr sz="1550"/>
              <a:t>哪些时候需要照明？</a:t>
            </a:r>
          </a:p>
        </p:txBody>
      </p:sp>
      <p:sp>
        <p:nvSpPr>
          <p:cNvPr id="9" name="local_observation_prompt_box">
            <a:extLst xmlns:a="http://schemas.openxmlformats.org/drawingml/2006/main">
              <a:ext uri="{FF2B5EF4-FFF2-40B4-BE49-F238E27FC236}">
                <a16:creationId xmlns:a16="http://schemas.microsoft.com/office/drawing/2014/main" id="{D8B4102C-E42D-48E8-886D-EF47EC3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0000" y="4100000"/>
            <a:ext cx="3200000" cy="9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50"/>
              <a:t>快递包装堆放</a:t>
            </a:r>
          </a:p>
          <a:p xmlns:a="http://schemas.openxmlformats.org/drawingml/2006/main">
            <a:r>
              <a:rPr sz="1550"/>
              <a:t>哪些物品可以再次使用？</a:t>
            </a:r>
          </a:p>
        </p:txBody>
      </p:sp>
      <p:sp>
        <p:nvSpPr>
          <p:cNvPr id="10" name="visual_style_note">
            <a:extLst xmlns:a="http://schemas.openxmlformats.org/drawingml/2006/main">
              <a:ext uri="{FF2B5EF4-FFF2-40B4-BE49-F238E27FC236}">
                <a16:creationId xmlns:a16="http://schemas.microsoft.com/office/drawing/2014/main" id="{4582E5D0-792D-45D3-83A0-964A5982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00" y="4100000"/>
            <a:ext cx="3200000" cy="93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50"/>
              <a:t>雨天积水绕行</a:t>
            </a:r>
          </a:p>
          <a:p xmlns:a="http://schemas.openxmlformats.org/drawingml/2006/main">
            <a:r>
              <a:rPr sz="1550"/>
              <a:t>怎样走得更安全？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E78458E7-6BAE-43D4-BF9B-184AF8FB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1 / 8</a:t>
            </a:r>
          </a:p>
        </p:txBody>
      </p:sp>
    </p:spTree>
    <p:extLst>
      <p:ext uri="{BB962C8B-B14F-4D97-AF65-F5344CB8AC3E}">
        <p14:creationId xmlns:p14="http://schemas.microsoft.com/office/powerpoint/2010/main" val="7275286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63C8DD19-151A-4E94-A27C-F97D2846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BE08D9-6842-4A41-A1B6-B75D1DFC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73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今天的参与路线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0E4BD4D-CA14-485B-96B0-4673581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00" y="300000"/>
            <a:ext cx="30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从身边的问题开始，选择可以尝试的行动。</a:t>
            </a:r>
          </a:p>
        </p:txBody>
      </p:sp>
      <p:sp>
        <p:nvSpPr>
          <p:cNvPr id="20" name="path_observe_to_action">
            <a:extLst xmlns:a="http://schemas.openxmlformats.org/drawingml/2006/main">
              <a:ext uri="{FF2B5EF4-FFF2-40B4-BE49-F238E27FC236}">
                <a16:creationId xmlns:a16="http://schemas.microsoft.com/office/drawing/2014/main" id="{E7D4F883-E63B-4FED-8772-E839137F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0" y="2340000"/>
            <a:ext cx="217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6AA56B"/>
            </a:solidFill>
            <a:tailEnd type="triangle"/>
          </a:ln>
        </p:spPr>
      </p:sp>
      <p:sp>
        <p:nvSpPr>
          <p:cNvPr id="21" name="path_action_to_boundary">
            <a:extLst xmlns:a="http://schemas.openxmlformats.org/drawingml/2006/main">
              <a:ext uri="{FF2B5EF4-FFF2-40B4-BE49-F238E27FC236}">
                <a16:creationId xmlns:a16="http://schemas.microsoft.com/office/drawing/2014/main" id="{ABEF1CD1-DA5C-4728-B912-875D402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000" y="2340000"/>
            <a:ext cx="216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65B4A"/>
            </a:solidFill>
            <a:tailEnd type="triangle"/>
          </a:ln>
        </p:spPr>
      </p:sp>
      <p:sp>
        <p:nvSpPr>
          <p:cNvPr id="22" name="path_boundary_to_followup">
            <a:extLst xmlns:a="http://schemas.openxmlformats.org/drawingml/2006/main">
              <a:ext uri="{FF2B5EF4-FFF2-40B4-BE49-F238E27FC236}">
                <a16:creationId xmlns:a16="http://schemas.microsoft.com/office/drawing/2014/main" id="{831A2354-A4CC-4D15-A411-76E48FD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00" y="3040000"/>
            <a:ext cx="1800000" cy="15000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6472"/>
            </a:solidFill>
            <a:tailEnd type="triangle"/>
          </a:ln>
        </p:spPr>
      </p:sp>
      <p:sp>
        <p:nvSpPr>
          <p:cNvPr id="23" name="path_followup_to_optional">
            <a:extLst xmlns:a="http://schemas.openxmlformats.org/drawingml/2006/main">
              <a:ext uri="{FF2B5EF4-FFF2-40B4-BE49-F238E27FC236}">
                <a16:creationId xmlns:a16="http://schemas.microsoft.com/office/drawing/2014/main" id="{15841D15-568D-4200-AD57-8393DEB6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000" y="4540000"/>
            <a:ext cx="202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0642E"/>
            </a:solidFill>
            <a:tailEnd type="triangle"/>
          </a:ln>
        </p:spPr>
      </p:sp>
      <p:sp>
        <p:nvSpPr>
          <p:cNvPr id="5" name="node_observe">
            <a:extLst xmlns:a="http://schemas.openxmlformats.org/drawingml/2006/main">
              <a:ext uri="{FF2B5EF4-FFF2-40B4-BE49-F238E27FC236}">
                <a16:creationId xmlns:a16="http://schemas.microsoft.com/office/drawing/2014/main" id="{D7BC0427-DB67-4EF7-A6F5-23565D7F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0" y="1860000"/>
            <a:ext cx="16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先观察</a:t>
            </a:r>
          </a:p>
          <a:p xmlns:a="http://schemas.openxmlformats.org/drawingml/2006/main">
            <a:r>
              <a:rPr sz="1450" b="1"/>
              <a:t>楼道灯</a:t>
            </a:r>
          </a:p>
          <a:p xmlns:a="http://schemas.openxmlformats.org/drawingml/2006/main">
            <a:r>
              <a:rPr sz="1450" b="1"/>
              <a:t>快递包装</a:t>
            </a:r>
          </a:p>
        </p:txBody>
      </p:sp>
      <p:sp>
        <p:nvSpPr>
          <p:cNvPr id="6" name="node_action">
            <a:extLst xmlns:a="http://schemas.openxmlformats.org/drawingml/2006/main">
              <a:ext uri="{FF2B5EF4-FFF2-40B4-BE49-F238E27FC236}">
                <a16:creationId xmlns:a16="http://schemas.microsoft.com/office/drawing/2014/main" id="{F58EA9D1-6018-4703-B69F-1271C975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000" y="1860000"/>
            <a:ext cx="16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两个行动站</a:t>
            </a:r>
          </a:p>
          <a:p xmlns:a="http://schemas.openxmlformats.org/drawingml/2006/main">
            <a:r>
              <a:rPr sz="1450" b="1"/>
              <a:t>节能检查</a:t>
            </a:r>
          </a:p>
          <a:p xmlns:a="http://schemas.openxmlformats.org/drawingml/2006/main">
            <a:r>
              <a:rPr sz="1450" b="1"/>
              <a:t>旧物循环</a:t>
            </a:r>
          </a:p>
        </p:txBody>
      </p:sp>
      <p:sp>
        <p:nvSpPr>
          <p:cNvPr id="7" name="node_boundary">
            <a:extLst xmlns:a="http://schemas.openxmlformats.org/drawingml/2006/main">
              <a:ext uri="{FF2B5EF4-FFF2-40B4-BE49-F238E27FC236}">
                <a16:creationId xmlns:a16="http://schemas.microsoft.com/office/drawing/2014/main" id="{CBB80735-7CA4-4022-8F9B-4142CA87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00" y="1860000"/>
            <a:ext cx="16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共同边界</a:t>
            </a:r>
          </a:p>
          <a:p xmlns:a="http://schemas.openxmlformats.org/drawingml/2006/main">
            <a:r>
              <a:rPr sz="1450" b="1"/>
              <a:t>安全参与</a:t>
            </a:r>
          </a:p>
          <a:p xmlns:a="http://schemas.openxmlformats.org/drawingml/2006/main">
            <a:r>
              <a:rPr sz="1450" b="1"/>
              <a:t>保护隐私</a:t>
            </a:r>
          </a:p>
        </p:txBody>
      </p:sp>
      <p:sp>
        <p:nvSpPr>
          <p:cNvPr id="8" name="node_followup">
            <a:extLst xmlns:a="http://schemas.openxmlformats.org/drawingml/2006/main">
              <a:ext uri="{FF2B5EF4-FFF2-40B4-BE49-F238E27FC236}">
                <a16:creationId xmlns:a16="http://schemas.microsoft.com/office/drawing/2014/main" id="{C2915A9D-06FE-4DE1-9999-2A53C9D3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000" y="4060000"/>
            <a:ext cx="1680000" cy="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30天后</a:t>
            </a:r>
          </a:p>
          <a:p xmlns:a="http://schemas.openxmlformats.org/drawingml/2006/main">
            <a:r>
              <a:rPr sz="1450" b="1"/>
              <a:t>自愿回访</a:t>
            </a:r>
          </a:p>
          <a:p xmlns:a="http://schemas.openxmlformats.org/drawingml/2006/main">
            <a:r>
              <a:rPr sz="1450" b="1"/>
              <a:t>分享改变</a:t>
            </a:r>
          </a:p>
        </p:txBody>
      </p:sp>
      <p:sp>
        <p:nvSpPr>
          <p:cNvPr id="9" name="node_optional">
            <a:extLst xmlns:a="http://schemas.openxmlformats.org/drawingml/2006/main">
              <a:ext uri="{FF2B5EF4-FFF2-40B4-BE49-F238E27FC236}">
                <a16:creationId xmlns:a16="http://schemas.microsoft.com/office/drawing/2014/main" id="{DA790824-AE3F-4902-AC8E-0D650B45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000" y="4060000"/>
            <a:ext cx="1680000" cy="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承诺卡</a:t>
            </a:r>
          </a:p>
          <a:p xmlns:a="http://schemas.openxmlformats.org/drawingml/2006/main">
            <a:r>
              <a:rPr sz="1450" b="1"/>
              <a:t>选择一件</a:t>
            </a:r>
          </a:p>
          <a:p xmlns:a="http://schemas.openxmlformats.org/drawingml/2006/main">
            <a:r>
              <a:rPr sz="1450" b="1"/>
              <a:t>愿意继续的事</a:t>
            </a:r>
          </a:p>
        </p:txBody>
      </p:sp>
      <p:sp>
        <p:nvSpPr>
          <p:cNvPr id="10" name="map_warning">
            <a:extLst xmlns:a="http://schemas.openxmlformats.org/drawingml/2006/main">
              <a:ext uri="{FF2B5EF4-FFF2-40B4-BE49-F238E27FC236}">
                <a16:creationId xmlns:a16="http://schemas.microsoft.com/office/drawing/2014/main" id="{1114CD8D-66A6-4D0B-9B22-191005DA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000" y="4020000"/>
            <a:ext cx="2600000" cy="11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7A776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本周哪件小事最耗电？</a:t>
            </a:r>
          </a:p>
          <a:p xmlns:a="http://schemas.openxmlformats.org/drawingml/2006/main">
            <a:r>
              <a:rPr sz="1450"/>
              <a:t>也可从旧物交换开始。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1582B282-BBE6-476F-A3E4-C82A32D4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2 / 8</a:t>
            </a:r>
          </a:p>
        </p:txBody>
      </p:sp>
    </p:spTree>
    <p:extLst>
      <p:ext uri="{BB962C8B-B14F-4D97-AF65-F5344CB8AC3E}">
        <p14:creationId xmlns:p14="http://schemas.microsoft.com/office/powerpoint/2010/main" val="11569270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5E362336-0241-4B09-8D80-E0206E90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9AF864-DC5E-424D-9813-7C46B93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69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行动站 A：5分钟节能检查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FD49CDE-2AA1-485F-B57F-95E8C8B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0" y="300000"/>
            <a:ext cx="35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从插座、灯、空调模式中选一个本周能改的小动作。</a:t>
            </a:r>
          </a:p>
        </p:txBody>
      </p:sp>
      <p:sp>
        <p:nvSpPr>
          <p:cNvPr id="5" name="column_a">
            <a:extLst xmlns:a="http://schemas.openxmlformats.org/drawingml/2006/main">
              <a:ext uri="{FF2B5EF4-FFF2-40B4-BE49-F238E27FC236}">
                <a16:creationId xmlns:a16="http://schemas.microsoft.com/office/drawing/2014/main" id="{A0C08C5E-DF34-401F-92F3-4AA17F0A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" y="1480000"/>
            <a:ext cx="3150000" cy="34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家里的一个动作</a:t>
            </a:r>
          </a:p>
          <a:p xmlns:a="http://schemas.openxmlformats.org/drawingml/2006/main">
            <a:r>
              <a:rPr sz="1500" b="1"/>
              <a:t>离家前看看插座</a:t>
            </a:r>
          </a:p>
          <a:p xmlns:a="http://schemas.openxmlformats.org/drawingml/2006/main">
            <a:r>
              <a:rPr sz="1500" b="1"/>
              <a:t>观察不必要的亮灯</a:t>
            </a:r>
          </a:p>
          <a:p xmlns:a="http://schemas.openxmlformats.org/drawingml/2006/main">
            <a:r>
              <a:rPr sz="1500" b="1"/>
              <a:t>试着调整空调模式</a:t>
            </a:r>
          </a:p>
          <a:p xmlns:a="http://schemas.openxmlformats.org/drawingml/2006/main">
            <a:r>
              <a:rPr sz="1500" b="1"/>
              <a:t>兼顾家人的舒适度</a:t>
            </a:r>
          </a:p>
        </p:txBody>
      </p:sp>
      <p:sp>
        <p:nvSpPr>
          <p:cNvPr id="6" name="column_b">
            <a:extLst xmlns:a="http://schemas.openxmlformats.org/drawingml/2006/main">
              <a:ext uri="{FF2B5EF4-FFF2-40B4-BE49-F238E27FC236}">
                <a16:creationId xmlns:a16="http://schemas.microsoft.com/office/drawing/2014/main" id="{B89D9DA2-3C68-4FF7-8E91-6F87DAE2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000" y="1480000"/>
            <a:ext cx="3150000" cy="34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公共照明观察卡</a:t>
            </a:r>
          </a:p>
          <a:p xmlns:a="http://schemas.openxmlformats.org/drawingml/2006/main">
            <a:r>
              <a:rPr sz="1500" b="1"/>
              <a:t>记录出现的时间</a:t>
            </a:r>
          </a:p>
          <a:p xmlns:a="http://schemas.openxmlformats.org/drawingml/2006/main">
            <a:r>
              <a:rPr sz="1500" b="1"/>
              <a:t>写清公共位置</a:t>
            </a:r>
          </a:p>
          <a:p xmlns:a="http://schemas.openxmlformats.org/drawingml/2006/main">
            <a:r>
              <a:rPr sz="1500" b="1"/>
              <a:t>说明是否影响安全</a:t>
            </a:r>
          </a:p>
          <a:p xmlns:a="http://schemas.openxmlformats.org/drawingml/2006/main">
            <a:r>
              <a:rPr sz="1500" b="1"/>
              <a:t>把现象反馈给物业</a:t>
            </a:r>
          </a:p>
        </p:txBody>
      </p:sp>
      <p:sp>
        <p:nvSpPr>
          <p:cNvPr id="7" name="column_c">
            <a:extLst xmlns:a="http://schemas.openxmlformats.org/drawingml/2006/main">
              <a:ext uri="{FF2B5EF4-FFF2-40B4-BE49-F238E27FC236}">
                <a16:creationId xmlns:a16="http://schemas.microsoft.com/office/drawing/2014/main" id="{64869BAD-9769-4EC1-B117-B3762B7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00" y="1480000"/>
            <a:ext cx="3150000" cy="34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记录与分享</a:t>
            </a:r>
          </a:p>
          <a:p xmlns:a="http://schemas.openxmlformats.org/drawingml/2006/main">
            <a:r>
              <a:rPr sz="1500" b="1"/>
              <a:t>写下愿意尝试的事</a:t>
            </a:r>
          </a:p>
          <a:p xmlns:a="http://schemas.openxmlformats.org/drawingml/2006/main">
            <a:r>
              <a:rPr sz="1500" b="1"/>
              <a:t>无需展示电费账单</a:t>
            </a:r>
          </a:p>
          <a:p xmlns:a="http://schemas.openxmlformats.org/drawingml/2006/main">
            <a:r>
              <a:rPr sz="1500" b="1"/>
              <a:t>不填写住址或电话</a:t>
            </a:r>
          </a:p>
          <a:p xmlns:a="http://schemas.openxmlformats.org/drawingml/2006/main">
            <a:r>
              <a:rPr sz="1500" b="1"/>
              <a:t>公共改造另行协调</a:t>
            </a:r>
          </a:p>
        </p:txBody>
      </p:sp>
      <p:sp>
        <p:nvSpPr>
          <p:cNvPr id="22" name="compare_public_to_backstage">
            <a:extLst xmlns:a="http://schemas.openxmlformats.org/drawingml/2006/main">
              <a:ext uri="{FF2B5EF4-FFF2-40B4-BE49-F238E27FC236}">
                <a16:creationId xmlns:a16="http://schemas.microsoft.com/office/drawing/2014/main" id="{F1082EFC-561F-4B6D-BC8D-1486D95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000" y="3200000"/>
            <a:ext cx="54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A0642E"/>
            </a:solidFill>
            <a:tailEnd type="triangle"/>
          </a:ln>
        </p:spPr>
      </p:sp>
      <p:sp>
        <p:nvSpPr>
          <p:cNvPr id="23" name="compare_backstage_to_exclude">
            <a:extLst xmlns:a="http://schemas.openxmlformats.org/drawingml/2006/main">
              <a:ext uri="{FF2B5EF4-FFF2-40B4-BE49-F238E27FC236}">
                <a16:creationId xmlns:a16="http://schemas.microsoft.com/office/drawing/2014/main" id="{2D7E7A1E-5671-44D3-924F-DCE03B6F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0" y="3200000"/>
            <a:ext cx="52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65B4A"/>
            </a:solidFill>
            <a:tailEnd type="triangle"/>
          </a:ln>
        </p:spPr>
      </p:sp>
      <p:sp>
        <p:nvSpPr>
          <p:cNvPr id="8" name="merge_note">
            <a:extLst xmlns:a="http://schemas.openxmlformats.org/drawingml/2006/main">
              <a:ext uri="{FF2B5EF4-FFF2-40B4-BE49-F238E27FC236}">
                <a16:creationId xmlns:a16="http://schemas.microsoft.com/office/drawing/2014/main" id="{21871203-7139-4233-A4A2-58FFA462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000" y="5350000"/>
            <a:ext cx="8600000" cy="6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/>
              <a:t>公共照明先记录现象，预算和施工时间需另行确认。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C9EEBB89-BC06-43ED-AAD6-B5022F5F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3 / 8</a:t>
            </a:r>
          </a:p>
        </p:txBody>
      </p:sp>
    </p:spTree>
    <p:extLst>
      <p:ext uri="{BB962C8B-B14F-4D97-AF65-F5344CB8AC3E}">
        <p14:creationId xmlns:p14="http://schemas.microsoft.com/office/powerpoint/2010/main" val="10420688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19238866-C552-4010-B212-9CFDCE4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A5DD9-5B5B-4038-A913-B29B5649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70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90分钟与120分钟两种安排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4002CD0-A780-43A7-B341-6551F9AD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000" y="300000"/>
            <a:ext cx="33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都保留两个行动站和承诺卡，根据现场时间选择。</a:t>
            </a:r>
          </a:p>
        </p:txBody>
      </p:sp>
      <p:sp>
        <p:nvSpPr>
          <p:cNvPr id="5" name="lane_90_label">
            <a:extLst xmlns:a="http://schemas.openxmlformats.org/drawingml/2006/main">
              <a:ext uri="{FF2B5EF4-FFF2-40B4-BE49-F238E27FC236}">
                <a16:creationId xmlns:a16="http://schemas.microsoft.com/office/drawing/2014/main" id="{F053F009-A702-4368-AF5F-020A441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640000"/>
            <a:ext cx="1280000" cy="4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90分钟</a:t>
            </a:r>
          </a:p>
        </p:txBody>
      </p:sp>
      <p:sp>
        <p:nvSpPr>
          <p:cNvPr id="6" name="lane_120_label">
            <a:extLst xmlns:a="http://schemas.openxmlformats.org/drawingml/2006/main">
              <a:ext uri="{FF2B5EF4-FFF2-40B4-BE49-F238E27FC236}">
                <a16:creationId xmlns:a16="http://schemas.microsoft.com/office/drawing/2014/main" id="{08D80F99-6AFC-423A-8CF8-34553FB1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680000"/>
            <a:ext cx="1280000" cy="4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120分钟</a:t>
            </a:r>
          </a:p>
        </p:txBody>
      </p:sp>
      <p:sp>
        <p:nvSpPr>
          <p:cNvPr id="24" name="timeline_90">
            <a:extLst xmlns:a="http://schemas.openxmlformats.org/drawingml/2006/main">
              <a:ext uri="{FF2B5EF4-FFF2-40B4-BE49-F238E27FC236}">
                <a16:creationId xmlns:a16="http://schemas.microsoft.com/office/drawing/2014/main" id="{92A144A2-74A5-46EF-B823-8FC278E5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00" y="1870000"/>
            <a:ext cx="8250000" cy="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A0642E"/>
            </a:solidFill>
            <a:tailEnd type="triangle"/>
          </a:ln>
        </p:spPr>
      </p:sp>
      <p:sp>
        <p:nvSpPr>
          <p:cNvPr id="25" name="timeline_120">
            <a:extLst xmlns:a="http://schemas.openxmlformats.org/drawingml/2006/main">
              <a:ext uri="{FF2B5EF4-FFF2-40B4-BE49-F238E27FC236}">
                <a16:creationId xmlns:a16="http://schemas.microsoft.com/office/drawing/2014/main" id="{278D9904-EA54-4D80-8976-290FEDDB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000" y="3910000"/>
            <a:ext cx="8250000" cy="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6B4A"/>
            </a:solidFill>
            <a:tailEnd type="triangle"/>
          </a:ln>
        </p:spPr>
      </p:sp>
      <p:sp>
        <p:nvSpPr>
          <p:cNvPr id="7" name="m90_7">
            <a:extLst xmlns:a="http://schemas.openxmlformats.org/drawingml/2006/main">
              <a:ext uri="{FF2B5EF4-FFF2-40B4-BE49-F238E27FC236}">
                <a16:creationId xmlns:a16="http://schemas.microsoft.com/office/drawing/2014/main" id="{946F8F2E-3E79-4068-8ACA-7AA04198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23" y="2119979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本地观察</a:t>
            </a:r>
          </a:p>
        </p:txBody>
      </p:sp>
      <p:sp>
        <p:nvSpPr>
          <p:cNvPr id="8" name="m90_8">
            <a:extLst xmlns:a="http://schemas.openxmlformats.org/drawingml/2006/main">
              <a:ext uri="{FF2B5EF4-FFF2-40B4-BE49-F238E27FC236}">
                <a16:creationId xmlns:a16="http://schemas.microsoft.com/office/drawing/2014/main" id="{BFD2E3F8-ACD7-44BA-BC34-B4F4541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58" y="2119979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节能检查</a:t>
            </a:r>
          </a:p>
        </p:txBody>
      </p:sp>
      <p:sp>
        <p:nvSpPr>
          <p:cNvPr id="9" name="m90_9">
            <a:extLst xmlns:a="http://schemas.openxmlformats.org/drawingml/2006/main">
              <a:ext uri="{FF2B5EF4-FFF2-40B4-BE49-F238E27FC236}">
                <a16:creationId xmlns:a16="http://schemas.microsoft.com/office/drawing/2014/main" id="{4911DA4A-7E3A-451E-94E7-F93D5C6E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747" y="2119979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旧物循环</a:t>
            </a:r>
          </a:p>
        </p:txBody>
      </p:sp>
      <p:sp>
        <p:nvSpPr>
          <p:cNvPr id="10" name="m90_10">
            <a:extLst xmlns:a="http://schemas.openxmlformats.org/drawingml/2006/main">
              <a:ext uri="{FF2B5EF4-FFF2-40B4-BE49-F238E27FC236}">
                <a16:creationId xmlns:a16="http://schemas.microsoft.com/office/drawing/2014/main" id="{0ED62F6E-F754-4F88-9D7F-A0E33335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711" y="2119979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回访说明</a:t>
            </a:r>
          </a:p>
        </p:txBody>
      </p:sp>
      <p:sp>
        <p:nvSpPr>
          <p:cNvPr id="11" name="m90_11">
            <a:extLst xmlns:a="http://schemas.openxmlformats.org/drawingml/2006/main">
              <a:ext uri="{FF2B5EF4-FFF2-40B4-BE49-F238E27FC236}">
                <a16:creationId xmlns:a16="http://schemas.microsoft.com/office/drawing/2014/main" id="{C5ADEC14-016F-4C70-8EDD-AB0BF3E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721" y="2119979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承诺卡</a:t>
            </a:r>
          </a:p>
        </p:txBody>
      </p:sp>
      <p:sp>
        <p:nvSpPr>
          <p:cNvPr id="12" name="m120_12">
            <a:extLst xmlns:a="http://schemas.openxmlformats.org/drawingml/2006/main">
              <a:ext uri="{FF2B5EF4-FFF2-40B4-BE49-F238E27FC236}">
                <a16:creationId xmlns:a16="http://schemas.microsoft.com/office/drawing/2014/main" id="{DFC0BA3C-C643-4DC2-9920-9E73E33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723" y="4160044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本地观察</a:t>
            </a:r>
          </a:p>
        </p:txBody>
      </p:sp>
      <p:sp>
        <p:nvSpPr>
          <p:cNvPr id="13" name="m120_13">
            <a:extLst xmlns:a="http://schemas.openxmlformats.org/drawingml/2006/main">
              <a:ext uri="{FF2B5EF4-FFF2-40B4-BE49-F238E27FC236}">
                <a16:creationId xmlns:a16="http://schemas.microsoft.com/office/drawing/2014/main" id="{C6E57342-46FE-4E96-A39D-CCC1CFA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58" y="4160044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两个站点</a:t>
            </a:r>
          </a:p>
        </p:txBody>
      </p:sp>
      <p:sp>
        <p:nvSpPr>
          <p:cNvPr id="14" name="m120_14">
            <a:extLst xmlns:a="http://schemas.openxmlformats.org/drawingml/2006/main">
              <a:ext uri="{FF2B5EF4-FFF2-40B4-BE49-F238E27FC236}">
                <a16:creationId xmlns:a16="http://schemas.microsoft.com/office/drawing/2014/main" id="{92828E6C-17AD-4CC4-905F-F4C1C783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747" y="4160044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分组交换</a:t>
            </a:r>
          </a:p>
        </p:txBody>
      </p:sp>
      <p:sp>
        <p:nvSpPr>
          <p:cNvPr id="15" name="m120_15">
            <a:extLst xmlns:a="http://schemas.openxmlformats.org/drawingml/2006/main">
              <a:ext uri="{FF2B5EF4-FFF2-40B4-BE49-F238E27FC236}">
                <a16:creationId xmlns:a16="http://schemas.microsoft.com/office/drawing/2014/main" id="{797E385D-2C0A-410E-A0B6-EF4F371C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711" y="4160044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回访说明</a:t>
            </a:r>
          </a:p>
        </p:txBody>
      </p:sp>
      <p:sp>
        <p:nvSpPr>
          <p:cNvPr id="16" name="m120_16">
            <a:extLst xmlns:a="http://schemas.openxmlformats.org/drawingml/2006/main">
              <a:ext uri="{FF2B5EF4-FFF2-40B4-BE49-F238E27FC236}">
                <a16:creationId xmlns:a16="http://schemas.microsoft.com/office/drawing/2014/main" id="{FCFCB20B-3B4A-447F-82D4-CB6B5C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721" y="4160044"/>
            <a:ext cx="1238250" cy="523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42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42B"/>
                </a:solidFill>
                <a:latin typeface="Arial"/>
                <a:ea typeface="Arial"/>
                <a:cs typeface="Arial"/>
              </a:rPr>
              <a:t>承诺卡</a:t>
            </a:r>
          </a:p>
        </p:txBody>
      </p:sp>
      <p:sp>
        <p:nvSpPr>
          <p:cNvPr id="40" name="timeline_note">
            <a:extLst xmlns:a="http://schemas.openxmlformats.org/drawingml/2006/main">
              <a:ext uri="{FF2B5EF4-FFF2-40B4-BE49-F238E27FC236}">
                <a16:creationId xmlns:a16="http://schemas.microsoft.com/office/drawing/2014/main" id="{8D0227AB-853E-4308-9B11-49B21EC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000" y="5400000"/>
            <a:ext cx="9000000" cy="6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120分钟场可加10分钟分组交换。填写承诺卡前，用2分钟说明自愿回访。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A9D2A21E-6543-464A-9BB9-F9B68E11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4 / 8</a:t>
            </a:r>
          </a:p>
        </p:txBody>
      </p:sp>
    </p:spTree>
    <p:extLst>
      <p:ext uri="{BB962C8B-B14F-4D97-AF65-F5344CB8AC3E}">
        <p14:creationId xmlns:p14="http://schemas.microsoft.com/office/powerpoint/2010/main" val="19668106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586B360F-5D8D-4C21-A9A3-700E4EA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B6298F-E8B0-403C-9B92-7A7408A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64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行动站 B：旧物循环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EF3BBF2-2DAE-402F-8549-C54EA17C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000" y="300000"/>
            <a:ext cx="41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先登记类别和状态，再分区，结束时确认无人领取物品的去向。</a:t>
            </a:r>
          </a:p>
        </p:txBody>
      </p:sp>
      <p:graphicFrame>
        <p:nvGraphicFramePr>
          <p:cNvPr id="95" name="native_safety_privacy_matrix_table"/>
          <p:cNvGraphicFramePr/>
          <p:nvPr/>
        </p:nvGraphicFramePr>
        <p:xfrm>
          <a:off xmlns:a="http://schemas.openxmlformats.org/drawingml/2006/main" x="720000" y="1380000"/>
          <a:ext xmlns:a="http://schemas.openxmlformats.org/drawingml/2006/main" cx="8700000" cy="382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00"/>
                <a:gridCol w="2175000"/>
                <a:gridCol w="2175000"/>
                <a:gridCol w="2175000"/>
              </a:tblGrid>
              <a:tr h="764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类别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可以带来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现场怎么做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注意边界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35523F"/>
                    </a:solidFill>
                  </a:tcPr>
                </a:tc>
              </a:tr>
              <a:tr h="7640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旧物交换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书、杯、干净小物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登记类别与状态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不填个人身份信息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  <a:tr h="7640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需要维修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先说明物品状况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分入待维修区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无法保证修好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  <a:tr h="7640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暂不接收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电池、药品、液体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先不放上交换桌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隐私文件、旧手机不收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  <a:tr h="76400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活动收尾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无人领取的物品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共同确认去向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4342B"/>
                          </a:solidFill>
                          <a:latin typeface="Arial"/>
                          <a:ea typeface="Arial"/>
                          <a:cs typeface="Arial"/>
                        </a:rPr>
                        <a:t>不预先承诺清运</a:t>
                      </a:r>
                    </a:p>
                  </a:txBody>
                  <a:tcPr marL="45720" marR="45720" marT="45720" marB="45720">
                    <a:lnL w="6350">
                      <a:solidFill>
                        <a:srgbClr val="D9D4C8"/>
                      </a:solidFill>
                    </a:lnL>
                    <a:lnR w="6350">
                      <a:solidFill>
                        <a:srgbClr val="D9D4C8"/>
                      </a:solidFill>
                    </a:lnR>
                    <a:lnT w="6350">
                      <a:solidFill>
                        <a:srgbClr val="D9D4C8"/>
                      </a:solidFill>
                    </a:lnT>
                    <a:lnB w="6350">
                      <a:solidFill>
                        <a:srgbClr val="D9D4C8"/>
                      </a:solidFill>
                    </a:lnB>
                    <a:solidFill>
                      <a:srgbClr val="FCE7DD"/>
                    </a:solidFill>
                  </a:tcPr>
                </a:tc>
              </a:tr>
            </a:tbl>
          </a:graphicData>
        </a:graphic>
      </p:graphicFrame>
      <p:sp>
        <p:nvSpPr>
          <p:cNvPr id="6" name="matrix_sidebar">
            <a:extLst xmlns:a="http://schemas.openxmlformats.org/drawingml/2006/main">
              <a:ext uri="{FF2B5EF4-FFF2-40B4-BE49-F238E27FC236}">
                <a16:creationId xmlns:a16="http://schemas.microsoft.com/office/drawing/2014/main" id="{7B5C3808-F323-44FA-A828-6E8752E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000" y="1600000"/>
            <a:ext cx="17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维修角只做检查与建议，无法保证修好。</a:t>
            </a:r>
          </a:p>
          <a:p xmlns:a="http://schemas.openxmlformats.org/drawingml/2006/main">
            <a:r>
              <a:rPr sz="1400"/>
              <a:t/>
            </a:r>
          </a:p>
          <a:p xmlns:a="http://schemas.openxmlformats.org/drawingml/2006/main">
            <a:r>
              <a:rPr sz="1400"/>
              <a:t>不把清运责任自动交给小店。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650AD547-D153-4BCA-A237-E164FBD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5 / 8</a:t>
            </a:r>
          </a:p>
        </p:txBody>
      </p:sp>
    </p:spTree>
    <p:extLst>
      <p:ext uri="{BB962C8B-B14F-4D97-AF65-F5344CB8AC3E}">
        <p14:creationId xmlns:p14="http://schemas.microsoft.com/office/powerpoint/2010/main" val="11604393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C3894622-B4E7-4579-9920-54FC491E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CE1549-B120-4D39-B0B6-C9BDF627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63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一起守住安全与隐私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C605865-BC33-4E42-85B0-BE7DB676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00" y="300000"/>
            <a:ext cx="42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每个人都可以参与，也可以选择不分享个人信息。</a:t>
            </a:r>
          </a:p>
        </p:txBody>
      </p:sp>
      <p:sp>
        <p:nvSpPr>
          <p:cNvPr id="5" name="speaker_notes_panel">
            <a:extLst xmlns:a="http://schemas.openxmlformats.org/drawingml/2006/main">
              <a:ext uri="{FF2B5EF4-FFF2-40B4-BE49-F238E27FC236}">
                <a16:creationId xmlns:a16="http://schemas.microsoft.com/office/drawing/2014/main" id="{20A84F6C-7F41-4A2A-B099-018B7154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340000"/>
            <a:ext cx="4200000" cy="1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650" b="1"/>
              <a:t>我们只分享行动和观察</a:t>
            </a:r>
          </a:p>
          <a:p xmlns:a="http://schemas.openxmlformats.org/drawingml/2006/main">
            <a:r>
              <a:rPr sz="1650" b="1"/>
              <a:t>不展示个人电费、住址或手机号</a:t>
            </a:r>
          </a:p>
          <a:p xmlns:a="http://schemas.openxmlformats.org/drawingml/2006/main">
            <a:r>
              <a:rPr sz="1650" b="1"/>
              <a:t>儿童活动不单独留影</a:t>
            </a:r>
          </a:p>
        </p:txBody>
      </p:sp>
      <p:sp>
        <p:nvSpPr>
          <p:cNvPr id="6" name="sticky_delay">
            <a:extLst xmlns:a="http://schemas.openxmlformats.org/drawingml/2006/main">
              <a:ext uri="{FF2B5EF4-FFF2-40B4-BE49-F238E27FC236}">
                <a16:creationId xmlns:a16="http://schemas.microsoft.com/office/drawing/2014/main" id="{DD862A19-96FD-41EA-928C-7BF99F6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0" y="3320000"/>
            <a:ext cx="27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雨天走室内路线，避开湿滑楼梯。</a:t>
            </a:r>
          </a:p>
        </p:txBody>
      </p:sp>
      <p:sp>
        <p:nvSpPr>
          <p:cNvPr id="7" name="sticky_heat">
            <a:extLst xmlns:a="http://schemas.openxmlformats.org/drawingml/2006/main">
              <a:ext uri="{FF2B5EF4-FFF2-40B4-BE49-F238E27FC236}">
                <a16:creationId xmlns:a16="http://schemas.microsoft.com/office/drawing/2014/main" id="{C49002C4-31BA-4A49-B743-D606314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0000" y="3320000"/>
            <a:ext cx="27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演示不接入真实电路或管线。</a:t>
            </a:r>
          </a:p>
        </p:txBody>
      </p:sp>
      <p:sp>
        <p:nvSpPr>
          <p:cNvPr id="8" name="sticky_supply">
            <a:extLst xmlns:a="http://schemas.openxmlformats.org/drawingml/2006/main">
              <a:ext uri="{FF2B5EF4-FFF2-40B4-BE49-F238E27FC236}">
                <a16:creationId xmlns:a16="http://schemas.microsoft.com/office/drawing/2014/main" id="{5142F928-23C2-49E6-96B6-E845B90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000" y="3320000"/>
            <a:ext cx="27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/>
              <a:t>通道保持畅通，给行动不便的居民留座。</a:t>
            </a:r>
          </a:p>
        </p:txBody>
      </p:sp>
      <p:sp>
        <p:nvSpPr>
          <p:cNvPr id="9" name="comment_margin">
            <a:extLst xmlns:a="http://schemas.openxmlformats.org/drawingml/2006/main">
              <a:ext uri="{FF2B5EF4-FFF2-40B4-BE49-F238E27FC236}">
                <a16:creationId xmlns:a16="http://schemas.microsoft.com/office/drawing/2014/main" id="{6F7AA874-12C3-4C61-81C6-5953127A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000" y="1320000"/>
            <a:ext cx="1300000" cy="38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7A776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250"/>
              <a:t>参与约定</a:t>
            </a:r>
          </a:p>
          <a:p xmlns:a="http://schemas.openxmlformats.org/drawingml/2006/main">
            <a:r>
              <a:rPr sz="1250"/>
              <a:t>自愿打卡</a:t>
            </a:r>
          </a:p>
          <a:p xmlns:a="http://schemas.openxmlformats.org/drawingml/2006/main">
            <a:r>
              <a:rPr sz="1250"/>
              <a:t>不收电话</a:t>
            </a:r>
          </a:p>
          <a:p xmlns:a="http://schemas.openxmlformats.org/drawingml/2006/main">
            <a:r>
              <a:rPr sz="1250"/>
              <a:t>不做个人排名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F3345694-E703-4F4A-A487-C50E1812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6 / 8</a:t>
            </a:r>
          </a:p>
        </p:txBody>
      </p:sp>
    </p:spTree>
    <p:extLst>
      <p:ext uri="{BB962C8B-B14F-4D97-AF65-F5344CB8AC3E}">
        <p14:creationId xmlns:p14="http://schemas.microsoft.com/office/powerpoint/2010/main" val="11305991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B99CF0C7-5194-448A-99D3-253E66B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7D927E-2202-4FA0-85EF-38F4006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68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找到适合自己的参与方式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25ACC66-A48C-4FAF-8E73-30C8395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0" y="300000"/>
            <a:ext cx="35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选择一个容易开始的小动作，需要帮助时可请志愿者协助。</a:t>
            </a:r>
          </a:p>
        </p:txBody>
      </p:sp>
      <p:sp>
        <p:nvSpPr>
          <p:cNvPr id="5" name="appendix_card_5">
            <a:extLst xmlns:a="http://schemas.openxmlformats.org/drawingml/2006/main">
              <a:ext uri="{FF2B5EF4-FFF2-40B4-BE49-F238E27FC236}">
                <a16:creationId xmlns:a16="http://schemas.microsoft.com/office/drawing/2014/main" id="{7CC98DD9-167A-4004-A3CD-D9FDA884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00" y="145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老年居民</a:t>
            </a:r>
          </a:p>
          <a:p xmlns:a="http://schemas.openxmlformats.org/drawingml/2006/main">
            <a:r>
              <a:rPr sz="1450" b="1"/>
              <a:t>步骤少一点</a:t>
            </a:r>
          </a:p>
          <a:p xmlns:a="http://schemas.openxmlformats.org/drawingml/2006/main">
            <a:r>
              <a:rPr sz="1450" b="1"/>
              <a:t>可以直接填写纸卡</a:t>
            </a:r>
          </a:p>
        </p:txBody>
      </p:sp>
      <p:sp>
        <p:nvSpPr>
          <p:cNvPr id="6" name="appendix_card_6">
            <a:extLst xmlns:a="http://schemas.openxmlformats.org/drawingml/2006/main">
              <a:ext uri="{FF2B5EF4-FFF2-40B4-BE49-F238E27FC236}">
                <a16:creationId xmlns:a16="http://schemas.microsoft.com/office/drawing/2014/main" id="{9D830A1C-9254-424D-8176-615E4AD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00" y="130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居民家庭</a:t>
            </a:r>
          </a:p>
          <a:p xmlns:a="http://schemas.openxmlformats.org/drawingml/2006/main">
            <a:r>
              <a:rPr sz="1450" b="1"/>
              <a:t>从本周能做到的</a:t>
            </a:r>
          </a:p>
          <a:p xmlns:a="http://schemas.openxmlformats.org/drawingml/2006/main">
            <a:r>
              <a:rPr sz="1450" b="1"/>
              <a:t>一个动作开始</a:t>
            </a:r>
          </a:p>
        </p:txBody>
      </p:sp>
      <p:sp>
        <p:nvSpPr>
          <p:cNvPr id="7" name="appendix_card_7">
            <a:extLst xmlns:a="http://schemas.openxmlformats.org/drawingml/2006/main">
              <a:ext uri="{FF2B5EF4-FFF2-40B4-BE49-F238E27FC236}">
                <a16:creationId xmlns:a16="http://schemas.microsoft.com/office/drawing/2014/main" id="{5DC8A0B5-2780-404D-9846-9724A3A1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000" y="153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物业代表</a:t>
            </a:r>
          </a:p>
          <a:p xmlns:a="http://schemas.openxmlformats.org/drawingml/2006/main">
            <a:r>
              <a:rPr sz="1450" b="1"/>
              <a:t>接收照明观察</a:t>
            </a:r>
          </a:p>
          <a:p xmlns:a="http://schemas.openxmlformats.org/drawingml/2006/main">
            <a:r>
              <a:rPr sz="1450" b="1"/>
              <a:t>后续协调改造</a:t>
            </a:r>
          </a:p>
        </p:txBody>
      </p:sp>
      <p:sp>
        <p:nvSpPr>
          <p:cNvPr id="8" name="appendix_card_8">
            <a:extLst xmlns:a="http://schemas.openxmlformats.org/drawingml/2006/main">
              <a:ext uri="{FF2B5EF4-FFF2-40B4-BE49-F238E27FC236}">
                <a16:creationId xmlns:a16="http://schemas.microsoft.com/office/drawing/2014/main" id="{A524BA2A-EB07-43E0-9878-C20950E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00" y="134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12700">
            <a:solidFill>
              <a:srgbClr val="A0642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小店店主</a:t>
            </a:r>
          </a:p>
          <a:p xmlns:a="http://schemas.openxmlformats.org/drawingml/2006/main">
            <a:r>
              <a:rPr sz="1450" b="1"/>
              <a:t>回收箱与清运</a:t>
            </a:r>
          </a:p>
          <a:p xmlns:a="http://schemas.openxmlformats.org/drawingml/2006/main">
            <a:r>
              <a:rPr sz="1450" b="1"/>
              <a:t>先共同商量</a:t>
            </a:r>
          </a:p>
        </p:txBody>
      </p:sp>
      <p:sp>
        <p:nvSpPr>
          <p:cNvPr id="9" name="appendix_card_9">
            <a:extLst xmlns:a="http://schemas.openxmlformats.org/drawingml/2006/main">
              <a:ext uri="{FF2B5EF4-FFF2-40B4-BE49-F238E27FC236}">
                <a16:creationId xmlns:a16="http://schemas.microsoft.com/office/drawing/2014/main" id="{A6FE1554-CBB1-46A2-A723-08E8E39A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000" y="380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7A776E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亲子家庭</a:t>
            </a:r>
          </a:p>
          <a:p xmlns:a="http://schemas.openxmlformats.org/drawingml/2006/main">
            <a:r>
              <a:rPr sz="1450" b="1"/>
              <a:t>雨天可在室内找</a:t>
            </a:r>
          </a:p>
          <a:p xmlns:a="http://schemas.openxmlformats.org/drawingml/2006/main">
            <a:r>
              <a:rPr sz="1450" b="1"/>
              <a:t>三种可重复用的物品</a:t>
            </a:r>
          </a:p>
        </p:txBody>
      </p:sp>
      <p:sp>
        <p:nvSpPr>
          <p:cNvPr id="10" name="appendix_card_10">
            <a:extLst xmlns:a="http://schemas.openxmlformats.org/drawingml/2006/main">
              <a:ext uri="{FF2B5EF4-FFF2-40B4-BE49-F238E27FC236}">
                <a16:creationId xmlns:a16="http://schemas.microsoft.com/office/drawing/2014/main" id="{15054A06-5D6E-4E30-B1C5-5B3C7A64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00" y="390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物品卡</a:t>
            </a:r>
          </a:p>
          <a:p xmlns:a="http://schemas.openxmlformats.org/drawingml/2006/main">
            <a:r>
              <a:rPr sz="1450" b="1"/>
              <a:t>类别、状态、意向</a:t>
            </a:r>
          </a:p>
          <a:p xmlns:a="http://schemas.openxmlformats.org/drawingml/2006/main">
            <a:r>
              <a:rPr sz="1450" b="1"/>
              <a:t>无需填写身份信息</a:t>
            </a:r>
          </a:p>
        </p:txBody>
      </p:sp>
      <p:sp>
        <p:nvSpPr>
          <p:cNvPr id="11" name="appendix_card_11">
            <a:extLst xmlns:a="http://schemas.openxmlformats.org/drawingml/2006/main">
              <a:ext uri="{FF2B5EF4-FFF2-40B4-BE49-F238E27FC236}">
                <a16:creationId xmlns:a16="http://schemas.microsoft.com/office/drawing/2014/main" id="{0744E746-DF92-4B68-938E-813FEA53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00" y="3800000"/>
            <a:ext cx="2100000" cy="9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50" b="1"/>
              <a:t>志愿者协助</a:t>
            </a:r>
          </a:p>
          <a:p xmlns:a="http://schemas.openxmlformats.org/drawingml/2006/main">
            <a:r>
              <a:rPr sz="1450" b="1"/>
              <a:t>现场说明与引导</a:t>
            </a:r>
          </a:p>
          <a:p xmlns:a="http://schemas.openxmlformats.org/drawingml/2006/main">
            <a:r>
              <a:rPr sz="1450" b="1"/>
              <a:t>无需公布联系方式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FFE50DE3-95B9-43A2-B00A-85985D94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7 / 8</a:t>
            </a:r>
          </a:p>
        </p:txBody>
      </p:sp>
    </p:spTree>
    <p:extLst>
      <p:ext uri="{BB962C8B-B14F-4D97-AF65-F5344CB8AC3E}">
        <p14:creationId xmlns:p14="http://schemas.microsoft.com/office/powerpoint/2010/main" val="19723993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anvas">
            <a:extLst xmlns:a="http://schemas.openxmlformats.org/drawingml/2006/main">
              <a:ext uri="{FF2B5EF4-FFF2-40B4-BE49-F238E27FC236}">
                <a16:creationId xmlns:a16="http://schemas.microsoft.com/office/drawing/2014/main" id="{F642A7D1-AD56-470A-A623-50C6687D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200"/>
              <a:t/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3E6B47-65FB-48D0-84BB-1674793B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00" y="320000"/>
            <a:ext cx="69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12700">
            <a:solidFill>
              <a:srgbClr val="35523F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2300" b="1"/>
              <a:t>把一件小事继续30天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60E0B4E-BAFF-4E8E-9B21-3841523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000" y="300000"/>
            <a:ext cx="35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从今天的行动站中，选出你愿意继续尝试的一件事。</a:t>
            </a:r>
          </a:p>
        </p:txBody>
      </p:sp>
      <p:sp>
        <p:nvSpPr>
          <p:cNvPr id="5" name="loop_commitment">
            <a:extLst xmlns:a="http://schemas.openxmlformats.org/drawingml/2006/main">
              <a:ext uri="{FF2B5EF4-FFF2-40B4-BE49-F238E27FC236}">
                <a16:creationId xmlns:a16="http://schemas.microsoft.com/office/drawing/2014/main" id="{47B0DA07-46D6-4ECE-A37B-10E6ED38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000" y="2180000"/>
            <a:ext cx="21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5"/>
          </a:solidFill>
          <a:ln xmlns:a="http://schemas.openxmlformats.org/drawingml/2006/main" w="12700">
            <a:solidFill>
              <a:srgbClr val="3F6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今天的承诺卡</a:t>
            </a:r>
          </a:p>
          <a:p xmlns:a="http://schemas.openxmlformats.org/drawingml/2006/main">
            <a:r>
              <a:rPr sz="1500" b="1"/>
              <a:t>我愿意做：____</a:t>
            </a:r>
          </a:p>
          <a:p xmlns:a="http://schemas.openxmlformats.org/drawingml/2006/main">
            <a:r>
              <a:rPr sz="1500" b="1"/>
              <a:t>遇到的困难：____</a:t>
            </a:r>
          </a:p>
        </p:txBody>
      </p:sp>
      <p:sp>
        <p:nvSpPr>
          <p:cNvPr id="6" name="loop_board">
            <a:extLst xmlns:a="http://schemas.openxmlformats.org/drawingml/2006/main">
              <a:ext uri="{FF2B5EF4-FFF2-40B4-BE49-F238E27FC236}">
                <a16:creationId xmlns:a16="http://schemas.microsoft.com/office/drawing/2014/main" id="{6FC5BCFC-C75E-4505-A655-E05B9FAF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000" y="2180000"/>
            <a:ext cx="21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4F7"/>
          </a:solidFill>
          <a:ln xmlns:a="http://schemas.openxmlformats.org/drawingml/2006/main" w="12700">
            <a:solidFill>
              <a:srgbClr val="2F6472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30天后回访</a:t>
            </a:r>
          </a:p>
          <a:p xmlns:a="http://schemas.openxmlformats.org/drawingml/2006/main">
            <a:r>
              <a:rPr sz="1500" b="1"/>
              <a:t>是否还在做？</a:t>
            </a:r>
          </a:p>
          <a:p xmlns:a="http://schemas.openxmlformats.org/drawingml/2006/main">
            <a:r>
              <a:rPr sz="1500" b="1"/>
              <a:t>愿意分享一个改变？</a:t>
            </a:r>
          </a:p>
        </p:txBody>
      </p:sp>
      <p:sp>
        <p:nvSpPr>
          <p:cNvPr id="7" name="loop_review">
            <a:extLst xmlns:a="http://schemas.openxmlformats.org/drawingml/2006/main">
              <a:ext uri="{FF2B5EF4-FFF2-40B4-BE49-F238E27FC236}">
                <a16:creationId xmlns:a16="http://schemas.microsoft.com/office/drawing/2014/main" id="{C4D465D2-D0BD-4C52-BCD0-70852A46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00" y="2180000"/>
            <a:ext cx="21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2700">
            <a:solidFill>
              <a:srgbClr val="5A4C7D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00" b="1"/>
              <a:t>公告栏三条变化</a:t>
            </a:r>
          </a:p>
          <a:p xmlns:a="http://schemas.openxmlformats.org/drawingml/2006/main">
            <a:r>
              <a:rPr sz="1500" b="1"/>
              <a:t>一次性杯的减少</a:t>
            </a:r>
          </a:p>
          <a:p xmlns:a="http://schemas.openxmlformats.org/drawingml/2006/main">
            <a:r>
              <a:rPr sz="1500" b="1"/>
              <a:t>旧物去向、下次活动</a:t>
            </a:r>
          </a:p>
        </p:txBody>
      </p:sp>
      <p:sp>
        <p:nvSpPr>
          <p:cNvPr id="24" name="loop_commitment_to_board">
            <a:extLst xmlns:a="http://schemas.openxmlformats.org/drawingml/2006/main">
              <a:ext uri="{FF2B5EF4-FFF2-40B4-BE49-F238E27FC236}">
                <a16:creationId xmlns:a16="http://schemas.microsoft.com/office/drawing/2014/main" id="{147F8529-57F9-4A1D-A0BB-399321C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000" y="2630000"/>
            <a:ext cx="126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F6472"/>
            </a:solidFill>
            <a:tailEnd type="triangle"/>
          </a:ln>
        </p:spPr>
      </p:sp>
      <p:sp>
        <p:nvSpPr>
          <p:cNvPr id="25" name="loop_board_to_review">
            <a:extLst xmlns:a="http://schemas.openxmlformats.org/drawingml/2006/main">
              <a:ext uri="{FF2B5EF4-FFF2-40B4-BE49-F238E27FC236}">
                <a16:creationId xmlns:a16="http://schemas.microsoft.com/office/drawing/2014/main" id="{461F6D9D-CED4-4D4E-A7EF-0A7EBECE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000" y="2630000"/>
            <a:ext cx="1260000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5A4C7D"/>
            </a:solidFill>
            <a:tailEnd type="triangle"/>
          </a:ln>
        </p:spPr>
      </p:sp>
      <p:sp>
        <p:nvSpPr>
          <p:cNvPr id="26" name="loop_review_back">
            <a:extLst xmlns:a="http://schemas.openxmlformats.org/drawingml/2006/main">
              <a:ext uri="{FF2B5EF4-FFF2-40B4-BE49-F238E27FC236}">
                <a16:creationId xmlns:a16="http://schemas.microsoft.com/office/drawing/2014/main" id="{CEE0BD51-B384-4AF9-A2E9-19D7F9C6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000" y="3200000"/>
            <a:ext cx="6800000" cy="11000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6AA56B"/>
            </a:solidFill>
            <a:tailEnd type="triangle"/>
          </a:ln>
        </p:spPr>
      </p:sp>
      <p:sp>
        <p:nvSpPr>
          <p:cNvPr id="8" name="privacy_guard">
            <a:extLst xmlns:a="http://schemas.openxmlformats.org/drawingml/2006/main">
              <a:ext uri="{FF2B5EF4-FFF2-40B4-BE49-F238E27FC236}">
                <a16:creationId xmlns:a16="http://schemas.microsoft.com/office/drawing/2014/main" id="{52FA5D19-8EEE-43DA-86AE-003F0B5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000" y="4400000"/>
            <a:ext cx="6200000" cy="8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7DD"/>
          </a:solidFill>
          <a:ln xmlns:a="http://schemas.openxmlformats.org/drawingml/2006/main" w="12700">
            <a:solidFill>
              <a:srgbClr val="B65B4A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550"/>
              <a:t>只收自愿打卡，不收手机号，不做个人排名。</a:t>
            </a:r>
          </a:p>
          <a:p xmlns:a="http://schemas.openxmlformats.org/drawingml/2006/main">
            <a:r>
              <a:rPr sz="1550"/>
              <a:t>公告栏不写姓名和门牌。</a:t>
            </a:r>
          </a:p>
        </p:txBody>
      </p:sp>
      <p:sp>
        <p:nvSpPr>
          <p:cNvPr id="9" name="closing_variant">
            <a:extLst xmlns:a="http://schemas.openxmlformats.org/drawingml/2006/main">
              <a:ext uri="{FF2B5EF4-FFF2-40B4-BE49-F238E27FC236}">
                <a16:creationId xmlns:a16="http://schemas.microsoft.com/office/drawing/2014/main" id="{C706605E-44ED-42BF-AE9B-9F6A16E6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000" y="5500000"/>
            <a:ext cx="5400000" cy="5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12700">
            <a:solidFill>
              <a:srgbClr val="D9D4C8"/>
            </a:solidFill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400"/>
              <a:t>下一次活动先给大致时间，无需留下报名电话。</a:t>
            </a:r>
          </a:p>
        </p:txBody>
      </p:sp>
      <p:sp>
        <p:nvSpPr>
          <p:cNvPr id="90" name="template_boundary_footer">
            <a:extLst xmlns:a="http://schemas.openxmlformats.org/drawingml/2006/main">
              <a:ext uri="{FF2B5EF4-FFF2-40B4-BE49-F238E27FC236}">
                <a16:creationId xmlns:a16="http://schemas.microsoft.com/office/drawing/2014/main" id="{57C39B38-527A-4CA1-9209-0D145ABA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0" y="6480000"/>
            <a:ext cx="10900000" cy="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40" tIns="68580" rIns="91440" bIns="68580"/>
          <a:lstStyle xmlns:a="http://schemas.openxmlformats.org/drawingml/2006/main"/>
          <a:p xmlns:a="http://schemas.openxmlformats.org/drawingml/2006/main">
            <a:r>
              <a:rPr sz="1150"/>
              <a:t>社区低碳共创坊    8 / 8</a:t>
            </a:r>
          </a:p>
        </p:txBody>
      </p:sp>
    </p:spTree>
    <p:extLst>
      <p:ext uri="{BB962C8B-B14F-4D97-AF65-F5344CB8AC3E}">
        <p14:creationId xmlns:p14="http://schemas.microsoft.com/office/powerpoint/2010/main" val="411082844"/>
      </p:ext>
    </p:extLst>
  </p:cSld>
</p:sld>
</file>

<file path=ppt/theme/theme1.xml><?xml version="1.0" encoding="utf-8"?>
<a:theme xmlns:a="http://schemas.openxmlformats.org/drawingml/2006/main" name="Community Green">
  <a:themeElements>
    <a:clrScheme name="Community Green">
      <a:dk1>
        <a:srgbClr val="24342B"/>
      </a:dk1>
      <a:lt1>
        <a:srgbClr val="FFFDF7"/>
      </a:lt1>
      <a:dk2>
        <a:srgbClr val="35523F"/>
      </a:dk2>
      <a:lt2>
        <a:srgbClr val="F6F1E6"/>
      </a:lt2>
      <a:accent1>
        <a:srgbClr val="6AA56B"/>
      </a:accent1>
      <a:accent2>
        <a:srgbClr val="2F6472"/>
      </a:accent2>
      <a:accent3>
        <a:srgbClr val="A0642E"/>
      </a:accent3>
      <a:accent4>
        <a:srgbClr val="5A4C7D"/>
      </a:accent4>
      <a:accent5>
        <a:srgbClr val="B65B4A"/>
      </a:accent5>
      <a:accent6>
        <a:srgbClr val="7A776E"/>
      </a:accent6>
      <a:hlink>
        <a:srgbClr val="2F6472"/>
      </a:hlink>
      <a:folHlink>
        <a:srgbClr val="5A4C7D"/>
      </a:folHlink>
    </a:clrScheme>
    <a:fontScheme name="Local San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ommunity Green">
      <a:fillStyleLst>
        <a:solidFill>
          <a:schemeClr val="lt1"/>
        </a:solidFill>
      </a:fillStyleLst>
      <a:lnStyleLst>
        <a:ln w="12700">
          <a:solidFill>
            <a:schemeClr val="accent1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2026-10-09T02:30:35.3540000Z</dcterms:created>
  <dcterms:modified xsi:type="dcterms:W3CDTF">2026-10-09T02:30:35.3540000Z</dcterms:modified>
</coreProperties>
</file>