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1f30d4f1cd4354" /><Relationship Type="http://schemas.openxmlformats.org/officeDocument/2006/relationships/extended-properties" Target="/docProps/app.xml" Id="Rc72e4f9f9d8142c1" /><Relationship Type="http://schemas.openxmlformats.org/officeDocument/2006/relationships/officeDocument" Target="/ppt/presentation.xml" Id="R2f21c990a3d64d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7f34d0cb794bb5"/>
  </p:sldMasterIdLst>
  <p:notesMasterIdLst>
    <p:notesMasterId xmlns:r="http://schemas.openxmlformats.org/officeDocument/2006/relationships" r:id="R4813575d963a4627"/>
  </p:notesMasterIdLst>
  <p:sldIdLst>
    <p:sldId xmlns:r="http://schemas.openxmlformats.org/officeDocument/2006/relationships" id="256" r:id="Rb21ca12ea20145b5"/>
    <p:sldId xmlns:r="http://schemas.openxmlformats.org/officeDocument/2006/relationships" id="257" r:id="R8d0987c92af141d7"/>
    <p:sldId xmlns:r="http://schemas.openxmlformats.org/officeDocument/2006/relationships" id="258" r:id="R1e1770278c4d4936"/>
    <p:sldId xmlns:r="http://schemas.openxmlformats.org/officeDocument/2006/relationships" id="259" r:id="R32a5ef9de0374a4e"/>
    <p:sldId xmlns:r="http://schemas.openxmlformats.org/officeDocument/2006/relationships" id="260" r:id="R31a55d777f954d8e"/>
    <p:sldId xmlns:r="http://schemas.openxmlformats.org/officeDocument/2006/relationships" id="261" r:id="Re53d6c1534db49b9"/>
    <p:sldId xmlns:r="http://schemas.openxmlformats.org/officeDocument/2006/relationships" id="262" r:id="R5ccb7bc988a34c3e"/>
    <p:sldId xmlns:r="http://schemas.openxmlformats.org/officeDocument/2006/relationships" id="263" r:id="R9d1f76e266444c43"/>
    <p:sldId xmlns:r="http://schemas.openxmlformats.org/officeDocument/2006/relationships" id="264" r:id="R02b38ece7c41440a"/>
    <p:sldId xmlns:r="http://schemas.openxmlformats.org/officeDocument/2006/relationships" id="265" r:id="R26ee77d1a5734a43"/>
    <p:sldId xmlns:r="http://schemas.openxmlformats.org/officeDocument/2006/relationships" id="266" r:id="Rf24e2e281ba34d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1e80914d5a4b72" /><Relationship Type="http://schemas.openxmlformats.org/officeDocument/2006/relationships/slideMaster" Target="/ppt/slideMasters/slideMaster1.xml" Id="R2b7f34d0cb794bb5" /><Relationship Type="http://schemas.openxmlformats.org/officeDocument/2006/relationships/notesMaster" Target="/ppt/notesMasters/notesMaster1.xml" Id="R4813575d963a4627" /><Relationship Type="http://schemas.openxmlformats.org/officeDocument/2006/relationships/presProps" Target="/ppt/presProps.xml" Id="R89e67c47c7bb4eb0" /><Relationship Type="http://schemas.openxmlformats.org/officeDocument/2006/relationships/tableStyles" Target="/ppt/tableStyles.xml" Id="R6a54f1f81f3b4c28" /><Relationship Type="http://schemas.openxmlformats.org/officeDocument/2006/relationships/slide" Target="/ppt/slides/slide1.xml" Id="Rb21ca12ea20145b5" /><Relationship Type="http://schemas.openxmlformats.org/officeDocument/2006/relationships/slide" Target="/ppt/slides/slide2.xml" Id="R8d0987c92af141d7" /><Relationship Type="http://schemas.openxmlformats.org/officeDocument/2006/relationships/slide" Target="/ppt/slides/slide3.xml" Id="R1e1770278c4d4936" /><Relationship Type="http://schemas.openxmlformats.org/officeDocument/2006/relationships/slide" Target="/ppt/slides/slide4.xml" Id="R32a5ef9de0374a4e" /><Relationship Type="http://schemas.openxmlformats.org/officeDocument/2006/relationships/slide" Target="/ppt/slides/slide5.xml" Id="R31a55d777f954d8e" /><Relationship Type="http://schemas.openxmlformats.org/officeDocument/2006/relationships/slide" Target="/ppt/slides/slide6.xml" Id="Re53d6c1534db49b9" /><Relationship Type="http://schemas.openxmlformats.org/officeDocument/2006/relationships/slide" Target="/ppt/slides/slide7.xml" Id="R5ccb7bc988a34c3e" /><Relationship Type="http://schemas.openxmlformats.org/officeDocument/2006/relationships/slide" Target="/ppt/slides/slide8.xml" Id="R9d1f76e266444c43" /><Relationship Type="http://schemas.openxmlformats.org/officeDocument/2006/relationships/slide" Target="/ppt/slides/slide9.xml" Id="R02b38ece7c41440a" /><Relationship Type="http://schemas.openxmlformats.org/officeDocument/2006/relationships/slide" Target="/ppt/slides/slide10.xml" Id="R26ee77d1a5734a43" /><Relationship Type="http://schemas.openxmlformats.org/officeDocument/2006/relationships/slide" Target="/ppt/slides/slide11.xml" Id="Rf24e2e281ba34d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5d7e0a91404e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140cf129594e50" /><Relationship Type="http://schemas.openxmlformats.org/officeDocument/2006/relationships/notesMaster" Target="/ppt/notesMasters/notesMaster1.xml" Id="Re321a395bacf4e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eac8b144b341b1" /><Relationship Type="http://schemas.openxmlformats.org/officeDocument/2006/relationships/notesMaster" Target="/ppt/notesMasters/notesMaster1.xml" Id="R988ee069177743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97fcb297434ed1" /><Relationship Type="http://schemas.openxmlformats.org/officeDocument/2006/relationships/notesMaster" Target="/ppt/notesMasters/notesMaster1.xml" Id="R4bbe92eeb9444b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25df76a75044e5" /><Relationship Type="http://schemas.openxmlformats.org/officeDocument/2006/relationships/notesMaster" Target="/ppt/notesMasters/notesMaster1.xml" Id="R5d63bc7c59e345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f9546ac0a5489e" /><Relationship Type="http://schemas.openxmlformats.org/officeDocument/2006/relationships/notesMaster" Target="/ppt/notesMasters/notesMaster1.xml" Id="R747a25ed16d144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036483e4a44814" /><Relationship Type="http://schemas.openxmlformats.org/officeDocument/2006/relationships/notesMaster" Target="/ppt/notesMasters/notesMaster1.xml" Id="R675b500de19d44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85b5fcd52e484a" /><Relationship Type="http://schemas.openxmlformats.org/officeDocument/2006/relationships/notesMaster" Target="/ppt/notesMasters/notesMaster1.xml" Id="Rd1babba6fe284c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27c0c0312a49f4" /><Relationship Type="http://schemas.openxmlformats.org/officeDocument/2006/relationships/notesMaster" Target="/ppt/notesMasters/notesMaster1.xml" Id="Rab79963e9ea046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a973bab2aa4279" /><Relationship Type="http://schemas.openxmlformats.org/officeDocument/2006/relationships/notesMaster" Target="/ppt/notesMasters/notesMaster1.xml" Id="R30b1f78ea07a46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122f1258914c87" /><Relationship Type="http://schemas.openxmlformats.org/officeDocument/2006/relationships/notesMaster" Target="/ppt/notesMasters/notesMaster1.xml" Id="R02e367fb02ac40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7664a873754894" /><Relationship Type="http://schemas.openxmlformats.org/officeDocument/2006/relationships/notesMaster" Target="/ppt/notesMasters/notesMaster1.xml" Id="R8d1aa5528d5e4c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本页依据原始 material.pdf 第 1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[冻结原始材料全文；供事实回查，不是额外交付要求]</a:t>
            </a:r>
          </a:p>
          <a:p xmlns:a="http://schemas.openxmlformats.org/drawingml/2006/main">
            <a:r>
              <a:t>PDF PAGE 1</a:t>
            </a:r>
          </a:p>
          <a:p xmlns:a="http://schemas.openxmlformats.org/drawingml/2006/main">
            <a:r>
              <a:t>Alphabet Announces First Quarter 2024 Results</a:t>
            </a:r>
          </a:p>
          <a:p xmlns:a="http://schemas.openxmlformats.org/drawingml/2006/main">
            <a:r>
              <a:t>MOUNTAIN VIEW, Calif. – April 25, 2024  – Alphabet Inc. (NASDAQ: GOOG, GOOGL) today announced financial </a:t>
            </a:r>
          </a:p>
          <a:p xmlns:a="http://schemas.openxmlformats.org/drawingml/2006/main">
            <a:r>
              <a:t>results for the quarter ended March 31, 2024.</a:t>
            </a:r>
          </a:p>
          <a:p xmlns:a="http://schemas.openxmlformats.org/drawingml/2006/main">
            <a:r>
              <a:t>Sundar Pichai, CEO, said: “Our results in the first quarter reflect strong performance from Search, YouTube and </a:t>
            </a:r>
          </a:p>
          <a:p xmlns:a="http://schemas.openxmlformats.org/drawingml/2006/main">
            <a:r>
              <a:t>Cloud. We are well under way with our Gemini era and there’s great momentum across the company. Our </a:t>
            </a:r>
          </a:p>
          <a:p xmlns:a="http://schemas.openxmlformats.org/drawingml/2006/main">
            <a:r>
              <a:t>leadership in AI research and infrastructure, and our global product footprint, position us well for the next wave of AI </a:t>
            </a:r>
          </a:p>
          <a:p xmlns:a="http://schemas.openxmlformats.org/drawingml/2006/main">
            <a:r>
              <a:t>innovation.”</a:t>
            </a:r>
          </a:p>
          <a:p xmlns:a="http://schemas.openxmlformats.org/drawingml/2006/main">
            <a:r>
              <a:t>Ruth Porat, President and Chief Investment Officer; CFO said: “Our strong financial results for the first quarter </a:t>
            </a:r>
          </a:p>
          <a:p xmlns:a="http://schemas.openxmlformats.org/drawingml/2006/main">
            <a:r>
              <a:t>reflect revenue strength across the company and ongoing efforts to durably reengineer our cost base. We delivered </a:t>
            </a:r>
          </a:p>
          <a:p xmlns:a="http://schemas.openxmlformats.org/drawingml/2006/main">
            <a:r>
              <a:t>revenues of $80.5 billion, up 15% year-on-year, and operating margin expansion.”</a:t>
            </a:r>
          </a:p>
          <a:p xmlns:a="http://schemas.openxmlformats.org/drawingml/2006/main">
            <a:r>
              <a:t>Q1 2024 Financial Highlights (unaudited)</a:t>
            </a:r>
          </a:p>
          <a:p xmlns:a="http://schemas.openxmlformats.org/drawingml/2006/main">
            <a:r>
              <a:t>The following table summarizes our consolidated financial results for the quarters ended March 31, 2023 and 2024 </a:t>
            </a:r>
          </a:p>
          <a:p xmlns:a="http://schemas.openxmlformats.org/drawingml/2006/main">
            <a:r>
              <a:t>(in millions, except for per share information and percentages). </a:t>
            </a:r>
          </a:p>
          <a:p xmlns:a="http://schemas.openxmlformats.org/drawingml/2006/main">
            <a:r>
              <a:t>Quarter Ended March 31,</a:t>
            </a:r>
          </a:p>
          <a:p xmlns:a="http://schemas.openxmlformats.org/drawingml/2006/main">
            <a:r>
              <a:t>2023 2024</a:t>
            </a:r>
          </a:p>
          <a:p xmlns:a="http://schemas.openxmlformats.org/drawingml/2006/main">
            <a:r>
              <a:t>(unaudited)</a:t>
            </a:r>
          </a:p>
          <a:p xmlns:a="http://schemas.openxmlformats.org/drawingml/2006/main">
            <a:r>
              <a:t>Revenues $ 69,787 $ 80,539 </a:t>
            </a:r>
          </a:p>
          <a:p xmlns:a="http://schemas.openxmlformats.org/drawingml/2006/main">
            <a:r>
              <a:t>Change in revenues year over year  3 %  15 %</a:t>
            </a:r>
          </a:p>
          <a:p xmlns:a="http://schemas.openxmlformats.org/drawingml/2006/main">
            <a:r>
              <a:t>Change in constant currency revenues year over year(1)  6 %  16 %</a:t>
            </a:r>
          </a:p>
          <a:p xmlns:a="http://schemas.openxmlformats.org/drawingml/2006/main">
            <a:r>
              <a:t>Operating income $ 17,415 $ 25,472 </a:t>
            </a:r>
          </a:p>
          <a:p xmlns:a="http://schemas.openxmlformats.org/drawingml/2006/main">
            <a:r>
              <a:t>Operating margin  25 %  32 %</a:t>
            </a:r>
          </a:p>
          <a:p xmlns:a="http://schemas.openxmlformats.org/drawingml/2006/main">
            <a:r>
              <a:t>Other income (expense), net $ 790 $ 2,843 </a:t>
            </a:r>
          </a:p>
          <a:p xmlns:a="http://schemas.openxmlformats.org/drawingml/2006/main">
            <a:r>
              <a:t>Net income $ 15,051 $ 23,662 </a:t>
            </a:r>
          </a:p>
          <a:p xmlns:a="http://schemas.openxmlformats.org/drawingml/2006/main">
            <a:r>
              <a:t>Diluted EPS $ 1.17 $ 1.89 </a:t>
            </a:r>
          </a:p>
          <a:p xmlns:a="http://schemas.openxmlformats.org/drawingml/2006/main">
            <a:r>
              <a:t>(1) Non-GAAP measure. See the section captioned “ Reconciliation from GAAP Revenues to Non-GAAP Constant Currency </a:t>
            </a:r>
          </a:p>
          <a:p xmlns:a="http://schemas.openxmlformats.org/drawingml/2006/main">
            <a:r>
              <a:t>Revenues and GAAP Percentage Change in Revenues to Non-GAAP Percentage Change in Constant Currency </a:t>
            </a:r>
          </a:p>
          <a:p xmlns:a="http://schemas.openxmlformats.org/drawingml/2006/main">
            <a:r>
              <a:t>Revenues” for more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PDF PAGE 12</a:t>
            </a:r>
          </a:p>
          <a:p xmlns:a="http://schemas.openxmlformats.org/drawingml/2006/main">
            <a:r>
              <a:t>Reconciliation from Certain GAAP Measures to Certain Non-GAAP Measures, Excluding the Effect of </a:t>
            </a:r>
          </a:p>
          <a:p xmlns:a="http://schemas.openxmlformats.org/drawingml/2006/main">
            <a:r>
              <a:t>Severance and Related and Office Space Charges (in millions, expect for percentages; unaudited):</a:t>
            </a:r>
          </a:p>
          <a:p xmlns:a="http://schemas.openxmlformats.org/drawingml/2006/main">
            <a:r>
              <a:t>We provide the following non-GAAP measures because they provide useful information to management and </a:t>
            </a:r>
          </a:p>
          <a:p xmlns:a="http://schemas.openxmlformats.org/drawingml/2006/main">
            <a:r>
              <a:t>investors about the effect on expense growth from the severance and related and office space charges taken in the </a:t>
            </a:r>
          </a:p>
          <a:p xmlns:a="http://schemas.openxmlformats.org/drawingml/2006/main">
            <a:r>
              <a:t>first quarter of 2023, and for comparability, the severance and related charges taken in the first quarter of 2024:</a:t>
            </a:r>
          </a:p>
          <a:p xmlns:a="http://schemas.openxmlformats.org/drawingml/2006/main">
            <a:r>
              <a:t>• Non-GAAP other cost of revenues, excluding severance and related and office space charges</a:t>
            </a:r>
          </a:p>
          <a:p xmlns:a="http://schemas.openxmlformats.org/drawingml/2006/main">
            <a:r>
              <a:t>• Non-GAAP operating expenses, excluding severance and related and office space charges</a:t>
            </a:r>
          </a:p>
          <a:p xmlns:a="http://schemas.openxmlformats.org/drawingml/2006/main">
            <a:r>
              <a:t>• Non-GAAP percentage change in other cost of revenues, excluding severance and related and office space </a:t>
            </a:r>
          </a:p>
          <a:p xmlns:a="http://schemas.openxmlformats.org/drawingml/2006/main">
            <a:r>
              <a:t>charges</a:t>
            </a:r>
          </a:p>
          <a:p xmlns:a="http://schemas.openxmlformats.org/drawingml/2006/main">
            <a:r>
              <a:t>• Non-GAAP percentage change in operating expenses, excluding severance and related and office space </a:t>
            </a:r>
          </a:p>
          <a:p xmlns:a="http://schemas.openxmlformats.org/drawingml/2006/main">
            <a:r>
              <a:t>charges</a:t>
            </a:r>
          </a:p>
          <a:p xmlns:a="http://schemas.openxmlformats.org/drawingml/2006/main">
            <a:r>
              <a:t>• Non-GAAP operating income, excluding severance and related and office space charges, and </a:t>
            </a:r>
          </a:p>
          <a:p xmlns:a="http://schemas.openxmlformats.org/drawingml/2006/main">
            <a:r>
              <a:t>• Non-GAAP operating margin, excluding severance and related and office space charges </a:t>
            </a:r>
          </a:p>
          <a:p xmlns:a="http://schemas.openxmlformats.org/drawingml/2006/main">
            <a:r>
              <a:t>These non-GAAP measures exclude the effect of severance and related and office space charges recorded during </a:t>
            </a:r>
          </a:p>
          <a:p xmlns:a="http://schemas.openxmlformats.org/drawingml/2006/main">
            <a:r>
              <a:t>the first quarters of 2023 and 2024. We calculate the percentage change by comparing expenses and operating </a:t>
            </a:r>
          </a:p>
          <a:p xmlns:a="http://schemas.openxmlformats.org/drawingml/2006/main">
            <a:r>
              <a:t>income to the prior year comparable quarter, each excluding severance and related and office space charges </a:t>
            </a:r>
          </a:p>
          <a:p xmlns:a="http://schemas.openxmlformats.org/drawingml/2006/main">
            <a:r>
              <a:t>recorded in the respective periods.</a:t>
            </a:r>
          </a:p>
          <a:p xmlns:a="http://schemas.openxmlformats.org/drawingml/2006/main">
            <a:r>
              <a:t>Quarter Ended March 31,</a:t>
            </a:r>
          </a:p>
          <a:p xmlns:a="http://schemas.openxmlformats.org/drawingml/2006/main">
            <a:r>
              <a:t>2023 2024 % Change</a:t>
            </a:r>
          </a:p>
          <a:p xmlns:a="http://schemas.openxmlformats.org/drawingml/2006/main">
            <a:r>
              <a:t>Revenues $ 69,787 $ 80,539 </a:t>
            </a:r>
          </a:p>
          <a:p xmlns:a="http://schemas.openxmlformats.org/drawingml/2006/main">
            <a:r>
              <a:t>Other cost of revenues $ 18,891 $ 20,766  10 %</a:t>
            </a:r>
          </a:p>
          <a:p xmlns:a="http://schemas.openxmlformats.org/drawingml/2006/main">
            <a:r>
              <a:t>   Less: severance and related charges  (461)  (153) </a:t>
            </a:r>
          </a:p>
          <a:p xmlns:a="http://schemas.openxmlformats.org/drawingml/2006/main">
            <a:r>
              <a:t>   Less: office space charges  (220)  0 </a:t>
            </a:r>
          </a:p>
          <a:p xmlns:a="http://schemas.openxmlformats.org/drawingml/2006/main">
            <a:r>
              <a:t>Other cost of revenues, excluding severance and related and office space charges $ 18,210 $ 20,613  13 %</a:t>
            </a:r>
          </a:p>
          <a:p xmlns:a="http://schemas.openxmlformats.org/drawingml/2006/main">
            <a:r>
              <a:t>Operating expenses $ 21,760 $ 21,355  (2) %</a:t>
            </a:r>
          </a:p>
          <a:p xmlns:a="http://schemas.openxmlformats.org/drawingml/2006/main">
            <a:r>
              <a:t>   Less: severance and related charges  (1,533)  (563) </a:t>
            </a:r>
          </a:p>
          <a:p xmlns:a="http://schemas.openxmlformats.org/drawingml/2006/main">
            <a:r>
              <a:t>   Less: office space charges  (344)  0 </a:t>
            </a:r>
          </a:p>
          <a:p xmlns:a="http://schemas.openxmlformats.org/drawingml/2006/main">
            <a:r>
              <a:t>Operating expenses, excluding severance and related and office space charges $ 19,883 $ 20,792  5 %</a:t>
            </a:r>
          </a:p>
          <a:p xmlns:a="http://schemas.openxmlformats.org/drawingml/2006/main">
            <a:r>
              <a:t>Operating income $ 17,415 $ 25,472  46 %</a:t>
            </a:r>
          </a:p>
          <a:p xmlns:a="http://schemas.openxmlformats.org/drawingml/2006/main">
            <a:r>
              <a:t>   Operating margin  25 %  32 %  7 %</a:t>
            </a:r>
          </a:p>
          <a:p xmlns:a="http://schemas.openxmlformats.org/drawingml/2006/main">
            <a:r>
              <a:t>   Add: severance and related charges  1,994  716 </a:t>
            </a:r>
          </a:p>
          <a:p xmlns:a="http://schemas.openxmlformats.org/drawingml/2006/main">
            <a:r>
              <a:t>   Add: office space charges  564  0 </a:t>
            </a:r>
          </a:p>
          <a:p xmlns:a="http://schemas.openxmlformats.org/drawingml/2006/main">
            <a:r>
              <a:t>Operating income, excluding severance and related and office space charges $ 19,973 $ 26,188  31 %</a:t>
            </a:r>
          </a:p>
          <a:p xmlns:a="http://schemas.openxmlformats.org/drawingml/2006/main">
            <a:r>
              <a:t>   Operating margin, excluding severance and related and office space charges  29 %  33 %  4 %</a:t>
            </a:r>
          </a:p>
          <a:p xmlns:a="http://schemas.openxmlformats.org/drawingml/2006/main">
            <a:r>
              <a:t>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本页依据原始 material.pdf 第 1 页。</a:t>
            </a:r>
          </a:p>
          <a:p xmlns:a="http://schemas.openxmlformats.org/drawingml/2006/main">
            <a:r>
              <a:t>金额从百万美元换算为亿美元，除以100。80539→805.39，25472→254.72，23662→236.62。报表财务数据未经审计。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[冻结原始材料全文；供事实回查，不是额外交付要求]</a:t>
            </a:r>
          </a:p>
          <a:p xmlns:a="http://schemas.openxmlformats.org/drawingml/2006/main">
            <a:r>
              <a:t>PDF PAGE 2</a:t>
            </a:r>
          </a:p>
          <a:p xmlns:a="http://schemas.openxmlformats.org/drawingml/2006/main">
            <a:r>
              <a:t>Q1 2024 Supplemental Information (in millions, except for number of employees; unaudited)</a:t>
            </a:r>
          </a:p>
          <a:p xmlns:a="http://schemas.openxmlformats.org/drawingml/2006/main">
            <a:r>
              <a:t>Revenues, Traffic Acquisition Costs (TAC), and Number of Employees</a:t>
            </a:r>
          </a:p>
          <a:p xmlns:a="http://schemas.openxmlformats.org/drawingml/2006/main">
            <a:r>
              <a:t>Quarter Ended March 31,</a:t>
            </a:r>
          </a:p>
          <a:p xmlns:a="http://schemas.openxmlformats.org/drawingml/2006/main">
            <a:r>
              <a:t>2023 2024</a:t>
            </a:r>
          </a:p>
          <a:p xmlns:a="http://schemas.openxmlformats.org/drawingml/2006/main">
            <a:r>
              <a:t>Google Search &amp; other $ 40,359 $ 46,156 </a:t>
            </a:r>
          </a:p>
          <a:p xmlns:a="http://schemas.openxmlformats.org/drawingml/2006/main">
            <a:r>
              <a:t>YouTube ads  6,693  8,090 </a:t>
            </a:r>
          </a:p>
          <a:p xmlns:a="http://schemas.openxmlformats.org/drawingml/2006/main">
            <a:r>
              <a:t>Google Network  7,496  7,413 </a:t>
            </a:r>
          </a:p>
          <a:p xmlns:a="http://schemas.openxmlformats.org/drawingml/2006/main">
            <a:r>
              <a:t>Google advertising  54,548  61,659 </a:t>
            </a:r>
          </a:p>
          <a:p xmlns:a="http://schemas.openxmlformats.org/drawingml/2006/main">
            <a:r>
              <a:t>Google subscriptions, platforms, and devices  7,413  8,739 </a:t>
            </a:r>
          </a:p>
          <a:p xmlns:a="http://schemas.openxmlformats.org/drawingml/2006/main">
            <a:r>
              <a:t>Google Services total  61,961  70,398 </a:t>
            </a:r>
          </a:p>
          <a:p xmlns:a="http://schemas.openxmlformats.org/drawingml/2006/main">
            <a:r>
              <a:t>Google Cloud  7,454  9,574 </a:t>
            </a:r>
          </a:p>
          <a:p xmlns:a="http://schemas.openxmlformats.org/drawingml/2006/main">
            <a:r>
              <a:t>Other Bets  288  495 </a:t>
            </a:r>
          </a:p>
          <a:p xmlns:a="http://schemas.openxmlformats.org/drawingml/2006/main">
            <a:r>
              <a:t>Hedging gains (losses)  84  72 </a:t>
            </a:r>
          </a:p>
          <a:p xmlns:a="http://schemas.openxmlformats.org/drawingml/2006/main">
            <a:r>
              <a:t>Total revenues $ 69,787 $ 80,539 </a:t>
            </a:r>
          </a:p>
          <a:p xmlns:a="http://schemas.openxmlformats.org/drawingml/2006/main">
            <a:r>
              <a:t>Total TAC $ 11,721 $ 12,946 </a:t>
            </a:r>
          </a:p>
          <a:p xmlns:a="http://schemas.openxmlformats.org/drawingml/2006/main">
            <a:r>
              <a:t>Number of employees  190,711  180,895 </a:t>
            </a:r>
          </a:p>
          <a:p xmlns:a="http://schemas.openxmlformats.org/drawingml/2006/main">
            <a:r>
              <a:t>Segment Operating Results</a:t>
            </a:r>
          </a:p>
          <a:p xmlns:a="http://schemas.openxmlformats.org/drawingml/2006/main">
            <a:r>
              <a:t>As announced on April 18, 2024, we are consolidating teams that focus on building artificial intelligence (AI) models </a:t>
            </a:r>
          </a:p>
          <a:p xmlns:a="http://schemas.openxmlformats.org/drawingml/2006/main">
            <a:r>
              <a:t>across Google Research and Google DeepMind to further accelerate our progress in AI. AI model development </a:t>
            </a:r>
          </a:p>
          <a:p xmlns:a="http://schemas.openxmlformats.org/drawingml/2006/main">
            <a:r>
              <a:t>teams previously under Google Research in our Google Services segment will be included as part of Google </a:t>
            </a:r>
          </a:p>
          <a:p xmlns:a="http://schemas.openxmlformats.org/drawingml/2006/main">
            <a:r>
              <a:t>DeepMind, reported within Alphabet-level activities, prospectively beginning in the second quarter of 2024.</a:t>
            </a:r>
          </a:p>
          <a:p xmlns:a="http://schemas.openxmlformats.org/drawingml/2006/main">
            <a:r>
              <a:t>Quarter Ended March 31,</a:t>
            </a:r>
          </a:p>
          <a:p xmlns:a="http://schemas.openxmlformats.org/drawingml/2006/main">
            <a:r>
              <a:t>2023 2024</a:t>
            </a:r>
          </a:p>
          <a:p xmlns:a="http://schemas.openxmlformats.org/drawingml/2006/main">
            <a:r>
              <a:t>Operating income (loss):</a:t>
            </a:r>
          </a:p>
          <a:p xmlns:a="http://schemas.openxmlformats.org/drawingml/2006/main">
            <a:r>
              <a:t>Google Services $ 21,737 $ 27,897 </a:t>
            </a:r>
          </a:p>
          <a:p xmlns:a="http://schemas.openxmlformats.org/drawingml/2006/main">
            <a:r>
              <a:t>Google Cloud  191 $ 900 </a:t>
            </a:r>
          </a:p>
          <a:p xmlns:a="http://schemas.openxmlformats.org/drawingml/2006/main">
            <a:r>
              <a:t>Other Bets  (1,225) $ (1,020) </a:t>
            </a:r>
          </a:p>
          <a:p xmlns:a="http://schemas.openxmlformats.org/drawingml/2006/main">
            <a:r>
              <a:t>Alphabet-level activities(1)  (3,288) $ (2,305) </a:t>
            </a:r>
          </a:p>
          <a:p xmlns:a="http://schemas.openxmlformats.org/drawingml/2006/main">
            <a:r>
              <a:t>Total income from operations $ 17,415 $ 25,472 </a:t>
            </a:r>
          </a:p>
          <a:p xmlns:a="http://schemas.openxmlformats.org/drawingml/2006/main">
            <a:r>
              <a:t>(1) In addition to the costs included in Alphabet-level activities, hedging gains (losses) related to revenue were $84 million and </a:t>
            </a:r>
          </a:p>
          <a:p xmlns:a="http://schemas.openxmlformats.org/drawingml/2006/main">
            <a:r>
              <a:t>$72 million for the three months ended March 31, 2023  and 2024, respectively. For the three months ended March 31, </a:t>
            </a:r>
          </a:p>
          <a:p xmlns:a="http://schemas.openxmlformats.org/drawingml/2006/main">
            <a:r>
              <a:t>2023 and 2024, Alphabet-level activities included substantially all of the charges related to employee severance and our </a:t>
            </a:r>
          </a:p>
          <a:p xmlns:a="http://schemas.openxmlformats.org/drawingml/2006/main">
            <a:r>
              <a:t>office space optimization efforts.</a:t>
            </a:r>
          </a:p>
          <a:p xmlns:a="http://schemas.openxmlformats.org/drawingml/2006/main">
            <a:r>
              <a:t>Additional Information Relating to the Quarter Ended March 31, 2024 (unaudited)</a:t>
            </a:r>
          </a:p>
          <a:p xmlns:a="http://schemas.openxmlformats.org/drawingml/2006/main">
            <a:r>
              <a:t>Dividend Program</a:t>
            </a:r>
          </a:p>
          <a:p xmlns:a="http://schemas.openxmlformats.org/drawingml/2006/main">
            <a:r>
              <a:t>Alphabet’s Board of Directors today approved the initiation of a cash dividend program, and declared a cash </a:t>
            </a:r>
          </a:p>
          <a:p xmlns:a="http://schemas.openxmlformats.org/drawingml/2006/main">
            <a:r>
              <a:t>dividend of $0.20 per share that will be paid on June 17, 2024, to stockholders of record as of June 10, 2024, on </a:t>
            </a:r>
          </a:p>
          <a:p xmlns:a="http://schemas.openxmlformats.org/drawingml/2006/main">
            <a:r>
              <a:t>each of the company’s Class A, Class B, and Class C shares. The company intends to pay quarterly cash dividends </a:t>
            </a:r>
          </a:p>
          <a:p xmlns:a="http://schemas.openxmlformats.org/drawingml/2006/main">
            <a:r>
              <a:t>in the future, subject to review and approval by the company’s Board of Directors in its sole discretion.</a:t>
            </a:r>
          </a:p>
          <a:p xmlns:a="http://schemas.openxmlformats.org/drawingml/2006/main">
            <a:r>
              <a:t>Stock Repurchases</a:t>
            </a:r>
          </a:p>
          <a:p xmlns:a="http://schemas.openxmlformats.org/drawingml/2006/main">
            <a:r>
              <a:t>Alphabet’s Board of Directors  today authorized the company to repurchase up to an additional $70.0 billion of its </a:t>
            </a:r>
          </a:p>
          <a:p xmlns:a="http://schemas.openxmlformats.org/drawingml/2006/main">
            <a:r>
              <a:t>Class A and Class C shares in a manner deemed in the best interest of the company and its stockholders, taking </a:t>
            </a:r>
          </a:p>
          <a:p xmlns:a="http://schemas.openxmlformats.org/drawingml/2006/main">
            <a:r>
              <a:t>into account the economic cost and prevailing market conditions, including the relative trading prices and volumes </a:t>
            </a:r>
          </a:p>
          <a:p xmlns:a="http://schemas.openxmlformats.org/drawingml/2006/main">
            <a:r>
              <a:t>of the Class A and Class C shares. The repurchases are expected to be executed from time to time, subject to </a:t>
            </a:r>
          </a:p>
          <a:p xmlns:a="http://schemas.openxmlformats.org/drawingml/2006/main">
            <a:r>
              <a:t>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本页依据原始 material.pdf 第 1,6 页。</a:t>
            </a:r>
          </a:p>
          <a:p xmlns:a="http://schemas.openxmlformats.org/drawingml/2006/main">
            <a:r>
              <a:t>单位：亿美元。GAAP，2023 Q1和2024 Q1。全部为季度实际报告值。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[冻结原始材料全文；供事实回查，不是额外交付要求]</a:t>
            </a:r>
          </a:p>
          <a:p xmlns:a="http://schemas.openxmlformats.org/drawingml/2006/main">
            <a:r>
              <a:t>PDF PAGE 3</a:t>
            </a:r>
          </a:p>
          <a:p xmlns:a="http://schemas.openxmlformats.org/drawingml/2006/main">
            <a:r>
              <a:t>general business and market conditions and other investment opportunities, through open market purchases or </a:t>
            </a:r>
          </a:p>
          <a:p xmlns:a="http://schemas.openxmlformats.org/drawingml/2006/main">
            <a:r>
              <a:t>privately negotiated transactions, including through Rule 10b5-1 plans.</a:t>
            </a:r>
          </a:p>
          <a:p xmlns:a="http://schemas.openxmlformats.org/drawingml/2006/main">
            <a:r>
              <a:t>Employee Severance and Related Charges</a:t>
            </a:r>
          </a:p>
          <a:p xmlns:a="http://schemas.openxmlformats.org/drawingml/2006/main">
            <a:r>
              <a:t>Compensation expenses included employee severance and related charges for the three months ended March 31, </a:t>
            </a:r>
          </a:p>
          <a:p xmlns:a="http://schemas.openxmlformats.org/drawingml/2006/main">
            <a:r>
              <a:t>2024 of $716 million, a $1.3 billion decrease in severance and related charges as compared to the three months </a:t>
            </a:r>
          </a:p>
          <a:p xmlns:a="http://schemas.openxmlformats.org/drawingml/2006/main">
            <a:r>
              <a:t>ended March 31, 2023. For the first quarter of 2024, these charges are included within cost of revenues, research </a:t>
            </a:r>
          </a:p>
          <a:p xmlns:a="http://schemas.openxmlformats.org/drawingml/2006/main">
            <a:r>
              <a:t>and development, sales and marketing, and general and administrative expenses in the amounts of $153 million, </a:t>
            </a:r>
          </a:p>
          <a:p xmlns:a="http://schemas.openxmlformats.org/drawingml/2006/main">
            <a:r>
              <a:t>$247 million, $217 million, and $99 million, respectively. For additional information about the effect of these charges </a:t>
            </a:r>
          </a:p>
          <a:p xmlns:a="http://schemas.openxmlformats.org/drawingml/2006/main">
            <a:r>
              <a:t>in each period, see the section captioned “ Reconciliation from Certain GAAP Measures to Certain Non-GAAP </a:t>
            </a:r>
          </a:p>
          <a:p xmlns:a="http://schemas.openxmlformats.org/drawingml/2006/main">
            <a:r>
              <a:t>Measures, Excluding the Effect of Severance and Related and Office Space Charges” below.</a:t>
            </a:r>
          </a:p>
          <a:p xmlns:a="http://schemas.openxmlformats.org/drawingml/2006/main">
            <a:r>
              <a:t>Webcast and Conference Call Information</a:t>
            </a:r>
          </a:p>
          <a:p xmlns:a="http://schemas.openxmlformats.org/drawingml/2006/main">
            <a:r>
              <a:t>A live audio webcast of our first quarter  2024 earnings release call will be available on YouTube at https://</a:t>
            </a:r>
          </a:p>
          <a:p xmlns:a="http://schemas.openxmlformats.org/drawingml/2006/main">
            <a:r>
              <a:t>www.youtube.com/watch?v=A2O2f5dlzcE. The call begins today at 1:30 PM (PT) / 4:30 PM (ET). This press </a:t>
            </a:r>
          </a:p>
          <a:p xmlns:a="http://schemas.openxmlformats.org/drawingml/2006/main">
            <a:r>
              <a:t>release, including the reconciliations of certain non-GAAP measures to their nearest comparable GAAP measures, </a:t>
            </a:r>
          </a:p>
          <a:p xmlns:a="http://schemas.openxmlformats.org/drawingml/2006/main">
            <a:r>
              <a:t>is also available at http://abc.xyz/investor.</a:t>
            </a:r>
          </a:p>
          <a:p xmlns:a="http://schemas.openxmlformats.org/drawingml/2006/main">
            <a:r>
              <a:t>We also provide announcements regarding our financial performance, including SEC filings, investor events, press </a:t>
            </a:r>
          </a:p>
          <a:p xmlns:a="http://schemas.openxmlformats.org/drawingml/2006/main">
            <a:r>
              <a:t>and earnings releases, and blogs, on our investor relations website (http://abc.xyz/investor).</a:t>
            </a:r>
          </a:p>
          <a:p xmlns:a="http://schemas.openxmlformats.org/drawingml/2006/main">
            <a:r>
              <a:t>We also share Google news and product updates on Google’s Keyword blog at https://www.blog.google/, which may </a:t>
            </a:r>
          </a:p>
          <a:p xmlns:a="http://schemas.openxmlformats.org/drawingml/2006/main">
            <a:r>
              <a:t>be of interest or material to our investors. </a:t>
            </a:r>
          </a:p>
          <a:p xmlns:a="http://schemas.openxmlformats.org/drawingml/2006/main">
            <a:r>
              <a:t>Forward-Looking Statements</a:t>
            </a:r>
          </a:p>
          <a:p xmlns:a="http://schemas.openxmlformats.org/drawingml/2006/main">
            <a:r>
              <a:t>This press release may contain forward-looking statements that involve risks and uncertainties. Actual results may </a:t>
            </a:r>
          </a:p>
          <a:p xmlns:a="http://schemas.openxmlformats.org/drawingml/2006/main">
            <a:r>
              <a:t>differ materially from the results predicted, and reported results should not be considered as an indication of future </a:t>
            </a:r>
          </a:p>
          <a:p xmlns:a="http://schemas.openxmlformats.org/drawingml/2006/main">
            <a:r>
              <a:t>performance. The potential risks and uncertainties that could cause actual results to differ from the results predicted </a:t>
            </a:r>
          </a:p>
          <a:p xmlns:a="http://schemas.openxmlformats.org/drawingml/2006/main">
            <a:r>
              <a:t>include, among others, those risks and uncertainties included under the captions “Risk Factors” and “Management’s </a:t>
            </a:r>
          </a:p>
          <a:p xmlns:a="http://schemas.openxmlformats.org/drawingml/2006/main">
            <a:r>
              <a:t>Discussion and Analysis of Financial Condition and Results of Operations” in our Annual Report on Form 10-K for </a:t>
            </a:r>
          </a:p>
          <a:p xmlns:a="http://schemas.openxmlformats.org/drawingml/2006/main">
            <a:r>
              <a:t>the year ended December 31, 2023 , which are on file with the SEC and are available on our investor relations </a:t>
            </a:r>
          </a:p>
          <a:p xmlns:a="http://schemas.openxmlformats.org/drawingml/2006/main">
            <a:r>
              <a:t>website at http://abc.xyz/investor and on the SEC website at www.sec.gov. Additional information will also be set </a:t>
            </a:r>
          </a:p>
          <a:p xmlns:a="http://schemas.openxmlformats.org/drawingml/2006/main">
            <a:r>
              <a:t>forth in our Quarterly Report on Form 10-Q  for the quarter ended  March 31, 2024 , and may be set forth in other </a:t>
            </a:r>
          </a:p>
          <a:p xmlns:a="http://schemas.openxmlformats.org/drawingml/2006/main">
            <a:r>
              <a:t>reports and filings we make with the SEC. All information provided in this release and in the attachments is as of </a:t>
            </a:r>
          </a:p>
          <a:p xmlns:a="http://schemas.openxmlformats.org/drawingml/2006/main">
            <a:r>
              <a:t>April 25, 2024. Undue reliance should not be placed on the forward-looking statements in this press release, which </a:t>
            </a:r>
          </a:p>
          <a:p xmlns:a="http://schemas.openxmlformats.org/drawingml/2006/main">
            <a:r>
              <a:t>are based on information available to us on the date hereof. We undertake no duty to update this information unless </a:t>
            </a:r>
          </a:p>
          <a:p xmlns:a="http://schemas.openxmlformats.org/drawingml/2006/main">
            <a:r>
              <a:t>required by law.</a:t>
            </a:r>
          </a:p>
          <a:p xmlns:a="http://schemas.openxmlformats.org/drawingml/2006/main">
            <a:r>
              <a:t>About Non-GAAP Financial Measures</a:t>
            </a:r>
          </a:p>
          <a:p xmlns:a="http://schemas.openxmlformats.org/drawingml/2006/main">
            <a:r>
              <a:t>To supplement our consolidated financial statements, which are prepared and presented in accordance with GAAP, </a:t>
            </a:r>
          </a:p>
          <a:p xmlns:a="http://schemas.openxmlformats.org/drawingml/2006/main">
            <a:r>
              <a:t>we use the following non-GAAP financial measures: free cash flow; constant currency revenues; and percentage </a:t>
            </a:r>
          </a:p>
          <a:p xmlns:a="http://schemas.openxmlformats.org/drawingml/2006/main">
            <a:r>
              <a:t>change in constant currency revenues, and other cost of sales, operating expenses, and operating margin, </a:t>
            </a:r>
          </a:p>
          <a:p xmlns:a="http://schemas.openxmlformats.org/drawingml/2006/main">
            <a:r>
              <a:t>excluding the effect of severance and related and office space charges . The presentation of this financial </a:t>
            </a:r>
          </a:p>
          <a:p xmlns:a="http://schemas.openxmlformats.org/drawingml/2006/main">
            <a:r>
              <a:t>information is not intended to be considered in isolation or as a substitute for, or superior to, the financial information </a:t>
            </a:r>
          </a:p>
          <a:p xmlns:a="http://schemas.openxmlformats.org/drawingml/2006/main">
            <a:r>
              <a:t>prepared and presented in accordance with GAAP.</a:t>
            </a:r>
          </a:p>
          <a:p xmlns:a="http://schemas.openxmlformats.org/drawingml/2006/main">
            <a:r>
              <a:t>We use these non-GAAP financial measures for financial and operational decision-making and as a means to </a:t>
            </a:r>
          </a:p>
          <a:p xmlns:a="http://schemas.openxmlformats.org/drawingml/2006/main">
            <a:r>
              <a:t>evaluate period-to-period comparisons. We believe that these non-GAAP financial measures provide meaningful </a:t>
            </a:r>
          </a:p>
          <a:p xmlns:a="http://schemas.openxmlformats.org/drawingml/2006/main">
            <a:r>
              <a:t>supplemental information regarding our performance and liquidity by excluding certain items that may not be </a:t>
            </a:r>
          </a:p>
          <a:p xmlns:a="http://schemas.openxmlformats.org/drawingml/2006/main">
            <a:r>
              <a:t>indicative of our recurring core business operating results , such as our revenues excluding the effect of foreign </a:t>
            </a:r>
          </a:p>
          <a:p xmlns:a="http://schemas.openxmlformats.org/drawingml/2006/main">
            <a:r>
              <a:t>exchange rate movements and hedging activities, which are recognized at the consolidated level . We believe that </a:t>
            </a:r>
          </a:p>
          <a:p xmlns:a="http://schemas.openxmlformats.org/drawingml/2006/main">
            <a:r>
              <a:t>both management and investors benefit from referring to these non-GAAP financial measures in assessing our </a:t>
            </a:r>
          </a:p>
          <a:p xmlns:a="http://schemas.openxmlformats.org/drawingml/2006/main">
            <a:r>
              <a:t>performance and when planning, forecasting, and analyzing future periods. These non-GAAP financial measures </a:t>
            </a:r>
          </a:p>
          <a:p xmlns:a="http://schemas.openxmlformats.org/drawingml/2006/main">
            <a:r>
              <a:t>also facilitate management’s internal comparisons to our historical performance and liquidity as well as comparisons </a:t>
            </a:r>
          </a:p>
          <a:p xmlns:a="http://schemas.openxmlformats.org/drawingml/2006/main">
            <a:r>
              <a:t>to our competitors’ operating results. We believe these non-GAAP financial measures are useful to investors both </a:t>
            </a:r>
          </a:p>
          <a:p xmlns:a="http://schemas.openxmlformats.org/drawingml/2006/main">
            <a:r>
              <a:t>because (1) they allow for greater transparency with respect to key metrics used by management in its financial and </a:t>
            </a:r>
          </a:p>
          <a:p xmlns:a="http://schemas.openxmlformats.org/drawingml/2006/main">
            <a:r>
              <a:t>operational decision-making and (2) they are used by our institutional investors and the analyst community to help </a:t>
            </a:r>
          </a:p>
          <a:p xmlns:a="http://schemas.openxmlformats.org/drawingml/2006/main">
            <a:r>
              <a:t>them analyze the health of our business.</a:t>
            </a:r>
          </a:p>
          <a:p xmlns:a="http://schemas.openxmlformats.org/drawingml/2006/main">
            <a:r>
              <a:t>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本页依据原始 material.pdf 第 2,8 页。</a:t>
            </a:r>
          </a:p>
          <a:p xmlns:a="http://schemas.openxmlformats.org/drawingml/2006/main">
            <a:r>
              <a:t>Google Services 2023/2024营收61961/70398百万美元；Cloud7454/9574；Other Bets288/495。2024营业损益27897/900/-1020百万美元。合并收入另含对冲收益72百万美元，合并营业利润另含Alphabet-level activities -2305百万美元。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[冻结原始材料全文；供事实回查，不是额外交付要求]</a:t>
            </a:r>
          </a:p>
          <a:p xmlns:a="http://schemas.openxmlformats.org/drawingml/2006/main">
            <a:r>
              <a:t>PDF PAGE 4</a:t>
            </a:r>
          </a:p>
          <a:p xmlns:a="http://schemas.openxmlformats.org/drawingml/2006/main">
            <a:r>
              <a:t>There are a number of limitations related to the use of non-GAAP financial measures. We compensate for these </a:t>
            </a:r>
          </a:p>
          <a:p xmlns:a="http://schemas.openxmlformats.org/drawingml/2006/main">
            <a:r>
              <a:t>limitations by providing specific information regarding the GAAP amounts excluded from these non-GAAP financial </a:t>
            </a:r>
          </a:p>
          <a:p xmlns:a="http://schemas.openxmlformats.org/drawingml/2006/main">
            <a:r>
              <a:t>measures and evaluating these non-GAAP financial measures together with their relevant financial measures in </a:t>
            </a:r>
          </a:p>
          <a:p xmlns:a="http://schemas.openxmlformats.org/drawingml/2006/main">
            <a:r>
              <a:t>accordance with GAAP.</a:t>
            </a:r>
          </a:p>
          <a:p xmlns:a="http://schemas.openxmlformats.org/drawingml/2006/main">
            <a:r>
              <a:t>For more information on these non-GAAP financial measures, please see the sections captioned “ Reconciliation </a:t>
            </a:r>
          </a:p>
          <a:p xmlns:a="http://schemas.openxmlformats.org/drawingml/2006/main">
            <a:r>
              <a:t>from GAAP Net Cash Provided by Operating Activities to Non-GAAP Free Cash Flow ”, “Reconciliation from GAAP </a:t>
            </a:r>
          </a:p>
          <a:p xmlns:a="http://schemas.openxmlformats.org/drawingml/2006/main">
            <a:r>
              <a:t>Revenues to Non-GAAP Constant Currency Revenues and GAAP Percentage Change in Revenues to Non-GAAP </a:t>
            </a:r>
          </a:p>
          <a:p xmlns:a="http://schemas.openxmlformats.org/drawingml/2006/main">
            <a:r>
              <a:t>Percentage Change in Constant Currency Revenues ” and “Reconciliation from Certain GAAP Measures to Certain </a:t>
            </a:r>
          </a:p>
          <a:p xmlns:a="http://schemas.openxmlformats.org/drawingml/2006/main">
            <a:r>
              <a:t>Non-GAAP Measures, Excluding the Effect of Severance and Related and Office Space Charges ” included at the </a:t>
            </a:r>
          </a:p>
          <a:p xmlns:a="http://schemas.openxmlformats.org/drawingml/2006/main">
            <a:r>
              <a:t>end of this release.</a:t>
            </a:r>
          </a:p>
          <a:p xmlns:a="http://schemas.openxmlformats.org/drawingml/2006/main">
            <a:r>
              <a:t>Contact</a:t>
            </a:r>
          </a:p>
          <a:p xmlns:a="http://schemas.openxmlformats.org/drawingml/2006/main">
            <a:r>
              <a:t>Investor relations Media</a:t>
            </a:r>
          </a:p>
          <a:p xmlns:a="http://schemas.openxmlformats.org/drawingml/2006/main">
            <a:r>
              <a:t>investor-relations@abc.xyz press@abc.xyz</a:t>
            </a:r>
          </a:p>
          <a:p xmlns:a="http://schemas.openxmlformats.org/drawingml/2006/main">
            <a:r>
              <a:t>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本页依据原始 material.pdf 第 2 页。</a:t>
            </a:r>
          </a:p>
          <a:p xmlns:a="http://schemas.openxmlformats.org/drawingml/2006/main">
            <a:r>
              <a:t>Google Search &amp; other40359/46156、YouTube ads6693/8090、Google Network7496/7413、subscriptions platforms and devices7413/8739，单位百万美元，2023/2024 Q1。四项2024合计70398百万美元。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[冻结原始材料全文；供事实回查，不是额外交付要求]</a:t>
            </a:r>
          </a:p>
          <a:p xmlns:a="http://schemas.openxmlformats.org/drawingml/2006/main">
            <a:r>
              <a:t>PDF PAGE 5</a:t>
            </a:r>
          </a:p>
          <a:p xmlns:a="http://schemas.openxmlformats.org/drawingml/2006/main">
            <a:r>
              <a:t>Alphabet Inc.</a:t>
            </a:r>
          </a:p>
          <a:p xmlns:a="http://schemas.openxmlformats.org/drawingml/2006/main">
            <a:r>
              <a:t>CONSOLIDATED BALANCE SHEETS</a:t>
            </a:r>
          </a:p>
          <a:p xmlns:a="http://schemas.openxmlformats.org/drawingml/2006/main">
            <a:r>
              <a:t>(In millions, except par value per share amounts)</a:t>
            </a:r>
          </a:p>
          <a:p xmlns:a="http://schemas.openxmlformats.org/drawingml/2006/main">
            <a:r>
              <a:t>As of December 31, </a:t>
            </a:r>
          </a:p>
          <a:p xmlns:a="http://schemas.openxmlformats.org/drawingml/2006/main">
            <a:r>
              <a:t>2023</a:t>
            </a:r>
          </a:p>
          <a:p xmlns:a="http://schemas.openxmlformats.org/drawingml/2006/main">
            <a:r>
              <a:t>As of March 31, </a:t>
            </a:r>
          </a:p>
          <a:p xmlns:a="http://schemas.openxmlformats.org/drawingml/2006/main">
            <a:r>
              <a:t>2024</a:t>
            </a:r>
          </a:p>
          <a:p xmlns:a="http://schemas.openxmlformats.org/drawingml/2006/main">
            <a:r>
              <a:t>(unaudited)</a:t>
            </a:r>
          </a:p>
          <a:p xmlns:a="http://schemas.openxmlformats.org/drawingml/2006/main">
            <a:r>
              <a:t>Assets</a:t>
            </a:r>
          </a:p>
          <a:p xmlns:a="http://schemas.openxmlformats.org/drawingml/2006/main">
            <a:r>
              <a:t>Current assets:</a:t>
            </a:r>
          </a:p>
          <a:p xmlns:a="http://schemas.openxmlformats.org/drawingml/2006/main">
            <a:r>
              <a:t>Cash and cash equivalents $ 24,048 $ 24,493 </a:t>
            </a:r>
          </a:p>
          <a:p xmlns:a="http://schemas.openxmlformats.org/drawingml/2006/main">
            <a:r>
              <a:t>Marketable securities  86,868  83,597 </a:t>
            </a:r>
          </a:p>
          <a:p xmlns:a="http://schemas.openxmlformats.org/drawingml/2006/main">
            <a:r>
              <a:t>Total cash, cash equivalents, and marketable securities  110,916  108,090 </a:t>
            </a:r>
          </a:p>
          <a:p xmlns:a="http://schemas.openxmlformats.org/drawingml/2006/main">
            <a:r>
              <a:t>Accounts receivable, net  47,964  44,552 </a:t>
            </a:r>
          </a:p>
          <a:p xmlns:a="http://schemas.openxmlformats.org/drawingml/2006/main">
            <a:r>
              <a:t>Other current assets  12,650  12,829 </a:t>
            </a:r>
          </a:p>
          <a:p xmlns:a="http://schemas.openxmlformats.org/drawingml/2006/main">
            <a:r>
              <a:t>Total current assets  171,530  165,471 </a:t>
            </a:r>
          </a:p>
          <a:p xmlns:a="http://schemas.openxmlformats.org/drawingml/2006/main">
            <a:r>
              <a:t>Non-marketable securities  31,008  33,994 </a:t>
            </a:r>
          </a:p>
          <a:p xmlns:a="http://schemas.openxmlformats.org/drawingml/2006/main">
            <a:r>
              <a:t>Deferred income taxes  12,169  11,687 </a:t>
            </a:r>
          </a:p>
          <a:p xmlns:a="http://schemas.openxmlformats.org/drawingml/2006/main">
            <a:r>
              <a:t>Property and equipment, net  134,345  143,182 </a:t>
            </a:r>
          </a:p>
          <a:p xmlns:a="http://schemas.openxmlformats.org/drawingml/2006/main">
            <a:r>
              <a:t>Operating lease assets  14,091  13,768 </a:t>
            </a:r>
          </a:p>
          <a:p xmlns:a="http://schemas.openxmlformats.org/drawingml/2006/main">
            <a:r>
              <a:t>Goodwill  29,198  29,183 </a:t>
            </a:r>
          </a:p>
          <a:p xmlns:a="http://schemas.openxmlformats.org/drawingml/2006/main">
            <a:r>
              <a:t>Other non-current assets  10,051  10,065 </a:t>
            </a:r>
          </a:p>
          <a:p xmlns:a="http://schemas.openxmlformats.org/drawingml/2006/main">
            <a:r>
              <a:t>Total assets $ 402,392 $ 407,350 </a:t>
            </a:r>
          </a:p>
          <a:p xmlns:a="http://schemas.openxmlformats.org/drawingml/2006/main">
            <a:r>
              <a:t>Liabilities and Stockholders’ Equity</a:t>
            </a:r>
          </a:p>
          <a:p xmlns:a="http://schemas.openxmlformats.org/drawingml/2006/main">
            <a:r>
              <a:t>Current liabilities:</a:t>
            </a:r>
          </a:p>
          <a:p xmlns:a="http://schemas.openxmlformats.org/drawingml/2006/main">
            <a:r>
              <a:t>Accounts payable $ 7,493 $ 6,198 </a:t>
            </a:r>
          </a:p>
          <a:p xmlns:a="http://schemas.openxmlformats.org/drawingml/2006/main">
            <a:r>
              <a:t>Accrued compensation and benefits  15,140  9,703 </a:t>
            </a:r>
          </a:p>
          <a:p xmlns:a="http://schemas.openxmlformats.org/drawingml/2006/main">
            <a:r>
              <a:t>Accrued expenses and other current liabilities  46,168  48,603 </a:t>
            </a:r>
          </a:p>
          <a:p xmlns:a="http://schemas.openxmlformats.org/drawingml/2006/main">
            <a:r>
              <a:t>Accrued revenue share  8,876  8,520 </a:t>
            </a:r>
          </a:p>
          <a:p xmlns:a="http://schemas.openxmlformats.org/drawingml/2006/main">
            <a:r>
              <a:t>Deferred revenue  4,137  3,973 </a:t>
            </a:r>
          </a:p>
          <a:p xmlns:a="http://schemas.openxmlformats.org/drawingml/2006/main">
            <a:r>
              <a:t>Total current liabilities  81,814  76,997 </a:t>
            </a:r>
          </a:p>
          <a:p xmlns:a="http://schemas.openxmlformats.org/drawingml/2006/main">
            <a:r>
              <a:t>Long-term debt  13,253  13,228 </a:t>
            </a:r>
          </a:p>
          <a:p xmlns:a="http://schemas.openxmlformats.org/drawingml/2006/main">
            <a:r>
              <a:t>Deferred revenue, non-current  911  921 </a:t>
            </a:r>
          </a:p>
          <a:p xmlns:a="http://schemas.openxmlformats.org/drawingml/2006/main">
            <a:r>
              <a:t>Income taxes payable, non-current  8,474  9,234 </a:t>
            </a:r>
          </a:p>
          <a:p xmlns:a="http://schemas.openxmlformats.org/drawingml/2006/main">
            <a:r>
              <a:t>Deferred income taxes  485  486 </a:t>
            </a:r>
          </a:p>
          <a:p xmlns:a="http://schemas.openxmlformats.org/drawingml/2006/main">
            <a:r>
              <a:t>Operating lease liabilities  12,460  11,957 </a:t>
            </a:r>
          </a:p>
          <a:p xmlns:a="http://schemas.openxmlformats.org/drawingml/2006/main">
            <a:r>
              <a:t>Other long-term liabilities  1,616  1,683 </a:t>
            </a:r>
          </a:p>
          <a:p xmlns:a="http://schemas.openxmlformats.org/drawingml/2006/main">
            <a:r>
              <a:t>Total liabilities  119,013  114,506 </a:t>
            </a:r>
          </a:p>
          <a:p xmlns:a="http://schemas.openxmlformats.org/drawingml/2006/main">
            <a:r>
              <a:t>Commitments and contingencies</a:t>
            </a:r>
          </a:p>
          <a:p xmlns:a="http://schemas.openxmlformats.org/drawingml/2006/main">
            <a:r>
              <a:t>Stockholders’ equity:</a:t>
            </a:r>
          </a:p>
          <a:p xmlns:a="http://schemas.openxmlformats.org/drawingml/2006/main">
            <a:r>
              <a:t>Preferred stock, $0.001 par value per share, 100 shares authorized; no shares </a:t>
            </a:r>
          </a:p>
          <a:p xmlns:a="http://schemas.openxmlformats.org/drawingml/2006/main">
            <a:r>
              <a:t>issued and outstanding  0  0 </a:t>
            </a:r>
          </a:p>
          <a:p xmlns:a="http://schemas.openxmlformats.org/drawingml/2006/main">
            <a:r>
              <a:t>Class A, Class B, and Class C stock and additional paid-in capital, $0.001 par value </a:t>
            </a:r>
          </a:p>
          <a:p xmlns:a="http://schemas.openxmlformats.org/drawingml/2006/main">
            <a:r>
              <a:t>per share: 300,000 shares authorized (Class A 180,000, Class B 60,000, Class C </a:t>
            </a:r>
          </a:p>
          <a:p xmlns:a="http://schemas.openxmlformats.org/drawingml/2006/main">
            <a:r>
              <a:t>60,000); 12,460 (Class A 5,899, Class B 870, Class C 5,691) and 12,381 (Class A </a:t>
            </a:r>
          </a:p>
          <a:p xmlns:a="http://schemas.openxmlformats.org/drawingml/2006/main">
            <a:r>
              <a:t>5,879, Class B 867, Class C 5,635) shares issued and outstanding  76,534  77,913 </a:t>
            </a:r>
          </a:p>
          <a:p xmlns:a="http://schemas.openxmlformats.org/drawingml/2006/main">
            <a:r>
              <a:t>Accumulated other comprehensive income (loss)  (4,402)  (4,839) </a:t>
            </a:r>
          </a:p>
          <a:p xmlns:a="http://schemas.openxmlformats.org/drawingml/2006/main">
            <a:r>
              <a:t>Retained earnings  211,247  219,770 </a:t>
            </a:r>
          </a:p>
          <a:p xmlns:a="http://schemas.openxmlformats.org/drawingml/2006/main">
            <a:r>
              <a:t>Total stockholders’ equity  283,379  292,844 </a:t>
            </a:r>
          </a:p>
          <a:p xmlns:a="http://schemas.openxmlformats.org/drawingml/2006/main">
            <a:r>
              <a:t>Total liabilities and stockholders’ equity $ 402,392 $ 407,350 </a:t>
            </a:r>
          </a:p>
          <a:p xmlns:a="http://schemas.openxmlformats.org/drawingml/2006/main">
            <a:r>
              <a:t>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本页依据原始 material.pdf 第 2,8 页。</a:t>
            </a:r>
          </a:p>
          <a:p xmlns:a="http://schemas.openxmlformats.org/drawingml/2006/main">
            <a:r>
              <a:t>2023/2024Q1 Cloud营收7454/9574百万美元，营业利润191/900百万美元。图表均从0开始，两个图采用不同纵轴范围并分别标注指标和单位。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[冻结原始材料全文；供事实回查，不是额外交付要求]</a:t>
            </a:r>
          </a:p>
          <a:p xmlns:a="http://schemas.openxmlformats.org/drawingml/2006/main">
            <a:r>
              <a:t>PDF PAGE 6</a:t>
            </a:r>
          </a:p>
          <a:p xmlns:a="http://schemas.openxmlformats.org/drawingml/2006/main">
            <a:r>
              <a:t>Alphabet Inc.</a:t>
            </a:r>
          </a:p>
          <a:p xmlns:a="http://schemas.openxmlformats.org/drawingml/2006/main">
            <a:r>
              <a:t>CONSOLIDATED STATEMENTS OF INCOME</a:t>
            </a:r>
          </a:p>
          <a:p xmlns:a="http://schemas.openxmlformats.org/drawingml/2006/main">
            <a:r>
              <a:t>(In millions, except per share amounts, unaudited)</a:t>
            </a:r>
          </a:p>
          <a:p xmlns:a="http://schemas.openxmlformats.org/drawingml/2006/main">
            <a:r>
              <a:t>Quarter Ended March 31,</a:t>
            </a:r>
          </a:p>
          <a:p xmlns:a="http://schemas.openxmlformats.org/drawingml/2006/main">
            <a:r>
              <a:t>2023 2024</a:t>
            </a:r>
          </a:p>
          <a:p xmlns:a="http://schemas.openxmlformats.org/drawingml/2006/main">
            <a:r>
              <a:t>Revenues $ 69,787 $ 80,539 </a:t>
            </a:r>
          </a:p>
          <a:p xmlns:a="http://schemas.openxmlformats.org/drawingml/2006/main">
            <a:r>
              <a:t>Costs and expenses:</a:t>
            </a:r>
          </a:p>
          <a:p xmlns:a="http://schemas.openxmlformats.org/drawingml/2006/main">
            <a:r>
              <a:t>Cost of revenues  30,612  33,712 </a:t>
            </a:r>
          </a:p>
          <a:p xmlns:a="http://schemas.openxmlformats.org/drawingml/2006/main">
            <a:r>
              <a:t>Research and development  11,468  11,903 </a:t>
            </a:r>
          </a:p>
          <a:p xmlns:a="http://schemas.openxmlformats.org/drawingml/2006/main">
            <a:r>
              <a:t>Sales and marketing  6,533  6,426 </a:t>
            </a:r>
          </a:p>
          <a:p xmlns:a="http://schemas.openxmlformats.org/drawingml/2006/main">
            <a:r>
              <a:t>General and administrative  3,759  3,026 </a:t>
            </a:r>
          </a:p>
          <a:p xmlns:a="http://schemas.openxmlformats.org/drawingml/2006/main">
            <a:r>
              <a:t>Total costs and expenses  52,372  55,067 </a:t>
            </a:r>
          </a:p>
          <a:p xmlns:a="http://schemas.openxmlformats.org/drawingml/2006/main">
            <a:r>
              <a:t>Income from operations  17,415  25,472 </a:t>
            </a:r>
          </a:p>
          <a:p xmlns:a="http://schemas.openxmlformats.org/drawingml/2006/main">
            <a:r>
              <a:t>Other income (expense), net  790  2,843 </a:t>
            </a:r>
          </a:p>
          <a:p xmlns:a="http://schemas.openxmlformats.org/drawingml/2006/main">
            <a:r>
              <a:t>Income before income taxes  18,205  28,315 </a:t>
            </a:r>
          </a:p>
          <a:p xmlns:a="http://schemas.openxmlformats.org/drawingml/2006/main">
            <a:r>
              <a:t>Provision for income taxes  3,154  4,653 </a:t>
            </a:r>
          </a:p>
          <a:p xmlns:a="http://schemas.openxmlformats.org/drawingml/2006/main">
            <a:r>
              <a:t>Net income $ 15,051 $ 23,662 </a:t>
            </a:r>
          </a:p>
          <a:p xmlns:a="http://schemas.openxmlformats.org/drawingml/2006/main">
            <a:r>
              <a:t>Basic earnings per share of Class A, Class B, and Class C stock $ 1.18 $ 1.91 </a:t>
            </a:r>
          </a:p>
          <a:p xmlns:a="http://schemas.openxmlformats.org/drawingml/2006/main">
            <a:r>
              <a:t>Diluted earnings per share of Class A, Class B, and Class C stock $ 1.17 $ 1.89 </a:t>
            </a:r>
          </a:p>
          <a:p xmlns:a="http://schemas.openxmlformats.org/drawingml/2006/main">
            <a:r>
              <a:t>Number of shares used in basic earnings per share calculation  12,781  12,415 </a:t>
            </a:r>
          </a:p>
          <a:p xmlns:a="http://schemas.openxmlformats.org/drawingml/2006/main">
            <a:r>
              <a:t>Number of shares used in diluted earnings per share calculation  12,823  12,527 </a:t>
            </a:r>
          </a:p>
          <a:p xmlns:a="http://schemas.openxmlformats.org/drawingml/2006/main">
            <a:r>
              <a:t>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本页依据原始 material.pdf 第 3,12 页。</a:t>
            </a:r>
          </a:p>
          <a:p xmlns:a="http://schemas.openxmlformats.org/drawingml/2006/main">
            <a:r>
              <a:t>GAAP营业利润17415→25472百万美元，同比增长46%；剔除遣散相关及办公空间费用后19973→26188百万美元，同比增长31%。2023总遣散1994、办公564；2024总遣散716、办公0。2024遣散费用在cost of revenues153和operating expenses563，合计716，不能将563作为总额。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[冻结原始材料全文；供事实回查，不是额外交付要求]</a:t>
            </a:r>
          </a:p>
          <a:p xmlns:a="http://schemas.openxmlformats.org/drawingml/2006/main">
            <a:r>
              <a:t>PDF PAGE 7</a:t>
            </a:r>
          </a:p>
          <a:p xmlns:a="http://schemas.openxmlformats.org/drawingml/2006/main">
            <a:r>
              <a:t>Alphabet Inc.</a:t>
            </a:r>
          </a:p>
          <a:p xmlns:a="http://schemas.openxmlformats.org/drawingml/2006/main">
            <a:r>
              <a:t>CONSOLIDATED STATEMENTS OF CASH FLOWS</a:t>
            </a:r>
          </a:p>
          <a:p xmlns:a="http://schemas.openxmlformats.org/drawingml/2006/main">
            <a:r>
              <a:t>(In millions, unaudited)</a:t>
            </a:r>
          </a:p>
          <a:p xmlns:a="http://schemas.openxmlformats.org/drawingml/2006/main">
            <a:r>
              <a:t>Quarter Ended March 31,</a:t>
            </a:r>
          </a:p>
          <a:p xmlns:a="http://schemas.openxmlformats.org/drawingml/2006/main">
            <a:r>
              <a:t>2023 2024</a:t>
            </a:r>
          </a:p>
          <a:p xmlns:a="http://schemas.openxmlformats.org/drawingml/2006/main">
            <a:r>
              <a:t>Operating activities</a:t>
            </a:r>
          </a:p>
          <a:p xmlns:a="http://schemas.openxmlformats.org/drawingml/2006/main">
            <a:r>
              <a:t>Net income $ 15,051 $ 23,662 </a:t>
            </a:r>
          </a:p>
          <a:p xmlns:a="http://schemas.openxmlformats.org/drawingml/2006/main">
            <a:r>
              <a:t>Adjustments:</a:t>
            </a:r>
          </a:p>
          <a:p xmlns:a="http://schemas.openxmlformats.org/drawingml/2006/main">
            <a:r>
              <a:t>Depreciation of property and equipment  2,635  3,413 </a:t>
            </a:r>
          </a:p>
          <a:p xmlns:a="http://schemas.openxmlformats.org/drawingml/2006/main">
            <a:r>
              <a:t>Stock-based compensation expense  5,284  5,264 </a:t>
            </a:r>
          </a:p>
          <a:p xmlns:a="http://schemas.openxmlformats.org/drawingml/2006/main">
            <a:r>
              <a:t>Deferred income taxes  (1,854)  419 </a:t>
            </a:r>
          </a:p>
          <a:p xmlns:a="http://schemas.openxmlformats.org/drawingml/2006/main">
            <a:r>
              <a:t>Loss (gain) on debt and equity securities, net  (84)  (1,781) </a:t>
            </a:r>
          </a:p>
          <a:p xmlns:a="http://schemas.openxmlformats.org/drawingml/2006/main">
            <a:r>
              <a:t>Other  1,104  334 </a:t>
            </a:r>
          </a:p>
          <a:p xmlns:a="http://schemas.openxmlformats.org/drawingml/2006/main">
            <a:r>
              <a:t>Changes in assets and liabilities, net of effects of acquisitions:</a:t>
            </a:r>
          </a:p>
          <a:p xmlns:a="http://schemas.openxmlformats.org/drawingml/2006/main">
            <a:r>
              <a:t>Accounts receivable, net  4,454  3,167 </a:t>
            </a:r>
          </a:p>
          <a:p xmlns:a="http://schemas.openxmlformats.org/drawingml/2006/main">
            <a:r>
              <a:t>Income taxes, net  4,069  3,011 </a:t>
            </a:r>
          </a:p>
          <a:p xmlns:a="http://schemas.openxmlformats.org/drawingml/2006/main">
            <a:r>
              <a:t>Other assets  (746)  (1,000) </a:t>
            </a:r>
          </a:p>
          <a:p xmlns:a="http://schemas.openxmlformats.org/drawingml/2006/main">
            <a:r>
              <a:t>Accounts payable  (1,105)  (2,124) </a:t>
            </a:r>
          </a:p>
          <a:p xmlns:a="http://schemas.openxmlformats.org/drawingml/2006/main">
            <a:r>
              <a:t>Accrued expenses and other liabilities  (4,496)  (5,054) </a:t>
            </a:r>
          </a:p>
          <a:p xmlns:a="http://schemas.openxmlformats.org/drawingml/2006/main">
            <a:r>
              <a:t>Accrued revenue share  (602)  (322) </a:t>
            </a:r>
          </a:p>
          <a:p xmlns:a="http://schemas.openxmlformats.org/drawingml/2006/main">
            <a:r>
              <a:t>Deferred revenue  (201)  (141) </a:t>
            </a:r>
          </a:p>
          <a:p xmlns:a="http://schemas.openxmlformats.org/drawingml/2006/main">
            <a:r>
              <a:t>Net cash provided by operating activities  23,509  28,848 </a:t>
            </a:r>
          </a:p>
          <a:p xmlns:a="http://schemas.openxmlformats.org/drawingml/2006/main">
            <a:r>
              <a:t>Investing activities</a:t>
            </a:r>
          </a:p>
          <a:p xmlns:a="http://schemas.openxmlformats.org/drawingml/2006/main">
            <a:r>
              <a:t>Purchases of property and equipment  (6,289)  (12,012) </a:t>
            </a:r>
          </a:p>
          <a:p xmlns:a="http://schemas.openxmlformats.org/drawingml/2006/main">
            <a:r>
              <a:t>Purchases of marketable securities  (14,227)  (20,684) </a:t>
            </a:r>
          </a:p>
          <a:p xmlns:a="http://schemas.openxmlformats.org/drawingml/2006/main">
            <a:r>
              <a:t>Maturities and sales of marketable securities  18,327  24,985 </a:t>
            </a:r>
          </a:p>
          <a:p xmlns:a="http://schemas.openxmlformats.org/drawingml/2006/main">
            <a:r>
              <a:t>Purchases of non-marketable securities  (626)  (1,206) </a:t>
            </a:r>
          </a:p>
          <a:p xmlns:a="http://schemas.openxmlformats.org/drawingml/2006/main">
            <a:r>
              <a:t>Maturities and sales of non-marketable securities  36  313 </a:t>
            </a:r>
          </a:p>
          <a:p xmlns:a="http://schemas.openxmlformats.org/drawingml/2006/main">
            <a:r>
              <a:t>Acquisitions, net of cash acquired, and purchases of intangible assets  (42)  (61) </a:t>
            </a:r>
          </a:p>
          <a:p xmlns:a="http://schemas.openxmlformats.org/drawingml/2006/main">
            <a:r>
              <a:t>Other investing activities  (125)  101 </a:t>
            </a:r>
          </a:p>
          <a:p xmlns:a="http://schemas.openxmlformats.org/drawingml/2006/main">
            <a:r>
              <a:t>Net cash used in investing activities  (2,946)  (8,564) </a:t>
            </a:r>
          </a:p>
          <a:p xmlns:a="http://schemas.openxmlformats.org/drawingml/2006/main">
            <a:r>
              <a:t>Financing activities</a:t>
            </a:r>
          </a:p>
          <a:p xmlns:a="http://schemas.openxmlformats.org/drawingml/2006/main">
            <a:r>
              <a:t>Net payments related to stock-based award activities  (1,989)  (2,929) </a:t>
            </a:r>
          </a:p>
          <a:p xmlns:a="http://schemas.openxmlformats.org/drawingml/2006/main">
            <a:r>
              <a:t>Repurchases of stock  (14,557)  (15,696) </a:t>
            </a:r>
          </a:p>
          <a:p xmlns:a="http://schemas.openxmlformats.org/drawingml/2006/main">
            <a:r>
              <a:t>Proceeds from issuance of debt, net of costs  6,927  1,982 </a:t>
            </a:r>
          </a:p>
          <a:p xmlns:a="http://schemas.openxmlformats.org/drawingml/2006/main">
            <a:r>
              <a:t>Repayments of debt  (6,952)  (3,079) </a:t>
            </a:r>
          </a:p>
          <a:p xmlns:a="http://schemas.openxmlformats.org/drawingml/2006/main">
            <a:r>
              <a:t>Proceeds from sale of interest in consolidated entities, net  3  8 </a:t>
            </a:r>
          </a:p>
          <a:p xmlns:a="http://schemas.openxmlformats.org/drawingml/2006/main">
            <a:r>
              <a:t>Net cash used in financing activities  (16,568)  (19,714) </a:t>
            </a:r>
          </a:p>
          <a:p xmlns:a="http://schemas.openxmlformats.org/drawingml/2006/main">
            <a:r>
              <a:t>Effect of exchange rate changes on cash and cash equivalents  50  (125) </a:t>
            </a:r>
          </a:p>
          <a:p xmlns:a="http://schemas.openxmlformats.org/drawingml/2006/main">
            <a:r>
              <a:t>Net increase (decrease) in cash and cash equivalents  4,045  445 </a:t>
            </a:r>
          </a:p>
          <a:p xmlns:a="http://schemas.openxmlformats.org/drawingml/2006/main">
            <a:r>
              <a:t>Cash and cash equivalents at beginning of period  21,879  24,048 </a:t>
            </a:r>
          </a:p>
          <a:p xmlns:a="http://schemas.openxmlformats.org/drawingml/2006/main">
            <a:r>
              <a:t>Cash and cash equivalents at end of period $ 25,924 $ 24,493 </a:t>
            </a:r>
          </a:p>
          <a:p xmlns:a="http://schemas.openxmlformats.org/drawingml/2006/main">
            <a:r>
              <a:t>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本页依据原始 material.pdf 第 1,10 页。</a:t>
            </a:r>
          </a:p>
          <a:p xmlns:a="http://schemas.openxmlformats.org/drawingml/2006/main">
            <a:r>
              <a:t>2024Q1 reported revenues80539、constant currency80854百万美元；reported增长15%，constant currency增长16%。固定汇率采用上年汇率并排除当期对冲效果；比较基数排除上期对冲收益，为69703百万美元。不能把80854与69787直接当作同口径计算固定汇率增速。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[冻结原始材料全文；供事实回查，不是额外交付要求]</a:t>
            </a:r>
          </a:p>
          <a:p xmlns:a="http://schemas.openxmlformats.org/drawingml/2006/main">
            <a:r>
              <a:t>PDF PAGE 8</a:t>
            </a:r>
          </a:p>
          <a:p xmlns:a="http://schemas.openxmlformats.org/drawingml/2006/main">
            <a:r>
              <a:t>Segment Results</a:t>
            </a:r>
          </a:p>
          <a:p xmlns:a="http://schemas.openxmlformats.org/drawingml/2006/main">
            <a:r>
              <a:t>The following table presents our segment revenues and operating income (loss) (in millions; unaudited):</a:t>
            </a:r>
          </a:p>
          <a:p xmlns:a="http://schemas.openxmlformats.org/drawingml/2006/main">
            <a:r>
              <a:t>Quarter Ended March 31,</a:t>
            </a:r>
          </a:p>
          <a:p xmlns:a="http://schemas.openxmlformats.org/drawingml/2006/main">
            <a:r>
              <a:t>2023 2024</a:t>
            </a:r>
          </a:p>
          <a:p xmlns:a="http://schemas.openxmlformats.org/drawingml/2006/main">
            <a:r>
              <a:t>Revenues:</a:t>
            </a:r>
          </a:p>
          <a:p xmlns:a="http://schemas.openxmlformats.org/drawingml/2006/main">
            <a:r>
              <a:t>Google Services $ 61,961 $ 70,398 </a:t>
            </a:r>
          </a:p>
          <a:p xmlns:a="http://schemas.openxmlformats.org/drawingml/2006/main">
            <a:r>
              <a:t>Google Cloud  7,454  9,574 </a:t>
            </a:r>
          </a:p>
          <a:p xmlns:a="http://schemas.openxmlformats.org/drawingml/2006/main">
            <a:r>
              <a:t>Other Bets  288  495 </a:t>
            </a:r>
          </a:p>
          <a:p xmlns:a="http://schemas.openxmlformats.org/drawingml/2006/main">
            <a:r>
              <a:t>Hedging gains (losses)  84  72 </a:t>
            </a:r>
          </a:p>
          <a:p xmlns:a="http://schemas.openxmlformats.org/drawingml/2006/main">
            <a:r>
              <a:t>Total revenues $ 69,787 $ 80,539 </a:t>
            </a:r>
          </a:p>
          <a:p xmlns:a="http://schemas.openxmlformats.org/drawingml/2006/main">
            <a:r>
              <a:t>Operating income (loss):</a:t>
            </a:r>
          </a:p>
          <a:p xmlns:a="http://schemas.openxmlformats.org/drawingml/2006/main">
            <a:r>
              <a:t>Google Services $ 21,737 $ 27,897 </a:t>
            </a:r>
          </a:p>
          <a:p xmlns:a="http://schemas.openxmlformats.org/drawingml/2006/main">
            <a:r>
              <a:t>Google Cloud  191 $ 900 </a:t>
            </a:r>
          </a:p>
          <a:p xmlns:a="http://schemas.openxmlformats.org/drawingml/2006/main">
            <a:r>
              <a:t>Other Bets  (1,225) $ (1,020) </a:t>
            </a:r>
          </a:p>
          <a:p xmlns:a="http://schemas.openxmlformats.org/drawingml/2006/main">
            <a:r>
              <a:t>Alphabet-level activities  (3,288) $ (2,305) </a:t>
            </a:r>
          </a:p>
          <a:p xmlns:a="http://schemas.openxmlformats.org/drawingml/2006/main">
            <a:r>
              <a:t>Total income from operations $ 17,415 $ 25,472 </a:t>
            </a:r>
          </a:p>
          <a:p xmlns:a="http://schemas.openxmlformats.org/drawingml/2006/main">
            <a:r>
              <a:t>We report our segment results as Google Services, Google Cloud, and Other Bets:</a:t>
            </a:r>
          </a:p>
          <a:p xmlns:a="http://schemas.openxmlformats.org/drawingml/2006/main">
            <a:r>
              <a:t>• Google Services includes products and services such as ads, Android, Chrome, devices, Google Maps, </a:t>
            </a:r>
          </a:p>
          <a:p xmlns:a="http://schemas.openxmlformats.org/drawingml/2006/main">
            <a:r>
              <a:t>Google Play, Search, and YouTube. Google Services generates revenues primarily from advertising; fees </a:t>
            </a:r>
          </a:p>
          <a:p xmlns:a="http://schemas.openxmlformats.org/drawingml/2006/main">
            <a:r>
              <a:t>received for consumer subscription-based products such as YouTube TV, YouTube Music and Premium, </a:t>
            </a:r>
          </a:p>
          <a:p xmlns:a="http://schemas.openxmlformats.org/drawingml/2006/main">
            <a:r>
              <a:t>and NFL Sunday Ticket, as well as Google One; the sale of apps and in-app purchases and devices.</a:t>
            </a:r>
          </a:p>
          <a:p xmlns:a="http://schemas.openxmlformats.org/drawingml/2006/main">
            <a:r>
              <a:t>• Google Cloud includes infrastructure and platform services, collaboration tools, and other services for </a:t>
            </a:r>
          </a:p>
          <a:p xmlns:a="http://schemas.openxmlformats.org/drawingml/2006/main">
            <a:r>
              <a:t>enterprise customers. Google Cloud generates revenues primarily from consumption-based fees and </a:t>
            </a:r>
          </a:p>
          <a:p xmlns:a="http://schemas.openxmlformats.org/drawingml/2006/main">
            <a:r>
              <a:t>subscriptions received for Google Cloud Platform services, Google Workspace communication and </a:t>
            </a:r>
          </a:p>
          <a:p xmlns:a="http://schemas.openxmlformats.org/drawingml/2006/main">
            <a:r>
              <a:t>collaboration tools, and other enterprise services.</a:t>
            </a:r>
          </a:p>
          <a:p xmlns:a="http://schemas.openxmlformats.org/drawingml/2006/main">
            <a:r>
              <a:t>• Other Bets is a combination of multiple operating segments that are not individually material. Revenues </a:t>
            </a:r>
          </a:p>
          <a:p xmlns:a="http://schemas.openxmlformats.org/drawingml/2006/main">
            <a:r>
              <a:t>from Other Bets are generated primarily from the sale of healthcare-related services and internet services.</a:t>
            </a:r>
          </a:p>
          <a:p xmlns:a="http://schemas.openxmlformats.org/drawingml/2006/main">
            <a:r>
              <a:t>Certain costs are not allocated to our segments because they represent Alphabet-level activities. These costs </a:t>
            </a:r>
          </a:p>
          <a:p xmlns:a="http://schemas.openxmlformats.org/drawingml/2006/main">
            <a:r>
              <a:t>primarily include AI-focused shared R&amp;D activities, including development costs of our general AI models; corporate </a:t>
            </a:r>
          </a:p>
          <a:p xmlns:a="http://schemas.openxmlformats.org/drawingml/2006/main">
            <a:r>
              <a:t>initiatives such as our philanthropic activities; corporate shared costs such as certain finance, human resource, and </a:t>
            </a:r>
          </a:p>
          <a:p xmlns:a="http://schemas.openxmlformats.org/drawingml/2006/main">
            <a:r>
              <a:t>legal costs, including certain fines and settlements. Charges associated with employee severance and office space </a:t>
            </a:r>
          </a:p>
          <a:p xmlns:a="http://schemas.openxmlformats.org/drawingml/2006/main">
            <a:r>
              <a:t>reductions during 2023 and employee severance in the first quarter of 2024, were not allocated to our segments. </a:t>
            </a:r>
          </a:p>
          <a:p xmlns:a="http://schemas.openxmlformats.org/drawingml/2006/main">
            <a:r>
              <a:t>Additionally, hedging gains (losses) related to revenue are not allocated to our segments.</a:t>
            </a:r>
          </a:p>
          <a:p xmlns:a="http://schemas.openxmlformats.org/drawingml/2006/main">
            <a:r>
              <a:t>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本页依据原始 material.pdf 第 2,7 页。</a:t>
            </a:r>
          </a:p>
          <a:p xmlns:a="http://schemas.openxmlformats.org/drawingml/2006/main">
            <a:r>
              <a:t>董事会2024-04-25宣告首次现金分红0.20美元/股，A/B/C，2024-06-17支付、2024-06-10登记；未来季度股息须董事会审议批准。新增回购授权up to70.0billion USD（700亿美元），Class A/C。Q1现金流量表repurchases of stock15696million（156.96亿美元），不是16.1billion。授权不是已执行回购。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[冻结原始材料全文；供事实回查，不是额外交付要求]</a:t>
            </a:r>
          </a:p>
          <a:p xmlns:a="http://schemas.openxmlformats.org/drawingml/2006/main">
            <a:r>
              <a:t>PDF PAGE 9</a:t>
            </a:r>
          </a:p>
          <a:p xmlns:a="http://schemas.openxmlformats.org/drawingml/2006/main">
            <a:r>
              <a:t>Other Income (Expense), Net</a:t>
            </a:r>
          </a:p>
          <a:p xmlns:a="http://schemas.openxmlformats.org/drawingml/2006/main">
            <a:r>
              <a:t>The following table presents our other income (expense), net (in millions; unaudited):</a:t>
            </a:r>
          </a:p>
          <a:p xmlns:a="http://schemas.openxmlformats.org/drawingml/2006/main">
            <a:r>
              <a:t>Quarter Ended March 31,</a:t>
            </a:r>
          </a:p>
          <a:p xmlns:a="http://schemas.openxmlformats.org/drawingml/2006/main">
            <a:r>
              <a:t>2023 2024</a:t>
            </a:r>
          </a:p>
          <a:p xmlns:a="http://schemas.openxmlformats.org/drawingml/2006/main">
            <a:r>
              <a:t>Interest income $ 797 $ 1,061 </a:t>
            </a:r>
          </a:p>
          <a:p xmlns:a="http://schemas.openxmlformats.org/drawingml/2006/main">
            <a:r>
              <a:t>Interest expense  (80)  (94) </a:t>
            </a:r>
          </a:p>
          <a:p xmlns:a="http://schemas.openxmlformats.org/drawingml/2006/main">
            <a:r>
              <a:t>Foreign currency exchange gain (loss), net  (210)  (238) </a:t>
            </a:r>
          </a:p>
          <a:p xmlns:a="http://schemas.openxmlformats.org/drawingml/2006/main">
            <a:r>
              <a:t>Gain (loss) on debt securities, net  (293)  (462) </a:t>
            </a:r>
          </a:p>
          <a:p xmlns:a="http://schemas.openxmlformats.org/drawingml/2006/main">
            <a:r>
              <a:t>Gain (loss) on equity securities, net(1)  377  2,243 </a:t>
            </a:r>
          </a:p>
          <a:p xmlns:a="http://schemas.openxmlformats.org/drawingml/2006/main">
            <a:r>
              <a:t>Performance fees  118  104 </a:t>
            </a:r>
          </a:p>
          <a:p xmlns:a="http://schemas.openxmlformats.org/drawingml/2006/main">
            <a:r>
              <a:t>Income (loss) and impairment from equity method investments, net  (51)  (26) </a:t>
            </a:r>
          </a:p>
          <a:p xmlns:a="http://schemas.openxmlformats.org/drawingml/2006/main">
            <a:r>
              <a:t>Other  132  255 </a:t>
            </a:r>
          </a:p>
          <a:p xmlns:a="http://schemas.openxmlformats.org/drawingml/2006/main">
            <a:r>
              <a:t>Other income (expense), net $ 790 $ 2,843 </a:t>
            </a:r>
          </a:p>
          <a:p xmlns:a="http://schemas.openxmlformats.org/drawingml/2006/main">
            <a:r>
              <a:t>(1) Includes all gains and losses, unrealized and realized, on equity securities. For Q1 2024, the net effect of the gain on equity </a:t>
            </a:r>
          </a:p>
          <a:p xmlns:a="http://schemas.openxmlformats.org/drawingml/2006/main">
            <a:r>
              <a:t>securities of $2.2 billion  and the $104 million  reversal of previously accrued performance fees related to certain </a:t>
            </a:r>
          </a:p>
          <a:p xmlns:a="http://schemas.openxmlformats.org/drawingml/2006/main">
            <a:r>
              <a:t>investments increased the provision for income tax, net income, and diluted EPS by $493 million, $1.9 billion, and $0.15, </a:t>
            </a:r>
          </a:p>
          <a:p xmlns:a="http://schemas.openxmlformats.org/drawingml/2006/main">
            <a:r>
              <a:t>respectively. Fluctuations in the value of our investments may be affected by market dynamics and other factors and could </a:t>
            </a:r>
          </a:p>
          <a:p xmlns:a="http://schemas.openxmlformats.org/drawingml/2006/main">
            <a:r>
              <a:t>significantly contribute to the volatility of OI&amp;E in future periods.</a:t>
            </a:r>
          </a:p>
          <a:p xmlns:a="http://schemas.openxmlformats.org/drawingml/2006/main">
            <a:r>
              <a:t>Reconciliation from GAAP Net Cash Provided by Operating Activities to Non-GAAP Free Cash Flow  (in </a:t>
            </a:r>
          </a:p>
          <a:p xmlns:a="http://schemas.openxmlformats.org/drawingml/2006/main">
            <a:r>
              <a:t>millions; unaudited):</a:t>
            </a:r>
          </a:p>
          <a:p xmlns:a="http://schemas.openxmlformats.org/drawingml/2006/main">
            <a:r>
              <a:t>We provide non-GAAP free cash flow because it is a liquidity measure that provides useful information to </a:t>
            </a:r>
          </a:p>
          <a:p xmlns:a="http://schemas.openxmlformats.org/drawingml/2006/main">
            <a:r>
              <a:t>management and investors about the amount of cash generated by the business that can be used for strategic </a:t>
            </a:r>
          </a:p>
          <a:p xmlns:a="http://schemas.openxmlformats.org/drawingml/2006/main">
            <a:r>
              <a:t>opportunities, including investing in our business and acquisitions, and to strengthen our balance sheet.</a:t>
            </a:r>
          </a:p>
          <a:p xmlns:a="http://schemas.openxmlformats.org/drawingml/2006/main">
            <a:r>
              <a:t>Quarter Ended </a:t>
            </a:r>
          </a:p>
          <a:p xmlns:a="http://schemas.openxmlformats.org/drawingml/2006/main">
            <a:r>
              <a:t>March 31, 2024</a:t>
            </a:r>
          </a:p>
          <a:p xmlns:a="http://schemas.openxmlformats.org/drawingml/2006/main">
            <a:r>
              <a:t>Net cash provided by operating activities $ 28,848 </a:t>
            </a:r>
          </a:p>
          <a:p xmlns:a="http://schemas.openxmlformats.org/drawingml/2006/main">
            <a:r>
              <a:t>Less: purchases of property and equipment  (12,012) </a:t>
            </a:r>
          </a:p>
          <a:p xmlns:a="http://schemas.openxmlformats.org/drawingml/2006/main">
            <a:r>
              <a:t>Free cash flow $ 16,836 </a:t>
            </a:r>
          </a:p>
          <a:p xmlns:a="http://schemas.openxmlformats.org/drawingml/2006/main">
            <a:r>
              <a:t>Free cash flow: We define free cash flow as net cash provided by operating activities less capital expenditures.</a:t>
            </a:r>
          </a:p>
          <a:p xmlns:a="http://schemas.openxmlformats.org/drawingml/2006/main">
            <a:r>
              <a:t>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本页依据原始 material.pdf 第 1,2,3 页。</a:t>
            </a:r>
          </a:p>
          <a:p xmlns:a="http://schemas.openxmlformats.org/drawingml/2006/main">
            <a:r>
              <a:t>均为中文转述而非逐字引语：Pichai称Search、YouTube、Cloud表现强劲，Gemini时代进展和AI研究/基础设施及全球产品布局；Porat称收入强劲与持续成本结构调整。员工190711→180895，未将人数下降单独推为利润提升的已验证因果。AI model development teams迁往DeepMind的报告划分从2024Q2起，不可计为Q1已变化。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[冻结原始材料全文；供事实回查，不是额外交付要求]</a:t>
            </a:r>
          </a:p>
          <a:p xmlns:a="http://schemas.openxmlformats.org/drawingml/2006/main">
            <a:r>
              <a:t>PDF PAGE 10</a:t>
            </a:r>
          </a:p>
          <a:p xmlns:a="http://schemas.openxmlformats.org/drawingml/2006/main">
            <a:r>
              <a:t>Reconciliation from GAAP Revenues to Non-GAAP Constant Currency Revenues and GAAP Percentage </a:t>
            </a:r>
          </a:p>
          <a:p xmlns:a="http://schemas.openxmlformats.org/drawingml/2006/main">
            <a:r>
              <a:t>Change in Revenues to Non-GAAP Percentage Change in Constant Currency Revenues  (in millions, except </a:t>
            </a:r>
          </a:p>
          <a:p xmlns:a="http://schemas.openxmlformats.org/drawingml/2006/main">
            <a:r>
              <a:t>percentages; unaudited):</a:t>
            </a:r>
          </a:p>
          <a:p xmlns:a="http://schemas.openxmlformats.org/drawingml/2006/main">
            <a:r>
              <a:t>We provide non-GAAP constant currency revenues (“constant currency revenues”) and non-GAAP percentage change </a:t>
            </a:r>
          </a:p>
          <a:p xmlns:a="http://schemas.openxmlformats.org/drawingml/2006/main">
            <a:r>
              <a:t>in constant currency revenues (“percentage change in constant currency revenues”), because they facilitate the </a:t>
            </a:r>
          </a:p>
          <a:p xmlns:a="http://schemas.openxmlformats.org/drawingml/2006/main">
            <a:r>
              <a:t>comparison of current results to historic performance by excluding the effect of foreign exchange rate movements (“FX </a:t>
            </a:r>
          </a:p>
          <a:p xmlns:a="http://schemas.openxmlformats.org/drawingml/2006/main">
            <a:r>
              <a:t>Effect”) as well as hedging activities, which are recognized at the consolidated level, as they are not indicative of our </a:t>
            </a:r>
          </a:p>
          <a:p xmlns:a="http://schemas.openxmlformats.org/drawingml/2006/main">
            <a:r>
              <a:t>core operating results.</a:t>
            </a:r>
          </a:p>
          <a:p xmlns:a="http://schemas.openxmlformats.org/drawingml/2006/main">
            <a:r>
              <a:t>Non-GAAP constant currency revenues is defined as revenues excluding the effect of foreign exchange rate </a:t>
            </a:r>
          </a:p>
          <a:p xmlns:a="http://schemas.openxmlformats.org/drawingml/2006/main">
            <a:r>
              <a:t>movements and hedging activities and is calculated by translating current period revenues using prior period exchange </a:t>
            </a:r>
          </a:p>
          <a:p xmlns:a="http://schemas.openxmlformats.org/drawingml/2006/main">
            <a:r>
              <a:t>rates and excluding any hedging effect recognized in the current period. We calculate the percentage change in </a:t>
            </a:r>
          </a:p>
          <a:p xmlns:a="http://schemas.openxmlformats.org/drawingml/2006/main">
            <a:r>
              <a:t>constant currency revenues by comparing constant currency revenues to the prior year comparable period revenues, </a:t>
            </a:r>
          </a:p>
          <a:p xmlns:a="http://schemas.openxmlformats.org/drawingml/2006/main">
            <a:r>
              <a:t>excluding any hedging effect recognized in the prior period.</a:t>
            </a:r>
          </a:p>
          <a:p xmlns:a="http://schemas.openxmlformats.org/drawingml/2006/main">
            <a:r>
              <a:t>Revenues by Geography</a:t>
            </a:r>
          </a:p>
          <a:p xmlns:a="http://schemas.openxmlformats.org/drawingml/2006/main">
            <a:r>
              <a:t>Comparison from the Quarter Ended March 31, 2023 to the Quarter Ended March 31, 2024</a:t>
            </a:r>
          </a:p>
          <a:p xmlns:a="http://schemas.openxmlformats.org/drawingml/2006/main">
            <a:r>
              <a:t>Quarter Ended March 31, 2024</a:t>
            </a:r>
          </a:p>
          <a:p xmlns:a="http://schemas.openxmlformats.org/drawingml/2006/main">
            <a:r>
              <a:t>% Change from Prior Period</a:t>
            </a:r>
          </a:p>
          <a:p xmlns:a="http://schemas.openxmlformats.org/drawingml/2006/main">
            <a:r>
              <a:t>Quarter Ended March 31, Less FX </a:t>
            </a:r>
          </a:p>
          <a:p xmlns:a="http://schemas.openxmlformats.org/drawingml/2006/main">
            <a:r>
              <a:t>Effect</a:t>
            </a:r>
          </a:p>
          <a:p xmlns:a="http://schemas.openxmlformats.org/drawingml/2006/main">
            <a:r>
              <a:t>Constant </a:t>
            </a:r>
          </a:p>
          <a:p xmlns:a="http://schemas.openxmlformats.org/drawingml/2006/main">
            <a:r>
              <a:t>Currency </a:t>
            </a:r>
          </a:p>
          <a:p xmlns:a="http://schemas.openxmlformats.org/drawingml/2006/main">
            <a:r>
              <a:t>Revenues</a:t>
            </a:r>
          </a:p>
          <a:p xmlns:a="http://schemas.openxmlformats.org/drawingml/2006/main">
            <a:r>
              <a:t>As </a:t>
            </a:r>
          </a:p>
          <a:p xmlns:a="http://schemas.openxmlformats.org/drawingml/2006/main">
            <a:r>
              <a:t>Reported</a:t>
            </a:r>
          </a:p>
          <a:p xmlns:a="http://schemas.openxmlformats.org/drawingml/2006/main">
            <a:r>
              <a:t>Less </a:t>
            </a:r>
          </a:p>
          <a:p xmlns:a="http://schemas.openxmlformats.org/drawingml/2006/main">
            <a:r>
              <a:t>Hedging </a:t>
            </a:r>
          </a:p>
          <a:p xmlns:a="http://schemas.openxmlformats.org/drawingml/2006/main">
            <a:r>
              <a:t>Effect</a:t>
            </a:r>
          </a:p>
          <a:p xmlns:a="http://schemas.openxmlformats.org/drawingml/2006/main">
            <a:r>
              <a:t>Less FX </a:t>
            </a:r>
          </a:p>
          <a:p xmlns:a="http://schemas.openxmlformats.org/drawingml/2006/main">
            <a:r>
              <a:t>Effect</a:t>
            </a:r>
          </a:p>
          <a:p xmlns:a="http://schemas.openxmlformats.org/drawingml/2006/main">
            <a:r>
              <a:t>Constant </a:t>
            </a:r>
          </a:p>
          <a:p xmlns:a="http://schemas.openxmlformats.org/drawingml/2006/main">
            <a:r>
              <a:t>Currency </a:t>
            </a:r>
          </a:p>
          <a:p xmlns:a="http://schemas.openxmlformats.org/drawingml/2006/main">
            <a:r>
              <a:t>Revenues2023 2024</a:t>
            </a:r>
          </a:p>
          <a:p xmlns:a="http://schemas.openxmlformats.org/drawingml/2006/main">
            <a:r>
              <a:t>United States $ 32,864 $ 38,737 $ 0 $ 38,737  18 %  0 %  18 %</a:t>
            </a:r>
          </a:p>
          <a:p xmlns:a="http://schemas.openxmlformats.org/drawingml/2006/main">
            <a:r>
              <a:t>EMEA  21,078  23,788  204  23,584  13 %  1 %  12 %</a:t>
            </a:r>
          </a:p>
          <a:p xmlns:a="http://schemas.openxmlformats.org/drawingml/2006/main">
            <a:r>
              <a:t>APAC  11,681  13,289  (439)  13,728  14 %  (4) %  18 %</a:t>
            </a:r>
          </a:p>
          <a:p xmlns:a="http://schemas.openxmlformats.org/drawingml/2006/main">
            <a:r>
              <a:t>Other Americas  4,080  4,653  (152)  4,805  14 %  (4) %  18 %</a:t>
            </a:r>
          </a:p>
          <a:p xmlns:a="http://schemas.openxmlformats.org/drawingml/2006/main">
            <a:r>
              <a:t>Revenues, excluding hedging effect  69,703  80,467  (387)  80,854  15 %  (1) %  16 %</a:t>
            </a:r>
          </a:p>
          <a:p xmlns:a="http://schemas.openxmlformats.org/drawingml/2006/main">
            <a:r>
              <a:t>Hedging gains (losses)  84  72 </a:t>
            </a:r>
          </a:p>
          <a:p xmlns:a="http://schemas.openxmlformats.org/drawingml/2006/main">
            <a:r>
              <a:t>Total revenues(1)</a:t>
            </a:r>
          </a:p>
          <a:p xmlns:a="http://schemas.openxmlformats.org/drawingml/2006/main">
            <a:r>
              <a:t>$ 69,787 $ 80,539 $ 80,854  15 %  0 %  (1) %  16 %</a:t>
            </a:r>
          </a:p>
          <a:p xmlns:a="http://schemas.openxmlformats.org/drawingml/2006/main">
            <a:r>
              <a:t>(1) Total constant currency revenues of $80.9 billion for the quarter ended March 31, 2024  increased $11.2 billion compared to $69.7 billion in </a:t>
            </a:r>
          </a:p>
          <a:p xmlns:a="http://schemas.openxmlformats.org/drawingml/2006/main">
            <a:r>
              <a:t>revenues, excluding hedging effect for the quarter ended March 31, 2023.</a:t>
            </a:r>
          </a:p>
          <a:p xmlns:a="http://schemas.openxmlformats.org/drawingml/2006/main">
            <a:r>
              <a:t>Comparison from the Quarter Ended December 31, 2023 to the Quarter Ended March 31, 2024</a:t>
            </a:r>
          </a:p>
          <a:p xmlns:a="http://schemas.openxmlformats.org/drawingml/2006/main">
            <a:r>
              <a:t>Quarter Ended March 31, 2024</a:t>
            </a:r>
          </a:p>
          <a:p xmlns:a="http://schemas.openxmlformats.org/drawingml/2006/main">
            <a:r>
              <a:t>% Change from Prior Period</a:t>
            </a:r>
          </a:p>
          <a:p xmlns:a="http://schemas.openxmlformats.org/drawingml/2006/main">
            <a:r>
              <a:t>Quarter Ended</a:t>
            </a:r>
          </a:p>
          <a:p xmlns:a="http://schemas.openxmlformats.org/drawingml/2006/main">
            <a:r>
              <a:t>Less FX </a:t>
            </a:r>
          </a:p>
          <a:p xmlns:a="http://schemas.openxmlformats.org/drawingml/2006/main">
            <a:r>
              <a:t>Effect</a:t>
            </a:r>
          </a:p>
          <a:p xmlns:a="http://schemas.openxmlformats.org/drawingml/2006/main">
            <a:r>
              <a:t>Constant </a:t>
            </a:r>
          </a:p>
          <a:p xmlns:a="http://schemas.openxmlformats.org/drawingml/2006/main">
            <a:r>
              <a:t>Currency </a:t>
            </a:r>
          </a:p>
          <a:p xmlns:a="http://schemas.openxmlformats.org/drawingml/2006/main">
            <a:r>
              <a:t>Revenues</a:t>
            </a:r>
          </a:p>
          <a:p xmlns:a="http://schemas.openxmlformats.org/drawingml/2006/main">
            <a:r>
              <a:t>As </a:t>
            </a:r>
          </a:p>
          <a:p xmlns:a="http://schemas.openxmlformats.org/drawingml/2006/main">
            <a:r>
              <a:t>Reported</a:t>
            </a:r>
          </a:p>
          <a:p xmlns:a="http://schemas.openxmlformats.org/drawingml/2006/main">
            <a:r>
              <a:t>Less </a:t>
            </a:r>
          </a:p>
          <a:p xmlns:a="http://schemas.openxmlformats.org/drawingml/2006/main">
            <a:r>
              <a:t>Hedging </a:t>
            </a:r>
          </a:p>
          <a:p xmlns:a="http://schemas.openxmlformats.org/drawingml/2006/main">
            <a:r>
              <a:t>Effect</a:t>
            </a:r>
          </a:p>
          <a:p xmlns:a="http://schemas.openxmlformats.org/drawingml/2006/main">
            <a:r>
              <a:t>Less FX </a:t>
            </a:r>
          </a:p>
          <a:p xmlns:a="http://schemas.openxmlformats.org/drawingml/2006/main">
            <a:r>
              <a:t>Effect</a:t>
            </a:r>
          </a:p>
          <a:p xmlns:a="http://schemas.openxmlformats.org/drawingml/2006/main">
            <a:r>
              <a:t>Constant </a:t>
            </a:r>
          </a:p>
          <a:p xmlns:a="http://schemas.openxmlformats.org/drawingml/2006/main">
            <a:r>
              <a:t>Currency </a:t>
            </a:r>
          </a:p>
          <a:p xmlns:a="http://schemas.openxmlformats.org/drawingml/2006/main">
            <a:r>
              <a:t>Revenues</a:t>
            </a:r>
          </a:p>
          <a:p xmlns:a="http://schemas.openxmlformats.org/drawingml/2006/main">
            <a:r>
              <a:t>December </a:t>
            </a:r>
          </a:p>
          <a:p xmlns:a="http://schemas.openxmlformats.org/drawingml/2006/main">
            <a:r>
              <a:t>31, 2023</a:t>
            </a:r>
          </a:p>
          <a:p xmlns:a="http://schemas.openxmlformats.org/drawingml/2006/main">
            <a:r>
              <a:t>March 31, </a:t>
            </a:r>
          </a:p>
          <a:p xmlns:a="http://schemas.openxmlformats.org/drawingml/2006/main">
            <a:r>
              <a:t>2024</a:t>
            </a:r>
          </a:p>
          <a:p xmlns:a="http://schemas.openxmlformats.org/drawingml/2006/main">
            <a:r>
              <a:t>United States $ 41,995 $ 38,737 $ 0 $ 38,737  (8) %  0 %  (8) %</a:t>
            </a:r>
          </a:p>
          <a:p xmlns:a="http://schemas.openxmlformats.org/drawingml/2006/main">
            <a:r>
              <a:t>EMEA  25,010  23,788  360  23,428  (5) %  1 %  (6) %</a:t>
            </a:r>
          </a:p>
          <a:p xmlns:a="http://schemas.openxmlformats.org/drawingml/2006/main">
            <a:r>
              <a:t>APAC  13,979  13,289  85  13,204  (5) %  1 %  (6) %</a:t>
            </a:r>
          </a:p>
          <a:p xmlns:a="http://schemas.openxmlformats.org/drawingml/2006/main">
            <a:r>
              <a:t>Other Americas  5,176  4,653  (72)  4,725  (10) %  (1) %  (9) %</a:t>
            </a:r>
          </a:p>
          <a:p xmlns:a="http://schemas.openxmlformats.org/drawingml/2006/main">
            <a:r>
              <a:t>Revenues, excluding hedging effect  86,160  80,467  373  80,094  (7) %  0 %  (7) %</a:t>
            </a:r>
          </a:p>
          <a:p xmlns:a="http://schemas.openxmlformats.org/drawingml/2006/main">
            <a:r>
              <a:t>Hedging gains (losses)  150  72 </a:t>
            </a:r>
          </a:p>
          <a:p xmlns:a="http://schemas.openxmlformats.org/drawingml/2006/main">
            <a:r>
              <a:t>Total revenues(1)</a:t>
            </a:r>
          </a:p>
          <a:p xmlns:a="http://schemas.openxmlformats.org/drawingml/2006/main">
            <a:r>
              <a:t>$ 86,310 $ 80,539 $ 80,094  (7) %  0 %  0 %  (7) %</a:t>
            </a:r>
          </a:p>
          <a:p xmlns:a="http://schemas.openxmlformats.org/drawingml/2006/main">
            <a:r>
              <a:t>(1) Total constant currency revenues of $80.1 billion for the quarter ended March 31, 2024  decreased $6.1 billion compared to $86.2 billion in </a:t>
            </a:r>
          </a:p>
          <a:p xmlns:a="http://schemas.openxmlformats.org/drawingml/2006/main">
            <a:r>
              <a:t>revenues, excluding hedging effect for the quarter ended December 31, 2023.</a:t>
            </a:r>
          </a:p>
          <a:p xmlns:a="http://schemas.openxmlformats.org/drawingml/2006/main">
            <a:r>
              <a:t>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本页依据原始 material.pdf 第 3,4 页。</a:t>
            </a:r>
          </a:p>
          <a:p xmlns:a="http://schemas.openxmlformats.org/drawingml/2006/main">
            <a:r>
              <a:t>未展开原始财报未具体列举的风险因素。前瞻性陈述有风险与不确定性，已报告业绩不代表未来表现。SEC 2023 Form10-K及2024Q1Form10-Q被引用。IR网址与邮箱来自原材料，非当前联网更新。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[冻结原始材料全文；供事实回查，不是额外交付要求]</a:t>
            </a:r>
          </a:p>
          <a:p xmlns:a="http://schemas.openxmlformats.org/drawingml/2006/main">
            <a:r>
              <a:t>PDF PAGE 11</a:t>
            </a:r>
          </a:p>
          <a:p xmlns:a="http://schemas.openxmlformats.org/drawingml/2006/main">
            <a:r>
              <a:t>Total Revenues — Prior Year Comparative Periods</a:t>
            </a:r>
          </a:p>
          <a:p xmlns:a="http://schemas.openxmlformats.org/drawingml/2006/main">
            <a:r>
              <a:t>Comparison from the Quarter Ended March 31, 2022 to the Quarter Ended March 31, 2023</a:t>
            </a:r>
          </a:p>
          <a:p xmlns:a="http://schemas.openxmlformats.org/drawingml/2006/main">
            <a:r>
              <a:t>Quarter Ended March 31, 2023</a:t>
            </a:r>
          </a:p>
          <a:p xmlns:a="http://schemas.openxmlformats.org/drawingml/2006/main">
            <a:r>
              <a:t>Quarter Ended March 31,</a:t>
            </a:r>
          </a:p>
          <a:p xmlns:a="http://schemas.openxmlformats.org/drawingml/2006/main">
            <a:r>
              <a:t>% Change from Prior Period</a:t>
            </a:r>
          </a:p>
          <a:p xmlns:a="http://schemas.openxmlformats.org/drawingml/2006/main">
            <a:r>
              <a:t> Less FX </a:t>
            </a:r>
          </a:p>
          <a:p xmlns:a="http://schemas.openxmlformats.org/drawingml/2006/main">
            <a:r>
              <a:t>Effect</a:t>
            </a:r>
          </a:p>
          <a:p xmlns:a="http://schemas.openxmlformats.org/drawingml/2006/main">
            <a:r>
              <a:t>Constant </a:t>
            </a:r>
          </a:p>
          <a:p xmlns:a="http://schemas.openxmlformats.org/drawingml/2006/main">
            <a:r>
              <a:t>Currency </a:t>
            </a:r>
          </a:p>
          <a:p xmlns:a="http://schemas.openxmlformats.org/drawingml/2006/main">
            <a:r>
              <a:t>Revenues</a:t>
            </a:r>
          </a:p>
          <a:p xmlns:a="http://schemas.openxmlformats.org/drawingml/2006/main">
            <a:r>
              <a:t>As </a:t>
            </a:r>
          </a:p>
          <a:p xmlns:a="http://schemas.openxmlformats.org/drawingml/2006/main">
            <a:r>
              <a:t>Reported</a:t>
            </a:r>
          </a:p>
          <a:p xmlns:a="http://schemas.openxmlformats.org/drawingml/2006/main">
            <a:r>
              <a:t>Less </a:t>
            </a:r>
          </a:p>
          <a:p xmlns:a="http://schemas.openxmlformats.org/drawingml/2006/main">
            <a:r>
              <a:t>Hedging </a:t>
            </a:r>
          </a:p>
          <a:p xmlns:a="http://schemas.openxmlformats.org/drawingml/2006/main">
            <a:r>
              <a:t>Effect</a:t>
            </a:r>
          </a:p>
          <a:p xmlns:a="http://schemas.openxmlformats.org/drawingml/2006/main">
            <a:r>
              <a:t>Less FX </a:t>
            </a:r>
          </a:p>
          <a:p xmlns:a="http://schemas.openxmlformats.org/drawingml/2006/main">
            <a:r>
              <a:t>Effect</a:t>
            </a:r>
          </a:p>
          <a:p xmlns:a="http://schemas.openxmlformats.org/drawingml/2006/main">
            <a:r>
              <a:t>Constant </a:t>
            </a:r>
          </a:p>
          <a:p xmlns:a="http://schemas.openxmlformats.org/drawingml/2006/main">
            <a:r>
              <a:t>Currency </a:t>
            </a:r>
          </a:p>
          <a:p xmlns:a="http://schemas.openxmlformats.org/drawingml/2006/main">
            <a:r>
              <a:t>Revenues2022 2023</a:t>
            </a:r>
          </a:p>
          <a:p xmlns:a="http://schemas.openxmlformats.org/drawingml/2006/main">
            <a:r>
              <a:t>Revenues excluding hedging effect $ 67,733 $ 69,703 $ (2,174) $ 71,877  3 %  (3) %  6 %</a:t>
            </a:r>
          </a:p>
          <a:p xmlns:a="http://schemas.openxmlformats.org/drawingml/2006/main">
            <a:r>
              <a:t>Hedging gains (losses) $ 278 $ 84 </a:t>
            </a:r>
          </a:p>
          <a:p xmlns:a="http://schemas.openxmlformats.org/drawingml/2006/main">
            <a:r>
              <a:t>Total revenues $ 68,011 $ 69,787 $ 71,877  3 %  0 %  (3) %  6 %</a:t>
            </a:r>
          </a:p>
          <a:p xmlns:a="http://schemas.openxmlformats.org/drawingml/2006/main">
            <a:r>
              <a:t>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2f7aa59464f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5a79307d54d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0c3aed97340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187f4679941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0cd2c506594e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21725f60241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19816F-5EA5-46FA-9AEC-B3028BE0F5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07C08A-1456-4C18-9D8C-A48F4A4E76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2C21C1-79E5-46B1-A2F6-C0EA7430B0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73798E-6771-4F7A-B8C8-50676AB177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FE730B0-922A-4FEA-98FA-7D039001BD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44DF60-2957-452E-9016-106E3F1FD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B4B9A1-DFF8-45B8-A714-B1C501ADA1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818518-0A62-4EE2-86D4-02EF0729DF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F0FE6A-4B24-4D51-89D4-60F4E2EF4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16A38A-1BF8-47C4-8615-32522710EA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9ba30be7fd4be9" /><Relationship Type="http://schemas.openxmlformats.org/officeDocument/2006/relationships/slideLayout" Target="/ppt/slideLayouts/slideLayout1.xml" Id="Ref631d1a34a04a4c" /><Relationship Type="http://schemas.openxmlformats.org/officeDocument/2006/relationships/slideLayout" Target="/ppt/slideLayouts/slideLayout2.xml" Id="Rcdf2aeac12604541" /><Relationship Type="http://schemas.openxmlformats.org/officeDocument/2006/relationships/slideLayout" Target="/ppt/slideLayouts/slideLayout3.xml" Id="Re9ae942d8e83429c" /><Relationship Type="http://schemas.openxmlformats.org/officeDocument/2006/relationships/slideLayout" Target="/ppt/slideLayouts/slideLayout4.xml" Id="R58f7d81de3824b2b" /><Relationship Type="http://schemas.openxmlformats.org/officeDocument/2006/relationships/slideLayout" Target="/ppt/slideLayouts/slideLayout5.xml" Id="Rb33a1d55a192468c" /><Relationship Type="http://schemas.openxmlformats.org/officeDocument/2006/relationships/slideLayout" Target="/ppt/slideLayouts/slideLayout6.xml" Id="R88fb05c1c2704b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631d1a34a04a4c"/>
    <p:sldLayoutId xmlns:r="http://schemas.openxmlformats.org/officeDocument/2006/relationships" id="2147483650" r:id="Rcdf2aeac12604541"/>
    <p:sldLayoutId xmlns:r="http://schemas.openxmlformats.org/officeDocument/2006/relationships" id="2147483651" r:id="Re9ae942d8e83429c"/>
    <p:sldLayoutId xmlns:r="http://schemas.openxmlformats.org/officeDocument/2006/relationships" id="2147483652" r:id="R58f7d81de3824b2b"/>
    <p:sldLayoutId xmlns:r="http://schemas.openxmlformats.org/officeDocument/2006/relationships" id="2147483653" r:id="Rb33a1d55a192468c"/>
    <p:sldLayoutId xmlns:r="http://schemas.openxmlformats.org/officeDocument/2006/relationships" id="2147483654" r:id="R88fb05c1c2704b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ab870ea8e4a36" /><Relationship Type="http://schemas.openxmlformats.org/officeDocument/2006/relationships/notesSlide" Target="/ppt/notesSlides/notesSlide1.xml" Id="R5b7231b9073144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adde6b8854145" /><Relationship Type="http://schemas.openxmlformats.org/officeDocument/2006/relationships/notesSlide" Target="/ppt/notesSlides/notesSlide2.xml" Id="Ra30c6a4ea89a42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e77e16ed54c61" /><Relationship Type="http://schemas.openxmlformats.org/officeDocument/2006/relationships/chart" Target="/ppt/slides/charts/chart1.xml" Id="R91d40682edc14596" /><Relationship Type="http://schemas.openxmlformats.org/officeDocument/2006/relationships/notesSlide" Target="/ppt/notesSlides/notesSlide3.xml" Id="R916e1fa512304c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305ed119c4280" /><Relationship Type="http://schemas.openxmlformats.org/officeDocument/2006/relationships/notesSlide" Target="/ppt/notesSlides/notesSlide4.xml" Id="Rce95134819cc42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63bdc08c346ad" /><Relationship Type="http://schemas.openxmlformats.org/officeDocument/2006/relationships/notesSlide" Target="/ppt/notesSlides/notesSlide5.xml" Id="Rc1f0e28b7ae440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1403b755f74a87" /><Relationship Type="http://schemas.openxmlformats.org/officeDocument/2006/relationships/chart" Target="/ppt/slides/charts/chart2.xml" Id="R4470322dd5f44e52" /><Relationship Type="http://schemas.openxmlformats.org/officeDocument/2006/relationships/chart" Target="/ppt/slides/charts/chart3.xml" Id="Re4e21691a7624719" /><Relationship Type="http://schemas.openxmlformats.org/officeDocument/2006/relationships/notesSlide" Target="/ppt/notesSlides/notesSlide6.xml" Id="Rbd7ef8dbdb1848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2ecb393624049" /><Relationship Type="http://schemas.openxmlformats.org/officeDocument/2006/relationships/notesSlide" Target="/ppt/notesSlides/notesSlide7.xml" Id="Rc078280763ff41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d77f48169e472f" /><Relationship Type="http://schemas.openxmlformats.org/officeDocument/2006/relationships/notesSlide" Target="/ppt/notesSlides/notesSlide8.xml" Id="Rd1a624495f7c40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be890dfaf4513" /><Relationship Type="http://schemas.openxmlformats.org/officeDocument/2006/relationships/notesSlide" Target="/ppt/notesSlides/notesSlide9.xml" Id="Rb542de9a29994d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7de4c060e4a84" /><Relationship Type="http://schemas.openxmlformats.org/officeDocument/2006/relationships/notesSlide" Target="/ppt/notesSlides/notesSlide10.xml" Id="Rf2d8bd53088c42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4d3bcdc1b44fe9" /><Relationship Type="http://schemas.openxmlformats.org/officeDocument/2006/relationships/notesSlide" Target="/ppt/notesSlides/notesSlide11.xml" Id="R4494912c6a8d430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2023 年第一季度</c:v>
          </c:tx>
          <c:spPr>
            <a:solidFill xmlns:a="http://schemas.openxmlformats.org/drawingml/2006/main">
              <a:srgbClr val="AFC6E8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2100">
                    <a:solidFill>
                      <a:srgbClr val="172435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营业收入</c:v>
                </c:pt>
                <c:pt idx="1">
                  <c:v>营业利润</c:v>
                </c:pt>
                <c:pt idx="2">
                  <c:v>净利润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697.87</c:v>
                </c:pt>
                <c:pt idx="1">
                  <c:v>174.15</c:v>
                </c:pt>
                <c:pt idx="2">
                  <c:v>150.51</c:v>
                </c:pt>
              </c:numCache>
            </c:numRef>
          </c:val>
        </c:ser>
        <c:ser>
          <c:idx val="1"/>
          <c:order val="1"/>
          <c:tx>
            <c:v>2024 年第一季度</c:v>
          </c:tx>
          <c:spPr>
            <a:solidFill xmlns:a="http://schemas.openxmlformats.org/drawingml/2006/main">
              <a:srgbClr val="2162C6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2100">
                    <a:solidFill>
                      <a:srgbClr val="172435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营业收入</c:v>
                </c:pt>
                <c:pt idx="1">
                  <c:v>营业利润</c:v>
                </c:pt>
                <c:pt idx="2">
                  <c:v>净利润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805.39</c:v>
                </c:pt>
                <c:pt idx="1">
                  <c:v>254.72</c:v>
                </c:pt>
                <c:pt idx="2">
                  <c:v>236.62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43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5E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30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58677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营业收入</c:v>
          </c:tx>
          <c:spPr>
            <a:solidFill xmlns:a="http://schemas.openxmlformats.org/drawingml/2006/main">
              <a:srgbClr val="2162C6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2100">
                    <a:solidFill>
                      <a:srgbClr val="172435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2023 Q1</c:v>
                </c:pt>
                <c:pt idx="1">
                  <c:v>2024 Q1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74.54</c:v>
                </c:pt>
                <c:pt idx="1">
                  <c:v>95.74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43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5E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营业利润</c:v>
          </c:tx>
          <c:spPr>
            <a:solidFill xmlns:a="http://schemas.openxmlformats.org/drawingml/2006/main">
              <a:srgbClr val="16826A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2100">
                    <a:solidFill>
                      <a:srgbClr val="172435"/>
                    </a:solidFill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2023 Q1</c:v>
                </c:pt>
                <c:pt idx="1">
                  <c:v>2024 Q1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1.91</c:v>
                </c:pt>
                <c:pt idx="1">
                  <c:v>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43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5E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9B6E3-C305-491C-A3E5-3D541DB7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Alphabet 2024 年第一季度财报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50C53-859F-49FF-95DE-A69732CC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来源：Alphabet 2024 Q1 财报，第 1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3B339-5604-4EBC-B507-EF3D427A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0CE28-356D-4321-AF5C-C1DAE209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rPr>
              <a:t>营收增长，营业利润率提升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DC1BC-87D2-46CA-AECA-D1FF22E1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截至 2024 年 3 月 31 日的季度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375FC-0AFE-4A03-85C8-463718AB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财报发布于 2024 年 4 月 25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7F543-58F4-425A-B8E0-77CC6B99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面向媒体与普通读者的业绩解读</a:t>
            </a:r>
          </a:p>
        </p:txBody>
      </p:sp>
    </p:spTree>
    <p:extLst>
      <p:ext uri="{BB962C8B-B14F-4D97-AF65-F5344CB8AC3E}">
        <p14:creationId xmlns:p14="http://schemas.microsoft.com/office/powerpoint/2010/main" val="1675216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686CE-EE48-4100-AA0D-A532D5CC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本季度整体业绩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B2F76-6B75-4814-9A97-CDA0AC4D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来源：Alphabet 2024 Q1 财报，第 1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9700A-8A57-4772-871E-AEA11C14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E5D11-13BD-4D1B-80B6-94CD8755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rPr>
              <a:t>805.39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BB1C7-9337-4F88-83D9-C45D3B3D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营业收入（亿美元）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AA398-ECBD-40A9-8DFE-511E0468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6212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rPr>
              <a:t>254.72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96C11-030A-45D2-9F42-687CC24C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146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营业利润（亿美元）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9B53A-78BC-4BAB-968B-4D839606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6212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rPr>
              <a:t>236.62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0E652-CAF0-43DA-8152-1244E3BE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146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净利润（亿美元）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FA0DD-BC17-4540-9C25-82D4F737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营收同比增长 15%（按报告口径）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3629F-A625-4192-A708-8D8A8408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营业利润率为 32%，上年同期为 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20D67-F06E-4EF3-B191-91DC447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稀释每股收益为 1.89 美元，上年同期为 1.17 美元</a:t>
            </a:r>
          </a:p>
        </p:txBody>
      </p:sp>
    </p:spTree>
    <p:extLst>
      <p:ext uri="{BB962C8B-B14F-4D97-AF65-F5344CB8AC3E}">
        <p14:creationId xmlns:p14="http://schemas.microsoft.com/office/powerpoint/2010/main" val="727643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477E6-E9A6-47B2-83E6-7B5AE36A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营收与利润均高于上年同期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9AD4A-7BF1-44AA-B73B-053E8593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来源：Alphabet 2024 Q1 财报，第 1、6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DA69D-BBA1-4842-877D-A1E69DB6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64516-9218-4048-89F8-3BF52670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单位：亿美元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4375129-FCAA-456C-9F9B-CDD5824EF96C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0612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d40682edc14596"/>
          </a:graphicData>
        </a:graphic>
      </p:graphicFrame>
    </p:spTree>
    <p:extLst>
      <p:ext uri="{BB962C8B-B14F-4D97-AF65-F5344CB8AC3E}">
        <p14:creationId xmlns:p14="http://schemas.microsoft.com/office/powerpoint/2010/main" val="1877131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987FA-3185-42E9-B44C-1D270D88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Google Services 是主要收入来源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09E51-B48A-474E-A9E1-648B1A88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来源：Alphabet 2024 Q1 财报，第 2、8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249D5-676C-458D-87DD-445BFA6F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47AEB-08A3-45DC-9BC0-B270D250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单位：亿美元，营业损益采用 GAAP 口径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F910B-A396-48E0-90A9-372793718FEA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2333625"/>
                <a:gridCol w="2333625"/>
                <a:gridCol w="2686050"/>
              </a:tblGrid>
              <a:tr h="690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2C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业务板块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2C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 Q1 营收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2C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 Q1 营收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2C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 Q1 营业损益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Services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619.61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703.98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278.97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Cloud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74.54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95.74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Other Bets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-10.20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3456E-14F4-4653-921C-027F2B16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合并营收还包括 0.72 亿美元对冲收益。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056BC-19B4-4FB7-B772-6817401F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合并营业利润还计入 Alphabet 层面活动损失 23.05 亿美元。</a:t>
            </a:r>
          </a:p>
        </p:txBody>
      </p:sp>
    </p:spTree>
    <p:extLst>
      <p:ext uri="{BB962C8B-B14F-4D97-AF65-F5344CB8AC3E}">
        <p14:creationId xmlns:p14="http://schemas.microsoft.com/office/powerpoint/2010/main" val="405570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47BED-6ED2-4948-B3CD-A861178C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Google Services 内部收入表现有差异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741EB-5AA2-4610-A0A0-904D874B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来源：Alphabet 2024 Q1 财报，第 2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8F438-FB77-4DEF-815E-BD591C5C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15BA1-3CA7-4D18-ADA7-E67C2A4E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单位：亿美元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AFAA7-B3F2-48F6-A680-6EAD26D100A8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2581275"/>
                <a:gridCol w="2581275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2C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收入来源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2C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 Q1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2C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 Q1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搜索及其他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403.59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461.56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YouTube 广告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66.93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80.90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广告网络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74.96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订阅、平台和设备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87.39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FDFC9-3247-4964-82A2-31284289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搜索、YouTube 广告和订阅等收入上升，广告网络收入略有下降。</a:t>
            </a:r>
          </a:p>
        </p:txBody>
      </p:sp>
    </p:spTree>
    <p:extLst>
      <p:ext uri="{BB962C8B-B14F-4D97-AF65-F5344CB8AC3E}">
        <p14:creationId xmlns:p14="http://schemas.microsoft.com/office/powerpoint/2010/main" val="227126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F6DCD-E758-48E9-9CBF-5A965EAD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Google Cloud 营收与营业利润提升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B1012-AD87-4023-9565-AC9B90CF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来源：Alphabet 2024 Q1 财报，第 2、8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005E1-DC24-4A6D-9E98-C1FB676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4669A-DD74-4E66-A8EF-61C3995A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rPr>
              <a:t>营业收入（亿美元）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ADCFD-F239-4F85-B199-F4C48BF6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82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82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826A"/>
                </a:solidFill>
                <a:latin typeface="Microsoft YaHei"/>
                <a:ea typeface="Microsoft YaHei"/>
                <a:cs typeface="Microsoft YaHei"/>
              </a:rPr>
              <a:t>营业利润（亿美元）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09A7698-884F-47FC-8523-86FB4DB73EAA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048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70322dd5f44e52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AD5BCB5-FDB2-4CDD-8991-B0831A934E71}"/>
              </a:ext>
            </a:extLst>
          </p:cNvPr>
          <p:cNvGraphicFramePr/>
          <p:nvPr/>
        </p:nvGraphicFramePr>
        <p:xfrm>
          <a:off xmlns:a="http://schemas.openxmlformats.org/drawingml/2006/main" x="6572250" y="2076450"/>
          <a:ext xmlns:a="http://schemas.openxmlformats.org/drawingml/2006/main" cx="4953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e21691a762471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8692B-6103-48A8-89C2-89958C80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营业利润从 1.91 亿美元增至 9.00 亿美元。</a:t>
            </a:r>
          </a:p>
        </p:txBody>
      </p:sp>
    </p:spTree>
    <p:extLst>
      <p:ext uri="{BB962C8B-B14F-4D97-AF65-F5344CB8AC3E}">
        <p14:creationId xmlns:p14="http://schemas.microsoft.com/office/powerpoint/2010/main" val="14473841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7D25F-F693-4BE4-A2F3-904F32BF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营业利润增长需要区分财务口径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88B9C-98C3-40B3-B3BA-1B9AAE68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来源：Alphabet 2024 Q1 财报，第 3、12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C13DC-88EA-477B-B58F-58395207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FD20F-B562-48A5-BEC1-4DE061E7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单位：亿美元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26E7C-215C-49C5-AECA-93199E467B80}"/>
              </a:ext>
            </a:extLst>
          </p:cNvPr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1857375"/>
                <a:gridCol w="1857375"/>
                <a:gridCol w="1876425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2C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营业利润口径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2C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 Q1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2C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 Q1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2C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同比增长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T w="9525">
                      <a:solidFill>
                        <a:srgbClr val="D8E1EC"/>
                      </a:solidFill>
                      <a:prstDash val="solid"/>
                    </a:lnT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GAAP（会计准则口径）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174.15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254.72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 GAAP（剔除相关费用）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C"/>
                      </a:solidFill>
                      <a:prstDash val="solid"/>
                    </a:lnL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199.73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261.88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C"/>
                      </a:solidFill>
                      <a:prstDash val="solid"/>
                    </a:lnR>
                    <a:lnB w="9525">
                      <a:solidFill>
                        <a:srgbClr val="D8E1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6693D-08E2-4893-B18B-E1237F40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剔除项目为遣散相关费用及办公空间费用。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8D76C-0481-4B0C-8CB4-BF1B5B3E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2024 Q1 遣散相关费用合计 7.16 亿美元，办公空间费用为 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7757D-BE9C-46C8-85A8-C0060E6D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非 GAAP 是补充信息，不能替代 GAAP 财务结果。</a:t>
            </a:r>
          </a:p>
        </p:txBody>
      </p:sp>
    </p:spTree>
    <p:extLst>
      <p:ext uri="{BB962C8B-B14F-4D97-AF65-F5344CB8AC3E}">
        <p14:creationId xmlns:p14="http://schemas.microsoft.com/office/powerpoint/2010/main" val="965155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0FCDF-19A5-4E04-8118-683A5F60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报告营收与固定汇率营收口径不同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753C8-060E-4D33-82D7-586240BF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来源：Alphabet 2024 Q1 财报，第 1、10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F2D58-B4A4-438A-B83A-E47EA1DD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42A5F-6FBA-4EA3-8AD6-9BB49D52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0DEA3-D381-4242-B7D4-8A5988F6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报告营收同比增长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84C6B-1A8D-4A51-8AA8-138D4202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1682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682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6826A"/>
                </a:solidFill>
                <a:latin typeface="Microsoft YaHei"/>
                <a:ea typeface="Microsoft YaHei"/>
                <a:cs typeface="Microsoft YaHei"/>
              </a:rPr>
              <a:t>16%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7E081-BB66-45D4-89F9-CD88FC2B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固定汇率营收同比增长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221D4-D253-4987-ADA5-6BB7D9F3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固定汇率口径属于非 GAAP 指标。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3B9C7-895D-4B5D-B143-F3308122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它采用上年汇率，并排除对冲活动的影响，以辅助跨期比较。</a:t>
            </a:r>
          </a:p>
        </p:txBody>
      </p:sp>
    </p:spTree>
    <p:extLst>
      <p:ext uri="{BB962C8B-B14F-4D97-AF65-F5344CB8AC3E}">
        <p14:creationId xmlns:p14="http://schemas.microsoft.com/office/powerpoint/2010/main" val="187527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B73F6-E2E2-4288-925C-2EE7D7D6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首次现金分红，新增股票回购授权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81B21-5C62-405A-99AE-2A0028DA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来源：Alphabet 2024 Q1 财报，第 2、7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02AA6-4AED-42ED-A2A9-71F635EE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47183-5FE5-4191-8276-6988C0F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rPr>
              <a:t>0.20 美元／股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B0270-781B-48DF-8CFB-24D35E71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首次现金分红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3BA4A-84EE-4C7D-B064-10118C61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191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计划于 2024 年 6 月 17 日支付</a:t>
            </a:r>
          </a:p>
          <a:p xmlns:a="http://schemas.openxmlformats.org/drawingml/2006/main">
            <a: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股权登记日为 6 月 10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A6EBA-7CFF-4179-8096-267782F7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191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未来季度分红仍需董事会审议批准。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3A740-EEFE-4C56-AD8D-B83BEF1B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682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682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6826A"/>
                </a:solidFill>
                <a:latin typeface="Microsoft YaHei"/>
                <a:ea typeface="Microsoft YaHei"/>
                <a:cs typeface="Microsoft YaHei"/>
              </a:rPr>
              <a:t>最高 700 亿美元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7345E-0302-4E08-B143-3CB01FFD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新增股票回购授权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5DEAF-80AE-4B72-ADD9-EDF10A69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本季度实际股票回购现金支出</a:t>
            </a:r>
          </a:p>
          <a:p xmlns:a="http://schemas.openxmlformats.org/drawingml/2006/main">
            <a:pPr>
              <a:def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为 156.96 亿美元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55C44-CC68-4CC5-9A52-9ACCC4D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新增授权额度不等于本季度已回购金额。</a:t>
            </a:r>
          </a:p>
        </p:txBody>
      </p:sp>
    </p:spTree>
    <p:extLst>
      <p:ext uri="{BB962C8B-B14F-4D97-AF65-F5344CB8AC3E}">
        <p14:creationId xmlns:p14="http://schemas.microsoft.com/office/powerpoint/2010/main" val="6248806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4F4A5-E8AA-43EA-A46B-74B5807F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管理层强调 AI 布局与成本结构调整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BFDF2-FA91-4C68-B866-BCA8B03C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来源：Alphabet 2024 Q1 财报，第 1、2、3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0AA30-16EB-48DE-A56E-EEAB3D28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5CE49-310D-4F37-ADDA-7A869B3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rPr>
              <a:t>Sundar Pichai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3F620-0B91-4C3B-9A26-1E1050C6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管理层表示，搜索、YouTube 和 Cloud 表现强劲，</a:t>
            </a:r>
          </a:p>
          <a:p xmlns:a="http://schemas.openxmlformats.org/drawingml/2006/main">
            <a: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AI 研究、基础设施与全球产品布局支持后续创新。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CC16B-3A61-4320-8077-D5B660FA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82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82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26A"/>
                </a:solidFill>
                <a:latin typeface="Microsoft YaHei"/>
                <a:ea typeface="Microsoft YaHei"/>
                <a:cs typeface="Microsoft YaHei"/>
              </a:rPr>
              <a:t>Ruth Porat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CC532-E8A8-4F1F-BB40-0DDD5B19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管理层强调收入增长，以及持续优化成本结构的工作。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64237-06B3-45B7-85E3-6A909EFA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员工人数：190,711 人（2023 Q1）至 180,895 人（2024 Q1）</a:t>
            </a:r>
          </a:p>
        </p:txBody>
      </p:sp>
    </p:spTree>
    <p:extLst>
      <p:ext uri="{BB962C8B-B14F-4D97-AF65-F5344CB8AC3E}">
        <p14:creationId xmlns:p14="http://schemas.microsoft.com/office/powerpoint/2010/main" val="15036679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B0527-76BE-4A88-9D2E-574C7344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进一步阅读与前瞻性说明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C686F-C6A0-4128-AB6C-E8D33F46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来源：Alphabet 2024 Q1 财报，第 3、4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FBC94-E4C1-40B1-93CA-B32A46E8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793CA-011A-46F4-8BF9-51A17C66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62C6"/>
                </a:solidFill>
                <a:latin typeface="Microsoft YaHei"/>
                <a:ea typeface="Microsoft YaHei"/>
                <a:cs typeface="Microsoft YaHei"/>
              </a:rPr>
              <a:t>投资者关系网站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4F197-B6F2-4911-A7EA-9DA3B4BF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abc.xyz/investor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FB6B6-5632-4366-8E6C-A6CFFA47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财报发布材料、电话会与监管申报文件可在官网查阅。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241D7-3416-4424-AC67-5DEB3EF1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本材料截至 2024 年 4 月 25 日。前瞻性陈述存在风险与</a:t>
            </a:r>
          </a:p>
          <a:p xmlns:a="http://schemas.openxmlformats.org/drawingml/2006/main">
            <a:pPr>
              <a:def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435"/>
                </a:solidFill>
                <a:latin typeface="Microsoft YaHei"/>
                <a:ea typeface="Microsoft YaHei"/>
                <a:cs typeface="Microsoft YaHei"/>
              </a:rPr>
              <a:t>不确定性，实际结果可能不同，已报告业绩不代表未来表现。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E763A-6DAB-4B75-8009-DAD287CC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779"/>
                </a:solidFill>
                <a:latin typeface="Microsoft YaHei"/>
                <a:ea typeface="Microsoft YaHei"/>
                <a:cs typeface="Microsoft YaHei"/>
              </a:rPr>
              <a:t>投资者联系：investor-relations@abc.xyz</a:t>
            </a:r>
          </a:p>
        </p:txBody>
      </p:sp>
    </p:spTree>
    <p:extLst>
      <p:ext uri="{BB962C8B-B14F-4D97-AF65-F5344CB8AC3E}">
        <p14:creationId xmlns:p14="http://schemas.microsoft.com/office/powerpoint/2010/main" val="1258719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2026-10-14T08:42:37.0440000Z</dcterms:created>
  <dcterms:modified xsi:type="dcterms:W3CDTF">2026-10-14T08:42:37.0440000Z</dcterms:modified>
</coreProperties>
</file>