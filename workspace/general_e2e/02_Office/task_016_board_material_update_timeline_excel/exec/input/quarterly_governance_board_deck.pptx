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6493239759437b" /><Relationship Type="http://schemas.openxmlformats.org/officeDocument/2006/relationships/extended-properties" Target="/docProps/app.xml" Id="Rf06e1e0687864418" /><Relationship Type="http://schemas.openxmlformats.org/officeDocument/2006/relationships/officeDocument" Target="/ppt/presentation.xml" Id="Rdba0c75d0c464b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03828844ee4a50"/>
  </p:sldMasterIdLst>
  <p:notesMasterIdLst>
    <p:notesMasterId xmlns:r="http://schemas.openxmlformats.org/officeDocument/2006/relationships" r:id="R70a22089cf6f45e3"/>
  </p:notesMasterIdLst>
  <p:sldIdLst>
    <p:sldId xmlns:r="http://schemas.openxmlformats.org/officeDocument/2006/relationships" id="256" r:id="R857545c75e8d4977"/>
    <p:sldId xmlns:r="http://schemas.openxmlformats.org/officeDocument/2006/relationships" id="257" r:id="R622a393c20024426"/>
    <p:sldId xmlns:r="http://schemas.openxmlformats.org/officeDocument/2006/relationships" id="258" r:id="R556e38a147114e7f"/>
    <p:sldId xmlns:r="http://schemas.openxmlformats.org/officeDocument/2006/relationships" id="259" r:id="R6557fe3302424554"/>
    <p:sldId xmlns:r="http://schemas.openxmlformats.org/officeDocument/2006/relationships" id="260" r:id="R62691d17be3f4ce9"/>
    <p:sldId xmlns:r="http://schemas.openxmlformats.org/officeDocument/2006/relationships" id="261" r:id="R2dc15c2ebfab462e"/>
    <p:sldId xmlns:r="http://schemas.openxmlformats.org/officeDocument/2006/relationships" id="262" r:id="Re4d0310abbfb411d"/>
    <p:sldId xmlns:r="http://schemas.openxmlformats.org/officeDocument/2006/relationships" id="263" r:id="R0838dd9200684a93"/>
    <p:sldId xmlns:r="http://schemas.openxmlformats.org/officeDocument/2006/relationships" id="264" r:id="R0b33ced3664b47e0"/>
    <p:sldId xmlns:r="http://schemas.openxmlformats.org/officeDocument/2006/relationships" id="265" r:id="R377ae97683664fed"/>
    <p:sldId xmlns:r="http://schemas.openxmlformats.org/officeDocument/2006/relationships" id="266" r:id="R894740e6feab40c7"/>
  </p:sldIdLst>
  <p:sldSz cx="12192000" cy="6858000"/>
  <p:notesSz cx="6858000" cy="9144000"/>
  <p:defaultTextStyle>
    <a:defPPr xmlns:a="http://schemas.openxmlformats.org/drawingml/2006/main">
      <a:buNone/>
    </a:def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2c47999e214fd4" /><Relationship Type="http://schemas.openxmlformats.org/officeDocument/2006/relationships/slideMaster" Target="/ppt/slideMasters/slideMaster1.xml" Id="R6303828844ee4a50" /><Relationship Type="http://schemas.openxmlformats.org/officeDocument/2006/relationships/notesMaster" Target="/ppt/notesMasters/notesMaster1.xml" Id="R70a22089cf6f45e3" /><Relationship Type="http://schemas.openxmlformats.org/officeDocument/2006/relationships/presProps" Target="/ppt/presProps.xml" Id="R22c8251a8e2a49cc" /><Relationship Type="http://schemas.openxmlformats.org/officeDocument/2006/relationships/tableStyles" Target="/ppt/tableStyles.xml" Id="Rcceeb80315c44b45" /><Relationship Type="http://schemas.openxmlformats.org/officeDocument/2006/relationships/slide" Target="/ppt/slides/slide1.xml" Id="R857545c75e8d4977" /><Relationship Type="http://schemas.openxmlformats.org/officeDocument/2006/relationships/slide" Target="/ppt/slides/slide2.xml" Id="R622a393c20024426" /><Relationship Type="http://schemas.openxmlformats.org/officeDocument/2006/relationships/slide" Target="/ppt/slides/slide3.xml" Id="R556e38a147114e7f" /><Relationship Type="http://schemas.openxmlformats.org/officeDocument/2006/relationships/slide" Target="/ppt/slides/slide4.xml" Id="R6557fe3302424554" /><Relationship Type="http://schemas.openxmlformats.org/officeDocument/2006/relationships/slide" Target="/ppt/slides/slide5.xml" Id="R62691d17be3f4ce9" /><Relationship Type="http://schemas.openxmlformats.org/officeDocument/2006/relationships/slide" Target="/ppt/slides/slide6.xml" Id="R2dc15c2ebfab462e" /><Relationship Type="http://schemas.openxmlformats.org/officeDocument/2006/relationships/slide" Target="/ppt/slides/slide7.xml" Id="Re4d0310abbfb411d" /><Relationship Type="http://schemas.openxmlformats.org/officeDocument/2006/relationships/slide" Target="/ppt/slides/slide8.xml" Id="R0838dd9200684a93" /><Relationship Type="http://schemas.openxmlformats.org/officeDocument/2006/relationships/slide" Target="/ppt/slides/slide9.xml" Id="R0b33ced3664b47e0" /><Relationship Type="http://schemas.openxmlformats.org/officeDocument/2006/relationships/slide" Target="/ppt/slides/slide10.xml" Id="R377ae97683664fed" /><Relationship Type="http://schemas.openxmlformats.org/officeDocument/2006/relationships/slide" Target="/ppt/slides/slide11.xml" Id="R894740e6feab40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79e85dd4c644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Governance Green">
  <a:themeElements>
    <a:clrScheme name="GovernanceGreen">
      <a:dk1>
        <a:srgbClr val="253047"/>
      </a:dk1>
      <a:lt1>
        <a:srgbClr val="FFFFFF"/>
      </a:lt1>
      <a:dk2>
        <a:srgbClr val="1D4E3A"/>
      </a:dk2>
      <a:lt2>
        <a:srgbClr val="F7F9FB"/>
      </a:lt2>
      <a:accent1>
        <a:srgbClr val="2F6B57"/>
      </a:accent1>
      <a:accent2>
        <a:srgbClr val="86B79A"/>
      </a:accent2>
      <a:accent3>
        <a:srgbClr val="F2C56B"/>
      </a:accent3>
      <a:accent4>
        <a:srgbClr val="7E9BB7"/>
      </a:accent4>
      <a:accent5>
        <a:srgbClr val="B67D7D"/>
      </a:accent5>
      <a:accent6>
        <a:srgbClr val="8A8F98"/>
      </a:accent6>
      <a:hlink>
        <a:srgbClr val="2F6B57"/>
      </a:hlink>
      <a:folHlink>
        <a:srgbClr val="7E9BB7"/>
      </a:folHlink>
    </a:clrScheme>
    <a:fontScheme name="Offic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GovernanceGreen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254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60b97657e8422f" /><Relationship Type="http://schemas.openxmlformats.org/officeDocument/2006/relationships/notesMaster" Target="/ppt/notesMasters/notesMaster1.xml" Id="Rf769651e09ad4f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a0e1ae18be4bad" /><Relationship Type="http://schemas.openxmlformats.org/officeDocument/2006/relationships/notesMaster" Target="/ppt/notesMasters/notesMaster1.xml" Id="Rd07db5ac96834f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1aa72e87814615" /><Relationship Type="http://schemas.openxmlformats.org/officeDocument/2006/relationships/notesMaster" Target="/ppt/notesMasters/notesMaster1.xml" Id="R2f25814c856c47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715470482c4af7" /><Relationship Type="http://schemas.openxmlformats.org/officeDocument/2006/relationships/notesMaster" Target="/ppt/notesMasters/notesMaster1.xml" Id="R8b62daf7a0054c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9c388cf8134564" /><Relationship Type="http://schemas.openxmlformats.org/officeDocument/2006/relationships/notesMaster" Target="/ppt/notesMasters/notesMaster1.xml" Id="Rb1481dd2319e48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1754d5a6f94397" /><Relationship Type="http://schemas.openxmlformats.org/officeDocument/2006/relationships/notesMaster" Target="/ppt/notesMasters/notesMaster1.xml" Id="Ra1e780c9265141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a5de1a5fab436a" /><Relationship Type="http://schemas.openxmlformats.org/officeDocument/2006/relationships/notesMaster" Target="/ppt/notesMasters/notesMaster1.xml" Id="R1b258c58875d4d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e30be324234a3c" /><Relationship Type="http://schemas.openxmlformats.org/officeDocument/2006/relationships/notesMaster" Target="/ppt/notesMasters/notesMaster1.xml" Id="Rd988ff28be144a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f9a74388ec4f33" /><Relationship Type="http://schemas.openxmlformats.org/officeDocument/2006/relationships/notesMaster" Target="/ppt/notesMasters/notesMaster1.xml" Id="R8d7f528e312942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210be416464440" /><Relationship Type="http://schemas.openxmlformats.org/officeDocument/2006/relationships/notesMaster" Target="/ppt/notesMasters/notesMaster1.xml" Id="R543ae82c07314a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cb6ea982714e36" /><Relationship Type="http://schemas.openxmlformats.org/officeDocument/2006/relationships/notesMaster" Target="/ppt/notesMasters/notesMaster1.xml" Id="R2026ec50d6e942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bb025822324ad9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557c15ef784b89" /><Relationship Type="http://schemas.openxmlformats.org/officeDocument/2006/relationships/slideLayout" Target="/ppt/slideLayouts/slideLayout1.xml" Id="Rde60be4460b947d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60be4460b947d9"/>
  </p:sldLayoutIdLst>
</p:sldMaster>
</file>

<file path=ppt/slideMasters/theme/theme2.xml><?xml version="1.0" encoding="utf-8"?>
<a:theme xmlns:a="http://schemas.openxmlformats.org/drawingml/2006/main" name="Governance Green">
  <a:themeElements>
    <a:clrScheme name="GovernanceGreen">
      <a:dk1>
        <a:srgbClr val="253047"/>
      </a:dk1>
      <a:lt1>
        <a:srgbClr val="FFFFFF"/>
      </a:lt1>
      <a:dk2>
        <a:srgbClr val="1D4E3A"/>
      </a:dk2>
      <a:lt2>
        <a:srgbClr val="F7F9FB"/>
      </a:lt2>
      <a:accent1>
        <a:srgbClr val="2F6B57"/>
      </a:accent1>
      <a:accent2>
        <a:srgbClr val="86B79A"/>
      </a:accent2>
      <a:accent3>
        <a:srgbClr val="F2C56B"/>
      </a:accent3>
      <a:accent4>
        <a:srgbClr val="7E9BB7"/>
      </a:accent4>
      <a:accent5>
        <a:srgbClr val="B67D7D"/>
      </a:accent5>
      <a:accent6>
        <a:srgbClr val="8A8F98"/>
      </a:accent6>
      <a:hlink>
        <a:srgbClr val="2F6B57"/>
      </a:hlink>
      <a:folHlink>
        <a:srgbClr val="7E9BB7"/>
      </a:folHlink>
    </a:clrScheme>
    <a:fontScheme name="Offic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GovernanceGreen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254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65d85e8564655" /><Relationship Type="http://schemas.openxmlformats.org/officeDocument/2006/relationships/notesSlide" Target="/ppt/notesSlides/notesSlide1.xml" Id="Re598d761c03449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037b0ea0a4eb5" /><Relationship Type="http://schemas.openxmlformats.org/officeDocument/2006/relationships/notesSlide" Target="/ppt/notesSlides/notesSlide2.xml" Id="R8586052001b841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cd34085974fa2" /><Relationship Type="http://schemas.openxmlformats.org/officeDocument/2006/relationships/notesSlide" Target="/ppt/notesSlides/notesSlide3.xml" Id="Raa6a953eae9749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f19b7644b46ce" /><Relationship Type="http://schemas.openxmlformats.org/officeDocument/2006/relationships/notesSlide" Target="/ppt/notesSlides/notesSlide4.xml" Id="R9b286598efe842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bcbdd9a52415c" /><Relationship Type="http://schemas.openxmlformats.org/officeDocument/2006/relationships/notesSlide" Target="/ppt/notesSlides/notesSlide5.xml" Id="R5b3aee82fd354e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bc3531fb340b1" /><Relationship Type="http://schemas.openxmlformats.org/officeDocument/2006/relationships/notesSlide" Target="/ppt/notesSlides/notesSlide6.xml" Id="Re9bf241fc47e45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97e61236b4c20" /><Relationship Type="http://schemas.openxmlformats.org/officeDocument/2006/relationships/notesSlide" Target="/ppt/notesSlides/notesSlide7.xml" Id="Radf17c3e766a42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cf396a6984e25" /><Relationship Type="http://schemas.openxmlformats.org/officeDocument/2006/relationships/notesSlide" Target="/ppt/notesSlides/notesSlide8.xml" Id="Ra6f124eb2a324a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3c9fb484b4132" /><Relationship Type="http://schemas.openxmlformats.org/officeDocument/2006/relationships/notesSlide" Target="/ppt/notesSlides/notesSlide9.xml" Id="R0a04a9d0e9d44a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76176d5fd420b" /><Relationship Type="http://schemas.openxmlformats.org/officeDocument/2006/relationships/notesSlide" Target="/ppt/notesSlides/notesSlide10.xml" Id="R4c0b6f716c7c4a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ed61b1bec4fd6" /><Relationship Type="http://schemas.openxmlformats.org/officeDocument/2006/relationships/notesSlide" Target="/ppt/notesSlides/notesSlide11.xml" Id="R9a1d4f92f38c43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Object_1"/>
        <p:cNvGrpSpPr/>
        <p:nvPr/>
      </p:nvGrpSpPr>
      <p:grpSpPr>
        <a:xfrm xmlns:a="http://schemas.openxmlformats.org/drawingml/2006/main"/>
      </p:grpSpPr>
      <p:sp>
        <p:nvSpPr>
          <p:cNvPr id="2" name="Object_2">
            <a:extLst xmlns:a="http://schemas.openxmlformats.org/drawingml/2006/main">
              <a:ext uri="{FF2B5EF4-FFF2-40B4-BE49-F238E27FC236}">
                <a16:creationId xmlns:a16="http://schemas.microsoft.com/office/drawing/2014/main" id="{5D0D0E2D-F855-4394-AC26-EA2D0DF5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1078992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3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rPr>
              <a:t>春晖公益协同计划｜季度治理会材料</a:t>
            </a:r>
            <a:endParaRPr sz="3300"/>
          </a:p>
        </p:txBody>
      </p:sp>
      <p:sp>
        <p:nvSpPr>
          <p:cNvPr id="3" name="Object_3">
            <a:extLst xmlns:a="http://schemas.openxmlformats.org/drawingml/2006/main">
              <a:ext uri="{FF2B5EF4-FFF2-40B4-BE49-F238E27FC236}">
                <a16:creationId xmlns:a16="http://schemas.microsoft.com/office/drawing/2014/main" id="{6E8630E0-92D1-4D1F-B07C-67671CEB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795528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6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2026 Q2 工作稿：里程碑、风险与决策项</a:t>
            </a:r>
            <a:endParaRPr sz="1650"/>
          </a:p>
        </p:txBody>
      </p:sp>
      <p:sp>
        <p:nvSpPr>
          <p:cNvPr id="4" name="Object_4">
            <a:extLst xmlns:a="http://schemas.openxmlformats.org/drawingml/2006/main">
              <a:ext uri="{FF2B5EF4-FFF2-40B4-BE49-F238E27FC236}">
                <a16:creationId xmlns:a16="http://schemas.microsoft.com/office/drawing/2014/main" id="{D606F7D3-7FCD-4EDD-B8D9-1BCDE92F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423160"/>
            <a:ext cx="39319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C"/>
          </a:solidFill>
          <a:ln xmlns:a="http://schemas.openxmlformats.org/drawingml/2006/main" w="9525">
            <a:solidFill>
              <a:srgbClr val="B7D7C5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350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rPr>
              <a:t>治理包：v1.7 草稿</a:t>
            </a:r>
            <a:endParaRPr sz="1350"/>
          </a:p>
          <a:p xmlns:a="http://schemas.openxmlformats.org/drawingml/2006/main">
            <a:pPr>
              <a:buNone/>
              <a:defRPr sz="1350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rPr>
              <a:t>资料口径：2026-06-12</a:t>
            </a:r>
            <a:endParaRPr sz="1350"/>
          </a:p>
        </p:txBody>
      </p:sp>
      <p:sp>
        <p:nvSpPr>
          <p:cNvPr id="5" name="Object_5">
            <a:extLst xmlns:a="http://schemas.openxmlformats.org/drawingml/2006/main">
              <a:ext uri="{FF2B5EF4-FFF2-40B4-BE49-F238E27FC236}">
                <a16:creationId xmlns:a16="http://schemas.microsoft.com/office/drawing/2014/main" id="{3CFE5C1C-3691-4C47-89E4-932EACB3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423160"/>
            <a:ext cx="548640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3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项目办公室</a:t>
            </a:r>
            <a:endParaRPr sz="1350"/>
          </a:p>
          <a:p xmlns:a="http://schemas.openxmlformats.org/drawingml/2006/main">
            <a:pPr>
              <a:buNone/>
              <a:defRPr sz="13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春晖公益协同计划（模拟项目资料）</a:t>
            </a:r>
            <a:endParaRPr sz="1350"/>
          </a:p>
        </p:txBody>
      </p:sp>
      <p:sp>
        <p:nvSpPr>
          <p:cNvPr id="6" name="Object_6">
            <a:extLst xmlns:a="http://schemas.openxmlformats.org/drawingml/2006/main">
              <a:ext uri="{FF2B5EF4-FFF2-40B4-BE49-F238E27FC236}">
                <a16:creationId xmlns:a16="http://schemas.microsoft.com/office/drawing/2014/main" id="{3D19A9E2-7723-4089-89FD-3C260C12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50292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5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Object_7">
            <a:extLst xmlns:a="http://schemas.openxmlformats.org/drawingml/2006/main">
              <a:ext uri="{FF2B5EF4-FFF2-40B4-BE49-F238E27FC236}">
                <a16:creationId xmlns:a16="http://schemas.microsoft.com/office/drawing/2014/main" id="{14B3B813-0B2C-4704-B320-826D46C4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80467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B79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01" name="Object_8">
            <a:extLst xmlns:a="http://schemas.openxmlformats.org/drawingml/2006/main">
              <a:ext uri="{FF2B5EF4-FFF2-40B4-BE49-F238E27FC236}">
                <a16:creationId xmlns:a16="http://schemas.microsoft.com/office/drawing/2014/main" id="{895940DB-6C7D-40C4-937F-4A9EC979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3842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春晖公益协同计划｜治理会材料 v1.7 草稿｜资料口径：2026-06-12｜封面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53979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Object_1"/>
        <p:cNvGrpSpPr/>
        <p:nvPr/>
      </p:nvGrpSpPr>
      <p:grpSpPr>
        <a:xfrm xmlns:a="http://schemas.openxmlformats.org/drawingml/2006/main"/>
      </p:grpSpPr>
      <p:sp>
        <p:nvSpPr>
          <p:cNvPr id="2" name="Object_2">
            <a:extLst xmlns:a="http://schemas.openxmlformats.org/drawingml/2006/main">
              <a:ext uri="{FF2B5EF4-FFF2-40B4-BE49-F238E27FC236}">
                <a16:creationId xmlns:a16="http://schemas.microsoft.com/office/drawing/2014/main" id="{E77F878D-6462-4C05-966A-1181CDA2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148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5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rPr>
              <a:t>会议材料目录</a:t>
            </a:r>
            <a:endParaRPr sz="2450"/>
          </a:p>
        </p:txBody>
      </p:sp>
      <p:sp>
        <p:nvSpPr>
          <p:cNvPr id="3" name="Object_3">
            <a:extLst xmlns:a="http://schemas.openxmlformats.org/drawingml/2006/main">
              <a:ext uri="{FF2B5EF4-FFF2-40B4-BE49-F238E27FC236}">
                <a16:creationId xmlns:a16="http://schemas.microsoft.com/office/drawing/2014/main" id="{2B4109FF-0588-4AC0-8023-6C74FB2D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143000"/>
            <a:ext cx="475488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5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01 总览与关键变动</a:t>
            </a:r>
            <a:endParaRPr sz="1500"/>
          </a:p>
          <a:p xmlns:a="http://schemas.openxmlformats.org/drawingml/2006/main">
            <a:pPr>
              <a:buNone/>
              <a:defRPr sz="15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02 Q2-Q3 实施时间线</a:t>
            </a:r>
            <a:endParaRPr sz="1500"/>
          </a:p>
          <a:p xmlns:a="http://schemas.openxmlformats.org/drawingml/2006/main">
            <a:pPr>
              <a:buNone/>
              <a:defRPr sz="15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03 工作流进度</a:t>
            </a:r>
            <a:endParaRPr sz="1500"/>
          </a:p>
          <a:p xmlns:a="http://schemas.openxmlformats.org/drawingml/2006/main">
            <a:pPr>
              <a:buNone/>
              <a:defRPr sz="15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04 治理会决策与风险跟踪</a:t>
            </a:r>
            <a:endParaRPr sz="1500"/>
          </a:p>
          <a:p xmlns:a="http://schemas.openxmlformats.org/drawingml/2006/main">
            <a:pPr>
              <a:buNone/>
              <a:defRPr sz="15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05 附录、历史归档与模板页</a:t>
            </a:r>
            <a:endParaRPr sz="1500"/>
          </a:p>
        </p:txBody>
      </p:sp>
      <p:sp>
        <p:nvSpPr>
          <p:cNvPr id="4" name="Object_4">
            <a:extLst xmlns:a="http://schemas.openxmlformats.org/drawingml/2006/main">
              <a:ext uri="{FF2B5EF4-FFF2-40B4-BE49-F238E27FC236}">
                <a16:creationId xmlns:a16="http://schemas.microsoft.com/office/drawing/2014/main" id="{3E8AEA95-3104-45F7-9B90-DC757277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143000"/>
            <a:ext cx="52120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2C56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450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450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50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rPr>
              <a:t>会议议题</a:t>
            </a:r>
            <a:endParaRPr sz="1450"/>
          </a:p>
          <a:p xmlns:a="http://schemas.openxmlformats.org/drawingml/2006/main">
            <a:pPr>
              <a:buNone/>
              <a:defRPr sz="1450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50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rPr>
              <a:t>社区站点协作、服务包准备、采购决策与风险跟踪。</a:t>
            </a:r>
            <a:endParaRPr sz="1450"/>
          </a:p>
        </p:txBody>
      </p:sp>
      <p:sp>
        <p:nvSpPr>
          <p:cNvPr id="5" name="Object_5">
            <a:extLst xmlns:a="http://schemas.openxmlformats.org/drawingml/2006/main">
              <a:ext uri="{FF2B5EF4-FFF2-40B4-BE49-F238E27FC236}">
                <a16:creationId xmlns:a16="http://schemas.microsoft.com/office/drawing/2014/main" id="{FC194168-BAE7-45EB-85E4-5F95294B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514600"/>
            <a:ext cx="521208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4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4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材料归档</a:t>
            </a:r>
            <a:endParaRPr sz="1450"/>
          </a:p>
          <a:p xmlns:a="http://schemas.openxmlformats.org/drawingml/2006/main">
            <a:pPr>
              <a:buNone/>
              <a:defRPr sz="14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本期工作材料、2025 年协作回顾、内部版式样例。</a:t>
            </a:r>
            <a:endParaRPr sz="1450"/>
          </a:p>
        </p:txBody>
      </p:sp>
      <p:sp>
        <p:nvSpPr>
          <p:cNvPr id="902" name="Object_6">
            <a:extLst xmlns:a="http://schemas.openxmlformats.org/drawingml/2006/main">
              <a:ext uri="{FF2B5EF4-FFF2-40B4-BE49-F238E27FC236}">
                <a16:creationId xmlns:a16="http://schemas.microsoft.com/office/drawing/2014/main" id="{84DAFB56-FEEC-48B1-8BF2-EE5C4024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3842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春晖公益协同计划｜治理会材料 v1.7 草稿｜资料口径：2026-06-12｜目录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9388785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Object_1"/>
        <p:cNvGrpSpPr/>
        <p:nvPr/>
      </p:nvGrpSpPr>
      <p:grpSpPr>
        <a:xfrm xmlns:a="http://schemas.openxmlformats.org/drawingml/2006/main"/>
      </p:grpSpPr>
      <p:sp>
        <p:nvSpPr>
          <p:cNvPr id="2" name="Object_2">
            <a:extLst xmlns:a="http://schemas.openxmlformats.org/drawingml/2006/main">
              <a:ext uri="{FF2B5EF4-FFF2-40B4-BE49-F238E27FC236}">
                <a16:creationId xmlns:a16="http://schemas.microsoft.com/office/drawing/2014/main" id="{055291E0-206A-47DF-8D5E-13F6ECEF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5760"/>
            <a:ext cx="96012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2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rPr>
              <a:t>一页总览｜6 月治理包工作状态</a:t>
            </a:r>
            <a:endParaRPr sz="2200"/>
          </a:p>
        </p:txBody>
      </p:sp>
      <p:sp>
        <p:nvSpPr>
          <p:cNvPr id="3" name="Object_3">
            <a:extLst xmlns:a="http://schemas.openxmlformats.org/drawingml/2006/main">
              <a:ext uri="{FF2B5EF4-FFF2-40B4-BE49-F238E27FC236}">
                <a16:creationId xmlns:a16="http://schemas.microsoft.com/office/drawing/2014/main" id="{45741460-D6C6-4288-87F3-F7F5A7FA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960120"/>
            <a:ext cx="224028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CC7"/>
          </a:solidFill>
          <a:ln xmlns:a="http://schemas.openxmlformats.org/drawingml/2006/main" w="9525">
            <a:solidFill>
              <a:srgbClr val="E7B85D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300" b="1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00" b="1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rPr>
              <a:t>整体状态</a:t>
            </a:r>
            <a:endParaRPr sz="1300"/>
          </a:p>
          <a:p xmlns:a="http://schemas.openxmlformats.org/drawingml/2006/main">
            <a:pPr>
              <a:buNone/>
              <a:defRPr sz="1300" b="1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rPr>
              <a:t>黄色关注</a:t>
            </a:r>
            <a:endParaRPr sz="1300"/>
          </a:p>
        </p:txBody>
      </p:sp>
      <p:sp>
        <p:nvSpPr>
          <p:cNvPr id="4" name="Object_4">
            <a:extLst xmlns:a="http://schemas.openxmlformats.org/drawingml/2006/main">
              <a:ext uri="{FF2B5EF4-FFF2-40B4-BE49-F238E27FC236}">
                <a16:creationId xmlns:a16="http://schemas.microsoft.com/office/drawing/2014/main" id="{E5D2B24C-F332-4DAD-A793-5C6C3A9C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960120"/>
            <a:ext cx="251460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关键节点</a:t>
            </a:r>
            <a:endParaRPr sz="1300"/>
          </a:p>
          <a:p xmlns:a="http://schemas.openxmlformats.org/drawingml/2006/main">
            <a:pPr>
              <a:buNone/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合作点确认：仍待签</a:t>
            </a:r>
            <a:endParaRPr sz="1300"/>
          </a:p>
        </p:txBody>
      </p:sp>
      <p:sp>
        <p:nvSpPr>
          <p:cNvPr id="5" name="Object_5">
            <a:extLst xmlns:a="http://schemas.openxmlformats.org/drawingml/2006/main">
              <a:ext uri="{FF2B5EF4-FFF2-40B4-BE49-F238E27FC236}">
                <a16:creationId xmlns:a16="http://schemas.microsoft.com/office/drawing/2014/main" id="{34728387-E153-43A1-A0A5-A0C4ECFD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960120"/>
            <a:ext cx="251460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数据回收</a:t>
            </a:r>
            <a:endParaRPr sz="1300"/>
          </a:p>
          <a:p xmlns:a="http://schemas.openxmlformats.org/drawingml/2006/main">
            <a:pPr>
              <a:buNone/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口径草案待抽样</a:t>
            </a:r>
            <a:endParaRPr sz="1300"/>
          </a:p>
        </p:txBody>
      </p:sp>
      <p:sp>
        <p:nvSpPr>
          <p:cNvPr id="6" name="Object_6">
            <a:extLst xmlns:a="http://schemas.openxmlformats.org/drawingml/2006/main">
              <a:ext uri="{FF2B5EF4-FFF2-40B4-BE49-F238E27FC236}">
                <a16:creationId xmlns:a16="http://schemas.microsoft.com/office/drawing/2014/main" id="{CEA36376-95F2-4F51-8781-D04799D5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960120"/>
            <a:ext cx="251460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治理会决策</a:t>
            </a:r>
            <a:endParaRPr sz="1300"/>
          </a:p>
          <a:p xmlns:a="http://schemas.openxmlformats.org/drawingml/2006/main">
            <a:pPr>
              <a:buNone/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服务包采购待确认</a:t>
            </a:r>
            <a:endParaRPr sz="1300"/>
          </a:p>
        </p:txBody>
      </p:sp>
      <p:graphicFrame>
        <p:nvGraphicFramePr>
          <p:cNvPr id="7" name="Object_7">
            <a:extLst xmlns:a="http://schemas.openxmlformats.org/drawingml/2006/main">
              <a:ext uri="{FF2B5EF4-FFF2-40B4-BE49-F238E27FC236}">
                <a16:creationId xmlns:a16="http://schemas.microsoft.com/office/drawing/2014/main" id="{6A711E31-95F8-46BE-9890-54BD3E108CFB}"/>
              </a:ext>
            </a:extLst>
          </p:cNvPr>
          <p:cNvGraphicFramePr/>
          <p:nvPr/>
        </p:nvGraphicFramePr>
        <p:xfrm>
          <a:off xmlns:a="http://schemas.openxmlformats.org/drawingml/2006/main" x="594360" y="1874520"/>
          <a:ext xmlns:a="http://schemas.openxmlformats.org/drawingml/2006/main" cx="10652760" cy="26060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377440"/>
                <a:gridCol w="1920240"/>
                <a:gridCol w="3337560"/>
              </a:tblGrid>
              <a:tr h="372291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</a:tr>
              <a:tr h="372291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晨光中心合作点确认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待签署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6/20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拓展组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</a:tr>
              <a:tr h="372291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服务包数据回收口径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草案待抽样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6/26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数据治理组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抽样复核包冻结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样本口径待冻结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7/04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数据复核小组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</a:tr>
              <a:tr h="372291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志愿者培训排期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待排期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7月上旬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能力建设组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风险降级条件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未形成审定口径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7/12前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财务协同组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</a:tr>
              <a:tr h="372291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成本测算与风险口径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橙色风险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8月待定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财务协同组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Object_8">
            <a:extLst xmlns:a="http://schemas.openxmlformats.org/drawingml/2006/main">
              <a:ext uri="{FF2B5EF4-FFF2-40B4-BE49-F238E27FC236}">
                <a16:creationId xmlns:a16="http://schemas.microsoft.com/office/drawing/2014/main" id="{53D4A0ED-4685-40EA-AE45-AF9C2ECD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480560"/>
            <a:ext cx="106527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1"/>
          </a:solidFill>
          <a:ln xmlns:a="http://schemas.openxmlformats.org/drawingml/2006/main" w="9525">
            <a:solidFill>
              <a:srgbClr val="C9D8D0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250">
                <a:solidFill>
                  <a:srgbClr val="355B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50">
                <a:solidFill>
                  <a:srgbClr val="355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>
                <a:solidFill>
                  <a:srgbClr val="355B45"/>
                </a:solidFill>
                <a:latin typeface="Microsoft YaHei"/>
                <a:ea typeface="Microsoft YaHei"/>
                <a:cs typeface="Microsoft YaHei"/>
              </a:rPr>
              <a:t>项目办公室</a:t>
            </a:r>
            <a:endParaRPr sz="1250"/>
          </a:p>
          <a:p xmlns:a="http://schemas.openxmlformats.org/drawingml/2006/main">
            <a:pPr>
              <a:buNone/>
              <a:defRPr sz="1250">
                <a:solidFill>
                  <a:srgbClr val="355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>
                <a:solidFill>
                  <a:srgbClr val="355B45"/>
                </a:solidFill>
                <a:latin typeface="Microsoft YaHei"/>
                <a:ea typeface="Microsoft YaHei"/>
                <a:cs typeface="Microsoft YaHei"/>
              </a:rPr>
              <a:t>本期工作涵盖站点协作、数据治理与志愿者能力建设。</a:t>
            </a:r>
            <a:endParaRPr sz="1250"/>
          </a:p>
        </p:txBody>
      </p:sp>
      <p:sp>
        <p:nvSpPr>
          <p:cNvPr id="903" name="Object_9">
            <a:extLst xmlns:a="http://schemas.openxmlformats.org/drawingml/2006/main">
              <a:ext uri="{FF2B5EF4-FFF2-40B4-BE49-F238E27FC236}">
                <a16:creationId xmlns:a16="http://schemas.microsoft.com/office/drawing/2014/main" id="{76FD2408-CA88-40A3-9330-92A7B81E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3842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春晖公益协同计划｜治理会材料 v1.7 草稿｜资料口径：2026-06-12｜总览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9896103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Object_1"/>
        <p:cNvGrpSpPr/>
        <p:nvPr/>
      </p:nvGrpSpPr>
      <p:grpSpPr>
        <a:xfrm xmlns:a="http://schemas.openxmlformats.org/drawingml/2006/main"/>
      </p:grpSpPr>
      <p:sp>
        <p:nvSpPr>
          <p:cNvPr id="2" name="Object_2">
            <a:extLst xmlns:a="http://schemas.openxmlformats.org/drawingml/2006/main">
              <a:ext uri="{FF2B5EF4-FFF2-40B4-BE49-F238E27FC236}">
                <a16:creationId xmlns:a16="http://schemas.microsoft.com/office/drawing/2014/main" id="{92817162-91A5-44F8-8C03-00E7423A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96012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2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rPr>
              <a:t>实施时间线｜Q2-Q3 关键节点</a:t>
            </a:r>
            <a:endParaRPr sz="2200"/>
          </a:p>
        </p:txBody>
      </p:sp>
      <p:sp>
        <p:nvSpPr>
          <p:cNvPr id="3" name="Object_3">
            <a:extLst xmlns:a="http://schemas.openxmlformats.org/drawingml/2006/main">
              <a:ext uri="{FF2B5EF4-FFF2-40B4-BE49-F238E27FC236}">
                <a16:creationId xmlns:a16="http://schemas.microsoft.com/office/drawing/2014/main" id="{966EC7F4-5049-4185-9F5B-4E273C19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21408"/>
            <a:ext cx="987552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9B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Object_4">
            <a:extLst xmlns:a="http://schemas.openxmlformats.org/drawingml/2006/main">
              <a:ext uri="{FF2B5EF4-FFF2-40B4-BE49-F238E27FC236}">
                <a16:creationId xmlns:a16="http://schemas.microsoft.com/office/drawing/2014/main" id="{E3A2F4D9-BD9E-4F4C-A5DF-DC8AEA5F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7452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57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Object_5">
            <a:extLst xmlns:a="http://schemas.openxmlformats.org/drawingml/2006/main">
              <a:ext uri="{FF2B5EF4-FFF2-40B4-BE49-F238E27FC236}">
                <a16:creationId xmlns:a16="http://schemas.microsoft.com/office/drawing/2014/main" id="{49148486-E3C0-4B3A-9C09-3613225E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3160"/>
            <a:ext cx="155448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合作点确认</a:t>
            </a:r>
            <a:endParaRPr sz="1050"/>
          </a:p>
          <a:p xmlns:a="http://schemas.openxmlformats.org/drawingml/2006/main">
            <a:pPr algn="ctr">
              <a:buNone/>
            </a:pPr>
            <a:r>
              <a: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6/20 待确认</a:t>
            </a:r>
            <a:endParaRPr sz="1050"/>
          </a:p>
        </p:txBody>
      </p:sp>
      <p:sp>
        <p:nvSpPr>
          <p:cNvPr id="6" name="Object_6">
            <a:extLst xmlns:a="http://schemas.openxmlformats.org/drawingml/2006/main">
              <a:ext uri="{FF2B5EF4-FFF2-40B4-BE49-F238E27FC236}">
                <a16:creationId xmlns:a16="http://schemas.microsoft.com/office/drawing/2014/main" id="{E65E8E9E-63DE-4F97-9976-A22BBFB2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87452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57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Object_7">
            <a:extLst xmlns:a="http://schemas.openxmlformats.org/drawingml/2006/main">
              <a:ext uri="{FF2B5EF4-FFF2-40B4-BE49-F238E27FC236}">
                <a16:creationId xmlns:a16="http://schemas.microsoft.com/office/drawing/2014/main" id="{5571F8EE-B6A1-4B91-B449-A4DDAFED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23160"/>
            <a:ext cx="155448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数据采集口径</a:t>
            </a:r>
            <a:endParaRPr sz="1050"/>
          </a:p>
          <a:p xmlns:a="http://schemas.openxmlformats.org/drawingml/2006/main">
            <a:pPr algn="ctr">
              <a:buNone/>
            </a:pPr>
            <a:r>
              <a: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6/26 草案</a:t>
            </a:r>
            <a:endParaRPr sz="1050"/>
          </a:p>
        </p:txBody>
      </p:sp>
      <p:sp>
        <p:nvSpPr>
          <p:cNvPr id="8" name="Object_8">
            <a:extLst xmlns:a="http://schemas.openxmlformats.org/drawingml/2006/main">
              <a:ext uri="{FF2B5EF4-FFF2-40B4-BE49-F238E27FC236}">
                <a16:creationId xmlns:a16="http://schemas.microsoft.com/office/drawing/2014/main" id="{2916A28C-77CA-44BB-B4A6-EE75F5D1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87452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57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Object_9">
            <a:extLst xmlns:a="http://schemas.openxmlformats.org/drawingml/2006/main">
              <a:ext uri="{FF2B5EF4-FFF2-40B4-BE49-F238E27FC236}">
                <a16:creationId xmlns:a16="http://schemas.microsoft.com/office/drawing/2014/main" id="{EE34B84E-594C-4567-9F56-EA136B44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23160"/>
            <a:ext cx="155448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试点培训</a:t>
            </a:r>
            <a:endParaRPr sz="1050"/>
          </a:p>
          <a:p xmlns:a="http://schemas.openxmlformats.org/drawingml/2006/main">
            <a:pPr algn="ctr">
              <a:buNone/>
            </a:pPr>
            <a:r>
              <a: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7月上旬待排期</a:t>
            </a:r>
            <a:endParaRPr sz="1050"/>
          </a:p>
        </p:txBody>
      </p:sp>
      <p:sp>
        <p:nvSpPr>
          <p:cNvPr id="10" name="Object_10">
            <a:extLst xmlns:a="http://schemas.openxmlformats.org/drawingml/2006/main">
              <a:ext uri="{FF2B5EF4-FFF2-40B4-BE49-F238E27FC236}">
                <a16:creationId xmlns:a16="http://schemas.microsoft.com/office/drawing/2014/main" id="{C126B06A-3456-48D9-8A79-C69CF2D5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87452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57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Object_11">
            <a:extLst xmlns:a="http://schemas.openxmlformats.org/drawingml/2006/main">
              <a:ext uri="{FF2B5EF4-FFF2-40B4-BE49-F238E27FC236}">
                <a16:creationId xmlns:a16="http://schemas.microsoft.com/office/drawing/2014/main" id="{AC45173C-327E-4F41-9063-E4D1843B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23160"/>
            <a:ext cx="155448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首轮回访</a:t>
            </a:r>
            <a:endParaRPr sz="1050"/>
          </a:p>
          <a:p xmlns:a="http://schemas.openxmlformats.org/drawingml/2006/main">
            <a:pPr algn="ctr">
              <a:buNone/>
            </a:pPr>
            <a:r>
              <a: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7/20</a:t>
            </a:r>
            <a:endParaRPr sz="1050"/>
          </a:p>
        </p:txBody>
      </p:sp>
      <p:sp>
        <p:nvSpPr>
          <p:cNvPr id="12" name="Object_12">
            <a:extLst xmlns:a="http://schemas.openxmlformats.org/drawingml/2006/main">
              <a:ext uri="{FF2B5EF4-FFF2-40B4-BE49-F238E27FC236}">
                <a16:creationId xmlns:a16="http://schemas.microsoft.com/office/drawing/2014/main" id="{D701B7C5-A623-482D-820B-FB54560E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187452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57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Object_13">
            <a:extLst xmlns:a="http://schemas.openxmlformats.org/drawingml/2006/main">
              <a:ext uri="{FF2B5EF4-FFF2-40B4-BE49-F238E27FC236}">
                <a16:creationId xmlns:a16="http://schemas.microsoft.com/office/drawing/2014/main" id="{3D47E9DD-9362-42A2-A616-D9EFCA6C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23160"/>
            <a:ext cx="155448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季度复盘</a:t>
            </a:r>
            <a:endParaRPr sz="1050"/>
          </a:p>
          <a:p xmlns:a="http://schemas.openxmlformats.org/drawingml/2006/main">
            <a:pPr algn="ctr">
              <a:buNone/>
            </a:pPr>
            <a:r>
              <a: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8月待定</a:t>
            </a:r>
            <a:endParaRPr sz="1050"/>
          </a:p>
        </p:txBody>
      </p:sp>
      <p:sp>
        <p:nvSpPr>
          <p:cNvPr id="14" name="Object_14">
            <a:extLst xmlns:a="http://schemas.openxmlformats.org/drawingml/2006/main">
              <a:ext uri="{FF2B5EF4-FFF2-40B4-BE49-F238E27FC236}">
                <a16:creationId xmlns:a16="http://schemas.microsoft.com/office/drawing/2014/main" id="{A98F679B-B9A2-488E-A01D-D1A2001E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86200"/>
            <a:ext cx="475488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2C56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300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00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rPr>
              <a:t>实施安排</a:t>
            </a:r>
            <a:endParaRPr sz="1300"/>
          </a:p>
          <a:p xmlns:a="http://schemas.openxmlformats.org/drawingml/2006/main">
            <a:pPr>
              <a:buNone/>
              <a:defRPr sz="1300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rPr>
              <a:t>社区站点协作与服务包准备同步推进。</a:t>
            </a:r>
            <a:endParaRPr sz="1300"/>
          </a:p>
        </p:txBody>
      </p:sp>
      <p:sp>
        <p:nvSpPr>
          <p:cNvPr id="15" name="Object_15">
            <a:extLst xmlns:a="http://schemas.openxmlformats.org/drawingml/2006/main">
              <a:ext uri="{FF2B5EF4-FFF2-40B4-BE49-F238E27FC236}">
                <a16:creationId xmlns:a16="http://schemas.microsoft.com/office/drawing/2014/main" id="{D492C849-470F-4487-BD01-5B62D969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86200"/>
            <a:ext cx="521208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首轮回访</a:t>
            </a:r>
            <a:endParaRPr sz="1300"/>
          </a:p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7月20日开展，社区站点与志愿者小组共同参与。</a:t>
            </a:r>
            <a:endParaRPr sz="1300"/>
          </a:p>
        </p:txBody>
      </p:sp>
      <p:sp>
        <p:nvSpPr>
          <p:cNvPr id="904" name="Object_16">
            <a:extLst xmlns:a="http://schemas.openxmlformats.org/drawingml/2006/main">
              <a:ext uri="{FF2B5EF4-FFF2-40B4-BE49-F238E27FC236}">
                <a16:creationId xmlns:a16="http://schemas.microsoft.com/office/drawing/2014/main" id="{32FA35DE-3581-4791-9467-2A522D8E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3842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春晖公益协同计划｜治理会材料 v1.7 草稿｜资料口径：2026-06-12｜时间线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9181311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Object_1"/>
        <p:cNvGrpSpPr/>
        <p:nvPr/>
      </p:nvGrpSpPr>
      <p:grpSpPr>
        <a:xfrm xmlns:a="http://schemas.openxmlformats.org/drawingml/2006/main"/>
      </p:grpSpPr>
      <p:sp>
        <p:nvSpPr>
          <p:cNvPr id="2" name="Object_2">
            <a:extLst xmlns:a="http://schemas.openxmlformats.org/drawingml/2006/main">
              <a:ext uri="{FF2B5EF4-FFF2-40B4-BE49-F238E27FC236}">
                <a16:creationId xmlns:a16="http://schemas.microsoft.com/office/drawing/2014/main" id="{71CD4662-D747-41DD-A64F-924EAEB8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96012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2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rPr>
              <a:t>工作流 A｜社区站点与志愿者协同</a:t>
            </a:r>
            <a:endParaRPr sz="2200"/>
          </a:p>
        </p:txBody>
      </p:sp>
      <p:sp>
        <p:nvSpPr>
          <p:cNvPr id="3" name="Object_3">
            <a:extLst xmlns:a="http://schemas.openxmlformats.org/drawingml/2006/main">
              <a:ext uri="{FF2B5EF4-FFF2-40B4-BE49-F238E27FC236}">
                <a16:creationId xmlns:a16="http://schemas.microsoft.com/office/drawing/2014/main" id="{2BE3E386-4E8E-40A7-B178-483722EC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1560"/>
            <a:ext cx="333756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9B6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晨光中心 / 合作点确认</a:t>
            </a:r>
            <a:endParaRPr sz="1280"/>
          </a:p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状态：待签署</a:t>
            </a:r>
            <a:endParaRPr sz="1280"/>
          </a:p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日期：6/20</a:t>
            </a:r>
            <a:endParaRPr sz="1280"/>
          </a:p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责任：拓展组</a:t>
            </a:r>
            <a:endParaRPr sz="1280"/>
          </a:p>
        </p:txBody>
      </p:sp>
      <p:sp>
        <p:nvSpPr>
          <p:cNvPr id="4" name="Object_4">
            <a:extLst xmlns:a="http://schemas.openxmlformats.org/drawingml/2006/main">
              <a:ext uri="{FF2B5EF4-FFF2-40B4-BE49-F238E27FC236}">
                <a16:creationId xmlns:a16="http://schemas.microsoft.com/office/drawing/2014/main" id="{675C63AA-F5E2-4694-ADC0-A0BCEFE3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051560"/>
            <a:ext cx="333756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9B6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志愿者培训排期</a:t>
            </a:r>
            <a:endParaRPr sz="1280"/>
          </a:p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状态：待排期</a:t>
            </a:r>
            <a:endParaRPr sz="1280"/>
          </a:p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日期：7月上旬</a:t>
            </a:r>
            <a:endParaRPr sz="1280"/>
          </a:p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责任：能力建设组</a:t>
            </a:r>
            <a:endParaRPr sz="1280"/>
          </a:p>
        </p:txBody>
      </p:sp>
      <p:sp>
        <p:nvSpPr>
          <p:cNvPr id="5" name="Object_5">
            <a:extLst xmlns:a="http://schemas.openxmlformats.org/drawingml/2006/main">
              <a:ext uri="{FF2B5EF4-FFF2-40B4-BE49-F238E27FC236}">
                <a16:creationId xmlns:a16="http://schemas.microsoft.com/office/drawing/2014/main" id="{A637797E-C480-4DF8-8E1A-62CBA098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051560"/>
            <a:ext cx="288036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23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3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北岸书屋协作记录</a:t>
            </a:r>
            <a:endParaRPr sz="1230"/>
          </a:p>
          <a:p xmlns:a="http://schemas.openxmlformats.org/drawingml/2006/main">
            <a:pPr>
              <a:buNone/>
              <a:defRPr sz="123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2025 年归档资料</a:t>
            </a:r>
            <a:endParaRPr sz="1230"/>
          </a:p>
          <a:p xmlns:a="http://schemas.openxmlformats.org/drawingml/2006/main">
            <a:pPr>
              <a:buNone/>
              <a:defRPr sz="123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资料组维护</a:t>
            </a:r>
            <a:endParaRPr sz="1230"/>
          </a:p>
        </p:txBody>
      </p:sp>
      <p:graphicFrame>
        <p:nvGraphicFramePr>
          <p:cNvPr id="6" name="Object_6">
            <a:extLst xmlns:a="http://schemas.openxmlformats.org/drawingml/2006/main">
              <a:ext uri="{FF2B5EF4-FFF2-40B4-BE49-F238E27FC236}">
                <a16:creationId xmlns:a16="http://schemas.microsoft.com/office/drawing/2014/main" id="{38CD1465-3B0C-4BDF-BB23-BC7E0B17A625}"/>
              </a:ext>
            </a:extLst>
          </p:cNvPr>
          <p:cNvGraphicFramePr/>
          <p:nvPr/>
        </p:nvGraphicFramePr>
        <p:xfrm>
          <a:off xmlns:a="http://schemas.openxmlformats.org/drawingml/2006/main" x="685800" y="3246120"/>
          <a:ext xmlns:a="http://schemas.openxmlformats.org/drawingml/2006/main" cx="10195560" cy="16002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011680"/>
                <a:gridCol w="2743200"/>
                <a:gridCol w="3063240"/>
              </a:tblGrid>
              <a:tr h="40005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行动项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安排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</a:tr>
              <a:tr h="40005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站点确认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拓展组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完成签署后通知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晨光中心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</a:tr>
              <a:tr h="40005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培训通知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能力建设组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培训前一周通知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志愿者组长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历史协作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已归档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北岸书屋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</a:tr>
            </a:tbl>
          </a:graphicData>
        </a:graphic>
      </p:graphicFrame>
      <p:sp>
        <p:nvSpPr>
          <p:cNvPr id="905" name="Object_7">
            <a:extLst xmlns:a="http://schemas.openxmlformats.org/drawingml/2006/main">
              <a:ext uri="{FF2B5EF4-FFF2-40B4-BE49-F238E27FC236}">
                <a16:creationId xmlns:a16="http://schemas.microsoft.com/office/drawing/2014/main" id="{5BFBBAF2-0011-4158-B670-A32083E8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3842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春晖公益协同计划｜治理会材料 v1.7 草稿｜资料口径：2026-06-12｜工作流A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3468086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Object_1"/>
        <p:cNvGrpSpPr/>
        <p:nvPr/>
      </p:nvGrpSpPr>
      <p:grpSpPr>
        <a:xfrm xmlns:a="http://schemas.openxmlformats.org/drawingml/2006/main"/>
      </p:grpSpPr>
      <p:sp>
        <p:nvSpPr>
          <p:cNvPr id="2" name="Object_2">
            <a:extLst xmlns:a="http://schemas.openxmlformats.org/drawingml/2006/main">
              <a:ext uri="{FF2B5EF4-FFF2-40B4-BE49-F238E27FC236}">
                <a16:creationId xmlns:a16="http://schemas.microsoft.com/office/drawing/2014/main" id="{039CBC0B-7BA1-4B28-B5D6-19BB4521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96012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2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rPr>
              <a:t>工作流 B｜数据回收与服务包准备</a:t>
            </a:r>
            <a:endParaRPr sz="2200"/>
          </a:p>
        </p:txBody>
      </p:sp>
      <p:sp>
        <p:nvSpPr>
          <p:cNvPr id="3" name="Object_3">
            <a:extLst xmlns:a="http://schemas.openxmlformats.org/drawingml/2006/main">
              <a:ext uri="{FF2B5EF4-FFF2-40B4-BE49-F238E27FC236}">
                <a16:creationId xmlns:a16="http://schemas.microsoft.com/office/drawing/2014/main" id="{57B10E45-B3EC-4930-8F71-7912CE96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1560"/>
            <a:ext cx="324612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9B6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数据回收口径</a:t>
            </a:r>
            <a:endParaRPr sz="1280"/>
          </a:p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状态：草案待抽样</a:t>
            </a:r>
            <a:endParaRPr sz="1280"/>
          </a:p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责任：数据治理组</a:t>
            </a:r>
            <a:endParaRPr sz="1280"/>
          </a:p>
        </p:txBody>
      </p:sp>
      <p:sp>
        <p:nvSpPr>
          <p:cNvPr id="4" name="Object_4">
            <a:extLst xmlns:a="http://schemas.openxmlformats.org/drawingml/2006/main">
              <a:ext uri="{FF2B5EF4-FFF2-40B4-BE49-F238E27FC236}">
                <a16:creationId xmlns:a16="http://schemas.microsoft.com/office/drawing/2014/main" id="{ED863ED0-1662-4B56-B278-69A1A8E8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051560"/>
            <a:ext cx="324612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9B6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服务包采购口径</a:t>
            </a:r>
            <a:endParaRPr sz="1280"/>
          </a:p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状态：待治理会确认</a:t>
            </a:r>
            <a:endParaRPr sz="1280"/>
          </a:p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抽样复核包冻结后提请审定</a:t>
            </a:r>
            <a:endParaRPr sz="1280"/>
          </a:p>
        </p:txBody>
      </p:sp>
      <p:sp>
        <p:nvSpPr>
          <p:cNvPr id="5" name="Object_5">
            <a:extLst xmlns:a="http://schemas.openxmlformats.org/drawingml/2006/main">
              <a:ext uri="{FF2B5EF4-FFF2-40B4-BE49-F238E27FC236}">
                <a16:creationId xmlns:a16="http://schemas.microsoft.com/office/drawing/2014/main" id="{E649B99E-4323-43EF-B8A5-5F126736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051560"/>
            <a:ext cx="324612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监控观察</a:t>
            </a:r>
            <a:endParaRPr sz="1280"/>
          </a:p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短期回访、抽样观察</a:t>
            </a:r>
            <a:endParaRPr sz="1280"/>
          </a:p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内部跟踪记录</a:t>
            </a:r>
            <a:endParaRPr sz="1280"/>
          </a:p>
        </p:txBody>
      </p:sp>
      <p:graphicFrame>
        <p:nvGraphicFramePr>
          <p:cNvPr id="6" name="Object_6">
            <a:extLst xmlns:a="http://schemas.openxmlformats.org/drawingml/2006/main">
              <a:ext uri="{FF2B5EF4-FFF2-40B4-BE49-F238E27FC236}">
                <a16:creationId xmlns:a16="http://schemas.microsoft.com/office/drawing/2014/main" id="{1F303905-B3C5-48D4-84E3-53A9C087A619}"/>
              </a:ext>
            </a:extLst>
          </p:cNvPr>
          <p:cNvGraphicFramePr/>
          <p:nvPr/>
        </p:nvGraphicFramePr>
        <p:xfrm>
          <a:off xmlns:a="http://schemas.openxmlformats.org/drawingml/2006/main" x="685800" y="3017520"/>
          <a:ext xmlns:a="http://schemas.openxmlformats.org/drawingml/2006/main" cx="10195560" cy="19659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651760"/>
                <a:gridCol w="2834640"/>
                <a:gridCol w="2423160"/>
              </a:tblGrid>
              <a:tr h="393192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关联安排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</a:tr>
              <a:tr h="393192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回收口径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草案待抽样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样本复核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数据治理组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</a:tr>
              <a:tr h="393192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抽样复核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冻结口径待定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冻结后提采购审定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数据复核小组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成本测算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橙色风险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专项跟踪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财务协同组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</a:tr>
              <a:tr h="393192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监控观察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短期观察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内部跟踪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项目办公室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6" name="Object_7">
            <a:extLst xmlns:a="http://schemas.openxmlformats.org/drawingml/2006/main">
              <a:ext uri="{FF2B5EF4-FFF2-40B4-BE49-F238E27FC236}">
                <a16:creationId xmlns:a16="http://schemas.microsoft.com/office/drawing/2014/main" id="{8B4D29DE-A233-4095-A9D0-7A1EA274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3842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春晖公益协同计划｜治理会材料 v1.7 草稿｜资料口径：2026-06-12｜工作流B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2006093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Object_1"/>
        <p:cNvGrpSpPr/>
        <p:nvPr/>
      </p:nvGrpSpPr>
      <p:grpSpPr>
        <a:xfrm xmlns:a="http://schemas.openxmlformats.org/drawingml/2006/main"/>
      </p:grpSpPr>
      <p:sp>
        <p:nvSpPr>
          <p:cNvPr id="2" name="Object_2">
            <a:extLst xmlns:a="http://schemas.openxmlformats.org/drawingml/2006/main">
              <a:ext uri="{FF2B5EF4-FFF2-40B4-BE49-F238E27FC236}">
                <a16:creationId xmlns:a16="http://schemas.microsoft.com/office/drawing/2014/main" id="{BA3179EF-DA7C-4948-BD90-A375EECA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96012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2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rPr>
              <a:t>治理会决策与风险提示</a:t>
            </a:r>
            <a:endParaRPr sz="2200"/>
          </a:p>
        </p:txBody>
      </p:sp>
      <p:graphicFrame>
        <p:nvGraphicFramePr>
          <p:cNvPr id="3" name="Object_3">
            <a:extLst xmlns:a="http://schemas.openxmlformats.org/drawingml/2006/main">
              <a:ext uri="{FF2B5EF4-FFF2-40B4-BE49-F238E27FC236}">
                <a16:creationId xmlns:a16="http://schemas.microsoft.com/office/drawing/2014/main" id="{B450FF86-0617-4C5B-8ABA-730E0A18791C}"/>
              </a:ext>
            </a:extLst>
          </p:cNvPr>
          <p:cNvGraphicFramePr/>
          <p:nvPr/>
        </p:nvGraphicFramePr>
        <p:xfrm>
          <a:off xmlns:a="http://schemas.openxmlformats.org/drawingml/2006/main" x="685800" y="1051560"/>
          <a:ext xmlns:a="http://schemas.openxmlformats.org/drawingml/2006/main" cx="10149840" cy="24688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103120"/>
                <a:gridCol w="3291840"/>
                <a:gridCol w="2011680"/>
              </a:tblGrid>
              <a:tr h="493776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决策与跟踪项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安排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</a:tr>
              <a:tr h="493776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服务包采购口径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待治理会确认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审议采购口径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治理会秘书处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</a:tr>
              <a:tr h="493776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复核样本冻结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冻结口径待定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作为采购审定前置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数据复核小组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回访节奏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7/20 首轮回访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培训与回访衔接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能力建设组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</a:tr>
              <a:tr h="493776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成本测算风险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橙色风险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专项预案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财务协同组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Object_4">
            <a:extLst xmlns:a="http://schemas.openxmlformats.org/drawingml/2006/main">
              <a:ext uri="{FF2B5EF4-FFF2-40B4-BE49-F238E27FC236}">
                <a16:creationId xmlns:a16="http://schemas.microsoft.com/office/drawing/2014/main" id="{C4077421-DD74-4CDA-BBD3-EC9E261B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6160"/>
            <a:ext cx="484632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2C56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250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50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rPr>
              <a:t>后续议题储备</a:t>
            </a:r>
            <a:endParaRPr sz="1250"/>
          </a:p>
          <a:p xmlns:a="http://schemas.openxmlformats.org/drawingml/2006/main">
            <a:pPr>
              <a:buNone/>
              <a:defRPr sz="1250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rPr>
              <a:t>试点二期扩展，版本 v1.9，草稿。</a:t>
            </a:r>
            <a:endParaRPr sz="1250"/>
          </a:p>
        </p:txBody>
      </p:sp>
      <p:sp>
        <p:nvSpPr>
          <p:cNvPr id="5" name="Object_5">
            <a:extLst xmlns:a="http://schemas.openxmlformats.org/drawingml/2006/main">
              <a:ext uri="{FF2B5EF4-FFF2-40B4-BE49-F238E27FC236}">
                <a16:creationId xmlns:a16="http://schemas.microsoft.com/office/drawing/2014/main" id="{BE03CC16-17D1-4A74-A07F-B6663C7E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566160"/>
            <a:ext cx="502920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1"/>
          </a:solidFill>
          <a:ln xmlns:a="http://schemas.openxmlformats.org/drawingml/2006/main" w="9525">
            <a:solidFill>
              <a:srgbClr val="C9D8D0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250">
                <a:solidFill>
                  <a:srgbClr val="355B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50">
                <a:solidFill>
                  <a:srgbClr val="355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>
                <a:solidFill>
                  <a:srgbClr val="355B45"/>
                </a:solidFill>
                <a:latin typeface="Microsoft YaHei"/>
                <a:ea typeface="Microsoft YaHei"/>
                <a:cs typeface="Microsoft YaHei"/>
              </a:rPr>
              <a:t>会后跟踪</a:t>
            </a:r>
            <a:endParaRPr sz="1250"/>
          </a:p>
          <a:p xmlns:a="http://schemas.openxmlformats.org/drawingml/2006/main">
            <a:pPr>
              <a:buNone/>
              <a:defRPr sz="1250">
                <a:solidFill>
                  <a:srgbClr val="355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>
                <a:solidFill>
                  <a:srgbClr val="355B45"/>
                </a:solidFill>
                <a:latin typeface="Microsoft YaHei"/>
                <a:ea typeface="Microsoft YaHei"/>
                <a:cs typeface="Microsoft YaHei"/>
              </a:rPr>
              <a:t>项目办公室汇总决策记录，财务协同组跟踪成本风险。</a:t>
            </a:r>
            <a:endParaRPr sz="1250"/>
          </a:p>
        </p:txBody>
      </p:sp>
      <p:sp>
        <p:nvSpPr>
          <p:cNvPr id="907" name="Object_6">
            <a:extLst xmlns:a="http://schemas.openxmlformats.org/drawingml/2006/main">
              <a:ext uri="{FF2B5EF4-FFF2-40B4-BE49-F238E27FC236}">
                <a16:creationId xmlns:a16="http://schemas.microsoft.com/office/drawing/2014/main" id="{E6E67EBC-90B6-4736-8235-4265367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3842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春晖公益协同计划｜治理会材料 v1.7 草稿｜资料口径：2026-06-12｜决策风险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8433901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Object_1"/>
        <p:cNvGrpSpPr/>
        <p:nvPr/>
      </p:nvGrpSpPr>
      <p:grpSpPr>
        <a:xfrm xmlns:a="http://schemas.openxmlformats.org/drawingml/2006/main"/>
      </p:grpSpPr>
      <p:sp>
        <p:nvSpPr>
          <p:cNvPr id="2" name="Object_2">
            <a:extLst xmlns:a="http://schemas.openxmlformats.org/drawingml/2006/main">
              <a:ext uri="{FF2B5EF4-FFF2-40B4-BE49-F238E27FC236}">
                <a16:creationId xmlns:a16="http://schemas.microsoft.com/office/drawing/2014/main" id="{4745E183-60A5-4ADD-BF4A-B9EEC188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96012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2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rPr>
              <a:t>资源与沟通节奏</a:t>
            </a:r>
            <a:endParaRPr sz="2200"/>
          </a:p>
        </p:txBody>
      </p:sp>
      <p:graphicFrame>
        <p:nvGraphicFramePr>
          <p:cNvPr id="3" name="Object_3">
            <a:extLst xmlns:a="http://schemas.openxmlformats.org/drawingml/2006/main">
              <a:ext uri="{FF2B5EF4-FFF2-40B4-BE49-F238E27FC236}">
                <a16:creationId xmlns:a16="http://schemas.microsoft.com/office/drawing/2014/main" id="{E2D93C54-981A-4193-9D86-1B7A52801A8D}"/>
              </a:ext>
            </a:extLst>
          </p:cNvPr>
          <p:cNvGraphicFramePr/>
          <p:nvPr/>
        </p:nvGraphicFramePr>
        <p:xfrm>
          <a:off xmlns:a="http://schemas.openxmlformats.org/drawingml/2006/main" x="685800" y="1005840"/>
          <a:ext xmlns:a="http://schemas.openxmlformats.org/drawingml/2006/main" cx="10149840" cy="27432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286000"/>
                <a:gridCol w="2103120"/>
                <a:gridCol w="3383280"/>
              </a:tblGrid>
              <a:tr h="45720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沟通对象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安排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关联事项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</a:tr>
              <a:tr h="45720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社区站点联系人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签约后 3 个工作日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合作点确认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节点通知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</a:tr>
              <a:tr h="45720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数据复核小组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复核包冻结后通知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抽样复核包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先冻结样本再提采购口径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志愿者组长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培训前一周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培训排期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启动通知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</a:tr>
              <a:tr h="45720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治理会秘书处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会前确认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采购口径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决策记录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会后归档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历史资料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归档记录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</a:tr>
            </a:tbl>
          </a:graphicData>
        </a:graphic>
      </p:graphicFrame>
      <p:sp>
        <p:nvSpPr>
          <p:cNvPr id="4" name="Object_4">
            <a:extLst xmlns:a="http://schemas.openxmlformats.org/drawingml/2006/main">
              <a:ext uri="{FF2B5EF4-FFF2-40B4-BE49-F238E27FC236}">
                <a16:creationId xmlns:a16="http://schemas.microsoft.com/office/drawing/2014/main" id="{DF74B024-686D-4CAC-89E9-07270A9A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14984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2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信息归集</a:t>
            </a:r>
            <a:endParaRPr sz="1250"/>
          </a:p>
          <a:p xmlns:a="http://schemas.openxmlformats.org/drawingml/2006/main">
            <a:pPr>
              <a:buNone/>
              <a:defRPr sz="12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各组保留节点确认和沟通记录，由项目办公室汇总。</a:t>
            </a:r>
            <a:endParaRPr sz="1250"/>
          </a:p>
        </p:txBody>
      </p:sp>
      <p:sp>
        <p:nvSpPr>
          <p:cNvPr id="908" name="Object_5">
            <a:extLst xmlns:a="http://schemas.openxmlformats.org/drawingml/2006/main">
              <a:ext uri="{FF2B5EF4-FFF2-40B4-BE49-F238E27FC236}">
                <a16:creationId xmlns:a16="http://schemas.microsoft.com/office/drawing/2014/main" id="{6897C6BA-C90B-4ED4-AB4A-ADB6EEFF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3842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春晖公益协同计划｜治理会材料 v1.7 草稿｜资料口径：2026-06-12｜资源沟通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8912608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Object_1"/>
        <p:cNvGrpSpPr/>
        <p:nvPr/>
      </p:nvGrpSpPr>
      <p:grpSpPr>
        <a:xfrm xmlns:a="http://schemas.openxmlformats.org/drawingml/2006/main"/>
      </p:grpSpPr>
      <p:sp>
        <p:nvSpPr>
          <p:cNvPr id="2" name="Object_2">
            <a:extLst xmlns:a="http://schemas.openxmlformats.org/drawingml/2006/main">
              <a:ext uri="{FF2B5EF4-FFF2-40B4-BE49-F238E27FC236}">
                <a16:creationId xmlns:a16="http://schemas.microsoft.com/office/drawing/2014/main" id="{A0481DE1-28C9-4DF0-A8A8-C2BFB038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96012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22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rPr>
              <a:t>附录｜材料口径</a:t>
            </a:r>
            <a:endParaRPr sz="2200"/>
          </a:p>
        </p:txBody>
      </p:sp>
      <p:sp>
        <p:nvSpPr>
          <p:cNvPr id="3" name="Object_3">
            <a:extLst xmlns:a="http://schemas.openxmlformats.org/drawingml/2006/main">
              <a:ext uri="{FF2B5EF4-FFF2-40B4-BE49-F238E27FC236}">
                <a16:creationId xmlns:a16="http://schemas.microsoft.com/office/drawing/2014/main" id="{E25DD7B3-EEC6-43F3-8925-0F4E8ACB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7280"/>
            <a:ext cx="31089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9B6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材料版本</a:t>
            </a:r>
            <a:endParaRPr sz="1300"/>
          </a:p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v1.7 草稿</a:t>
            </a:r>
            <a:endParaRPr sz="1300"/>
          </a:p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2026 Q2 治理会包</a:t>
            </a:r>
            <a:endParaRPr sz="1300"/>
          </a:p>
        </p:txBody>
      </p:sp>
      <p:sp>
        <p:nvSpPr>
          <p:cNvPr id="4" name="Object_4">
            <a:extLst xmlns:a="http://schemas.openxmlformats.org/drawingml/2006/main">
              <a:ext uri="{FF2B5EF4-FFF2-40B4-BE49-F238E27FC236}">
                <a16:creationId xmlns:a16="http://schemas.microsoft.com/office/drawing/2014/main" id="{C4970429-9CE5-4161-80D3-9A85790D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1097280"/>
            <a:ext cx="31089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9B6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资料口径</a:t>
            </a:r>
            <a:endParaRPr sz="1300"/>
          </a:p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2026-06-12</a:t>
            </a:r>
            <a:endParaRPr sz="1300"/>
          </a:p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项目办公室汇总</a:t>
            </a:r>
            <a:endParaRPr sz="1300"/>
          </a:p>
        </p:txBody>
      </p:sp>
      <p:sp>
        <p:nvSpPr>
          <p:cNvPr id="5" name="Object_5">
            <a:extLst xmlns:a="http://schemas.openxmlformats.org/drawingml/2006/main">
              <a:ext uri="{FF2B5EF4-FFF2-40B4-BE49-F238E27FC236}">
                <a16:creationId xmlns:a16="http://schemas.microsoft.com/office/drawing/2014/main" id="{BF035AD6-59A8-41D4-9264-F1F7FBCE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097280"/>
            <a:ext cx="31089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9B6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材料组成</a:t>
            </a:r>
            <a:endParaRPr sz="1300"/>
          </a:p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正文、历史归档、版式样例</a:t>
            </a:r>
            <a:endParaRPr sz="1300"/>
          </a:p>
        </p:txBody>
      </p:sp>
      <p:sp>
        <p:nvSpPr>
          <p:cNvPr id="6" name="Object_6">
            <a:extLst xmlns:a="http://schemas.openxmlformats.org/drawingml/2006/main">
              <a:ext uri="{FF2B5EF4-FFF2-40B4-BE49-F238E27FC236}">
                <a16:creationId xmlns:a16="http://schemas.microsoft.com/office/drawing/2014/main" id="{58D33930-FF25-4D25-82E4-69470F30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98755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1"/>
          </a:solidFill>
          <a:ln xmlns:a="http://schemas.openxmlformats.org/drawingml/2006/main" w="9525">
            <a:solidFill>
              <a:srgbClr val="C9D8D0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350">
                <a:solidFill>
                  <a:srgbClr val="355B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>
                <a:solidFill>
                  <a:srgbClr val="355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55B45"/>
                </a:solidFill>
                <a:latin typeface="Microsoft YaHei"/>
                <a:ea typeface="Microsoft YaHei"/>
                <a:cs typeface="Microsoft YaHei"/>
              </a:rPr>
              <a:t>本材料为模拟项目的会议工作资料。事项安排按登记时点记录，发生日期与资料汇总日期分别标注。</a:t>
            </a:r>
            <a:endParaRPr sz="1350"/>
          </a:p>
        </p:txBody>
      </p:sp>
      <p:sp>
        <p:nvSpPr>
          <p:cNvPr id="909" name="Object_7">
            <a:extLst xmlns:a="http://schemas.openxmlformats.org/drawingml/2006/main">
              <a:ext uri="{FF2B5EF4-FFF2-40B4-BE49-F238E27FC236}">
                <a16:creationId xmlns:a16="http://schemas.microsoft.com/office/drawing/2014/main" id="{996715D0-8F54-4877-B59B-EFB08AEA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3842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春晖公益协同计划｜治理会材料 v1.7 草稿｜资料口径：2026-06-12｜附录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9702393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Object_1"/>
        <p:cNvGrpSpPr/>
        <p:nvPr/>
      </p:nvGrpSpPr>
      <p:grpSpPr>
        <a:xfrm xmlns:a="http://schemas.openxmlformats.org/drawingml/2006/main"/>
      </p:grpSpPr>
      <p:sp>
        <p:nvSpPr>
          <p:cNvPr id="2" name="Object_2">
            <a:extLst xmlns:a="http://schemas.openxmlformats.org/drawingml/2006/main">
              <a:ext uri="{FF2B5EF4-FFF2-40B4-BE49-F238E27FC236}">
                <a16:creationId xmlns:a16="http://schemas.microsoft.com/office/drawing/2014/main" id="{915915B1-A192-4B03-9998-3604D7C9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96012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22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rPr>
              <a:t>历史归档｜2025 秋季协作回顾</a:t>
            </a:r>
            <a:endParaRPr sz="2200"/>
          </a:p>
        </p:txBody>
      </p:sp>
      <p:sp>
        <p:nvSpPr>
          <p:cNvPr id="3" name="Object_3">
            <a:extLst xmlns:a="http://schemas.openxmlformats.org/drawingml/2006/main">
              <a:ext uri="{FF2B5EF4-FFF2-40B4-BE49-F238E27FC236}">
                <a16:creationId xmlns:a16="http://schemas.microsoft.com/office/drawing/2014/main" id="{1FBDDB80-C421-4180-8D0F-17F8C6E8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5840"/>
            <a:ext cx="98755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2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归档期别：2025 年</a:t>
            </a:r>
            <a:endParaRPr sz="1250"/>
          </a:p>
          <a:p xmlns:a="http://schemas.openxmlformats.org/drawingml/2006/main">
            <a:pPr>
              <a:buNone/>
              <a:defRPr sz="12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归档责任：资料组</a:t>
            </a:r>
            <a:endParaRPr sz="1250"/>
          </a:p>
        </p:txBody>
      </p:sp>
      <p:graphicFrame>
        <p:nvGraphicFramePr>
          <p:cNvPr id="4" name="Object_4">
            <a:extLst xmlns:a="http://schemas.openxmlformats.org/drawingml/2006/main">
              <a:ext uri="{FF2B5EF4-FFF2-40B4-BE49-F238E27FC236}">
                <a16:creationId xmlns:a16="http://schemas.microsoft.com/office/drawing/2014/main" id="{F7C126F0-C47A-40C9-BE55-98A113C06D18}"/>
              </a:ext>
            </a:extLst>
          </p:cNvPr>
          <p:cNvGraphicFramePr/>
          <p:nvPr/>
        </p:nvGraphicFramePr>
        <p:xfrm>
          <a:off xmlns:a="http://schemas.openxmlformats.org/drawingml/2006/main" x="685800" y="1874520"/>
          <a:ext xmlns:a="http://schemas.openxmlformats.org/drawingml/2006/main" cx="9875520" cy="22402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011680"/>
                <a:gridCol w="1920240"/>
                <a:gridCol w="3200400"/>
              </a:tblGrid>
              <a:tr h="56007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历史事项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归档状态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历史日期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</a:tr>
              <a:tr h="56007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北岸书屋合作点确认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已归档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2025-06-20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</a:tr>
              <a:tr h="56007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服务包数据回收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已复盘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2025-07-11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志愿者培训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2025-08-02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</a:tr>
            </a:tbl>
          </a:graphicData>
        </a:graphic>
      </p:graphicFrame>
      <p:sp>
        <p:nvSpPr>
          <p:cNvPr id="910" name="Object_5">
            <a:extLst xmlns:a="http://schemas.openxmlformats.org/drawingml/2006/main">
              <a:ext uri="{FF2B5EF4-FFF2-40B4-BE49-F238E27FC236}">
                <a16:creationId xmlns:a16="http://schemas.microsoft.com/office/drawing/2014/main" id="{41E8AEEA-32EF-460A-B91A-83D90014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3842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春晖公益协同计划｜治理会材料 v1.7 草稿｜资料口径：2026-06-12｜历史归档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0965795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Object_1"/>
        <p:cNvGrpSpPr/>
        <p:nvPr/>
      </p:nvGrpSpPr>
      <p:grpSpPr>
        <a:xfrm xmlns:a="http://schemas.openxmlformats.org/drawingml/2006/main"/>
      </p:grpSpPr>
      <p:sp>
        <p:nvSpPr>
          <p:cNvPr id="2" name="Object_2">
            <a:extLst xmlns:a="http://schemas.openxmlformats.org/drawingml/2006/main">
              <a:ext uri="{FF2B5EF4-FFF2-40B4-BE49-F238E27FC236}">
                <a16:creationId xmlns:a16="http://schemas.microsoft.com/office/drawing/2014/main" id="{9418BFA7-35A9-4D07-806F-A20A04AA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96012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22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rPr>
              <a:t>模板页｜卡片与表格样例</a:t>
            </a:r>
            <a:endParaRPr sz="2200"/>
          </a:p>
        </p:txBody>
      </p:sp>
      <p:sp>
        <p:nvSpPr>
          <p:cNvPr id="3" name="Object_3">
            <a:extLst xmlns:a="http://schemas.openxmlformats.org/drawingml/2006/main">
              <a:ext uri="{FF2B5EF4-FFF2-40B4-BE49-F238E27FC236}">
                <a16:creationId xmlns:a16="http://schemas.microsoft.com/office/drawing/2014/main" id="{E1E3F17C-A956-459C-9BE4-29BE0194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097280"/>
            <a:ext cx="292608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样例卡片标题</a:t>
            </a:r>
            <a:endParaRPr sz="1300"/>
          </a:p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示例正文</a:t>
            </a:r>
            <a:endParaRPr sz="1300"/>
          </a:p>
        </p:txBody>
      </p:sp>
      <p:sp>
        <p:nvSpPr>
          <p:cNvPr id="4" name="Object_4">
            <a:extLst xmlns:a="http://schemas.openxmlformats.org/drawingml/2006/main">
              <a:ext uri="{FF2B5EF4-FFF2-40B4-BE49-F238E27FC236}">
                <a16:creationId xmlns:a16="http://schemas.microsoft.com/office/drawing/2014/main" id="{694D49E4-332A-4560-BA8C-67F8675C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097280"/>
            <a:ext cx="292608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样例状态芯片</a:t>
            </a:r>
            <a:endParaRPr sz="1300"/>
          </a:p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示例状态</a:t>
            </a:r>
            <a:endParaRPr sz="1300"/>
          </a:p>
        </p:txBody>
      </p:sp>
      <p:sp>
        <p:nvSpPr>
          <p:cNvPr id="5" name="Object_5">
            <a:extLst xmlns:a="http://schemas.openxmlformats.org/drawingml/2006/main">
              <a:ext uri="{FF2B5EF4-FFF2-40B4-BE49-F238E27FC236}">
                <a16:creationId xmlns:a16="http://schemas.microsoft.com/office/drawing/2014/main" id="{0B6DED39-C1B5-4514-803C-8CD6028A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097280"/>
            <a:ext cx="292608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样例行动项</a:t>
            </a:r>
            <a:endParaRPr sz="1300"/>
          </a:p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示例安排</a:t>
            </a:r>
            <a:endParaRPr sz="1300"/>
          </a:p>
        </p:txBody>
      </p:sp>
      <p:graphicFrame>
        <p:nvGraphicFramePr>
          <p:cNvPr id="6" name="Object_6">
            <a:extLst xmlns:a="http://schemas.openxmlformats.org/drawingml/2006/main">
              <a:ext uri="{FF2B5EF4-FFF2-40B4-BE49-F238E27FC236}">
                <a16:creationId xmlns:a16="http://schemas.microsoft.com/office/drawing/2014/main" id="{2C6B8020-7895-4A1E-830A-2BE278D23186}"/>
              </a:ext>
            </a:extLst>
          </p:cNvPr>
          <p:cNvGraphicFramePr/>
          <p:nvPr/>
        </p:nvGraphicFramePr>
        <p:xfrm>
          <a:off xmlns:a="http://schemas.openxmlformats.org/drawingml/2006/main" x="777240" y="2926080"/>
          <a:ext xmlns:a="http://schemas.openxmlformats.org/drawingml/2006/main" cx="9692640" cy="16002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7832"/>
                <a:gridCol w="3227832"/>
                <a:gridCol w="3227832"/>
              </a:tblGrid>
              <a:tr h="53340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列 A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列 B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列 C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</a:tr>
              <a:tr h="53340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占位文本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占位文本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占位文本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</a:tr>
              <a:tr h="53340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示例行动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示例状态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示例日期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1" name="Object_7">
            <a:extLst xmlns:a="http://schemas.openxmlformats.org/drawingml/2006/main">
              <a:ext uri="{FF2B5EF4-FFF2-40B4-BE49-F238E27FC236}">
                <a16:creationId xmlns:a16="http://schemas.microsoft.com/office/drawing/2014/main" id="{732247CE-FFC0-444A-9A1B-72BF04FE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3842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春晖公益协同计划｜治理会材料 v1.7 草稿｜资料口径：2026-06-12｜模板页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41120245"/>
      </p:ext>
    </p:extLst>
  </p:cSld>
</p:sld>
</file>

<file path=ppt/theme/theme1.xml><?xml version="1.0" encoding="utf-8"?>
<a:theme xmlns:a="http://schemas.openxmlformats.org/drawingml/2006/main" name="Governance Green">
  <a:themeElements>
    <a:clrScheme name="GovernanceGreen">
      <a:dk1>
        <a:srgbClr val="253047"/>
      </a:dk1>
      <a:lt1>
        <a:srgbClr val="FFFFFF"/>
      </a:lt1>
      <a:dk2>
        <a:srgbClr val="1D4E3A"/>
      </a:dk2>
      <a:lt2>
        <a:srgbClr val="F7F9FB"/>
      </a:lt2>
      <a:accent1>
        <a:srgbClr val="2F6B57"/>
      </a:accent1>
      <a:accent2>
        <a:srgbClr val="86B79A"/>
      </a:accent2>
      <a:accent3>
        <a:srgbClr val="F2C56B"/>
      </a:accent3>
      <a:accent4>
        <a:srgbClr val="7E9BB7"/>
      </a:accent4>
      <a:accent5>
        <a:srgbClr val="B67D7D"/>
      </a:accent5>
      <a:accent6>
        <a:srgbClr val="8A8F98"/>
      </a:accent6>
      <a:hlink>
        <a:srgbClr val="2F6B57"/>
      </a:hlink>
      <a:folHlink>
        <a:srgbClr val="7E9BB7"/>
      </a:folHlink>
    </a:clrScheme>
    <a:fontScheme name="Offic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GovernanceGreen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254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2026-10-12T06:29:46.4510000Z</dcterms:created>
  <dcterms:modified xsi:type="dcterms:W3CDTF">2026-10-12T06:29:46.4510000Z</dcterms:modified>
</coreProperties>
</file>