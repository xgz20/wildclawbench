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d154ff0d0a24e80" /><Relationship Type="http://schemas.openxmlformats.org/officeDocument/2006/relationships/extended-properties" Target="/docProps/app.xml" Id="R795e58840124435e" /><Relationship Type="http://schemas.openxmlformats.org/officeDocument/2006/relationships/officeDocument" Target="/ppt/presentation.xml" Id="R9d72399c1e43408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f1b6624acbd4028"/>
  </p:sldMasterIdLst>
  <p:notesMasterIdLst>
    <p:notesMasterId xmlns:r="http://schemas.openxmlformats.org/officeDocument/2006/relationships" r:id="R2e0e327b7f534773"/>
  </p:notesMasterIdLst>
  <p:sldIdLst>
    <p:sldId xmlns:r="http://schemas.openxmlformats.org/officeDocument/2006/relationships" id="256" r:id="Rd5db87e8ffc64ea3"/>
    <p:sldId xmlns:r="http://schemas.openxmlformats.org/officeDocument/2006/relationships" id="257" r:id="R35675347f88044be"/>
    <p:sldId xmlns:r="http://schemas.openxmlformats.org/officeDocument/2006/relationships" id="258" r:id="R0c676bfb9de54f04"/>
    <p:sldId xmlns:r="http://schemas.openxmlformats.org/officeDocument/2006/relationships" id="259" r:id="Ra67694c487b74014"/>
    <p:sldId xmlns:r="http://schemas.openxmlformats.org/officeDocument/2006/relationships" id="260" r:id="Ref7fe9cbc5534baf"/>
    <p:sldId xmlns:r="http://schemas.openxmlformats.org/officeDocument/2006/relationships" id="261" r:id="R9324d888f10d4baf"/>
    <p:sldId xmlns:r="http://schemas.openxmlformats.org/officeDocument/2006/relationships" id="262" r:id="R496c77f28578418b"/>
    <p:sldId xmlns:r="http://schemas.openxmlformats.org/officeDocument/2006/relationships" id="263" r:id="R41419535b5214c26"/>
    <p:sldId xmlns:r="http://schemas.openxmlformats.org/officeDocument/2006/relationships" id="264" r:id="R1b89be1e158e4663"/>
    <p:sldId xmlns:r="http://schemas.openxmlformats.org/officeDocument/2006/relationships" id="265" r:id="Rc7555460447a46bf"/>
    <p:sldId xmlns:r="http://schemas.openxmlformats.org/officeDocument/2006/relationships" id="266" r:id="R4735d8445707492b"/>
  </p:sldIdLst>
  <p:sldSz cx="12192000" cy="6858000"/>
  <p:notesSz cx="6858000" cy="9144000"/>
  <p:defaultTextStyle>
    <a:defPPr xmlns:a="http://schemas.openxmlformats.org/drawingml/2006/main">
      <a:buNone/>
    </a:def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eb43ac077934ada" /><Relationship Type="http://schemas.openxmlformats.org/officeDocument/2006/relationships/slideMaster" Target="/ppt/slideMasters/slideMaster1.xml" Id="R5f1b6624acbd4028" /><Relationship Type="http://schemas.openxmlformats.org/officeDocument/2006/relationships/notesMaster" Target="/ppt/notesMasters/notesMaster1.xml" Id="R2e0e327b7f534773" /><Relationship Type="http://schemas.openxmlformats.org/officeDocument/2006/relationships/presProps" Target="/ppt/presProps.xml" Id="R9c217f9cfae94f4d" /><Relationship Type="http://schemas.openxmlformats.org/officeDocument/2006/relationships/tableStyles" Target="/ppt/tableStyles.xml" Id="R887934438c384a6e" /><Relationship Type="http://schemas.openxmlformats.org/officeDocument/2006/relationships/slide" Target="/ppt/slides/slide1.xml" Id="Rd5db87e8ffc64ea3" /><Relationship Type="http://schemas.openxmlformats.org/officeDocument/2006/relationships/slide" Target="/ppt/slides/slide2.xml" Id="R35675347f88044be" /><Relationship Type="http://schemas.openxmlformats.org/officeDocument/2006/relationships/slide" Target="/ppt/slides/slide3.xml" Id="R0c676bfb9de54f04" /><Relationship Type="http://schemas.openxmlformats.org/officeDocument/2006/relationships/slide" Target="/ppt/slides/slide4.xml" Id="Ra67694c487b74014" /><Relationship Type="http://schemas.openxmlformats.org/officeDocument/2006/relationships/slide" Target="/ppt/slides/slide5.xml" Id="Ref7fe9cbc5534baf" /><Relationship Type="http://schemas.openxmlformats.org/officeDocument/2006/relationships/slide" Target="/ppt/slides/slide6.xml" Id="R9324d888f10d4baf" /><Relationship Type="http://schemas.openxmlformats.org/officeDocument/2006/relationships/slide" Target="/ppt/slides/slide7.xml" Id="R496c77f28578418b" /><Relationship Type="http://schemas.openxmlformats.org/officeDocument/2006/relationships/slide" Target="/ppt/slides/slide8.xml" Id="R41419535b5214c26" /><Relationship Type="http://schemas.openxmlformats.org/officeDocument/2006/relationships/slide" Target="/ppt/slides/slide9.xml" Id="R1b89be1e158e4663" /><Relationship Type="http://schemas.openxmlformats.org/officeDocument/2006/relationships/slide" Target="/ppt/slides/slide10.xml" Id="Rc7555460447a46bf" /><Relationship Type="http://schemas.openxmlformats.org/officeDocument/2006/relationships/slide" Target="/ppt/slides/slide11.xml" Id="R4735d8445707492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ee762b6203e4a4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Governance Green">
  <a:themeElements>
    <a:clrScheme name="GovernanceGreen">
      <a:dk1>
        <a:srgbClr val="253047"/>
      </a:dk1>
      <a:lt1>
        <a:srgbClr val="FFFFFF"/>
      </a:lt1>
      <a:dk2>
        <a:srgbClr val="1D4E3A"/>
      </a:dk2>
      <a:lt2>
        <a:srgbClr val="F7F9FB"/>
      </a:lt2>
      <a:accent1>
        <a:srgbClr val="2F6B57"/>
      </a:accent1>
      <a:accent2>
        <a:srgbClr val="86B79A"/>
      </a:accent2>
      <a:accent3>
        <a:srgbClr val="F2C56B"/>
      </a:accent3>
      <a:accent4>
        <a:srgbClr val="7E9BB7"/>
      </a:accent4>
      <a:accent5>
        <a:srgbClr val="B67D7D"/>
      </a:accent5>
      <a:accent6>
        <a:srgbClr val="8A8F98"/>
      </a:accent6>
      <a:hlink>
        <a:srgbClr val="2F6B57"/>
      </a:hlink>
      <a:folHlink>
        <a:srgbClr val="7E9BB7"/>
      </a:folHlink>
    </a:clrScheme>
    <a:fontScheme name="Office">
      <a:majorFont>
        <a:latin typeface="Microsoft YaHei"/>
        <a:ea typeface="Microsoft YaHei"/>
        <a:cs typeface="Arial"/>
      </a:majorFont>
      <a:minorFont>
        <a:latin typeface="Microsoft YaHei"/>
        <a:ea typeface="Microsoft YaHei"/>
        <a:cs typeface="Arial"/>
      </a:minorFont>
    </a:fontScheme>
    <a:fmtScheme name="GovernanceGreen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254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lt1"/>
        </a:solidFill>
        <a:solidFill>
          <a:schemeClr val="lt2"/>
        </a:soli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01ab306f3a645e9" /><Relationship Type="http://schemas.openxmlformats.org/officeDocument/2006/relationships/notesMaster" Target="/ppt/notesMasters/notesMaster1.xml" Id="R271006a084cb4d8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22664af5fd0491f" /><Relationship Type="http://schemas.openxmlformats.org/officeDocument/2006/relationships/notesMaster" Target="/ppt/notesMasters/notesMaster1.xml" Id="Rce25f4304254479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3617685ff39409a" /><Relationship Type="http://schemas.openxmlformats.org/officeDocument/2006/relationships/notesMaster" Target="/ppt/notesMasters/notesMaster1.xml" Id="R9c1b53cc40e94a6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bec9c44c1a24d92" /><Relationship Type="http://schemas.openxmlformats.org/officeDocument/2006/relationships/notesMaster" Target="/ppt/notesMasters/notesMaster1.xml" Id="R0df6ea10a14949f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920cd3c6fa74781" /><Relationship Type="http://schemas.openxmlformats.org/officeDocument/2006/relationships/notesMaster" Target="/ppt/notesMasters/notesMaster1.xml" Id="R4fe9811bfcca49e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5b8d9b467194244" /><Relationship Type="http://schemas.openxmlformats.org/officeDocument/2006/relationships/notesMaster" Target="/ppt/notesMasters/notesMaster1.xml" Id="R70269823d01749e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068948ebadf43bb" /><Relationship Type="http://schemas.openxmlformats.org/officeDocument/2006/relationships/notesMaster" Target="/ppt/notesMasters/notesMaster1.xml" Id="R534f7d4b20ce480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3741103448d43ba" /><Relationship Type="http://schemas.openxmlformats.org/officeDocument/2006/relationships/notesMaster" Target="/ppt/notesMasters/notesMaster1.xml" Id="Rd72c024dec0747d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77cbcd0f348401b" /><Relationship Type="http://schemas.openxmlformats.org/officeDocument/2006/relationships/notesMaster" Target="/ppt/notesMasters/notesMaster1.xml" Id="R67de9a4adb57430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de3a0819c0b498c" /><Relationship Type="http://schemas.openxmlformats.org/officeDocument/2006/relationships/notesMaster" Target="/ppt/notesMasters/notesMaster1.xml" Id="Rb46692fdaf3a42f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7e88de1eb8740e0" /><Relationship Type="http://schemas.openxmlformats.org/officeDocument/2006/relationships/notesMaster" Target="/ppt/notesMasters/notesMaster1.xml" Id="R3fe3e77f9f5c42d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0d0bd49b624545" /></Relationships>
</file>

<file path=ppt/slideLayouts/slideLayout1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3a6ab8196e54479" /><Relationship Type="http://schemas.openxmlformats.org/officeDocument/2006/relationships/slideLayout" Target="/ppt/slideLayouts/slideLayout1.xml" Id="Rbe3958a250944d6a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e3958a250944d6a"/>
  </p:sldLayoutIdLst>
</p:sldMaster>
</file>

<file path=ppt/slideMasters/theme/theme2.xml><?xml version="1.0" encoding="utf-8"?>
<a:theme xmlns:a="http://schemas.openxmlformats.org/drawingml/2006/main" name="Governance Green">
  <a:themeElements>
    <a:clrScheme name="GovernanceGreen">
      <a:dk1>
        <a:srgbClr val="253047"/>
      </a:dk1>
      <a:lt1>
        <a:srgbClr val="FFFFFF"/>
      </a:lt1>
      <a:dk2>
        <a:srgbClr val="1D4E3A"/>
      </a:dk2>
      <a:lt2>
        <a:srgbClr val="F7F9FB"/>
      </a:lt2>
      <a:accent1>
        <a:srgbClr val="2F6B57"/>
      </a:accent1>
      <a:accent2>
        <a:srgbClr val="86B79A"/>
      </a:accent2>
      <a:accent3>
        <a:srgbClr val="F2C56B"/>
      </a:accent3>
      <a:accent4>
        <a:srgbClr val="7E9BB7"/>
      </a:accent4>
      <a:accent5>
        <a:srgbClr val="B67D7D"/>
      </a:accent5>
      <a:accent6>
        <a:srgbClr val="8A8F98"/>
      </a:accent6>
      <a:hlink>
        <a:srgbClr val="2F6B57"/>
      </a:hlink>
      <a:folHlink>
        <a:srgbClr val="7E9BB7"/>
      </a:folHlink>
    </a:clrScheme>
    <a:fontScheme name="Office">
      <a:majorFont>
        <a:latin typeface="Microsoft YaHei"/>
        <a:ea typeface="Microsoft YaHei"/>
        <a:cs typeface="Arial"/>
      </a:majorFont>
      <a:minorFont>
        <a:latin typeface="Microsoft YaHei"/>
        <a:ea typeface="Microsoft YaHei"/>
        <a:cs typeface="Arial"/>
      </a:minorFont>
    </a:fontScheme>
    <a:fmtScheme name="GovernanceGreen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254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lt1"/>
        </a:solidFill>
        <a:solidFill>
          <a:schemeClr val="lt2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b638c5f67942ae" /><Relationship Type="http://schemas.openxmlformats.org/officeDocument/2006/relationships/notesSlide" Target="/ppt/notesSlides/notesSlide1.xml" Id="R0a50bac20aff4c3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57003e6dd74f5c" /><Relationship Type="http://schemas.openxmlformats.org/officeDocument/2006/relationships/notesSlide" Target="/ppt/notesSlides/notesSlide2.xml" Id="R34e51f0f082b4ea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62c2a899ea4c9c" /><Relationship Type="http://schemas.openxmlformats.org/officeDocument/2006/relationships/notesSlide" Target="/ppt/notesSlides/notesSlide3.xml" Id="R517bc0010746463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5e6e5ccbab4fe4" /><Relationship Type="http://schemas.openxmlformats.org/officeDocument/2006/relationships/notesSlide" Target="/ppt/notesSlides/notesSlide4.xml" Id="R0e3c838f4a914c6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0f929652c24bb8" /><Relationship Type="http://schemas.openxmlformats.org/officeDocument/2006/relationships/notesSlide" Target="/ppt/notesSlides/notesSlide5.xml" Id="R9032b544c98c4ca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08926a68a8452b" /><Relationship Type="http://schemas.openxmlformats.org/officeDocument/2006/relationships/notesSlide" Target="/ppt/notesSlides/notesSlide6.xml" Id="R85043b7cc933406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5c8e54aae946f8" /><Relationship Type="http://schemas.openxmlformats.org/officeDocument/2006/relationships/notesSlide" Target="/ppt/notesSlides/notesSlide7.xml" Id="Ree37aadeefab4e5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90c658c8ab454d" /><Relationship Type="http://schemas.openxmlformats.org/officeDocument/2006/relationships/notesSlide" Target="/ppt/notesSlides/notesSlide8.xml" Id="Redc659a343de4e8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d312a91eed4732" /><Relationship Type="http://schemas.openxmlformats.org/officeDocument/2006/relationships/notesSlide" Target="/ppt/notesSlides/notesSlide9.xml" Id="Rf8f5a444ad2b46e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98e2304fb34a50" /><Relationship Type="http://schemas.openxmlformats.org/officeDocument/2006/relationships/notesSlide" Target="/ppt/notesSlides/notesSlide10.xml" Id="Rbf89c95da2a742c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9900242b564442" /><Relationship Type="http://schemas.openxmlformats.org/officeDocument/2006/relationships/notesSlide" Target="/ppt/notesSlides/notesSlide11.xml" Id="Rf20a895b93044df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Object_1"/>
        <p:cNvGrpSpPr/>
        <p:nvPr/>
      </p:nvGrpSpPr>
      <p:grpSpPr>
        <a:xfrm xmlns:a="http://schemas.openxmlformats.org/drawingml/2006/main"/>
      </p:grpSpPr>
      <p:sp>
        <p:nvSpPr>
          <p:cNvPr id="2" name="Object_2">
            <a:extLst xmlns:a="http://schemas.openxmlformats.org/drawingml/2006/main">
              <a:ext uri="{FF2B5EF4-FFF2-40B4-BE49-F238E27FC236}">
                <a16:creationId xmlns:a16="http://schemas.microsoft.com/office/drawing/2014/main" id="{A6BE5592-A4ED-43C4-ABF9-BF2908B3F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731520"/>
            <a:ext cx="1078992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91440" tIns="45720" rIns="91440" bIns="45720" anchor="t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3300" b="1">
                <a:solidFill>
                  <a:srgbClr val="1D4E3A"/>
                </a:solidFill>
                <a:latin typeface="Microsoft YaHei"/>
                <a:ea typeface="Microsoft YaHei"/>
                <a:cs typeface="Microsoft YaHei"/>
              </a:rPr>
              <a:t>春晖公益协同计划｜季度治理会材料</a:t>
            </a:r>
            <a:endParaRPr sz="3300"/>
          </a:p>
        </p:txBody>
      </p:sp>
      <p:sp>
        <p:nvSpPr>
          <p:cNvPr id="3" name="Object_3">
            <a:extLst xmlns:a="http://schemas.openxmlformats.org/drawingml/2006/main">
              <a:ext uri="{FF2B5EF4-FFF2-40B4-BE49-F238E27FC236}">
                <a16:creationId xmlns:a16="http://schemas.microsoft.com/office/drawing/2014/main" id="{35FF3AEA-B3B1-4DA5-9966-84EED9CAF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1640"/>
            <a:ext cx="795528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91440" tIns="45720" rIns="91440" bIns="45720" anchor="t"/>
          <a:lstStyle xmlns:a="http://schemas.openxmlformats.org/drawingml/2006/main">
            <a:defPPr>
              <a:defRPr sz="16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6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2026 Q2：里程碑、风险与决策项</a:t>
            </a:r>
            <a:endParaRPr sz="1650"/>
          </a:p>
        </p:txBody>
      </p:sp>
      <p:sp>
        <p:nvSpPr>
          <p:cNvPr id="4" name="Object_4">
            <a:extLst xmlns:a="http://schemas.openxmlformats.org/drawingml/2006/main">
              <a:ext uri="{FF2B5EF4-FFF2-40B4-BE49-F238E27FC236}">
                <a16:creationId xmlns:a16="http://schemas.microsoft.com/office/drawing/2014/main" id="{B8C43FF3-4E4E-4197-AC35-6747C3238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423160"/>
            <a:ext cx="3931920" cy="777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EC"/>
          </a:solidFill>
          <a:ln xmlns:a="http://schemas.openxmlformats.org/drawingml/2006/main" w="9525">
            <a:solidFill>
              <a:srgbClr val="B7D7C5"/>
            </a:solidFill>
          </a:ln>
        </p:spPr>
        <p:txBody>
          <a:bodyPr xmlns:a="http://schemas.openxmlformats.org/drawingml/2006/main" wrap="square" lIns="91440" tIns="45720" rIns="91440" bIns="45720" anchor="t"/>
          <a:lstStyle xmlns:a="http://schemas.openxmlformats.org/drawingml/2006/main">
            <a:defPPr>
              <a:defRPr sz="1350">
                <a:solidFill>
                  <a:srgbClr val="1D4E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350">
                <a:solidFill>
                  <a:srgbClr val="1D4E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1D4E3A"/>
                </a:solidFill>
                <a:latin typeface="Microsoft YaHei"/>
                <a:ea typeface="Microsoft YaHei"/>
                <a:cs typeface="Microsoft YaHei"/>
              </a:rPr>
              <a:t>治理包：v1.8 当前</a:t>
            </a:r>
            <a:endParaRPr sz="1350"/>
          </a:p>
          <a:p xmlns:a="http://schemas.openxmlformats.org/drawingml/2006/main">
            <a:pPr>
              <a:buNone/>
              <a:defRPr sz="1350">
                <a:solidFill>
                  <a:srgbClr val="1D4E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1D4E3A"/>
                </a:solidFill>
                <a:latin typeface="Microsoft YaHei"/>
                <a:ea typeface="Microsoft YaHei"/>
                <a:cs typeface="Microsoft YaHei"/>
              </a:rPr>
              <a:t>资料口径：2026-07-01</a:t>
            </a:r>
            <a:endParaRPr sz="1350"/>
          </a:p>
        </p:txBody>
      </p:sp>
      <p:sp>
        <p:nvSpPr>
          <p:cNvPr id="5" name="Object_5">
            <a:extLst xmlns:a="http://schemas.openxmlformats.org/drawingml/2006/main">
              <a:ext uri="{FF2B5EF4-FFF2-40B4-BE49-F238E27FC236}">
                <a16:creationId xmlns:a16="http://schemas.microsoft.com/office/drawing/2014/main" id="{5302C9D4-C2A9-4C63-927D-8E34DF092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040" y="2423160"/>
            <a:ext cx="5486400" cy="777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</a:ln>
        </p:spPr>
        <p:txBody>
          <a:bodyPr xmlns:a="http://schemas.openxmlformats.org/drawingml/2006/main" wrap="square" lIns="91440" tIns="45720" rIns="91440" bIns="45720" anchor="t"/>
          <a:lstStyle xmlns:a="http://schemas.openxmlformats.org/drawingml/2006/main">
            <a:defPPr>
              <a:defRPr sz="135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35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rPr>
              <a:t>项目办公室</a:t>
            </a:r>
            <a:endParaRPr sz="1350"/>
          </a:p>
          <a:p xmlns:a="http://schemas.openxmlformats.org/drawingml/2006/main">
            <a:pPr>
              <a:buNone/>
              <a:defRPr sz="135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rPr>
              <a:t>春晖公益协同计划（模拟项目资料）</a:t>
            </a:r>
            <a:endParaRPr sz="1350"/>
          </a:p>
        </p:txBody>
      </p:sp>
      <p:sp>
        <p:nvSpPr>
          <p:cNvPr id="6" name="Object_6">
            <a:extLst xmlns:a="http://schemas.openxmlformats.org/drawingml/2006/main">
              <a:ext uri="{FF2B5EF4-FFF2-40B4-BE49-F238E27FC236}">
                <a16:creationId xmlns:a16="http://schemas.microsoft.com/office/drawing/2014/main" id="{12168F81-BC41-43B5-968B-E2D0D9B7A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1240" y="502920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5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Object_7">
            <a:extLst xmlns:a="http://schemas.openxmlformats.org/drawingml/2006/main">
              <a:ext uri="{FF2B5EF4-FFF2-40B4-BE49-F238E27FC236}">
                <a16:creationId xmlns:a16="http://schemas.microsoft.com/office/drawing/2014/main" id="{9B8658C0-0213-4480-8903-3697C583F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9880" y="804672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6B79A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01" name="Object_8">
            <a:extLst xmlns:a="http://schemas.openxmlformats.org/drawingml/2006/main">
              <a:ext uri="{FF2B5EF4-FFF2-40B4-BE49-F238E27FC236}">
                <a16:creationId xmlns:a16="http://schemas.microsoft.com/office/drawing/2014/main" id="{ECC4A376-6211-481D-A0D9-EDFADE200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6446520"/>
            <a:ext cx="11384280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91440" tIns="45720" rIns="91440" bIns="45720" anchor="t"/>
          <a:lstStyle xmlns:a="http://schemas.openxmlformats.org/drawingml/2006/main">
            <a:defPPr>
              <a:defRPr sz="85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85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春晖公益协同计划｜治理会材料 v1.8 当前｜资料口径：2026-07-01｜封面</a:t>
            </a:r>
            <a:endParaRPr sz="850"/>
          </a:p>
        </p:txBody>
      </p:sp>
    </p:spTree>
    <p:extLst>
      <p:ext uri="{BB962C8B-B14F-4D97-AF65-F5344CB8AC3E}">
        <p14:creationId xmlns:p14="http://schemas.microsoft.com/office/powerpoint/2010/main" val="146455910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Object_1"/>
        <p:cNvGrpSpPr/>
        <p:nvPr/>
      </p:nvGrpSpPr>
      <p:grpSpPr>
        <a:xfrm xmlns:a="http://schemas.openxmlformats.org/drawingml/2006/main"/>
      </p:grpSpPr>
      <p:sp>
        <p:nvSpPr>
          <p:cNvPr id="2" name="Object_2">
            <a:extLst xmlns:a="http://schemas.openxmlformats.org/drawingml/2006/main">
              <a:ext uri="{FF2B5EF4-FFF2-40B4-BE49-F238E27FC236}">
                <a16:creationId xmlns:a16="http://schemas.microsoft.com/office/drawing/2014/main" id="{1502D5D3-1657-4F28-AD5F-6CF67BA51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1148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91440" tIns="45720" rIns="91440" bIns="45720" anchor="t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450" b="1">
                <a:solidFill>
                  <a:srgbClr val="1D4E3A"/>
                </a:solidFill>
                <a:latin typeface="Microsoft YaHei"/>
                <a:ea typeface="Microsoft YaHei"/>
                <a:cs typeface="Microsoft YaHei"/>
              </a:rPr>
              <a:t>会议材料目录</a:t>
            </a:r>
            <a:endParaRPr sz="2450"/>
          </a:p>
        </p:txBody>
      </p:sp>
      <p:sp>
        <p:nvSpPr>
          <p:cNvPr id="3" name="Object_3">
            <a:extLst xmlns:a="http://schemas.openxmlformats.org/drawingml/2006/main">
              <a:ext uri="{FF2B5EF4-FFF2-40B4-BE49-F238E27FC236}">
                <a16:creationId xmlns:a16="http://schemas.microsoft.com/office/drawing/2014/main" id="{53725654-09C1-40C7-B3CF-0950C489C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1143000"/>
            <a:ext cx="4754880" cy="2926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D0"/>
            </a:solidFill>
          </a:ln>
        </p:spPr>
        <p:txBody>
          <a:bodyPr xmlns:a="http://schemas.openxmlformats.org/drawingml/2006/main" wrap="square" lIns="91440" tIns="45720" rIns="91440" bIns="45720" anchor="t"/>
          <a:lstStyle xmlns:a="http://schemas.openxmlformats.org/drawingml/2006/main">
            <a:defPPr>
              <a:defRPr sz="150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50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rPr>
              <a:t>01 总览与关键变动</a:t>
            </a:r>
            <a:endParaRPr sz="1500"/>
          </a:p>
          <a:p xmlns:a="http://schemas.openxmlformats.org/drawingml/2006/main">
            <a:pPr>
              <a:buNone/>
              <a:defRPr sz="150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rPr>
              <a:t>02 Q2-Q3 实施时间线</a:t>
            </a:r>
            <a:endParaRPr sz="1500"/>
          </a:p>
          <a:p xmlns:a="http://schemas.openxmlformats.org/drawingml/2006/main">
            <a:pPr>
              <a:buNone/>
              <a:defRPr sz="150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rPr>
              <a:t>03 工作流进度</a:t>
            </a:r>
            <a:endParaRPr sz="1500"/>
          </a:p>
          <a:p xmlns:a="http://schemas.openxmlformats.org/drawingml/2006/main">
            <a:pPr>
              <a:buNone/>
              <a:defRPr sz="150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rPr>
              <a:t>04 治理会决策与风险跟踪</a:t>
            </a:r>
            <a:endParaRPr sz="1500"/>
          </a:p>
          <a:p xmlns:a="http://schemas.openxmlformats.org/drawingml/2006/main">
            <a:pPr>
              <a:buNone/>
              <a:defRPr sz="150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rPr>
              <a:t>05 附录、历史归档与模板页</a:t>
            </a:r>
            <a:endParaRPr sz="1500"/>
          </a:p>
        </p:txBody>
      </p:sp>
      <p:sp>
        <p:nvSpPr>
          <p:cNvPr id="4" name="Object_4">
            <a:extLst xmlns:a="http://schemas.openxmlformats.org/drawingml/2006/main">
              <a:ext uri="{FF2B5EF4-FFF2-40B4-BE49-F238E27FC236}">
                <a16:creationId xmlns:a16="http://schemas.microsoft.com/office/drawing/2014/main" id="{FBA44786-0A65-4337-B5F7-6D52BF70D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1143000"/>
            <a:ext cx="5212080" cy="1097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6"/>
          </a:solidFill>
          <a:ln xmlns:a="http://schemas.openxmlformats.org/drawingml/2006/main" w="9525">
            <a:solidFill>
              <a:srgbClr val="F2C56B"/>
            </a:solidFill>
          </a:ln>
        </p:spPr>
        <p:txBody>
          <a:bodyPr xmlns:a="http://schemas.openxmlformats.org/drawingml/2006/main" wrap="square" lIns="91440" tIns="45720" rIns="91440" bIns="45720" anchor="t"/>
          <a:lstStyle xmlns:a="http://schemas.openxmlformats.org/drawingml/2006/main">
            <a:defPPr>
              <a:defRPr sz="1450">
                <a:solidFill>
                  <a:srgbClr val="7A4A0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450">
                <a:solidFill>
                  <a:srgbClr val="7A4A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50">
                <a:solidFill>
                  <a:srgbClr val="7A4A00"/>
                </a:solidFill>
                <a:latin typeface="Microsoft YaHei"/>
                <a:ea typeface="Microsoft YaHei"/>
                <a:cs typeface="Microsoft YaHei"/>
              </a:rPr>
              <a:t>会议议题</a:t>
            </a:r>
            <a:endParaRPr sz="1450"/>
          </a:p>
          <a:p xmlns:a="http://schemas.openxmlformats.org/drawingml/2006/main">
            <a:pPr>
              <a:buNone/>
              <a:defRPr sz="1450">
                <a:solidFill>
                  <a:srgbClr val="7A4A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50">
                <a:solidFill>
                  <a:srgbClr val="7A4A00"/>
                </a:solidFill>
                <a:latin typeface="Microsoft YaHei"/>
                <a:ea typeface="Microsoft YaHei"/>
                <a:cs typeface="Microsoft YaHei"/>
              </a:rPr>
              <a:t>社区站点协作、服务包准备、采购决策与风险跟踪。</a:t>
            </a:r>
            <a:endParaRPr sz="1450"/>
          </a:p>
        </p:txBody>
      </p:sp>
      <p:sp>
        <p:nvSpPr>
          <p:cNvPr id="5" name="Object_5">
            <a:extLst xmlns:a="http://schemas.openxmlformats.org/drawingml/2006/main">
              <a:ext uri="{FF2B5EF4-FFF2-40B4-BE49-F238E27FC236}">
                <a16:creationId xmlns:a16="http://schemas.microsoft.com/office/drawing/2014/main" id="{AC519C11-2552-4180-A963-D2C555611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2514600"/>
            <a:ext cx="5212080" cy="1280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</a:ln>
        </p:spPr>
        <p:txBody>
          <a:bodyPr xmlns:a="http://schemas.openxmlformats.org/drawingml/2006/main" wrap="square" lIns="91440" tIns="45720" rIns="91440" bIns="45720" anchor="t"/>
          <a:lstStyle xmlns:a="http://schemas.openxmlformats.org/drawingml/2006/main">
            <a:defPPr>
              <a:defRPr sz="145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45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5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rPr>
              <a:t>材料归档</a:t>
            </a:r>
            <a:endParaRPr sz="1450"/>
          </a:p>
          <a:p xmlns:a="http://schemas.openxmlformats.org/drawingml/2006/main">
            <a:pPr>
              <a:buNone/>
              <a:defRPr sz="145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5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rPr>
              <a:t>本期工作材料、2025 年协作回顾、内部版式样例。</a:t>
            </a:r>
            <a:endParaRPr sz="1450"/>
          </a:p>
        </p:txBody>
      </p:sp>
      <p:sp>
        <p:nvSpPr>
          <p:cNvPr id="902" name="Object_6">
            <a:extLst xmlns:a="http://schemas.openxmlformats.org/drawingml/2006/main">
              <a:ext uri="{FF2B5EF4-FFF2-40B4-BE49-F238E27FC236}">
                <a16:creationId xmlns:a16="http://schemas.microsoft.com/office/drawing/2014/main" id="{B65338A9-EF2C-49E9-B29C-0B39F3C7D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6446520"/>
            <a:ext cx="11384280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91440" tIns="45720" rIns="91440" bIns="45720" anchor="t"/>
          <a:lstStyle xmlns:a="http://schemas.openxmlformats.org/drawingml/2006/main">
            <a:defPPr>
              <a:defRPr sz="85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85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春晖公益协同计划｜治理会材料 v1.8 当前｜资料口径：2026-07-01｜目录</a:t>
            </a:r>
            <a:endParaRPr sz="850"/>
          </a:p>
        </p:txBody>
      </p:sp>
    </p:spTree>
    <p:extLst>
      <p:ext uri="{BB962C8B-B14F-4D97-AF65-F5344CB8AC3E}">
        <p14:creationId xmlns:p14="http://schemas.microsoft.com/office/powerpoint/2010/main" val="182680351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Object_1"/>
        <p:cNvGrpSpPr/>
        <p:nvPr/>
      </p:nvGrpSpPr>
      <p:grpSpPr>
        <a:xfrm xmlns:a="http://schemas.openxmlformats.org/drawingml/2006/main"/>
      </p:grpSpPr>
      <p:sp>
        <p:nvSpPr>
          <p:cNvPr id="2" name="Object_2">
            <a:extLst xmlns:a="http://schemas.openxmlformats.org/drawingml/2006/main">
              <a:ext uri="{FF2B5EF4-FFF2-40B4-BE49-F238E27FC236}">
                <a16:creationId xmlns:a16="http://schemas.microsoft.com/office/drawing/2014/main" id="{556852B6-876C-426A-8916-8EEB82B6C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65760"/>
            <a:ext cx="9601200" cy="4389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91440" tIns="45720" rIns="91440" bIns="45720" anchor="t"/>
          <a:lstStyle xmlns:a="http://schemas.openxmlformats.org/drawingml/2006/main">
            <a:defPPr>
              <a:defRPr sz="2200" b="1">
                <a:solidFill>
                  <a:srgbClr val="1D4E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200" b="1">
                <a:solidFill>
                  <a:srgbClr val="1D4E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00" b="1">
                <a:solidFill>
                  <a:srgbClr val="1D4E3A"/>
                </a:solidFill>
                <a:latin typeface="Microsoft YaHei"/>
                <a:ea typeface="Microsoft YaHei"/>
                <a:cs typeface="Microsoft YaHei"/>
              </a:rPr>
              <a:t>一页总览｜v1.8 当前治理包工作状态</a:t>
            </a:r>
            <a:endParaRPr sz="2200"/>
          </a:p>
        </p:txBody>
      </p:sp>
      <p:sp>
        <p:nvSpPr>
          <p:cNvPr id="3" name="Object_3">
            <a:extLst xmlns:a="http://schemas.openxmlformats.org/drawingml/2006/main">
              <a:ext uri="{FF2B5EF4-FFF2-40B4-BE49-F238E27FC236}">
                <a16:creationId xmlns:a16="http://schemas.microsoft.com/office/drawing/2014/main" id="{4F17F40E-2849-4DB0-A502-AB863A3F0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960120"/>
            <a:ext cx="2240280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CC7"/>
          </a:solidFill>
          <a:ln xmlns:a="http://schemas.openxmlformats.org/drawingml/2006/main" w="9525">
            <a:solidFill>
              <a:srgbClr val="E7B85D"/>
            </a:solidFill>
          </a:ln>
        </p:spPr>
        <p:txBody>
          <a:bodyPr xmlns:a="http://schemas.openxmlformats.org/drawingml/2006/main" wrap="square" lIns="91440" tIns="45720" rIns="91440" bIns="45720" anchor="t"/>
          <a:lstStyle xmlns:a="http://schemas.openxmlformats.org/drawingml/2006/main">
            <a:defPPr>
              <a:defRPr sz="1300" b="1">
                <a:solidFill>
                  <a:srgbClr val="7A4A0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300" b="1">
                <a:solidFill>
                  <a:srgbClr val="7A4A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>
                <a:solidFill>
                  <a:srgbClr val="7A4A00"/>
                </a:solidFill>
                <a:latin typeface="Microsoft YaHei"/>
                <a:ea typeface="Microsoft YaHei"/>
                <a:cs typeface="Microsoft YaHei"/>
              </a:rPr>
              <a:t>整体状态</a:t>
            </a:r>
            <a:endParaRPr sz="1300"/>
          </a:p>
          <a:p xmlns:a="http://schemas.openxmlformats.org/drawingml/2006/main">
            <a:pPr>
              <a:buNone/>
              <a:defRPr sz="1300" b="1">
                <a:solidFill>
                  <a:srgbClr val="7A4A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>
                <a:solidFill>
                  <a:srgbClr val="7A4A00"/>
                </a:solidFill>
                <a:latin typeface="Microsoft YaHei"/>
                <a:ea typeface="Microsoft YaHei"/>
                <a:cs typeface="Microsoft YaHei"/>
              </a:rPr>
              <a:t>黄色关注，专项跟踪</a:t>
            </a:r>
            <a:endParaRPr sz="1300"/>
          </a:p>
        </p:txBody>
      </p:sp>
      <p:sp>
        <p:nvSpPr>
          <p:cNvPr id="4" name="Object_4">
            <a:extLst xmlns:a="http://schemas.openxmlformats.org/drawingml/2006/main">
              <a:ext uri="{FF2B5EF4-FFF2-40B4-BE49-F238E27FC236}">
                <a16:creationId xmlns:a16="http://schemas.microsoft.com/office/drawing/2014/main" id="{F4946948-7D0E-4AB2-BE5A-BFFCBC73B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240" y="960120"/>
            <a:ext cx="2514600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</a:ln>
        </p:spPr>
        <p:txBody>
          <a:bodyPr xmlns:a="http://schemas.openxmlformats.org/drawingml/2006/main" wrap="square" lIns="91440" tIns="45720" rIns="91440" bIns="45720" anchor="t"/>
          <a:lstStyle xmlns:a="http://schemas.openxmlformats.org/drawingml/2006/main">
            <a:defPPr>
              <a:defRPr sz="130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30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rPr>
              <a:t>服务站签约</a:t>
            </a:r>
            <a:endParaRPr sz="1300"/>
          </a:p>
          <a:p xmlns:a="http://schemas.openxmlformats.org/drawingml/2006/main">
            <a:pPr>
              <a:buNone/>
              <a:defRPr sz="130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rPr>
              <a:t>6月30日已完成</a:t>
            </a:r>
            <a:endParaRPr sz="1300"/>
          </a:p>
        </p:txBody>
      </p:sp>
      <p:sp>
        <p:nvSpPr>
          <p:cNvPr id="5" name="Object_5">
            <a:extLst xmlns:a="http://schemas.openxmlformats.org/drawingml/2006/main">
              <a:ext uri="{FF2B5EF4-FFF2-40B4-BE49-F238E27FC236}">
                <a16:creationId xmlns:a16="http://schemas.microsoft.com/office/drawing/2014/main" id="{EBA54940-26F6-4D9D-BF5C-A462587A7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6440" y="960120"/>
            <a:ext cx="2514600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</a:ln>
        </p:spPr>
        <p:txBody>
          <a:bodyPr xmlns:a="http://schemas.openxmlformats.org/drawingml/2006/main" wrap="square" lIns="91440" tIns="45720" rIns="91440" bIns="45720" anchor="t"/>
          <a:lstStyle xmlns:a="http://schemas.openxmlformats.org/drawingml/2006/main">
            <a:defPPr>
              <a:defRPr sz="120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20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rPr>
              <a:t>数据回收口径</a:t>
            </a:r>
            <a:endParaRPr sz="1300"/>
          </a:p>
          <a:p xmlns:a="http://schemas.openxmlformats.org/drawingml/2006/main">
            <a:pPr>
              <a:buNone/>
              <a:defRPr sz="120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rPr>
              <a:t>初筛完成，7月3日抽样复核</a:t>
            </a:r>
            <a:endParaRPr sz="1300"/>
          </a:p>
        </p:txBody>
      </p:sp>
      <p:sp>
        <p:nvSpPr>
          <p:cNvPr id="6" name="Object_6">
            <a:extLst xmlns:a="http://schemas.openxmlformats.org/drawingml/2006/main">
              <a:ext uri="{FF2B5EF4-FFF2-40B4-BE49-F238E27FC236}">
                <a16:creationId xmlns:a16="http://schemas.microsoft.com/office/drawing/2014/main" id="{7856B2BE-6DA1-407A-B31D-FE8EF6E0D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960120"/>
            <a:ext cx="2514600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</a:ln>
        </p:spPr>
        <p:txBody>
          <a:bodyPr xmlns:a="http://schemas.openxmlformats.org/drawingml/2006/main" wrap="square" lIns="91440" tIns="45720" rIns="91440" bIns="45720" anchor="t"/>
          <a:lstStyle xmlns:a="http://schemas.openxmlformats.org/drawingml/2006/main">
            <a:defPPr>
              <a:defRPr sz="120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20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rPr>
              <a:t>采购口径待治理会确认</a:t>
            </a:r>
            <a:endParaRPr sz="1300"/>
          </a:p>
          <a:p xmlns:a="http://schemas.openxmlformats.org/drawingml/2006/main">
            <a:pPr>
              <a:buNone/>
              <a:defRPr sz="120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rPr>
              <a:t>7月5日前提请审定</a:t>
            </a:r>
            <a:endParaRPr sz="1300"/>
          </a:p>
        </p:txBody>
      </p:sp>
      <p:graphicFrame>
        <p:nvGraphicFramePr>
          <p:cNvPr id="7" name="Object_7">
            <a:extLst xmlns:a="http://schemas.openxmlformats.org/drawingml/2006/main">
              <a:ext uri="{FF2B5EF4-FFF2-40B4-BE49-F238E27FC236}">
                <a16:creationId xmlns:a16="http://schemas.microsoft.com/office/drawing/2014/main" id="{4324EFD7-52AF-467E-B063-9670F1346280}"/>
              </a:ext>
            </a:extLst>
          </p:cNvPr>
          <p:cNvGraphicFramePr/>
          <p:nvPr/>
        </p:nvGraphicFramePr>
        <p:xfrm>
          <a:off xmlns:a="http://schemas.openxmlformats.org/drawingml/2006/main" x="594360" y="1874520"/>
          <a:ext xmlns:a="http://schemas.openxmlformats.org/drawingml/2006/main" cx="10652760" cy="260604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3175"/>
                <a:gridCol w="2905125"/>
                <a:gridCol w="3200400"/>
                <a:gridCol w="2004060"/>
              </a:tblGrid>
              <a:tr h="428625"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事项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2F6B57"/>
                    </a:solidFill>
                  </a:tcPr>
                </a:tc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当前状态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2F6B57"/>
                    </a:solidFill>
                  </a:tcPr>
                </a:tc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节点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2F6B57"/>
                    </a:solidFill>
                  </a:tcPr>
                </a:tc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责任组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2F6B57"/>
                    </a:solidFill>
                  </a:tcPr>
                </a:tc>
              </a:tr>
              <a:tr h="428625"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0">
                          <a:solidFill>
                            <a:srgbClr val="25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晨光社区服务站签约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F1F6F4"/>
                    </a:solidFill>
                  </a:tcPr>
                </a:tc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0">
                          <a:solidFill>
                            <a:srgbClr val="25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已完成，进入回访准备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F1F6F4"/>
                    </a:solidFill>
                  </a:tcPr>
                </a:tc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0">
                          <a:solidFill>
                            <a:srgbClr val="25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6月30日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F1F6F4"/>
                    </a:solidFill>
                  </a:tcPr>
                </a:tc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0">
                          <a:solidFill>
                            <a:srgbClr val="25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拓展组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F1F6F4"/>
                    </a:solidFill>
                  </a:tcPr>
                </a:tc>
              </a:tr>
              <a:tr h="428625"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0">
                          <a:solidFill>
                            <a:srgbClr val="25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服务包数据回收口径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0">
                          <a:solidFill>
                            <a:srgbClr val="25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初筛完成，进入抽样复核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0">
                          <a:solidFill>
                            <a:srgbClr val="25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7月3日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0">
                          <a:solidFill>
                            <a:srgbClr val="25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数据治理组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8625"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0">
                          <a:solidFill>
                            <a:srgbClr val="25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抽样复核包冻结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F1F6F4"/>
                    </a:solidFill>
                  </a:tcPr>
                </a:tc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0">
                          <a:solidFill>
                            <a:srgbClr val="25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冻结口径已确认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F1F6F4"/>
                    </a:solidFill>
                  </a:tcPr>
                </a:tc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0">
                          <a:solidFill>
                            <a:srgbClr val="25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7月4日，采购审定前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F1F6F4"/>
                    </a:solidFill>
                  </a:tcPr>
                </a:tc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0">
                          <a:solidFill>
                            <a:srgbClr val="25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数据复核小组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F1F6F4"/>
                    </a:solidFill>
                  </a:tcPr>
                </a:tc>
              </a:tr>
              <a:tr h="428625"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0">
                          <a:solidFill>
                            <a:srgbClr val="25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志愿者培训启动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0">
                          <a:solidFill>
                            <a:srgbClr val="25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启动日已锁定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0">
                          <a:solidFill>
                            <a:srgbClr val="25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7月15日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0">
                          <a:solidFill>
                            <a:srgbClr val="25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能力建设组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8625"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0">
                          <a:solidFill>
                            <a:srgbClr val="25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风险降级条件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F1F6F4"/>
                    </a:solidFill>
                  </a:tcPr>
                </a:tc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0">
                          <a:solidFill>
                            <a:srgbClr val="25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提交降级证据，后续复盘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F1F6F4"/>
                    </a:solidFill>
                  </a:tcPr>
                </a:tc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0">
                          <a:solidFill>
                            <a:srgbClr val="25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7月12日前；8月第一周复盘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F1F6F4"/>
                    </a:solidFill>
                  </a:tcPr>
                </a:tc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0">
                          <a:solidFill>
                            <a:srgbClr val="25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财务协同组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F1F6F4"/>
                    </a:solidFill>
                  </a:tcPr>
                </a:tc>
              </a:tr>
              <a:tr h="428625"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0">
                          <a:solidFill>
                            <a:srgbClr val="25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成本测算与风险口径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0">
                          <a:solidFill>
                            <a:srgbClr val="25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黄色关注，专项跟踪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0">
                          <a:solidFill>
                            <a:srgbClr val="25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8月第一周复盘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0">
                          <a:solidFill>
                            <a:srgbClr val="25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财务协同组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Object_8">
            <a:extLst xmlns:a="http://schemas.openxmlformats.org/drawingml/2006/main">
              <a:ext uri="{FF2B5EF4-FFF2-40B4-BE49-F238E27FC236}">
                <a16:creationId xmlns:a16="http://schemas.microsoft.com/office/drawing/2014/main" id="{F04A727F-24CC-4497-994C-5F03F749F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010150"/>
            <a:ext cx="1065276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7F1"/>
          </a:solidFill>
          <a:ln xmlns:a="http://schemas.openxmlformats.org/drawingml/2006/main" w="9525">
            <a:solidFill>
              <a:srgbClr val="C9D8D0"/>
            </a:solidFill>
          </a:ln>
        </p:spPr>
        <p:txBody>
          <a:bodyPr xmlns:a="http://schemas.openxmlformats.org/drawingml/2006/main" wrap="square" lIns="91440" tIns="45720" rIns="91440" bIns="45720" anchor="t"/>
          <a:lstStyle xmlns:a="http://schemas.openxmlformats.org/drawingml/2006/main">
            <a:defPPr>
              <a:defRPr sz="1250">
                <a:solidFill>
                  <a:srgbClr val="355B4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250">
                <a:solidFill>
                  <a:srgbClr val="355B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50">
                <a:solidFill>
                  <a:srgbClr val="355B45"/>
                </a:solidFill>
                <a:latin typeface="Microsoft YaHei"/>
                <a:ea typeface="Microsoft YaHei"/>
                <a:cs typeface="Microsoft YaHei"/>
              </a:rPr>
              <a:t>采购审定以7月4日抽样复核包冻结为前置。风险降级证据需在7月12日前提交，8月第一周复盘；当前保留黄色关注及专项跟踪。</a:t>
            </a:r>
            <a:endParaRPr sz="1250"/>
          </a:p>
        </p:txBody>
      </p:sp>
      <p:sp>
        <p:nvSpPr>
          <p:cNvPr id="903" name="Object_9">
            <a:extLst xmlns:a="http://schemas.openxmlformats.org/drawingml/2006/main">
              <a:ext uri="{FF2B5EF4-FFF2-40B4-BE49-F238E27FC236}">
                <a16:creationId xmlns:a16="http://schemas.microsoft.com/office/drawing/2014/main" id="{E86124C1-DEB0-43D5-AE67-5DC798630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6446520"/>
            <a:ext cx="11384280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91440" tIns="45720" rIns="91440" bIns="45720" anchor="t"/>
          <a:lstStyle xmlns:a="http://schemas.openxmlformats.org/drawingml/2006/main">
            <a:defPPr>
              <a:defRPr sz="85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85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春晖公益协同计划｜治理会材料 v1.8 当前｜资料口径：2026-07-01｜总览</a:t>
            </a:r>
            <a:endParaRPr sz="850"/>
          </a:p>
        </p:txBody>
      </p:sp>
    </p:spTree>
    <p:extLst>
      <p:ext uri="{BB962C8B-B14F-4D97-AF65-F5344CB8AC3E}">
        <p14:creationId xmlns:p14="http://schemas.microsoft.com/office/powerpoint/2010/main" val="201202754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Object_1"/>
        <p:cNvGrpSpPr/>
        <p:nvPr/>
      </p:nvGrpSpPr>
      <p:grpSpPr>
        <a:xfrm xmlns:a="http://schemas.openxmlformats.org/drawingml/2006/main"/>
      </p:grpSpPr>
      <p:sp>
        <p:nvSpPr>
          <p:cNvPr id="2" name="Object_2">
            <a:extLst xmlns:a="http://schemas.openxmlformats.org/drawingml/2006/main">
              <a:ext uri="{FF2B5EF4-FFF2-40B4-BE49-F238E27FC236}">
                <a16:creationId xmlns:a16="http://schemas.microsoft.com/office/drawing/2014/main" id="{BA22844A-2073-40C7-907D-32D303DB1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84048"/>
            <a:ext cx="9601200" cy="4389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91440" tIns="45720" rIns="91440" bIns="45720" anchor="t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200" b="1">
                <a:solidFill>
                  <a:srgbClr val="1D4E3A"/>
                </a:solidFill>
                <a:latin typeface="Microsoft YaHei"/>
                <a:ea typeface="Microsoft YaHei"/>
                <a:cs typeface="Microsoft YaHei"/>
              </a:rPr>
              <a:t>实施时间线｜Q2-Q3 关键节点</a:t>
            </a:r>
            <a:endParaRPr sz="2200"/>
          </a:p>
        </p:txBody>
      </p:sp>
      <p:sp>
        <p:nvSpPr>
          <p:cNvPr id="3" name="Object_3">
            <a:extLst xmlns:a="http://schemas.openxmlformats.org/drawingml/2006/main">
              <a:ext uri="{FF2B5EF4-FFF2-40B4-BE49-F238E27FC236}">
                <a16:creationId xmlns:a16="http://schemas.microsoft.com/office/drawing/2014/main" id="{DD54B636-FF72-4C28-86BF-C870C049D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121408"/>
            <a:ext cx="9875520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C9B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Object_4">
            <a:extLst xmlns:a="http://schemas.openxmlformats.org/drawingml/2006/main">
              <a:ext uri="{FF2B5EF4-FFF2-40B4-BE49-F238E27FC236}">
                <a16:creationId xmlns:a16="http://schemas.microsoft.com/office/drawing/2014/main" id="{C771026D-91BB-4A8E-A3D2-F5CFBE23C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874520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57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Object_5">
            <a:extLst xmlns:a="http://schemas.openxmlformats.org/drawingml/2006/main">
              <a:ext uri="{FF2B5EF4-FFF2-40B4-BE49-F238E27FC236}">
                <a16:creationId xmlns:a16="http://schemas.microsoft.com/office/drawing/2014/main" id="{1BF92721-E630-4583-B15D-2574636B3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23160"/>
            <a:ext cx="16764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</a:ln>
        </p:spPr>
        <p:txBody>
          <a:bodyPr xmlns:a="http://schemas.openxmlformats.org/drawingml/2006/main" wrap="square" lIns="91440" tIns="45720" rIns="91440" bIns="45720" anchor="t"/>
          <a:lstStyle xmlns:a="http://schemas.openxmlformats.org/drawingml/2006/main">
            <a:defPPr algn="ctr">
              <a:defRPr sz="105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buNone/>
              <a:defRPr sz="105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rPr>
              <a:t>服务站签约</a:t>
            </a:r>
            <a:endParaRPr sz="1050"/>
          </a:p>
          <a:p xmlns:a="http://schemas.openxmlformats.org/drawingml/2006/main">
            <a:pPr algn="ctr">
              <a:buNone/>
              <a:defRPr sz="105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rPr>
              <a:t>6月30日已完成</a:t>
            </a:r>
            <a:endParaRPr sz="1050"/>
          </a:p>
        </p:txBody>
      </p:sp>
      <p:sp>
        <p:nvSpPr>
          <p:cNvPr id="6" name="Object_6">
            <a:extLst xmlns:a="http://schemas.openxmlformats.org/drawingml/2006/main">
              <a:ext uri="{FF2B5EF4-FFF2-40B4-BE49-F238E27FC236}">
                <a16:creationId xmlns:a16="http://schemas.microsoft.com/office/drawing/2014/main" id="{73DB27C3-5347-4E5C-BB44-5F9A701AF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1874520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57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Object_7">
            <a:extLst xmlns:a="http://schemas.openxmlformats.org/drawingml/2006/main">
              <a:ext uri="{FF2B5EF4-FFF2-40B4-BE49-F238E27FC236}">
                <a16:creationId xmlns:a16="http://schemas.microsoft.com/office/drawing/2014/main" id="{8E43FB5F-9BC7-47C9-BCCF-156760DA8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423160"/>
            <a:ext cx="16764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</a:ln>
        </p:spPr>
        <p:txBody>
          <a:bodyPr xmlns:a="http://schemas.openxmlformats.org/drawingml/2006/main" wrap="square" lIns="91440" tIns="45720" rIns="91440" bIns="45720" anchor="t"/>
          <a:lstStyle xmlns:a="http://schemas.openxmlformats.org/drawingml/2006/main">
            <a:defPPr algn="ctr">
              <a:defRPr sz="105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buNone/>
              <a:defRPr sz="105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rPr>
              <a:t>数据回收口径</a:t>
            </a:r>
            <a:endParaRPr sz="1050"/>
          </a:p>
          <a:p xmlns:a="http://schemas.openxmlformats.org/drawingml/2006/main">
            <a:pPr algn="ctr">
              <a:buNone/>
              <a:defRPr sz="105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rPr>
              <a:t>7月3日抽样复核</a:t>
            </a:r>
            <a:endParaRPr sz="1050"/>
          </a:p>
        </p:txBody>
      </p:sp>
      <p:sp>
        <p:nvSpPr>
          <p:cNvPr id="8" name="Object_8">
            <a:extLst xmlns:a="http://schemas.openxmlformats.org/drawingml/2006/main">
              <a:ext uri="{FF2B5EF4-FFF2-40B4-BE49-F238E27FC236}">
                <a16:creationId xmlns:a16="http://schemas.microsoft.com/office/drawing/2014/main" id="{F06CC967-FF3D-408A-90F5-AF0AE18CE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74520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57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Object_9">
            <a:extLst xmlns:a="http://schemas.openxmlformats.org/drawingml/2006/main">
              <a:ext uri="{FF2B5EF4-FFF2-40B4-BE49-F238E27FC236}">
                <a16:creationId xmlns:a16="http://schemas.microsoft.com/office/drawing/2014/main" id="{7C523011-87E8-47B7-838D-F405502ED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423160"/>
            <a:ext cx="16764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</a:ln>
        </p:spPr>
        <p:txBody>
          <a:bodyPr xmlns:a="http://schemas.openxmlformats.org/drawingml/2006/main" wrap="square" lIns="91440" tIns="45720" rIns="91440" bIns="45720" anchor="t"/>
          <a:lstStyle xmlns:a="http://schemas.openxmlformats.org/drawingml/2006/main">
            <a:defPPr algn="ctr">
              <a:defRPr sz="105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buNone/>
              <a:defRPr sz="105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rPr>
              <a:t>培训启动</a:t>
            </a:r>
            <a:endParaRPr sz="1050"/>
          </a:p>
          <a:p xmlns:a="http://schemas.openxmlformats.org/drawingml/2006/main">
            <a:pPr algn="ctr">
              <a:buNone/>
              <a:defRPr sz="105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rPr>
              <a:t>7月15日，日期已锁定</a:t>
            </a:r>
            <a:endParaRPr sz="1050"/>
          </a:p>
        </p:txBody>
      </p:sp>
      <p:sp>
        <p:nvSpPr>
          <p:cNvPr id="10" name="Object_10">
            <a:extLst xmlns:a="http://schemas.openxmlformats.org/drawingml/2006/main">
              <a:ext uri="{FF2B5EF4-FFF2-40B4-BE49-F238E27FC236}">
                <a16:creationId xmlns:a16="http://schemas.microsoft.com/office/drawing/2014/main" id="{AD9E47DA-62AB-4064-B085-5BB9D6318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874520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57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Object_11">
            <a:extLst xmlns:a="http://schemas.openxmlformats.org/drawingml/2006/main">
              <a:ext uri="{FF2B5EF4-FFF2-40B4-BE49-F238E27FC236}">
                <a16:creationId xmlns:a16="http://schemas.microsoft.com/office/drawing/2014/main" id="{8823BCBB-A3DB-4EAB-A71A-5B4169023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423160"/>
            <a:ext cx="16764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</a:ln>
        </p:spPr>
        <p:txBody>
          <a:bodyPr xmlns:a="http://schemas.openxmlformats.org/drawingml/2006/main" wrap="square" lIns="91440" tIns="45720" rIns="91440" bIns="45720" anchor="t"/>
          <a:lstStyle xmlns:a="http://schemas.openxmlformats.org/drawingml/2006/main">
            <a:defPPr algn="ctr">
              <a:defRPr sz="105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buNone/>
              <a:defRPr sz="105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rPr>
              <a:t>首轮回访</a:t>
            </a:r>
            <a:endParaRPr sz="1050"/>
          </a:p>
          <a:p xmlns:a="http://schemas.openxmlformats.org/drawingml/2006/main">
            <a:pPr algn="ctr">
              <a:buNone/>
              <a:defRPr sz="105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rPr>
              <a:t>7月20日</a:t>
            </a:r>
            <a:endParaRPr sz="1050"/>
          </a:p>
        </p:txBody>
      </p:sp>
      <p:sp>
        <p:nvSpPr>
          <p:cNvPr id="12" name="Object_12">
            <a:extLst xmlns:a="http://schemas.openxmlformats.org/drawingml/2006/main">
              <a:ext uri="{FF2B5EF4-FFF2-40B4-BE49-F238E27FC236}">
                <a16:creationId xmlns:a16="http://schemas.microsoft.com/office/drawing/2014/main" id="{F0E19FF5-053C-442B-A1DC-0E74BB473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1874520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57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Object_13">
            <a:extLst xmlns:a="http://schemas.openxmlformats.org/drawingml/2006/main">
              <a:ext uri="{FF2B5EF4-FFF2-40B4-BE49-F238E27FC236}">
                <a16:creationId xmlns:a16="http://schemas.microsoft.com/office/drawing/2014/main" id="{34A4A664-A3D8-476D-8755-75782D1CA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423160"/>
            <a:ext cx="16764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</a:ln>
        </p:spPr>
        <p:txBody>
          <a:bodyPr xmlns:a="http://schemas.openxmlformats.org/drawingml/2006/main" wrap="square" lIns="91440" tIns="45720" rIns="91440" bIns="45720" anchor="t"/>
          <a:lstStyle xmlns:a="http://schemas.openxmlformats.org/drawingml/2006/main">
            <a:defPPr algn="ctr">
              <a:defRPr sz="105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buNone/>
              <a:defRPr sz="105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rPr>
              <a:t>风险复盘</a:t>
            </a:r>
            <a:endParaRPr sz="1050"/>
          </a:p>
          <a:p xmlns:a="http://schemas.openxmlformats.org/drawingml/2006/main">
            <a:pPr algn="ctr">
              <a:buNone/>
              <a:defRPr sz="105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rPr>
              <a:t>8月第一周，黄色关注</a:t>
            </a:r>
            <a:endParaRPr sz="1050"/>
          </a:p>
        </p:txBody>
      </p:sp>
      <p:sp>
        <p:nvSpPr>
          <p:cNvPr id="14" name="Object_14">
            <a:extLst xmlns:a="http://schemas.openxmlformats.org/drawingml/2006/main">
              <a:ext uri="{FF2B5EF4-FFF2-40B4-BE49-F238E27FC236}">
                <a16:creationId xmlns:a16="http://schemas.microsoft.com/office/drawing/2014/main" id="{FBB58D16-BB3F-4C80-BEB1-6E1194D0C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886200"/>
            <a:ext cx="475488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6"/>
          </a:solidFill>
          <a:ln xmlns:a="http://schemas.openxmlformats.org/drawingml/2006/main" w="9525">
            <a:solidFill>
              <a:srgbClr val="F2C56B"/>
            </a:solidFill>
          </a:ln>
        </p:spPr>
        <p:txBody>
          <a:bodyPr xmlns:a="http://schemas.openxmlformats.org/drawingml/2006/main" wrap="square" lIns="91440" tIns="45720" rIns="91440" bIns="45720" anchor="t"/>
          <a:lstStyle xmlns:a="http://schemas.openxmlformats.org/drawingml/2006/main">
            <a:defPPr>
              <a:defRPr sz="1300">
                <a:solidFill>
                  <a:srgbClr val="7A4A0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300">
                <a:solidFill>
                  <a:srgbClr val="7A4A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>
                <a:solidFill>
                  <a:srgbClr val="7A4A00"/>
                </a:solidFill>
                <a:latin typeface="Microsoft YaHei"/>
                <a:ea typeface="Microsoft YaHei"/>
                <a:cs typeface="Microsoft YaHei"/>
              </a:rPr>
              <a:t>采购口径待治理会确认：先于审定完成7月4日样本冻结，7月5日前提请审定。风险降级证据在7月12日前提交。</a:t>
            </a:r>
            <a:endParaRPr sz="1300"/>
          </a:p>
        </p:txBody>
      </p:sp>
      <p:sp>
        <p:nvSpPr>
          <p:cNvPr id="15" name="Object_15">
            <a:extLst xmlns:a="http://schemas.openxmlformats.org/drawingml/2006/main">
              <a:ext uri="{FF2B5EF4-FFF2-40B4-BE49-F238E27FC236}">
                <a16:creationId xmlns:a16="http://schemas.microsoft.com/office/drawing/2014/main" id="{3DF815F6-6528-4661-890B-FB2624C66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886200"/>
            <a:ext cx="521208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</a:ln>
        </p:spPr>
        <p:txBody>
          <a:bodyPr xmlns:a="http://schemas.openxmlformats.org/drawingml/2006/main" wrap="square" lIns="91440" tIns="45720" rIns="91440" bIns="45720" anchor="t"/>
          <a:lstStyle xmlns:a="http://schemas.openxmlformats.org/drawingml/2006/main">
            <a:defPPr>
              <a:defRPr sz="130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30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rPr>
              <a:t>培训启动日已锁定为7月15日。首轮回访仍安排在7月20日，风险于8月第一周复盘。</a:t>
            </a:r>
            <a:endParaRPr sz="1300"/>
          </a:p>
        </p:txBody>
      </p:sp>
      <p:sp>
        <p:nvSpPr>
          <p:cNvPr id="904" name="Object_16">
            <a:extLst xmlns:a="http://schemas.openxmlformats.org/drawingml/2006/main">
              <a:ext uri="{FF2B5EF4-FFF2-40B4-BE49-F238E27FC236}">
                <a16:creationId xmlns:a16="http://schemas.microsoft.com/office/drawing/2014/main" id="{EB5CDCA1-DF73-4F34-ABAA-1156E96AF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6446520"/>
            <a:ext cx="11384280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91440" tIns="45720" rIns="91440" bIns="45720" anchor="t"/>
          <a:lstStyle xmlns:a="http://schemas.openxmlformats.org/drawingml/2006/main">
            <a:defPPr>
              <a:defRPr sz="85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85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春晖公益协同计划｜治理会材料 v1.8 当前｜资料口径：2026-07-01｜时间线</a:t>
            </a:r>
            <a:endParaRPr sz="850"/>
          </a:p>
        </p:txBody>
      </p:sp>
      <p:sp>
        <p:nvSpPr>
          <p:cNvPr id="905" name="Object_17">
            <a:extLst xmlns:a="http://schemas.openxmlformats.org/drawingml/2006/main">
              <a:ext uri="{FF2B5EF4-FFF2-40B4-BE49-F238E27FC236}">
                <a16:creationId xmlns:a16="http://schemas.microsoft.com/office/drawing/2014/main" id="{0B3D3D84-5F72-44A3-A7F2-2534BA1AA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1874520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6B58"/>
          </a:solidFill>
          <a:ln xmlns:a="http://schemas.openxmlformats.org/drawingml/2006/main" w="0">
            <a:noFill/>
          </a:ln>
        </p:spPr>
      </p:sp>
      <p:sp>
        <p:nvSpPr>
          <p:cNvPr id="906" name="Object_18">
            <a:extLst xmlns:a="http://schemas.openxmlformats.org/drawingml/2006/main">
              <a:ext uri="{FF2B5EF4-FFF2-40B4-BE49-F238E27FC236}">
                <a16:creationId xmlns:a16="http://schemas.microsoft.com/office/drawing/2014/main" id="{651776A6-85AD-4880-BC0F-53034CE12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423160"/>
            <a:ext cx="16764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050">
                <a:solidFill>
                  <a:srgbClr val="253047"/>
                </a:solidFill>
              </a:defRPr>
            </a:defPPr>
          </a:lstStyle>
          <a:p xmlns:a="http://schemas.openxmlformats.org/drawingml/2006/main">
            <a:pPr algn="ctr">
              <a:defRPr sz="1050">
                <a:solidFill>
                  <a:srgbClr val="253047"/>
                </a:solidFill>
              </a:defRPr>
            </a:pPr>
            <a:r>
              <a:rPr sz="1050">
                <a:solidFill>
                  <a:srgbClr val="253047"/>
                </a:solidFill>
              </a:rPr>
              <a:t>抽样复核包冻结</a:t>
            </a:r>
          </a:p>
          <a:p xmlns:a="http://schemas.openxmlformats.org/drawingml/2006/main">
            <a:pPr algn="ctr">
              <a:defRPr sz="1050">
                <a:solidFill>
                  <a:srgbClr val="253047"/>
                </a:solidFill>
              </a:defRPr>
            </a:pPr>
            <a:r>
              <a:rPr sz="1050">
                <a:solidFill>
                  <a:srgbClr val="253047"/>
                </a:solidFill>
              </a:rPr>
              <a:t>7月4日，口径已确认</a:t>
            </a:r>
          </a:p>
        </p:txBody>
      </p:sp>
    </p:spTree>
    <p:extLst>
      <p:ext uri="{BB962C8B-B14F-4D97-AF65-F5344CB8AC3E}">
        <p14:creationId xmlns:p14="http://schemas.microsoft.com/office/powerpoint/2010/main" val="143609538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Object_1"/>
        <p:cNvGrpSpPr/>
        <p:nvPr/>
      </p:nvGrpSpPr>
      <p:grpSpPr>
        <a:xfrm xmlns:a="http://schemas.openxmlformats.org/drawingml/2006/main"/>
      </p:grpSpPr>
      <p:sp>
        <p:nvSpPr>
          <p:cNvPr id="2" name="Object_2">
            <a:extLst xmlns:a="http://schemas.openxmlformats.org/drawingml/2006/main">
              <a:ext uri="{FF2B5EF4-FFF2-40B4-BE49-F238E27FC236}">
                <a16:creationId xmlns:a16="http://schemas.microsoft.com/office/drawing/2014/main" id="{BAA876F2-DA41-48B2-97E9-D62C83CED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84048"/>
            <a:ext cx="9601200" cy="4389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91440" tIns="45720" rIns="91440" bIns="45720" anchor="t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200" b="1">
                <a:solidFill>
                  <a:srgbClr val="1D4E3A"/>
                </a:solidFill>
                <a:latin typeface="Microsoft YaHei"/>
                <a:ea typeface="Microsoft YaHei"/>
                <a:cs typeface="Microsoft YaHei"/>
              </a:rPr>
              <a:t>工作流 A｜社区站点与志愿者协同</a:t>
            </a:r>
            <a:endParaRPr sz="2200"/>
          </a:p>
        </p:txBody>
      </p:sp>
      <p:sp>
        <p:nvSpPr>
          <p:cNvPr id="3" name="Object_3">
            <a:extLst xmlns:a="http://schemas.openxmlformats.org/drawingml/2006/main">
              <a:ext uri="{FF2B5EF4-FFF2-40B4-BE49-F238E27FC236}">
                <a16:creationId xmlns:a16="http://schemas.microsoft.com/office/drawing/2014/main" id="{A3C9EB6F-BA7D-4E50-BDDE-A7B78DA80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1560"/>
            <a:ext cx="333756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9C9B6"/>
            </a:solidFill>
          </a:ln>
        </p:spPr>
        <p:txBody>
          <a:bodyPr xmlns:a="http://schemas.openxmlformats.org/drawingml/2006/main" wrap="square" lIns="91440" tIns="45720" rIns="91440" bIns="45720" anchor="t"/>
          <a:lstStyle xmlns:a="http://schemas.openxmlformats.org/drawingml/2006/main">
            <a:defPPr>
              <a:defRPr sz="128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28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8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rPr>
              <a:t>晨光社区服务站签约</a:t>
            </a:r>
            <a:endParaRPr sz="1280"/>
          </a:p>
          <a:p xmlns:a="http://schemas.openxmlformats.org/drawingml/2006/main">
            <a:pPr>
              <a:buNone/>
              <a:defRPr sz="128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8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rPr>
              <a:t>6月30日已完成</a:t>
            </a:r>
            <a:endParaRPr sz="1280"/>
          </a:p>
          <a:p xmlns:a="http://schemas.openxmlformats.org/drawingml/2006/main">
            <a:pPr>
              <a:buNone/>
              <a:defRPr sz="128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8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rPr>
              <a:t>进入会后回访准备</a:t>
            </a:r>
            <a:endParaRPr sz="1280"/>
          </a:p>
          <a:p xmlns:a="http://schemas.openxmlformats.org/drawingml/2006/main">
            <a:pPr>
              <a:buNone/>
              <a:defRPr sz="128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8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rPr>
              <a:t>责任：拓展组</a:t>
            </a:r>
            <a:endParaRPr sz="1280"/>
          </a:p>
        </p:txBody>
      </p:sp>
      <p:sp>
        <p:nvSpPr>
          <p:cNvPr id="4" name="Object_4">
            <a:extLst xmlns:a="http://schemas.openxmlformats.org/drawingml/2006/main">
              <a:ext uri="{FF2B5EF4-FFF2-40B4-BE49-F238E27FC236}">
                <a16:creationId xmlns:a16="http://schemas.microsoft.com/office/drawing/2014/main" id="{1E453528-AAB0-412F-A59F-4FFB7A990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051560"/>
            <a:ext cx="333756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9C9B6"/>
            </a:solidFill>
          </a:ln>
        </p:spPr>
        <p:txBody>
          <a:bodyPr xmlns:a="http://schemas.openxmlformats.org/drawingml/2006/main" wrap="square" lIns="91440" tIns="45720" rIns="91440" bIns="45720" anchor="t"/>
          <a:lstStyle xmlns:a="http://schemas.openxmlformats.org/drawingml/2006/main">
            <a:defPPr>
              <a:defRPr sz="128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28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8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rPr>
              <a:t>志愿者培训启动</a:t>
            </a:r>
            <a:endParaRPr sz="1280"/>
          </a:p>
          <a:p xmlns:a="http://schemas.openxmlformats.org/drawingml/2006/main">
            <a:pPr>
              <a:buNone/>
              <a:defRPr sz="128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8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rPr>
              <a:t>启动日：7月15日，已锁定</a:t>
            </a:r>
            <a:endParaRPr sz="1280"/>
          </a:p>
          <a:p xmlns:a="http://schemas.openxmlformats.org/drawingml/2006/main">
            <a:pPr>
              <a:buNone/>
              <a:defRPr sz="128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8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rPr>
              <a:t>7月8日通知志愿者组长</a:t>
            </a:r>
            <a:endParaRPr sz="1280"/>
          </a:p>
          <a:p xmlns:a="http://schemas.openxmlformats.org/drawingml/2006/main">
            <a:pPr>
              <a:buNone/>
              <a:defRPr sz="128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8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rPr>
              <a:t>责任：能力建设组</a:t>
            </a:r>
            <a:endParaRPr sz="1280"/>
          </a:p>
        </p:txBody>
      </p:sp>
      <p:sp>
        <p:nvSpPr>
          <p:cNvPr id="5" name="Object_5">
            <a:extLst xmlns:a="http://schemas.openxmlformats.org/drawingml/2006/main">
              <a:ext uri="{FF2B5EF4-FFF2-40B4-BE49-F238E27FC236}">
                <a16:creationId xmlns:a16="http://schemas.microsoft.com/office/drawing/2014/main" id="{14DE79ED-0B7C-4CDD-B1AC-D9C4FDAA4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051560"/>
            <a:ext cx="288036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</a:ln>
        </p:spPr>
        <p:txBody>
          <a:bodyPr xmlns:a="http://schemas.openxmlformats.org/drawingml/2006/main" wrap="square" lIns="91440" tIns="45720" rIns="91440" bIns="45720" anchor="t"/>
          <a:lstStyle xmlns:a="http://schemas.openxmlformats.org/drawingml/2006/main">
            <a:defPPr>
              <a:defRPr sz="123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23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rPr>
              <a:t>北岸书屋协作记录</a:t>
            </a:r>
            <a:endParaRPr sz="1230"/>
          </a:p>
          <a:p xmlns:a="http://schemas.openxmlformats.org/drawingml/2006/main">
            <a:pPr>
              <a:buNone/>
              <a:defRPr sz="123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rPr>
              <a:t>2025 年归档资料</a:t>
            </a:r>
            <a:endParaRPr sz="1230"/>
          </a:p>
          <a:p xmlns:a="http://schemas.openxmlformats.org/drawingml/2006/main">
            <a:pPr>
              <a:buNone/>
              <a:defRPr sz="123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rPr>
              <a:t>资料组维护</a:t>
            </a:r>
            <a:endParaRPr sz="1230"/>
          </a:p>
        </p:txBody>
      </p:sp>
      <p:graphicFrame>
        <p:nvGraphicFramePr>
          <p:cNvPr id="6" name="Object_6">
            <a:extLst xmlns:a="http://schemas.openxmlformats.org/drawingml/2006/main">
              <a:ext uri="{FF2B5EF4-FFF2-40B4-BE49-F238E27FC236}">
                <a16:creationId xmlns:a16="http://schemas.microsoft.com/office/drawing/2014/main" id="{9825CE86-0B59-4C6B-B564-2B970BB86807}"/>
              </a:ext>
            </a:extLst>
          </p:cNvPr>
          <p:cNvGraphicFramePr/>
          <p:nvPr/>
        </p:nvGraphicFramePr>
        <p:xfrm>
          <a:off xmlns:a="http://schemas.openxmlformats.org/drawingml/2006/main" x="685800" y="3246120"/>
          <a:ext xmlns:a="http://schemas.openxmlformats.org/drawingml/2006/main" cx="10195560" cy="160020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/>
                <a:gridCol w="1428750"/>
                <a:gridCol w="5048250"/>
                <a:gridCol w="2000250"/>
              </a:tblGrid>
              <a:tr h="400050"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行动项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2F6B57"/>
                    </a:solidFill>
                  </a:tcPr>
                </a:tc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责任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2F6B57"/>
                    </a:solidFill>
                  </a:tcPr>
                </a:tc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安排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2F6B57"/>
                    </a:solidFill>
                  </a:tcPr>
                </a:tc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对象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2F6B57"/>
                    </a:solidFill>
                  </a:tcPr>
                </a:tc>
              </a:tr>
              <a:tr h="400050"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0">
                          <a:solidFill>
                            <a:srgbClr val="25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站点签约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F1F6F4"/>
                    </a:solidFill>
                  </a:tcPr>
                </a:tc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0">
                          <a:solidFill>
                            <a:srgbClr val="25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拓展组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F1F6F4"/>
                    </a:solidFill>
                  </a:tcPr>
                </a:tc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0">
                          <a:solidFill>
                            <a:srgbClr val="25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6月30日已完成；3个工作日内通知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F1F6F4"/>
                    </a:solidFill>
                  </a:tcPr>
                </a:tc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0">
                          <a:solidFill>
                            <a:srgbClr val="25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晨光社区服务站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F1F6F4"/>
                    </a:solidFill>
                  </a:tcPr>
                </a:tc>
              </a:tr>
              <a:tr h="400050"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0">
                          <a:solidFill>
                            <a:srgbClr val="25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培训通知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0">
                          <a:solidFill>
                            <a:srgbClr val="25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能力建设组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0">
                          <a:solidFill>
                            <a:srgbClr val="25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7月8日通知；7月15日启动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0">
                          <a:solidFill>
                            <a:srgbClr val="25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志愿者组长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0">
                          <a:solidFill>
                            <a:srgbClr val="25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历史协作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F1F6F4"/>
                    </a:solidFill>
                  </a:tcPr>
                </a:tc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0">
                          <a:solidFill>
                            <a:srgbClr val="25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资料组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F1F6F4"/>
                    </a:solidFill>
                  </a:tcPr>
                </a:tc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0">
                          <a:solidFill>
                            <a:srgbClr val="25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已归档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F1F6F4"/>
                    </a:solidFill>
                  </a:tcPr>
                </a:tc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0">
                          <a:solidFill>
                            <a:srgbClr val="25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北岸书屋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F1F6F4"/>
                    </a:solidFill>
                  </a:tcPr>
                </a:tc>
              </a:tr>
            </a:tbl>
          </a:graphicData>
        </a:graphic>
      </p:graphicFrame>
      <p:sp>
        <p:nvSpPr>
          <p:cNvPr id="905" name="Object_7">
            <a:extLst xmlns:a="http://schemas.openxmlformats.org/drawingml/2006/main">
              <a:ext uri="{FF2B5EF4-FFF2-40B4-BE49-F238E27FC236}">
                <a16:creationId xmlns:a16="http://schemas.microsoft.com/office/drawing/2014/main" id="{7389DE36-9C31-435A-8DC8-018C86ED4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6446520"/>
            <a:ext cx="11384280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91440" tIns="45720" rIns="91440" bIns="45720" anchor="t"/>
          <a:lstStyle xmlns:a="http://schemas.openxmlformats.org/drawingml/2006/main">
            <a:defPPr>
              <a:defRPr sz="85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85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春晖公益协同计划｜治理会材料 v1.8 当前｜资料口径：2026-07-01｜工作流A</a:t>
            </a:r>
            <a:endParaRPr sz="850"/>
          </a:p>
        </p:txBody>
      </p:sp>
    </p:spTree>
    <p:extLst>
      <p:ext uri="{BB962C8B-B14F-4D97-AF65-F5344CB8AC3E}">
        <p14:creationId xmlns:p14="http://schemas.microsoft.com/office/powerpoint/2010/main" val="85869085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Object_1"/>
        <p:cNvGrpSpPr/>
        <p:nvPr/>
      </p:nvGrpSpPr>
      <p:grpSpPr>
        <a:xfrm xmlns:a="http://schemas.openxmlformats.org/drawingml/2006/main"/>
      </p:grpSpPr>
      <p:sp>
        <p:nvSpPr>
          <p:cNvPr id="2" name="Object_2">
            <a:extLst xmlns:a="http://schemas.openxmlformats.org/drawingml/2006/main">
              <a:ext uri="{FF2B5EF4-FFF2-40B4-BE49-F238E27FC236}">
                <a16:creationId xmlns:a16="http://schemas.microsoft.com/office/drawing/2014/main" id="{4AD2EFE3-E7C9-4C18-96A6-8AF5D8A65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84048"/>
            <a:ext cx="9601200" cy="4389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91440" tIns="45720" rIns="91440" bIns="45720" anchor="t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200" b="1">
                <a:solidFill>
                  <a:srgbClr val="1D4E3A"/>
                </a:solidFill>
                <a:latin typeface="Microsoft YaHei"/>
                <a:ea typeface="Microsoft YaHei"/>
                <a:cs typeface="Microsoft YaHei"/>
              </a:rPr>
              <a:t>工作流 B｜数据回收与服务包准备</a:t>
            </a:r>
            <a:endParaRPr sz="2200"/>
          </a:p>
        </p:txBody>
      </p:sp>
      <p:sp>
        <p:nvSpPr>
          <p:cNvPr id="3" name="Object_3">
            <a:extLst xmlns:a="http://schemas.openxmlformats.org/drawingml/2006/main">
              <a:ext uri="{FF2B5EF4-FFF2-40B4-BE49-F238E27FC236}">
                <a16:creationId xmlns:a16="http://schemas.microsoft.com/office/drawing/2014/main" id="{6AED08C6-BEC1-46EF-83EB-A9D449B59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1560"/>
            <a:ext cx="324612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9C9B6"/>
            </a:solidFill>
          </a:ln>
        </p:spPr>
        <p:txBody>
          <a:bodyPr xmlns:a="http://schemas.openxmlformats.org/drawingml/2006/main" wrap="square" lIns="91440" tIns="45720" rIns="91440" bIns="45720" anchor="t"/>
          <a:lstStyle xmlns:a="http://schemas.openxmlformats.org/drawingml/2006/main">
            <a:defPPr>
              <a:defRPr sz="128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28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8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rPr>
              <a:t>服务包数据回收口径</a:t>
            </a:r>
            <a:endParaRPr sz="1280"/>
          </a:p>
          <a:p xmlns:a="http://schemas.openxmlformats.org/drawingml/2006/main">
            <a:pPr>
              <a:buNone/>
              <a:defRPr sz="128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8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rPr>
              <a:t>初筛已完成</a:t>
            </a:r>
            <a:endParaRPr sz="1280"/>
          </a:p>
          <a:p xmlns:a="http://schemas.openxmlformats.org/drawingml/2006/main">
            <a:pPr>
              <a:buNone/>
              <a:defRPr sz="128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8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rPr>
              <a:t>7月3日进入抽样复核</a:t>
            </a:r>
            <a:endParaRPr sz="1280"/>
          </a:p>
          <a:p xmlns:a="http://schemas.openxmlformats.org/drawingml/2006/main">
            <a:pPr>
              <a:buNone/>
              <a:defRPr sz="128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8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rPr>
              <a:t>责任：数据治理组</a:t>
            </a:r>
            <a:endParaRPr sz="1280"/>
          </a:p>
        </p:txBody>
      </p:sp>
      <p:sp>
        <p:nvSpPr>
          <p:cNvPr id="4" name="Object_4">
            <a:extLst xmlns:a="http://schemas.openxmlformats.org/drawingml/2006/main">
              <a:ext uri="{FF2B5EF4-FFF2-40B4-BE49-F238E27FC236}">
                <a16:creationId xmlns:a16="http://schemas.microsoft.com/office/drawing/2014/main" id="{8D0E305B-B433-4B86-BF83-B0A826496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520" y="1051560"/>
            <a:ext cx="324612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9C9B6"/>
            </a:solidFill>
          </a:ln>
        </p:spPr>
        <p:txBody>
          <a:bodyPr xmlns:a="http://schemas.openxmlformats.org/drawingml/2006/main" wrap="square" lIns="91440" tIns="45720" rIns="91440" bIns="45720" anchor="t"/>
          <a:lstStyle xmlns:a="http://schemas.openxmlformats.org/drawingml/2006/main">
            <a:defPPr>
              <a:defRPr sz="128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28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8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rPr>
              <a:t>服务包采购口径</a:t>
            </a:r>
            <a:endParaRPr sz="1280"/>
          </a:p>
          <a:p xmlns:a="http://schemas.openxmlformats.org/drawingml/2006/main">
            <a:pPr>
              <a:buNone/>
              <a:defRPr sz="128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8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rPr>
              <a:t>待治理会确认，7月5日前审定</a:t>
            </a:r>
            <a:endParaRPr sz="1280"/>
          </a:p>
          <a:p xmlns:a="http://schemas.openxmlformats.org/drawingml/2006/main">
            <a:pPr>
              <a:buNone/>
              <a:defRPr sz="128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8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rPr>
              <a:t>前置：7月4日抽样复核包冻结</a:t>
            </a:r>
            <a:endParaRPr sz="1280"/>
          </a:p>
          <a:p xmlns:a="http://schemas.openxmlformats.org/drawingml/2006/main">
            <a:pPr>
              <a:buNone/>
              <a:defRPr sz="128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8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rPr>
              <a:t>冻结口径已确认</a:t>
            </a:r>
            <a:endParaRPr sz="1280"/>
          </a:p>
        </p:txBody>
      </p:sp>
      <p:sp>
        <p:nvSpPr>
          <p:cNvPr id="5" name="Object_5">
            <a:extLst xmlns:a="http://schemas.openxmlformats.org/drawingml/2006/main">
              <a:ext uri="{FF2B5EF4-FFF2-40B4-BE49-F238E27FC236}">
                <a16:creationId xmlns:a16="http://schemas.microsoft.com/office/drawing/2014/main" id="{077BE61F-828A-4197-B4C3-7649F71CD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240" y="1051560"/>
            <a:ext cx="324612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</a:ln>
        </p:spPr>
        <p:txBody>
          <a:bodyPr xmlns:a="http://schemas.openxmlformats.org/drawingml/2006/main" wrap="square" lIns="91440" tIns="45720" rIns="91440" bIns="45720" anchor="t"/>
          <a:lstStyle xmlns:a="http://schemas.openxmlformats.org/drawingml/2006/main">
            <a:defPPr>
              <a:defRPr sz="128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28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8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rPr>
              <a:t>监控观察</a:t>
            </a:r>
            <a:endParaRPr sz="1280"/>
          </a:p>
          <a:p xmlns:a="http://schemas.openxmlformats.org/drawingml/2006/main">
            <a:pPr>
              <a:buNone/>
              <a:defRPr sz="128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8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rPr>
              <a:t>短期回访、抽样观察</a:t>
            </a:r>
            <a:endParaRPr sz="1280"/>
          </a:p>
          <a:p xmlns:a="http://schemas.openxmlformats.org/drawingml/2006/main">
            <a:pPr>
              <a:buNone/>
              <a:defRPr sz="128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8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rPr>
              <a:t>内部跟踪记录</a:t>
            </a:r>
            <a:endParaRPr sz="1280"/>
          </a:p>
        </p:txBody>
      </p:sp>
      <p:graphicFrame>
        <p:nvGraphicFramePr>
          <p:cNvPr id="6" name="Object_6">
            <a:extLst xmlns:a="http://schemas.openxmlformats.org/drawingml/2006/main">
              <a:ext uri="{FF2B5EF4-FFF2-40B4-BE49-F238E27FC236}">
                <a16:creationId xmlns:a16="http://schemas.microsoft.com/office/drawing/2014/main" id="{F1FB549E-0C1E-4511-8CB3-D80F8FFAD5B5}"/>
              </a:ext>
            </a:extLst>
          </p:cNvPr>
          <p:cNvGraphicFramePr/>
          <p:nvPr/>
        </p:nvGraphicFramePr>
        <p:xfrm>
          <a:off xmlns:a="http://schemas.openxmlformats.org/drawingml/2006/main" x="685800" y="3017520"/>
          <a:ext xmlns:a="http://schemas.openxmlformats.org/drawingml/2006/main" cx="10195560" cy="196596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651760"/>
                <a:gridCol w="2834640"/>
                <a:gridCol w="2423160"/>
              </a:tblGrid>
              <a:tr h="393192"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模块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2F6B57"/>
                    </a:solidFill>
                  </a:tcPr>
                </a:tc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当前状态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2F6B57"/>
                    </a:solidFill>
                  </a:tcPr>
                </a:tc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关联安排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2F6B57"/>
                    </a:solidFill>
                  </a:tcPr>
                </a:tc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责任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2F6B57"/>
                    </a:solidFill>
                  </a:tcPr>
                </a:tc>
              </a:tr>
              <a:tr h="393192"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0">
                          <a:solidFill>
                            <a:srgbClr val="25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回收口径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F1F6F4"/>
                    </a:solidFill>
                  </a:tcPr>
                </a:tc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0">
                          <a:solidFill>
                            <a:srgbClr val="25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初筛完成，进入抽样复核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F1F6F4"/>
                    </a:solidFill>
                  </a:tcPr>
                </a:tc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0">
                          <a:solidFill>
                            <a:srgbClr val="25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7月3日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F1F6F4"/>
                    </a:solidFill>
                  </a:tcPr>
                </a:tc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0">
                          <a:solidFill>
                            <a:srgbClr val="25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数据治理组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F1F6F4"/>
                    </a:solidFill>
                  </a:tcPr>
                </a:tc>
              </a:tr>
              <a:tr h="393192"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0">
                          <a:solidFill>
                            <a:srgbClr val="25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抽样复核包冻结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0">
                          <a:solidFill>
                            <a:srgbClr val="25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冻结口径已确认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0">
                          <a:solidFill>
                            <a:srgbClr val="25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7月4日，先于采购审定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0">
                          <a:solidFill>
                            <a:srgbClr val="25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数据复核小组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0">
                          <a:solidFill>
                            <a:srgbClr val="25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成本测算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F1F6F4"/>
                    </a:solidFill>
                  </a:tcPr>
                </a:tc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0">
                          <a:solidFill>
                            <a:srgbClr val="25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黄色关注，保留专项跟踪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F1F6F4"/>
                    </a:solidFill>
                  </a:tcPr>
                </a:tc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0">
                          <a:solidFill>
                            <a:srgbClr val="25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8月第一周复盘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F1F6F4"/>
                    </a:solidFill>
                  </a:tcPr>
                </a:tc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0">
                          <a:solidFill>
                            <a:srgbClr val="25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财务协同组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F1F6F4"/>
                    </a:solidFill>
                  </a:tcPr>
                </a:tc>
              </a:tr>
              <a:tr h="393192"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0">
                          <a:solidFill>
                            <a:srgbClr val="25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监控观察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0">
                          <a:solidFill>
                            <a:srgbClr val="25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短期观察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0">
                          <a:solidFill>
                            <a:srgbClr val="25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内部跟踪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0">
                          <a:solidFill>
                            <a:srgbClr val="25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项目办公室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06" name="Object_7">
            <a:extLst xmlns:a="http://schemas.openxmlformats.org/drawingml/2006/main">
              <a:ext uri="{FF2B5EF4-FFF2-40B4-BE49-F238E27FC236}">
                <a16:creationId xmlns:a16="http://schemas.microsoft.com/office/drawing/2014/main" id="{0E665EA8-4131-417A-A11F-C8C1FD701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6446520"/>
            <a:ext cx="11384280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91440" tIns="45720" rIns="91440" bIns="45720" anchor="t"/>
          <a:lstStyle xmlns:a="http://schemas.openxmlformats.org/drawingml/2006/main">
            <a:defPPr>
              <a:defRPr sz="85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85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春晖公益协同计划｜治理会材料 v1.8 当前｜资料口径：2026-07-01｜工作流B</a:t>
            </a:r>
            <a:endParaRPr sz="850"/>
          </a:p>
        </p:txBody>
      </p:sp>
    </p:spTree>
    <p:extLst>
      <p:ext uri="{BB962C8B-B14F-4D97-AF65-F5344CB8AC3E}">
        <p14:creationId xmlns:p14="http://schemas.microsoft.com/office/powerpoint/2010/main" val="10503673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Object_1"/>
        <p:cNvGrpSpPr/>
        <p:nvPr/>
      </p:nvGrpSpPr>
      <p:grpSpPr>
        <a:xfrm xmlns:a="http://schemas.openxmlformats.org/drawingml/2006/main"/>
      </p:grpSpPr>
      <p:sp>
        <p:nvSpPr>
          <p:cNvPr id="2" name="Object_2">
            <a:extLst xmlns:a="http://schemas.openxmlformats.org/drawingml/2006/main">
              <a:ext uri="{FF2B5EF4-FFF2-40B4-BE49-F238E27FC236}">
                <a16:creationId xmlns:a16="http://schemas.microsoft.com/office/drawing/2014/main" id="{00478421-1E83-4A73-B62B-3E7376F30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84048"/>
            <a:ext cx="9601200" cy="4389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91440" tIns="45720" rIns="91440" bIns="45720" anchor="t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200" b="1">
                <a:solidFill>
                  <a:srgbClr val="1D4E3A"/>
                </a:solidFill>
                <a:latin typeface="Microsoft YaHei"/>
                <a:ea typeface="Microsoft YaHei"/>
                <a:cs typeface="Microsoft YaHei"/>
              </a:rPr>
              <a:t>治理会决策与风险提示</a:t>
            </a:r>
            <a:endParaRPr sz="2200"/>
          </a:p>
        </p:txBody>
      </p:sp>
      <p:graphicFrame>
        <p:nvGraphicFramePr>
          <p:cNvPr id="3" name="Object_3">
            <a:extLst xmlns:a="http://schemas.openxmlformats.org/drawingml/2006/main">
              <a:ext uri="{FF2B5EF4-FFF2-40B4-BE49-F238E27FC236}">
                <a16:creationId xmlns:a16="http://schemas.microsoft.com/office/drawing/2014/main" id="{B01B0E09-49DC-41CB-BB82-5A8EB908AE21}"/>
              </a:ext>
            </a:extLst>
          </p:cNvPr>
          <p:cNvGraphicFramePr/>
          <p:nvPr/>
        </p:nvGraphicFramePr>
        <p:xfrm>
          <a:off xmlns:a="http://schemas.openxmlformats.org/drawingml/2006/main" x="685800" y="1051560"/>
          <a:ext xmlns:a="http://schemas.openxmlformats.org/drawingml/2006/main" cx="10149840" cy="246888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3625"/>
                <a:gridCol w="2333625"/>
                <a:gridCol w="4191000"/>
                <a:gridCol w="1285875"/>
              </a:tblGrid>
              <a:tr h="493776"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决策与跟踪项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2F6B57"/>
                    </a:solidFill>
                  </a:tcPr>
                </a:tc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状态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2F6B57"/>
                    </a:solidFill>
                  </a:tcPr>
                </a:tc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安排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2F6B57"/>
                    </a:solidFill>
                  </a:tcPr>
                </a:tc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责任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2F6B57"/>
                    </a:solidFill>
                  </a:tcPr>
                </a:tc>
              </a:tr>
              <a:tr h="493776"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0">
                          <a:solidFill>
                            <a:srgbClr val="25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服务包采购口径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F1F6F4"/>
                    </a:solidFill>
                  </a:tcPr>
                </a:tc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0">
                          <a:solidFill>
                            <a:srgbClr val="25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待治理会确认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F1F6F4"/>
                    </a:solidFill>
                  </a:tcPr>
                </a:tc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0">
                          <a:solidFill>
                            <a:srgbClr val="25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7月5日前审定；前置为样本冻结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F1F6F4"/>
                    </a:solidFill>
                  </a:tcPr>
                </a:tc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0">
                          <a:solidFill>
                            <a:srgbClr val="25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治理会秘书处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F1F6F4"/>
                    </a:solidFill>
                  </a:tcPr>
                </a:tc>
              </a:tr>
              <a:tr h="493776"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0">
                          <a:solidFill>
                            <a:srgbClr val="25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抽样复核包冻结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0">
                          <a:solidFill>
                            <a:srgbClr val="25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冻结口径已确认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0">
                          <a:solidFill>
                            <a:srgbClr val="25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7月4日，先于采购口径审定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0">
                          <a:solidFill>
                            <a:srgbClr val="25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数据复核小组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0">
                          <a:solidFill>
                            <a:srgbClr val="25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培训与回访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F1F6F4"/>
                    </a:solidFill>
                  </a:tcPr>
                </a:tc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0">
                          <a:solidFill>
                            <a:srgbClr val="25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培训启动日已锁定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F1F6F4"/>
                    </a:solidFill>
                  </a:tcPr>
                </a:tc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0">
                          <a:solidFill>
                            <a:srgbClr val="25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7月15日启动；7月20日首轮回访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F1F6F4"/>
                    </a:solidFill>
                  </a:tcPr>
                </a:tc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0">
                          <a:solidFill>
                            <a:srgbClr val="25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能力建设组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F1F6F4"/>
                    </a:solidFill>
                  </a:tcPr>
                </a:tc>
              </a:tr>
              <a:tr h="493776"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0">
                          <a:solidFill>
                            <a:srgbClr val="25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成本测算风险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0">
                          <a:solidFill>
                            <a:srgbClr val="25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黄色关注，专项跟踪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0">
                          <a:solidFill>
                            <a:srgbClr val="25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7月12日前交证据；8月第一周复盘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0">
                          <a:solidFill>
                            <a:srgbClr val="25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财务协同组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Object_4">
            <a:extLst xmlns:a="http://schemas.openxmlformats.org/drawingml/2006/main">
              <a:ext uri="{FF2B5EF4-FFF2-40B4-BE49-F238E27FC236}">
                <a16:creationId xmlns:a16="http://schemas.microsoft.com/office/drawing/2014/main" id="{736627F1-1046-4992-A055-BB140C648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6160"/>
            <a:ext cx="4846320" cy="1097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6"/>
          </a:solidFill>
          <a:ln xmlns:a="http://schemas.openxmlformats.org/drawingml/2006/main" w="9525">
            <a:solidFill>
              <a:srgbClr val="F2C56B"/>
            </a:solidFill>
          </a:ln>
        </p:spPr>
        <p:txBody>
          <a:bodyPr xmlns:a="http://schemas.openxmlformats.org/drawingml/2006/main" wrap="square" lIns="91440" tIns="45720" rIns="91440" bIns="45720" anchor="t"/>
          <a:lstStyle xmlns:a="http://schemas.openxmlformats.org/drawingml/2006/main">
            <a:defPPr>
              <a:defRPr sz="1250">
                <a:solidFill>
                  <a:srgbClr val="7A4A0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250">
                <a:solidFill>
                  <a:srgbClr val="7A4A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50">
                <a:solidFill>
                  <a:srgbClr val="7A4A00"/>
                </a:solidFill>
                <a:latin typeface="Microsoft YaHei"/>
                <a:ea typeface="Microsoft YaHei"/>
                <a:cs typeface="Microsoft YaHei"/>
              </a:rPr>
              <a:t>后续议题储备</a:t>
            </a:r>
            <a:endParaRPr sz="1250"/>
          </a:p>
          <a:p xmlns:a="http://schemas.openxmlformats.org/drawingml/2006/main">
            <a:pPr>
              <a:buNone/>
              <a:defRPr sz="1250">
                <a:solidFill>
                  <a:srgbClr val="7A4A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50">
                <a:solidFill>
                  <a:srgbClr val="7A4A00"/>
                </a:solidFill>
                <a:latin typeface="Microsoft YaHei"/>
                <a:ea typeface="Microsoft YaHei"/>
                <a:cs typeface="Microsoft YaHei"/>
              </a:rPr>
              <a:t>试点二期扩展，版本 v1.9，草稿。</a:t>
            </a:r>
            <a:endParaRPr sz="1250"/>
          </a:p>
        </p:txBody>
      </p:sp>
      <p:sp>
        <p:nvSpPr>
          <p:cNvPr id="5" name="Object_5">
            <a:extLst xmlns:a="http://schemas.openxmlformats.org/drawingml/2006/main">
              <a:ext uri="{FF2B5EF4-FFF2-40B4-BE49-F238E27FC236}">
                <a16:creationId xmlns:a16="http://schemas.microsoft.com/office/drawing/2014/main" id="{2A11B41D-1B75-4860-AE5B-963F4B3D2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6440" y="3566160"/>
            <a:ext cx="5029200" cy="1097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7F1"/>
          </a:solidFill>
          <a:ln xmlns:a="http://schemas.openxmlformats.org/drawingml/2006/main" w="9525">
            <a:solidFill>
              <a:srgbClr val="C9D8D0"/>
            </a:solidFill>
          </a:ln>
        </p:spPr>
        <p:txBody>
          <a:bodyPr xmlns:a="http://schemas.openxmlformats.org/drawingml/2006/main" wrap="square" lIns="91440" tIns="45720" rIns="91440" bIns="45720" anchor="t"/>
          <a:lstStyle xmlns:a="http://schemas.openxmlformats.org/drawingml/2006/main">
            <a:defPPr>
              <a:defRPr sz="1250">
                <a:solidFill>
                  <a:srgbClr val="355B4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250">
                <a:solidFill>
                  <a:srgbClr val="355B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50">
                <a:solidFill>
                  <a:srgbClr val="355B45"/>
                </a:solidFill>
                <a:latin typeface="Microsoft YaHei"/>
                <a:ea typeface="Microsoft YaHei"/>
                <a:cs typeface="Microsoft YaHei"/>
              </a:rPr>
              <a:t>风险降级条件：7月12日前提交降级证据，8月第一周复盘。</a:t>
            </a:r>
            <a:endParaRPr sz="1250"/>
          </a:p>
          <a:p xmlns:a="http://schemas.openxmlformats.org/drawingml/2006/main">
            <a:pPr>
              <a:buNone/>
              <a:defRPr sz="1250">
                <a:solidFill>
                  <a:srgbClr val="355B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50">
                <a:solidFill>
                  <a:srgbClr val="355B45"/>
                </a:solidFill>
                <a:latin typeface="Microsoft YaHei"/>
                <a:ea typeface="Microsoft YaHei"/>
                <a:cs typeface="Microsoft YaHei"/>
              </a:rPr>
              <a:t>当前维持黄色关注和专项跟踪，尚未解除。</a:t>
            </a:r>
            <a:endParaRPr sz="1250"/>
          </a:p>
        </p:txBody>
      </p:sp>
      <p:sp>
        <p:nvSpPr>
          <p:cNvPr id="907" name="Object_6">
            <a:extLst xmlns:a="http://schemas.openxmlformats.org/drawingml/2006/main">
              <a:ext uri="{FF2B5EF4-FFF2-40B4-BE49-F238E27FC236}">
                <a16:creationId xmlns:a16="http://schemas.microsoft.com/office/drawing/2014/main" id="{43AB4CB4-8DC6-434B-89DE-D841DB231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6446520"/>
            <a:ext cx="11384280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91440" tIns="45720" rIns="91440" bIns="45720" anchor="t"/>
          <a:lstStyle xmlns:a="http://schemas.openxmlformats.org/drawingml/2006/main">
            <a:defPPr>
              <a:defRPr sz="85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85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春晖公益协同计划｜治理会材料 v1.8 当前｜资料口径：2026-07-01｜决策风险</a:t>
            </a:r>
            <a:endParaRPr sz="850"/>
          </a:p>
        </p:txBody>
      </p:sp>
    </p:spTree>
    <p:extLst>
      <p:ext uri="{BB962C8B-B14F-4D97-AF65-F5344CB8AC3E}">
        <p14:creationId xmlns:p14="http://schemas.microsoft.com/office/powerpoint/2010/main" val="69023877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Object_1"/>
        <p:cNvGrpSpPr/>
        <p:nvPr/>
      </p:nvGrpSpPr>
      <p:grpSpPr>
        <a:xfrm xmlns:a="http://schemas.openxmlformats.org/drawingml/2006/main"/>
      </p:grpSpPr>
      <p:sp>
        <p:nvSpPr>
          <p:cNvPr id="2" name="Object_2">
            <a:extLst xmlns:a="http://schemas.openxmlformats.org/drawingml/2006/main">
              <a:ext uri="{FF2B5EF4-FFF2-40B4-BE49-F238E27FC236}">
                <a16:creationId xmlns:a16="http://schemas.microsoft.com/office/drawing/2014/main" id="{C18E029D-A5CE-41F1-93F1-19DE39215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84048"/>
            <a:ext cx="9601200" cy="4389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91440" tIns="45720" rIns="91440" bIns="45720" anchor="t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200" b="1">
                <a:solidFill>
                  <a:srgbClr val="1D4E3A"/>
                </a:solidFill>
                <a:latin typeface="Microsoft YaHei"/>
                <a:ea typeface="Microsoft YaHei"/>
                <a:cs typeface="Microsoft YaHei"/>
              </a:rPr>
              <a:t>资源与沟通节奏</a:t>
            </a:r>
            <a:endParaRPr sz="2200"/>
          </a:p>
        </p:txBody>
      </p:sp>
      <p:graphicFrame>
        <p:nvGraphicFramePr>
          <p:cNvPr id="3" name="Object_3">
            <a:extLst xmlns:a="http://schemas.openxmlformats.org/drawingml/2006/main">
              <a:ext uri="{FF2B5EF4-FFF2-40B4-BE49-F238E27FC236}">
                <a16:creationId xmlns:a16="http://schemas.microsoft.com/office/drawing/2014/main" id="{6916DF96-11E1-4E66-93E1-3D75BC2A11E7}"/>
              </a:ext>
            </a:extLst>
          </p:cNvPr>
          <p:cNvGraphicFramePr/>
          <p:nvPr/>
        </p:nvGraphicFramePr>
        <p:xfrm>
          <a:off xmlns:a="http://schemas.openxmlformats.org/drawingml/2006/main" x="685800" y="1005840"/>
          <a:ext xmlns:a="http://schemas.openxmlformats.org/drawingml/2006/main" cx="10149840" cy="274320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0250"/>
                <a:gridCol w="3571875"/>
                <a:gridCol w="2143125"/>
                <a:gridCol w="2428875"/>
              </a:tblGrid>
              <a:tr h="457200"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沟通对象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2F6B57"/>
                    </a:solidFill>
                  </a:tcPr>
                </a:tc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安排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2F6B57"/>
                    </a:solidFill>
                  </a:tcPr>
                </a:tc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关联事项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2F6B57"/>
                    </a:solidFill>
                  </a:tcPr>
                </a:tc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记录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2F6B57"/>
                    </a:solidFill>
                  </a:tcPr>
                </a:tc>
              </a:tr>
              <a:tr h="457200"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0">
                          <a:solidFill>
                            <a:srgbClr val="25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社区站点联系人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F1F6F4"/>
                    </a:solidFill>
                  </a:tcPr>
                </a:tc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0">
                          <a:solidFill>
                            <a:srgbClr val="25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6月30日签约完成后3个工作日内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F1F6F4"/>
                    </a:solidFill>
                  </a:tcPr>
                </a:tc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0">
                          <a:solidFill>
                            <a:srgbClr val="25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晨光社区服务站签约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F1F6F4"/>
                    </a:solidFill>
                  </a:tcPr>
                </a:tc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0">
                          <a:solidFill>
                            <a:srgbClr val="25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节点通知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F1F6F4"/>
                    </a:solidFill>
                  </a:tcPr>
                </a:tc>
              </a:tr>
              <a:tr h="457200"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0">
                          <a:solidFill>
                            <a:srgbClr val="25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数据复核小组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0">
                          <a:solidFill>
                            <a:srgbClr val="25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7月4日样本冻结后通知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0">
                          <a:solidFill>
                            <a:srgbClr val="25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抽样复核包冻结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0">
                          <a:solidFill>
                            <a:srgbClr val="25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先冻结样本再提采购审定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0">
                          <a:solidFill>
                            <a:srgbClr val="25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志愿者组长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F1F6F4"/>
                    </a:solidFill>
                  </a:tcPr>
                </a:tc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0">
                          <a:solidFill>
                            <a:srgbClr val="25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7月8日通知；7月15日启动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F1F6F4"/>
                    </a:solidFill>
                  </a:tcPr>
                </a:tc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0">
                          <a:solidFill>
                            <a:srgbClr val="25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志愿者培训启动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F1F6F4"/>
                    </a:solidFill>
                  </a:tcPr>
                </a:tc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0">
                          <a:solidFill>
                            <a:srgbClr val="25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启动通知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F1F6F4"/>
                    </a:solidFill>
                  </a:tcPr>
                </a:tc>
              </a:tr>
              <a:tr h="457200"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0">
                          <a:solidFill>
                            <a:srgbClr val="25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治理会秘书处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0">
                          <a:solidFill>
                            <a:srgbClr val="25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7月5日前审定，待治理会确认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0">
                          <a:solidFill>
                            <a:srgbClr val="25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服务包采购口径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0">
                          <a:solidFill>
                            <a:srgbClr val="25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决策记录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0">
                          <a:solidFill>
                            <a:srgbClr val="25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资料组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F1F6F4"/>
                    </a:solidFill>
                  </a:tcPr>
                </a:tc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0">
                          <a:solidFill>
                            <a:srgbClr val="25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会后归档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F1F6F4"/>
                    </a:solidFill>
                  </a:tcPr>
                </a:tc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0">
                          <a:solidFill>
                            <a:srgbClr val="25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历史资料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F1F6F4"/>
                    </a:solidFill>
                  </a:tcPr>
                </a:tc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0">
                          <a:solidFill>
                            <a:srgbClr val="25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归档记录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F1F6F4"/>
                    </a:solidFill>
                  </a:tcPr>
                </a:tc>
              </a:tr>
            </a:tbl>
          </a:graphicData>
        </a:graphic>
      </p:graphicFrame>
      <p:sp>
        <p:nvSpPr>
          <p:cNvPr id="4" name="Object_4">
            <a:extLst xmlns:a="http://schemas.openxmlformats.org/drawingml/2006/main">
              <a:ext uri="{FF2B5EF4-FFF2-40B4-BE49-F238E27FC236}">
                <a16:creationId xmlns:a16="http://schemas.microsoft.com/office/drawing/2014/main" id="{E0E40977-05E7-4E4A-9F10-7E08F8491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6200"/>
            <a:ext cx="1014984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</a:ln>
        </p:spPr>
        <p:txBody>
          <a:bodyPr xmlns:a="http://schemas.openxmlformats.org/drawingml/2006/main" wrap="square" lIns="91440" tIns="45720" rIns="91440" bIns="45720" anchor="t"/>
          <a:lstStyle xmlns:a="http://schemas.openxmlformats.org/drawingml/2006/main">
            <a:defPPr>
              <a:defRPr sz="125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25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5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rPr>
              <a:t>财务协同组：7月12日前提交风险降级证据，8月第一周复盘。当前黄色关注及专项跟踪持续；项目办公室归集相关记录。</a:t>
            </a:r>
            <a:endParaRPr sz="1250"/>
          </a:p>
        </p:txBody>
      </p:sp>
      <p:sp>
        <p:nvSpPr>
          <p:cNvPr id="908" name="Object_5">
            <a:extLst xmlns:a="http://schemas.openxmlformats.org/drawingml/2006/main">
              <a:ext uri="{FF2B5EF4-FFF2-40B4-BE49-F238E27FC236}">
                <a16:creationId xmlns:a16="http://schemas.microsoft.com/office/drawing/2014/main" id="{1EF9FBBF-716E-4F3F-98A0-BAA0FAF7B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6446520"/>
            <a:ext cx="11384280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91440" tIns="45720" rIns="91440" bIns="45720" anchor="t"/>
          <a:lstStyle xmlns:a="http://schemas.openxmlformats.org/drawingml/2006/main">
            <a:defPPr>
              <a:defRPr sz="85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85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春晖公益协同计划｜治理会材料 v1.8 当前｜资料口径：2026-07-01｜资源沟通</a:t>
            </a:r>
            <a:endParaRPr sz="850"/>
          </a:p>
        </p:txBody>
      </p:sp>
    </p:spTree>
    <p:extLst>
      <p:ext uri="{BB962C8B-B14F-4D97-AF65-F5344CB8AC3E}">
        <p14:creationId xmlns:p14="http://schemas.microsoft.com/office/powerpoint/2010/main" val="190768761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Object_1"/>
        <p:cNvGrpSpPr/>
        <p:nvPr/>
      </p:nvGrpSpPr>
      <p:grpSpPr>
        <a:xfrm xmlns:a="http://schemas.openxmlformats.org/drawingml/2006/main"/>
      </p:grpSpPr>
      <p:sp>
        <p:nvSpPr>
          <p:cNvPr id="2" name="Object_2">
            <a:extLst xmlns:a="http://schemas.openxmlformats.org/drawingml/2006/main">
              <a:ext uri="{FF2B5EF4-FFF2-40B4-BE49-F238E27FC236}">
                <a16:creationId xmlns:a16="http://schemas.microsoft.com/office/drawing/2014/main" id="{C609A20A-D821-4ECE-84D9-8E0486372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84048"/>
            <a:ext cx="9601200" cy="4389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91440" tIns="45720" rIns="91440" bIns="45720" anchor="t"/>
          <a:lstStyle xmlns:a="http://schemas.openxmlformats.org/drawingml/2006/main">
            <a:defPPr>
              <a:defRPr sz="2200" b="1">
                <a:solidFill>
                  <a:srgbClr val="1D4E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200" b="1">
                <a:solidFill>
                  <a:srgbClr val="1D4E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00" b="1">
                <a:solidFill>
                  <a:srgbClr val="1D4E3A"/>
                </a:solidFill>
                <a:latin typeface="Microsoft YaHei"/>
                <a:ea typeface="Microsoft YaHei"/>
                <a:cs typeface="Microsoft YaHei"/>
              </a:rPr>
              <a:t>附录｜材料口径</a:t>
            </a:r>
            <a:endParaRPr sz="2200"/>
          </a:p>
        </p:txBody>
      </p:sp>
      <p:sp>
        <p:nvSpPr>
          <p:cNvPr id="3" name="Object_3">
            <a:extLst xmlns:a="http://schemas.openxmlformats.org/drawingml/2006/main">
              <a:ext uri="{FF2B5EF4-FFF2-40B4-BE49-F238E27FC236}">
                <a16:creationId xmlns:a16="http://schemas.microsoft.com/office/drawing/2014/main" id="{766B65D2-ED97-4B76-830C-9E9596661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97280"/>
            <a:ext cx="310896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9C9B6"/>
            </a:solidFill>
          </a:ln>
        </p:spPr>
        <p:txBody>
          <a:bodyPr xmlns:a="http://schemas.openxmlformats.org/drawingml/2006/main" wrap="square" lIns="91440" tIns="45720" rIns="91440" bIns="45720" anchor="t"/>
          <a:lstStyle xmlns:a="http://schemas.openxmlformats.org/drawingml/2006/main">
            <a:defPPr>
              <a:defRPr sz="130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30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rPr>
              <a:t>材料版本</a:t>
            </a:r>
            <a:endParaRPr sz="1300"/>
          </a:p>
          <a:p xmlns:a="http://schemas.openxmlformats.org/drawingml/2006/main">
            <a:pPr>
              <a:buNone/>
              <a:defRPr sz="130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rPr>
              <a:t>v1.8 当前</a:t>
            </a:r>
            <a:endParaRPr sz="1300"/>
          </a:p>
          <a:p xmlns:a="http://schemas.openxmlformats.org/drawingml/2006/main">
            <a:pPr>
              <a:buNone/>
              <a:defRPr sz="130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rPr>
              <a:t>2026 Q2 治理会包</a:t>
            </a:r>
            <a:endParaRPr sz="1300"/>
          </a:p>
        </p:txBody>
      </p:sp>
      <p:sp>
        <p:nvSpPr>
          <p:cNvPr id="4" name="Object_4">
            <a:extLst xmlns:a="http://schemas.openxmlformats.org/drawingml/2006/main">
              <a:ext uri="{FF2B5EF4-FFF2-40B4-BE49-F238E27FC236}">
                <a16:creationId xmlns:a16="http://schemas.microsoft.com/office/drawing/2014/main" id="{F4267DD7-DFCA-4C78-8375-9C0670386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9080" y="1097280"/>
            <a:ext cx="310896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9C9B6"/>
            </a:solidFill>
          </a:ln>
        </p:spPr>
        <p:txBody>
          <a:bodyPr xmlns:a="http://schemas.openxmlformats.org/drawingml/2006/main" wrap="square" lIns="91440" tIns="45720" rIns="91440" bIns="45720" anchor="t"/>
          <a:lstStyle xmlns:a="http://schemas.openxmlformats.org/drawingml/2006/main">
            <a:defPPr>
              <a:defRPr sz="130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30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rPr>
              <a:t>资料口径</a:t>
            </a:r>
            <a:endParaRPr sz="1300"/>
          </a:p>
          <a:p xmlns:a="http://schemas.openxmlformats.org/drawingml/2006/main">
            <a:pPr>
              <a:buNone/>
              <a:defRPr sz="130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rPr>
              <a:t>2026-07-01</a:t>
            </a:r>
            <a:endParaRPr sz="1300"/>
          </a:p>
          <a:p xmlns:a="http://schemas.openxmlformats.org/drawingml/2006/main">
            <a:pPr>
              <a:buNone/>
              <a:defRPr sz="130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rPr>
              <a:t>项目办公室汇总</a:t>
            </a:r>
            <a:endParaRPr sz="1300"/>
          </a:p>
        </p:txBody>
      </p:sp>
      <p:sp>
        <p:nvSpPr>
          <p:cNvPr id="5" name="Object_5">
            <a:extLst xmlns:a="http://schemas.openxmlformats.org/drawingml/2006/main">
              <a:ext uri="{FF2B5EF4-FFF2-40B4-BE49-F238E27FC236}">
                <a16:creationId xmlns:a16="http://schemas.microsoft.com/office/drawing/2014/main" id="{F677CC08-4FAD-43EB-A60F-C6DD77CAF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1097280"/>
            <a:ext cx="310896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9C9B6"/>
            </a:solidFill>
          </a:ln>
        </p:spPr>
        <p:txBody>
          <a:bodyPr xmlns:a="http://schemas.openxmlformats.org/drawingml/2006/main" wrap="square" lIns="91440" tIns="45720" rIns="91440" bIns="45720" anchor="t"/>
          <a:lstStyle xmlns:a="http://schemas.openxmlformats.org/drawingml/2006/main">
            <a:defPPr>
              <a:defRPr sz="130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30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rPr>
              <a:t>材料组成</a:t>
            </a:r>
            <a:endParaRPr sz="1300"/>
          </a:p>
          <a:p xmlns:a="http://schemas.openxmlformats.org/drawingml/2006/main">
            <a:pPr>
              <a:buNone/>
              <a:defRPr sz="130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rPr>
              <a:t>正文、历史归档、版式样例</a:t>
            </a:r>
            <a:endParaRPr sz="1300"/>
          </a:p>
        </p:txBody>
      </p:sp>
      <p:sp>
        <p:nvSpPr>
          <p:cNvPr id="6" name="Object_6">
            <a:extLst xmlns:a="http://schemas.openxmlformats.org/drawingml/2006/main">
              <a:ext uri="{FF2B5EF4-FFF2-40B4-BE49-F238E27FC236}">
                <a16:creationId xmlns:a16="http://schemas.microsoft.com/office/drawing/2014/main" id="{C0FE3DED-A524-4ECA-8B5A-D95CD1B59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987552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7F1"/>
          </a:solidFill>
          <a:ln xmlns:a="http://schemas.openxmlformats.org/drawingml/2006/main" w="9525">
            <a:solidFill>
              <a:srgbClr val="C9D8D0"/>
            </a:solidFill>
          </a:ln>
        </p:spPr>
        <p:txBody>
          <a:bodyPr xmlns:a="http://schemas.openxmlformats.org/drawingml/2006/main" wrap="square" lIns="91440" tIns="45720" rIns="91440" bIns="45720" anchor="t"/>
          <a:lstStyle xmlns:a="http://schemas.openxmlformats.org/drawingml/2006/main">
            <a:defPPr>
              <a:defRPr sz="1350">
                <a:solidFill>
                  <a:srgbClr val="355B4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350">
                <a:solidFill>
                  <a:srgbClr val="355B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355B45"/>
                </a:solidFill>
                <a:latin typeface="Microsoft YaHei"/>
                <a:ea typeface="Microsoft YaHei"/>
                <a:cs typeface="Microsoft YaHei"/>
              </a:rPr>
              <a:t>本材料为模拟项目的会议工作资料。事项安排按登记时点记录，发生日期与资料汇总日期分别标注。</a:t>
            </a:r>
            <a:endParaRPr sz="1350"/>
          </a:p>
        </p:txBody>
      </p:sp>
      <p:sp>
        <p:nvSpPr>
          <p:cNvPr id="909" name="Object_7">
            <a:extLst xmlns:a="http://schemas.openxmlformats.org/drawingml/2006/main">
              <a:ext uri="{FF2B5EF4-FFF2-40B4-BE49-F238E27FC236}">
                <a16:creationId xmlns:a16="http://schemas.microsoft.com/office/drawing/2014/main" id="{9EF4FDD7-C856-490B-BD32-9D1B9503C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6446520"/>
            <a:ext cx="11384280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91440" tIns="45720" rIns="91440" bIns="45720" anchor="t"/>
          <a:lstStyle xmlns:a="http://schemas.openxmlformats.org/drawingml/2006/main">
            <a:defPPr>
              <a:defRPr sz="85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85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春晖公益协同计划｜治理会材料 v1.8 当前｜资料口径：2026-07-01｜附录</a:t>
            </a:r>
            <a:endParaRPr sz="850"/>
          </a:p>
        </p:txBody>
      </p:sp>
    </p:spTree>
    <p:extLst>
      <p:ext uri="{BB962C8B-B14F-4D97-AF65-F5344CB8AC3E}">
        <p14:creationId xmlns:p14="http://schemas.microsoft.com/office/powerpoint/2010/main" val="123716124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Object_1"/>
        <p:cNvGrpSpPr/>
        <p:nvPr/>
      </p:nvGrpSpPr>
      <p:grpSpPr>
        <a:xfrm xmlns:a="http://schemas.openxmlformats.org/drawingml/2006/main"/>
      </p:grpSpPr>
      <p:sp>
        <p:nvSpPr>
          <p:cNvPr id="2" name="Object_2">
            <a:extLst xmlns:a="http://schemas.openxmlformats.org/drawingml/2006/main">
              <a:ext uri="{FF2B5EF4-FFF2-40B4-BE49-F238E27FC236}">
                <a16:creationId xmlns:a16="http://schemas.microsoft.com/office/drawing/2014/main" id="{575A210B-787A-404A-8D4D-586C77B68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84048"/>
            <a:ext cx="9601200" cy="4389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91440" tIns="45720" rIns="91440" bIns="45720" anchor="t"/>
          <a:lstStyle xmlns:a="http://schemas.openxmlformats.org/drawingml/2006/main">
            <a:defPPr>
              <a:defRPr sz="2200" b="1">
                <a:solidFill>
                  <a:srgbClr val="1D4E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200" b="1">
                <a:solidFill>
                  <a:srgbClr val="1D4E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00" b="1">
                <a:solidFill>
                  <a:srgbClr val="1D4E3A"/>
                </a:solidFill>
                <a:latin typeface="Microsoft YaHei"/>
                <a:ea typeface="Microsoft YaHei"/>
                <a:cs typeface="Microsoft YaHei"/>
              </a:rPr>
              <a:t>历史归档｜2025 秋季协作回顾</a:t>
            </a:r>
            <a:endParaRPr sz="2200"/>
          </a:p>
        </p:txBody>
      </p:sp>
      <p:sp>
        <p:nvSpPr>
          <p:cNvPr id="3" name="Object_3">
            <a:extLst xmlns:a="http://schemas.openxmlformats.org/drawingml/2006/main">
              <a:ext uri="{FF2B5EF4-FFF2-40B4-BE49-F238E27FC236}">
                <a16:creationId xmlns:a16="http://schemas.microsoft.com/office/drawing/2014/main" id="{3FA475BB-A466-4377-98D4-E215CE72C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5840"/>
            <a:ext cx="9875520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</a:ln>
        </p:spPr>
        <p:txBody>
          <a:bodyPr xmlns:a="http://schemas.openxmlformats.org/drawingml/2006/main" wrap="square" lIns="91440" tIns="45720" rIns="91440" bIns="45720" anchor="t"/>
          <a:lstStyle xmlns:a="http://schemas.openxmlformats.org/drawingml/2006/main">
            <a:defPPr>
              <a:defRPr sz="125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25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5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rPr>
              <a:t>归档期别：2025 年</a:t>
            </a:r>
            <a:endParaRPr sz="1250"/>
          </a:p>
          <a:p xmlns:a="http://schemas.openxmlformats.org/drawingml/2006/main">
            <a:pPr>
              <a:buNone/>
              <a:defRPr sz="125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5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rPr>
              <a:t>归档责任：资料组</a:t>
            </a:r>
            <a:endParaRPr sz="1250"/>
          </a:p>
        </p:txBody>
      </p:sp>
      <p:graphicFrame>
        <p:nvGraphicFramePr>
          <p:cNvPr id="4" name="Object_4">
            <a:extLst xmlns:a="http://schemas.openxmlformats.org/drawingml/2006/main">
              <a:ext uri="{FF2B5EF4-FFF2-40B4-BE49-F238E27FC236}">
                <a16:creationId xmlns:a16="http://schemas.microsoft.com/office/drawing/2014/main" id="{67E0D891-091D-4A87-82DF-2A1627942EDA}"/>
              </a:ext>
            </a:extLst>
          </p:cNvPr>
          <p:cNvGraphicFramePr/>
          <p:nvPr/>
        </p:nvGraphicFramePr>
        <p:xfrm>
          <a:off xmlns:a="http://schemas.openxmlformats.org/drawingml/2006/main" x="685800" y="1874520"/>
          <a:ext xmlns:a="http://schemas.openxmlformats.org/drawingml/2006/main" cx="9875520" cy="224028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011680"/>
                <a:gridCol w="1920240"/>
                <a:gridCol w="3200400"/>
              </a:tblGrid>
              <a:tr h="560070"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历史事项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2F6B57"/>
                    </a:solidFill>
                  </a:tcPr>
                </a:tc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归档状态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2F6B57"/>
                    </a:solidFill>
                  </a:tcPr>
                </a:tc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历史日期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2F6B57"/>
                    </a:solidFill>
                  </a:tcPr>
                </a:tc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年度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2F6B57"/>
                    </a:solidFill>
                  </a:tcPr>
                </a:tc>
              </a:tr>
              <a:tr h="560070"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0">
                          <a:solidFill>
                            <a:srgbClr val="25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北岸书屋合作点确认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F1F6F4"/>
                    </a:solidFill>
                  </a:tcPr>
                </a:tc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0">
                          <a:solidFill>
                            <a:srgbClr val="25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已归档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F1F6F4"/>
                    </a:solidFill>
                  </a:tcPr>
                </a:tc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0">
                          <a:solidFill>
                            <a:srgbClr val="25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2025-06-20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F1F6F4"/>
                    </a:solidFill>
                  </a:tcPr>
                </a:tc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0">
                          <a:solidFill>
                            <a:srgbClr val="25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2025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F1F6F4"/>
                    </a:solidFill>
                  </a:tcPr>
                </a:tc>
              </a:tr>
              <a:tr h="560070"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0">
                          <a:solidFill>
                            <a:srgbClr val="25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服务包数据回收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0">
                          <a:solidFill>
                            <a:srgbClr val="25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已复盘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0">
                          <a:solidFill>
                            <a:srgbClr val="25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2025-07-11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0">
                          <a:solidFill>
                            <a:srgbClr val="25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2025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0">
                          <a:solidFill>
                            <a:srgbClr val="25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志愿者培训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F1F6F4"/>
                    </a:solidFill>
                  </a:tcPr>
                </a:tc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0">
                          <a:solidFill>
                            <a:srgbClr val="25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完成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F1F6F4"/>
                    </a:solidFill>
                  </a:tcPr>
                </a:tc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0">
                          <a:solidFill>
                            <a:srgbClr val="25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2025-08-02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F1F6F4"/>
                    </a:solidFill>
                  </a:tcPr>
                </a:tc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0">
                          <a:solidFill>
                            <a:srgbClr val="25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2025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F1F6F4"/>
                    </a:solidFill>
                  </a:tcPr>
                </a:tc>
              </a:tr>
            </a:tbl>
          </a:graphicData>
        </a:graphic>
      </p:graphicFrame>
      <p:sp>
        <p:nvSpPr>
          <p:cNvPr id="910" name="Object_5">
            <a:extLst xmlns:a="http://schemas.openxmlformats.org/drawingml/2006/main">
              <a:ext uri="{FF2B5EF4-FFF2-40B4-BE49-F238E27FC236}">
                <a16:creationId xmlns:a16="http://schemas.microsoft.com/office/drawing/2014/main" id="{E36F8D78-876A-4F4F-B8DB-4A7FC5924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6446520"/>
            <a:ext cx="11384280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91440" tIns="45720" rIns="91440" bIns="45720" anchor="t"/>
          <a:lstStyle xmlns:a="http://schemas.openxmlformats.org/drawingml/2006/main">
            <a:defPPr>
              <a:defRPr sz="85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85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春晖公益协同计划｜治理会材料 v1.8 当前｜资料口径：2026-07-01｜历史归档</a:t>
            </a:r>
            <a:endParaRPr sz="850"/>
          </a:p>
        </p:txBody>
      </p:sp>
    </p:spTree>
    <p:extLst>
      <p:ext uri="{BB962C8B-B14F-4D97-AF65-F5344CB8AC3E}">
        <p14:creationId xmlns:p14="http://schemas.microsoft.com/office/powerpoint/2010/main" val="32487330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Object_1"/>
        <p:cNvGrpSpPr/>
        <p:nvPr/>
      </p:nvGrpSpPr>
      <p:grpSpPr>
        <a:xfrm xmlns:a="http://schemas.openxmlformats.org/drawingml/2006/main"/>
      </p:grpSpPr>
      <p:sp>
        <p:nvSpPr>
          <p:cNvPr id="2" name="Object_2">
            <a:extLst xmlns:a="http://schemas.openxmlformats.org/drawingml/2006/main">
              <a:ext uri="{FF2B5EF4-FFF2-40B4-BE49-F238E27FC236}">
                <a16:creationId xmlns:a16="http://schemas.microsoft.com/office/drawing/2014/main" id="{299ABABF-EFCE-4AF1-B9F3-3E78C39E8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84048"/>
            <a:ext cx="9601200" cy="4389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91440" tIns="45720" rIns="91440" bIns="45720" anchor="t"/>
          <a:lstStyle xmlns:a="http://schemas.openxmlformats.org/drawingml/2006/main">
            <a:defPPr>
              <a:defRPr sz="2200" b="1">
                <a:solidFill>
                  <a:srgbClr val="1D4E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200" b="1">
                <a:solidFill>
                  <a:srgbClr val="1D4E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00" b="1">
                <a:solidFill>
                  <a:srgbClr val="1D4E3A"/>
                </a:solidFill>
                <a:latin typeface="Microsoft YaHei"/>
                <a:ea typeface="Microsoft YaHei"/>
                <a:cs typeface="Microsoft YaHei"/>
              </a:rPr>
              <a:t>模板页｜卡片与表格样例</a:t>
            </a:r>
            <a:endParaRPr sz="2200"/>
          </a:p>
        </p:txBody>
      </p:sp>
      <p:sp>
        <p:nvSpPr>
          <p:cNvPr id="3" name="Object_3">
            <a:extLst xmlns:a="http://schemas.openxmlformats.org/drawingml/2006/main">
              <a:ext uri="{FF2B5EF4-FFF2-40B4-BE49-F238E27FC236}">
                <a16:creationId xmlns:a16="http://schemas.microsoft.com/office/drawing/2014/main" id="{8CAA7606-07B2-429E-A9B4-BB3CD78B8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097280"/>
            <a:ext cx="2926080" cy="1325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</a:ln>
        </p:spPr>
        <p:txBody>
          <a:bodyPr xmlns:a="http://schemas.openxmlformats.org/drawingml/2006/main" wrap="square" lIns="91440" tIns="45720" rIns="91440" bIns="45720" anchor="t"/>
          <a:lstStyle xmlns:a="http://schemas.openxmlformats.org/drawingml/2006/main">
            <a:defPPr>
              <a:defRPr sz="130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30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rPr>
              <a:t>样例卡片标题</a:t>
            </a:r>
            <a:endParaRPr sz="1300"/>
          </a:p>
          <a:p xmlns:a="http://schemas.openxmlformats.org/drawingml/2006/main">
            <a:pPr>
              <a:buNone/>
              <a:defRPr sz="130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rPr>
              <a:t>示例正文</a:t>
            </a:r>
            <a:endParaRPr sz="1300"/>
          </a:p>
        </p:txBody>
      </p:sp>
      <p:sp>
        <p:nvSpPr>
          <p:cNvPr id="4" name="Object_4">
            <a:extLst xmlns:a="http://schemas.openxmlformats.org/drawingml/2006/main">
              <a:ext uri="{FF2B5EF4-FFF2-40B4-BE49-F238E27FC236}">
                <a16:creationId xmlns:a16="http://schemas.microsoft.com/office/drawing/2014/main" id="{2708C0AB-C6AF-4027-A31E-DF2DF96CB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520" y="1097280"/>
            <a:ext cx="2926080" cy="1325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</a:ln>
        </p:spPr>
        <p:txBody>
          <a:bodyPr xmlns:a="http://schemas.openxmlformats.org/drawingml/2006/main" wrap="square" lIns="91440" tIns="45720" rIns="91440" bIns="45720" anchor="t"/>
          <a:lstStyle xmlns:a="http://schemas.openxmlformats.org/drawingml/2006/main">
            <a:defPPr>
              <a:defRPr sz="130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30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rPr>
              <a:t>样例状态芯片</a:t>
            </a:r>
            <a:endParaRPr sz="1300"/>
          </a:p>
          <a:p xmlns:a="http://schemas.openxmlformats.org/drawingml/2006/main">
            <a:pPr>
              <a:buNone/>
              <a:defRPr sz="130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rPr>
              <a:t>示例状态</a:t>
            </a:r>
            <a:endParaRPr sz="1300"/>
          </a:p>
        </p:txBody>
      </p:sp>
      <p:sp>
        <p:nvSpPr>
          <p:cNvPr id="5" name="Object_5">
            <a:extLst xmlns:a="http://schemas.openxmlformats.org/drawingml/2006/main">
              <a:ext uri="{FF2B5EF4-FFF2-40B4-BE49-F238E27FC236}">
                <a16:creationId xmlns:a16="http://schemas.microsoft.com/office/drawing/2014/main" id="{6E209D83-FB4D-49CF-8F3E-522030A4B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097280"/>
            <a:ext cx="2926080" cy="1325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</a:ln>
        </p:spPr>
        <p:txBody>
          <a:bodyPr xmlns:a="http://schemas.openxmlformats.org/drawingml/2006/main" wrap="square" lIns="91440" tIns="45720" rIns="91440" bIns="45720" anchor="t"/>
          <a:lstStyle xmlns:a="http://schemas.openxmlformats.org/drawingml/2006/main">
            <a:defPPr>
              <a:defRPr sz="130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30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rPr>
              <a:t>样例行动项</a:t>
            </a:r>
            <a:endParaRPr sz="1300"/>
          </a:p>
          <a:p xmlns:a="http://schemas.openxmlformats.org/drawingml/2006/main">
            <a:pPr>
              <a:buNone/>
              <a:defRPr sz="130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>
                <a:solidFill>
                  <a:srgbClr val="253047"/>
                </a:solidFill>
                <a:latin typeface="Microsoft YaHei"/>
                <a:ea typeface="Microsoft YaHei"/>
                <a:cs typeface="Microsoft YaHei"/>
              </a:rPr>
              <a:t>示例安排</a:t>
            </a:r>
            <a:endParaRPr sz="1300"/>
          </a:p>
        </p:txBody>
      </p:sp>
      <p:graphicFrame>
        <p:nvGraphicFramePr>
          <p:cNvPr id="6" name="Object_6">
            <a:extLst xmlns:a="http://schemas.openxmlformats.org/drawingml/2006/main">
              <a:ext uri="{FF2B5EF4-FFF2-40B4-BE49-F238E27FC236}">
                <a16:creationId xmlns:a16="http://schemas.microsoft.com/office/drawing/2014/main" id="{EF424833-0E2E-445E-AEF2-6E46A0FABDB4}"/>
              </a:ext>
            </a:extLst>
          </p:cNvPr>
          <p:cNvGraphicFramePr/>
          <p:nvPr/>
        </p:nvGraphicFramePr>
        <p:xfrm>
          <a:off xmlns:a="http://schemas.openxmlformats.org/drawingml/2006/main" x="777240" y="2926080"/>
          <a:ext xmlns:a="http://schemas.openxmlformats.org/drawingml/2006/main" cx="9692640" cy="160020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27832"/>
                <a:gridCol w="3227832"/>
                <a:gridCol w="3227832"/>
              </a:tblGrid>
              <a:tr h="533400"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列 A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2F6B57"/>
                    </a:solidFill>
                  </a:tcPr>
                </a:tc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列 B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2F6B57"/>
                    </a:solidFill>
                  </a:tcPr>
                </a:tc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列 C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2F6B57"/>
                    </a:solidFill>
                  </a:tcPr>
                </a:tc>
              </a:tr>
              <a:tr h="533400"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0">
                          <a:solidFill>
                            <a:srgbClr val="25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占位文本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F1F6F4"/>
                    </a:solidFill>
                  </a:tcPr>
                </a:tc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0">
                          <a:solidFill>
                            <a:srgbClr val="25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占位文本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F1F6F4"/>
                    </a:solidFill>
                  </a:tcPr>
                </a:tc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0">
                          <a:solidFill>
                            <a:srgbClr val="25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占位文本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F1F6F4"/>
                    </a:solidFill>
                  </a:tcPr>
                </a:tc>
              </a:tr>
              <a:tr h="533400"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0">
                          <a:solidFill>
                            <a:srgbClr val="25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示例行动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0">
                          <a:solidFill>
                            <a:srgbClr val="25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示例状态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tIns="22860" rIns="45720" bIns="22860"/>
                    <a:lstStyle/>
                    <a:p>
                      <a:pPr>
                        <a:buNone/>
                      </a:pPr>
                      <a:r>
                        <a:rPr sz="1050" b="0">
                          <a:solidFill>
                            <a:srgbClr val="25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示例日期</a:t>
                      </a:r>
                      <a:endParaRPr/>
                    </a:p>
                  </a:txBody>
                  <a:tcPr marL="91440" marR="91440" marT="45720" marB="45720">
                    <a:lnL w="6350">
                      <a:solidFill>
                        <a:srgbClr val="D8DEE9"/>
                      </a:solidFill>
                    </a:lnL>
                    <a:lnR w="6350">
                      <a:solidFill>
                        <a:srgbClr val="D8DEE9"/>
                      </a:solidFill>
                    </a:lnR>
                    <a:lnT w="6350">
                      <a:solidFill>
                        <a:srgbClr val="D8DEE9"/>
                      </a:solidFill>
                    </a:lnT>
                    <a:lnB w="6350">
                      <a:solidFill>
                        <a:srgbClr val="D8DEE9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11" name="Object_7">
            <a:extLst xmlns:a="http://schemas.openxmlformats.org/drawingml/2006/main">
              <a:ext uri="{FF2B5EF4-FFF2-40B4-BE49-F238E27FC236}">
                <a16:creationId xmlns:a16="http://schemas.microsoft.com/office/drawing/2014/main" id="{C513DE90-01DE-4E14-80E9-A7B7C8176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6446520"/>
            <a:ext cx="11384280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91440" tIns="45720" rIns="91440" bIns="45720" anchor="t"/>
          <a:lstStyle xmlns:a="http://schemas.openxmlformats.org/drawingml/2006/main">
            <a:defPPr>
              <a:defRPr sz="85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85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春晖公益协同计划｜治理会材料 v1.8 当前｜资料口径：2026-07-01｜模板页</a:t>
            </a:r>
            <a:endParaRPr sz="850"/>
          </a:p>
        </p:txBody>
      </p:sp>
    </p:spTree>
    <p:extLst>
      <p:ext uri="{BB962C8B-B14F-4D97-AF65-F5344CB8AC3E}">
        <p14:creationId xmlns:p14="http://schemas.microsoft.com/office/powerpoint/2010/main" val="69613757"/>
      </p:ext>
    </p:extLst>
  </p:cSld>
</p:sld>
</file>

<file path=ppt/theme/theme1.xml><?xml version="1.0" encoding="utf-8"?>
<a:theme xmlns:a="http://schemas.openxmlformats.org/drawingml/2006/main" name="Governance Green">
  <a:themeElements>
    <a:clrScheme name="GovernanceGreen">
      <a:dk1>
        <a:srgbClr val="253047"/>
      </a:dk1>
      <a:lt1>
        <a:srgbClr val="FFFFFF"/>
      </a:lt1>
      <a:dk2>
        <a:srgbClr val="1D4E3A"/>
      </a:dk2>
      <a:lt2>
        <a:srgbClr val="F7F9FB"/>
      </a:lt2>
      <a:accent1>
        <a:srgbClr val="2F6B57"/>
      </a:accent1>
      <a:accent2>
        <a:srgbClr val="86B79A"/>
      </a:accent2>
      <a:accent3>
        <a:srgbClr val="F2C56B"/>
      </a:accent3>
      <a:accent4>
        <a:srgbClr val="7E9BB7"/>
      </a:accent4>
      <a:accent5>
        <a:srgbClr val="B67D7D"/>
      </a:accent5>
      <a:accent6>
        <a:srgbClr val="8A8F98"/>
      </a:accent6>
      <a:hlink>
        <a:srgbClr val="2F6B57"/>
      </a:hlink>
      <a:folHlink>
        <a:srgbClr val="7E9BB7"/>
      </a:folHlink>
    </a:clrScheme>
    <a:fontScheme name="Office">
      <a:majorFont>
        <a:latin typeface="Microsoft YaHei"/>
        <a:ea typeface="Microsoft YaHei"/>
        <a:cs typeface="Arial"/>
      </a:majorFont>
      <a:minorFont>
        <a:latin typeface="Microsoft YaHei"/>
        <a:ea typeface="Microsoft YaHei"/>
        <a:cs typeface="Arial"/>
      </a:minorFont>
    </a:fontScheme>
    <a:fmtScheme name="GovernanceGreen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254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lt1"/>
        </a:solidFill>
        <a:solidFill>
          <a:schemeClr val="lt2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2026-10-12T06:32:22.0360000Z</dcterms:created>
  <dcterms:modified xsi:type="dcterms:W3CDTF">2026-10-12T06:32:22.0360000Z</dcterms:modified>
</coreProperties>
</file>